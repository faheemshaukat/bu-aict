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930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309360"/>
            <a:ext cx="12191695" cy="73152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ahria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005840" cy="11247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UNIVERSITY, ISLAMABAD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 &amp; Social Media Applications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Meet, Microsoft Teams &amp; Zoom  —  LinkedIn, Facebook &amp; Instagram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" y="38862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254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51560" y="3886200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Applications of ICT   |  3-Hour Session   |  CLO-2   |  Fall 2026</a:t>
            </a:r>
            <a:endParaRPr lang="en-US" sz="1300" dirty="0"/>
          </a:p>
        </p:txBody>
      </p:sp>
      <p:pic>
        <p:nvPicPr>
          <p:cNvPr id="12" name="Image 1" descr="logos/gme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4892040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5504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</a:t>
            </a:r>
            <a:endParaRPr lang="en-US" sz="1050" dirty="0"/>
          </a:p>
        </p:txBody>
      </p:sp>
      <p:pic>
        <p:nvPicPr>
          <p:cNvPr id="14" name="Image 2" descr="mockups/teams_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3512" y="4892040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42032" y="5504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</a:t>
            </a:r>
            <a:endParaRPr lang="en-US" sz="1050" dirty="0"/>
          </a:p>
        </p:txBody>
      </p:sp>
      <p:pic>
        <p:nvPicPr>
          <p:cNvPr id="16" name="Image 3" descr="logos/zoom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489204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169664" y="5504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050" dirty="0"/>
          </a:p>
        </p:txBody>
      </p:sp>
      <p:pic>
        <p:nvPicPr>
          <p:cNvPr id="18" name="Image 4" descr="mockups/linkedin_ba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776" y="4892040"/>
            <a:ext cx="566928" cy="5669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97296" y="5504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50" dirty="0"/>
          </a:p>
        </p:txBody>
      </p:sp>
      <p:pic>
        <p:nvPicPr>
          <p:cNvPr id="20" name="Image 5" descr="logos/facebook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408" y="4892040"/>
            <a:ext cx="566928" cy="56692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24928" y="5504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50" dirty="0"/>
          </a:p>
        </p:txBody>
      </p:sp>
      <p:pic>
        <p:nvPicPr>
          <p:cNvPr id="22" name="Image 6" descr="logos/instagram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4892040"/>
            <a:ext cx="566928" cy="56692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052560" y="5504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3-HOUR SESSION, TWO BREAKS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Roadmap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561320" y="13716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61320" y="137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8640" y="11521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0972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Video Conferencing &amp; Social Media Matter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3167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context for today’s session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784080" y="10972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15544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16093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548640" y="16093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1554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 — Interface &amp; Facilities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17739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key features, positive uses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84080" y="15544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0116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548640" y="20665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48640" y="20665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20116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— Interface &amp; Facilities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22311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key features, positive uses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84080" y="20116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24688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548640" y="25237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48640" y="25237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24688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— Interface &amp; Facilities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26883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key features, positive uses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84080" y="24688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29260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3" name="Shape 31"/>
          <p:cNvSpPr/>
          <p:nvPr/>
        </p:nvSpPr>
        <p:spPr>
          <a:xfrm>
            <a:off x="548640" y="29809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548640" y="29809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51560" y="29260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vs Teams vs Zoom — Comparison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51560" y="31455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&amp; positive uses of video conferencing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784080" y="29260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9" name="Shape 37"/>
          <p:cNvSpPr/>
          <p:nvPr/>
        </p:nvSpPr>
        <p:spPr>
          <a:xfrm>
            <a:off x="548640" y="34381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40" name="Text 38"/>
          <p:cNvSpPr/>
          <p:nvPr/>
        </p:nvSpPr>
        <p:spPr>
          <a:xfrm>
            <a:off x="548640" y="34381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51560" y="34107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1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784080" y="33832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7200" y="38404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4" name="Shape 42"/>
          <p:cNvSpPr/>
          <p:nvPr/>
        </p:nvSpPr>
        <p:spPr>
          <a:xfrm>
            <a:off x="548640" y="38953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45" name="Text 43"/>
          <p:cNvSpPr/>
          <p:nvPr/>
        </p:nvSpPr>
        <p:spPr>
          <a:xfrm>
            <a:off x="548640" y="38953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51560" y="3840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Education, Jobs &amp; Marketing Impact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51560" y="40599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tour + three-lens impact analysis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784080" y="38404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57200" y="42976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0" name="Shape 48"/>
          <p:cNvSpPr/>
          <p:nvPr/>
        </p:nvSpPr>
        <p:spPr>
          <a:xfrm>
            <a:off x="548640" y="43525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51" name="Text 49"/>
          <p:cNvSpPr/>
          <p:nvPr/>
        </p:nvSpPr>
        <p:spPr>
          <a:xfrm>
            <a:off x="548640" y="43525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51560" y="42976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— Education, Jobs &amp; Marketing Impact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051560" y="45171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pages &amp; community interface tour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784080" y="42976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57200" y="47548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6" name="Shape 54"/>
          <p:cNvSpPr/>
          <p:nvPr/>
        </p:nvSpPr>
        <p:spPr>
          <a:xfrm>
            <a:off x="548640" y="48097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57" name="Text 55"/>
          <p:cNvSpPr/>
          <p:nvPr/>
        </p:nvSpPr>
        <p:spPr>
          <a:xfrm>
            <a:off x="548640" y="48097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051560" y="47823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2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784080" y="47548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57200" y="52120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1" name="Shape 59"/>
          <p:cNvSpPr/>
          <p:nvPr/>
        </p:nvSpPr>
        <p:spPr>
          <a:xfrm>
            <a:off x="548640" y="52669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62" name="Text 60"/>
          <p:cNvSpPr/>
          <p:nvPr/>
        </p:nvSpPr>
        <p:spPr>
          <a:xfrm>
            <a:off x="548640" y="52669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051560" y="52120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Education, Jobs &amp; Marketing Impact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051560" y="54315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 &amp; content interface tour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9784080" y="52120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457200" y="5669280"/>
            <a:ext cx="11247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7" name="Shape 65"/>
          <p:cNvSpPr/>
          <p:nvPr/>
        </p:nvSpPr>
        <p:spPr>
          <a:xfrm>
            <a:off x="548640" y="572414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68" name="Text 66"/>
          <p:cNvSpPr/>
          <p:nvPr/>
        </p:nvSpPr>
        <p:spPr>
          <a:xfrm>
            <a:off x="548640" y="572414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051560" y="56692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Comparison + Hands-On + Takeaways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1051560" y="58887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table, guided practice, wrap-up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9784080" y="56692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22960" y="135331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“Distance no longer decides who you can learn from, work with, or sell to.”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Google Meet, Microsoft Teams, and Zoom let classes, meetings, interviews, and consultations happen face-to-face from anywhere — reshaping education and the modern workplace.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2514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Applications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0" y="31089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LinkedIn, Facebook, and Instagram have moved far beyond casual sharing — they are now serious tools for learning, career-building, and marketing.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22960" y="4983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FOCUS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960" y="52852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look closely at what each video-conferencing platform actually provides, how they work, and how they differ — then explore LinkedIn, Facebook, and Instagram’s positive impact through three lenses: education, professional/jobs, and marketing.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logos/gmeet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17320"/>
            <a:ext cx="914400" cy="914400"/>
          </a:xfrm>
          <a:prstGeom prst="rect">
            <a:avLst/>
          </a:prstGeom>
        </p:spPr>
      </p:pic>
      <p:pic>
        <p:nvPicPr>
          <p:cNvPr id="4" name="Image 1" descr="mockups/teams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1417320"/>
            <a:ext cx="914400" cy="914400"/>
          </a:xfrm>
          <a:prstGeom prst="rect">
            <a:avLst/>
          </a:prstGeom>
        </p:spPr>
      </p:pic>
      <p:pic>
        <p:nvPicPr>
          <p:cNvPr id="5" name="Image 2" descr="logos/zoom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1417320"/>
            <a:ext cx="914400" cy="9144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VIDEO CONFERENCING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Meet, Microsoft Teams &amp; Zoom</a:t>
            </a:r>
            <a:endParaRPr lang="en-US" sz="3000" dirty="0"/>
          </a:p>
        </p:txBody>
      </p:sp>
      <p:sp>
        <p:nvSpPr>
          <p:cNvPr id="8" name="Text 3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platform provides, how it works, and how they differ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 — PLATFORM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 — Inside a Live Meeting</a:t>
            </a:r>
            <a:endParaRPr lang="en-US" sz="2400" dirty="0"/>
          </a:p>
        </p:txBody>
      </p:sp>
      <p:pic>
        <p:nvPicPr>
          <p:cNvPr id="6" name="Image 0" descr="mockups/gmeet_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67" y="1097280"/>
            <a:ext cx="7410793" cy="45778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097280"/>
            <a:ext cx="4069080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09560" y="12344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909560" y="1536192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the browser — no software install needed. Meetings start from a Google Calendar invite, Gmail, or a generated meet.google.com link.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2514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CONTROLS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909560" y="283464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 &amp; Camera toggle with one click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09560" y="325526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Captions — real-time speech-to-text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09560" y="367588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 Now — share screen, window, or tab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09560" y="409651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Reactions — quick emoji feedback mid-call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09560" y="451713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In-call messages — text chat alongside video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 — PLATFORM 1 (CONTINUED)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 — Facilities &amp; Positive Uses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Google Workspace Integration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directly from Calendar, Gmail, and Docs/Sheets/Slides — meeting links generate automatically, with no separate app required.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Captions &amp; Translation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AI-generated captions support students who are hard of hearing or non-native speakers of the lecture language.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Rooms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split large classes into smaller discussion groups for group work, then bring everyone back together instantly.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Cancellation &amp; Low-Light Mode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AI filters background noise and automatically brightens video in poor lighting — useful for students joining from busy homes.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Access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needed on shared or low-spec computers — ideal for students or guest lecturers joining from any device.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Use in Education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supports classes up to 100 participants for 60 minutes — widely used for guest lectures, office hours, and viva/defense sessions.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 — PLATFORM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— Inside a Live Meeting</a:t>
            </a:r>
            <a:endParaRPr lang="en-US" sz="2400" dirty="0"/>
          </a:p>
        </p:txBody>
      </p:sp>
      <p:pic>
        <p:nvPicPr>
          <p:cNvPr id="6" name="Image 0" descr="mockups/teams_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86" y="1097280"/>
            <a:ext cx="7492274" cy="44622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655" y="1097280"/>
            <a:ext cx="4511039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80960" y="1234440"/>
            <a:ext cx="451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80960" y="1536192"/>
            <a:ext cx="451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Microsoft 365 — meetings are scheduled via Outlook Calendar and opened from the Teams desktop or web app, alongside Chat, Teams channels, and Files.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80960" y="2514600"/>
            <a:ext cx="451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NAVIGATION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680960" y="2834640"/>
            <a:ext cx="451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Activity — @mentions &amp; notifications feed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3255264"/>
            <a:ext cx="451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— 1:1 and group messaging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80960" y="3675888"/>
            <a:ext cx="451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Teams — channels organized by class/department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80960" y="4096512"/>
            <a:ext cx="451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Calendar — schedule &amp; join meetings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80960" y="4517136"/>
            <a:ext cx="451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Calls &amp; Files — voice calling and shared storage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 — PLATFORM 2 (CONTINUED)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— Facilities &amp; Positive Uses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Mode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view places all participants in one shared virtual background (like a lecture hall), reducing "video-grid fatigue" in long classes.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&amp; Persistent Chat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or project gets its own Team with channels — meeting recordings, files, and chat history stay organized and searchable long after the call ends.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App Integration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co-edit Word, Excel, and PowerPoint files live inside a meeting — ideal for group assignment reviews without switching apps.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Recording &amp; Transcripts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recording with searchable transcripts lets absent students catch up, and lets instructors reuse lectures as study material.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Rooms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create and manage small-group rooms for case studies or project work, with the ability to broadcast announcements to all rooms at once.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Use in Education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 with institutional Microsoft 365 accounts (common at universities) makes Teams a natural fit for official class delivery and admin meetings.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 — PLATFORM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— Inside a Live Meeting</a:t>
            </a:r>
            <a:endParaRPr lang="en-US" sz="2400" dirty="0"/>
          </a:p>
        </p:txBody>
      </p:sp>
      <p:pic>
        <p:nvPicPr>
          <p:cNvPr id="6" name="Image 0" descr="mockups/zoom_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1" y="1097280"/>
            <a:ext cx="7506789" cy="44622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097280"/>
            <a:ext cx="4108268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09559" y="1234440"/>
            <a:ext cx="4108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909559" y="1536192"/>
            <a:ext cx="41082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desktop/mobile app (or browser) joined via a Meeting ID and passcode. Known for stable video quality even on lower-bandwidth connections.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59" y="2514600"/>
            <a:ext cx="4108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CONTROLS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909559" y="2834640"/>
            <a:ext cx="410826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— lock meeting, waiting room, lock chat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09559" y="3255264"/>
            <a:ext cx="410826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Gallery view — up to 49 tiles per screen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09559" y="3675888"/>
            <a:ext cx="410826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Screen — with optional annotation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09559" y="4096512"/>
            <a:ext cx="410826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Breakout Rooms — dedicated one-click panel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09559" y="4517136"/>
            <a:ext cx="410826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 — local or cloud, with auto-transcript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 — PLATFORM 3 (CONTINUED)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— Facilities &amp; Positive Uses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Security Panel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"Security" button lets a host instantly lock the meeting, enable a Waiting Room, or restrict screen sharing and chat — a strong defense against "Zoom-bombing."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Rooms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most mature breakout room tools available — hosts pre-assign or auto-split up to 50 rooms, broadcast messages, and set self-return timers.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Mode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large-scale mode supports up to thousands of view-only attendees with Q&amp;A and polling — used for guest seminars and public lectures.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Backgrounds &amp; Filters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Low-bandwidth-friendly virtual backgrounds and touch-up filters help presenters look professional without needing a studio setup.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Recording &amp; Auto-Transcription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tiers auto-generate searchable transcripts and highlight reels, useful for creating revision material from recorded lectures.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Use in Education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Long-standing reliability on weak internet connections makes Zoom a common choice for guest speakers and students joining from remote areas.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 vs Microsoft Teams vs Zoom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28600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188720"/>
            <a:ext cx="2990088" cy="4572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2834640" y="11887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24728" y="1188720"/>
            <a:ext cx="2990088" cy="45720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824728" y="11887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14816" y="1188720"/>
            <a:ext cx="2990088" cy="457200"/>
          </a:xfrm>
          <a:prstGeom prst="rect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8814816" y="11887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1645920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40080" y="164592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1645920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2926080" y="164592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Browser-first, Google account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24728" y="1645920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5916168" y="164592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account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14816" y="1645920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8906256" y="164592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app, Meeting ID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2304288"/>
            <a:ext cx="2286000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640080" y="230428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integration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34640" y="2304288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2926080" y="2304288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Calendar, Docs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24728" y="2304288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5916168" y="2304288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Outlook, Office apps, Channels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814816" y="2304288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8906256" y="2304288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— works with any ecosystem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2962656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640080" y="296265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limit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834640" y="2962656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2926080" y="2962656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participants / 60 min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24728" y="2962656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5916168" y="2962656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participants / 60 min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814816" y="2962656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8906256" y="2962656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participants / 40 min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3621024"/>
            <a:ext cx="2286000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640080" y="362102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feature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834640" y="3621024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2926080" y="3621024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Captions &amp; translation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24728" y="3621024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3" name="Text 41"/>
          <p:cNvSpPr/>
          <p:nvPr/>
        </p:nvSpPr>
        <p:spPr>
          <a:xfrm>
            <a:off x="5916168" y="3621024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Mode &amp; persistent channels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814816" y="3621024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8906256" y="3621024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Security panel &amp; Webinars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8640" y="4279392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7" name="Text 45"/>
          <p:cNvSpPr/>
          <p:nvPr/>
        </p:nvSpPr>
        <p:spPr>
          <a:xfrm>
            <a:off x="640080" y="427939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rooms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834640" y="4279392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9" name="Text 47"/>
          <p:cNvSpPr/>
          <p:nvPr/>
        </p:nvSpPr>
        <p:spPr>
          <a:xfrm>
            <a:off x="2926080" y="4279392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(basic)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24728" y="4279392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1" name="Text 49"/>
          <p:cNvSpPr/>
          <p:nvPr/>
        </p:nvSpPr>
        <p:spPr>
          <a:xfrm>
            <a:off x="5916168" y="4279392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(advanced, broadcast msg)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814816" y="4279392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3" name="Text 51"/>
          <p:cNvSpPr/>
          <p:nvPr/>
        </p:nvSpPr>
        <p:spPr>
          <a:xfrm>
            <a:off x="8906256" y="4279392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(most mature, up to 50 rooms)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8640" y="4937760"/>
            <a:ext cx="2286000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5" name="Text 53"/>
          <p:cNvSpPr/>
          <p:nvPr/>
        </p:nvSpPr>
        <p:spPr>
          <a:xfrm>
            <a:off x="640080" y="49377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2834640" y="4937760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7" name="Text 55"/>
          <p:cNvSpPr/>
          <p:nvPr/>
        </p:nvSpPr>
        <p:spPr>
          <a:xfrm>
            <a:off x="2926080" y="493776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lightweight, cross-platform calls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824728" y="4937760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9" name="Text 57"/>
          <p:cNvSpPr/>
          <p:nvPr/>
        </p:nvSpPr>
        <p:spPr>
          <a:xfrm>
            <a:off x="5916168" y="493776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Microsoft-based institutions &amp; teams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814816" y="4937760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1" name="Text 59"/>
          <p:cNvSpPr/>
          <p:nvPr/>
        </p:nvSpPr>
        <p:spPr>
          <a:xfrm>
            <a:off x="8906256" y="493776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seminars, weak-connection users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Uses of Video Conferencing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Education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remote areas attend lectures, defend theses, and consult supervisors without travel — directly supporting distance learning discussed in Week 2.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Collaboration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teams, guest speakers, and international conferences connect instantly across time zones and borders at near-zero cost.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Recorded Learning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sessions and transcripts let students revisit lectures, aiding exam preparation and students who missed a live class.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Cost &amp; Carbon Footprint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travel costs and commute time for routine meetings, interviews, and consultations — a measurable business and environmental benefit.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&amp; Professional Services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technology underlies telemedicine consultations discussed earlier — doctors, lawyers, and advisors now serve remote clients directly.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Participation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Captions, chat, and screen-reader-friendly interfaces let students with hearing or mobility challenges participate fully in real time.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46304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it: LinkedIn, Facebook &amp; Instagram — education, jobs &amp; marketing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mockups/linkedin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17320"/>
            <a:ext cx="914400" cy="914400"/>
          </a:xfrm>
          <a:prstGeom prst="rect">
            <a:avLst/>
          </a:prstGeom>
        </p:spPr>
      </p:pic>
      <p:pic>
        <p:nvPicPr>
          <p:cNvPr id="4" name="Image 1" descr="logos/facebook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1417320"/>
            <a:ext cx="914400" cy="914400"/>
          </a:xfrm>
          <a:prstGeom prst="rect">
            <a:avLst/>
          </a:prstGeom>
        </p:spPr>
      </p:pic>
      <p:pic>
        <p:nvPicPr>
          <p:cNvPr id="5" name="Image 2" descr="logos/instagram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1417320"/>
            <a:ext cx="914400" cy="9144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SOCIAL MEDIA APPLICATIONS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Facebook &amp; Instagram</a:t>
            </a:r>
            <a:endParaRPr lang="en-US" sz="3000" dirty="0"/>
          </a:p>
        </p:txBody>
      </p:sp>
      <p:sp>
        <p:nvSpPr>
          <p:cNvPr id="8" name="Text 3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 through three lenses: education, jobs, and marketing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— PLATFORM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Profile, Jobs &amp; Learning</a:t>
            </a:r>
            <a:endParaRPr lang="en-US" sz="2400" dirty="0"/>
          </a:p>
        </p:txBody>
      </p:sp>
      <p:pic>
        <p:nvPicPr>
          <p:cNvPr id="6" name="Image 0" descr="mockups/linkedin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22376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097280"/>
            <a:ext cx="4069080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09560" y="12344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909560" y="153619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networking platform built around a resume-style profile, a company/recruiter ecosystem, and a feed of industry content.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23774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SECTIONS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909560" y="26974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 — education, experience, skills, endorsements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09560" y="3154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"Jobs for You" — AI-matched openings with Easy Apply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09560" y="36118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LinkedIn Learning — short skill-building video courses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09560" y="40690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/ Message — direct professional networking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· PROFESSIONAL/JOBS · MARKETING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Positive Impact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 offers thousands of short courses with certificates students can add directly to their profile — turning passive scrolling into verifiable upskilling.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/ Jobs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"Easy Apply" and AI-matched job recommendations connect students directly with internships and entry-level roles; endorsements and recommendations act as a digital reference.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and freelancers publish thought-leadership posts and case studies to reach decision-makers directly — LinkedIn Ads target by job title and industry, not just demographics.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32461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for Students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7490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well-built LinkedIn profile functions as a living CV: instructors, peers, and recruiters can all verify skills, projects, and coursework in one public place.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— PLATFORM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— Groups, Pages &amp; Community</a:t>
            </a:r>
            <a:endParaRPr lang="en-US" sz="2400" dirty="0"/>
          </a:p>
        </p:txBody>
      </p:sp>
      <p:pic>
        <p:nvPicPr>
          <p:cNvPr id="6" name="Image 0" descr="mockups/facebook_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223760" cy="44622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097280"/>
            <a:ext cx="4069080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09560" y="12344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909560" y="1536192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community-centered platform built around Groups (shared-interest communities) and Pages (public profiles for businesses and organizations).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24231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SHOWN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909560" y="27432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Study Group — class-wide note &amp; query sharing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09560" y="32004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posts — official reminders reach all members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09560" y="36576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Page — Reach, Page Likes, Ad Spend metrics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09560" y="41148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Sponsored Post — paid promotion with a direct CTA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· PROFESSIONAL/JOBS · MARKETING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— Positive Impact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and university Groups become informal study communities — students share notes, past papers, and ask questions outside class hours, as seen in the Study Group mockup.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BEAEA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/ Jobs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Jobs and community job-posting groups connect small businesses with local candidates; Pages let alumni networks share internships and openings directly.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AF6EC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Pages give even very small businesses (like the "Local Bakery Co." example) access to detailed Reach, engagement, and Ad Spend analytics — professional-grade marketing at low cost.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32461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BEAEA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at Scale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7490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billions of active users, Facebook Ads can target by precise location, age, and interest — making it one of the most cost-effective tools for local and student-run businesses.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46304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it: Instagram, the final comparison, and hands-on practice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— PLATFORM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Business Profile &amp; Insights</a:t>
            </a:r>
            <a:endParaRPr lang="en-US" sz="2400" dirty="0"/>
          </a:p>
        </p:txBody>
      </p:sp>
      <p:pic>
        <p:nvPicPr>
          <p:cNvPr id="6" name="Image 0" descr="mockups/instagram_busi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22376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097280"/>
            <a:ext cx="4069080" cy="5212080"/>
          </a:xfrm>
          <a:prstGeom prst="roundRect">
            <a:avLst>
              <a:gd name="adj" fmla="val 192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7909560" y="1234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909560" y="153619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visual-first platform built around Posts, Reels (short video), and Stories, with a dedicated Business/Creator mode offering analytics and promotion tools.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2468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SHOWN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909560" y="27889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grid — mix of Posts and Reels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09560" y="3246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Promote button — one-tap paid boosting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09560" y="37033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Insights panel — reach, visits, new followers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09560" y="41605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post callout — identifies best-performing content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· PROFESSIONAL/JOBS · MARKETING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Positive Impact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Reels break complex topics (exam tips, quick tutorials, lab demos) into bite-sized, highly shareable visual lessons — ideal for revision content.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/ Jobs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polished, well-tagged portfolio of work (design, photography, writing samples) acts as an informal visual CV that many creative-industry recruiters now check directly.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DF3E3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Insights (reach, profile visits, website taps) let even a small student-run brand measure exactly what content drives real traffic and sales — the same metrics large companies pay agencies for.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32461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8EEF9"/>
          </a:solidFill>
          <a:ln w="12700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for Reach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0" y="37490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 and Reels algorithms can surface content to non-followers instantly — giving new or small accounts a real chance to go viral without any ad spend.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vs Facebook vs Instagram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28600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188720"/>
            <a:ext cx="2990088" cy="457200"/>
          </a:xfrm>
          <a:prstGeom prst="rect">
            <a:avLst/>
          </a:prstGeom>
          <a:solidFill>
            <a:srgbClr val="0A66C2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2834640" y="11887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24728" y="1188720"/>
            <a:ext cx="2990088" cy="457200"/>
          </a:xfrm>
          <a:prstGeom prst="rect">
            <a:avLst/>
          </a:prstGeom>
          <a:solidFill>
            <a:srgbClr val="0866FF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824728" y="11887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14816" y="1188720"/>
            <a:ext cx="2990088" cy="457200"/>
          </a:xfrm>
          <a:prstGeom prst="rect">
            <a:avLst/>
          </a:prstGeom>
          <a:solidFill>
            <a:srgbClr val="E4405F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8814816" y="11887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1645920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40080" y="164592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format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1645920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2926080" y="164592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profile &amp; articles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24728" y="1645920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5916168" y="164592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Pages &amp; long-form posts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14816" y="1645920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8906256" y="164592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posts, Reels &amp; Stories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2304288"/>
            <a:ext cx="2286000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640080" y="230428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education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34640" y="2304288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2926080" y="2304288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courses &amp; certificates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24728" y="2304288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5916168" y="2304288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Class/study Groups &amp; discussion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814816" y="2304288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8906256" y="2304288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Bite-sized visual tutorials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2962656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640080" y="296265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jobs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834640" y="2962656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2926080" y="2962656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job matching &amp; Easy Apply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24728" y="2962656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5916168" y="2962656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job-posting groups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814816" y="2962656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8906256" y="2962656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portfolio &amp; creative CV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3621024"/>
            <a:ext cx="2286000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640080" y="362102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marketing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834640" y="3621024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2926080" y="3621024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B2B, thought leadership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24728" y="3621024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3" name="Text 41"/>
          <p:cNvSpPr/>
          <p:nvPr/>
        </p:nvSpPr>
        <p:spPr>
          <a:xfrm>
            <a:off x="5916168" y="3621024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business, detailed ad targeting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814816" y="3621024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8906256" y="3621024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brand building, high reach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8640" y="4279392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7" name="Text 45"/>
          <p:cNvSpPr/>
          <p:nvPr/>
        </p:nvSpPr>
        <p:spPr>
          <a:xfrm>
            <a:off x="640080" y="427939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audience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834640" y="4279392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9" name="Text 47"/>
          <p:cNvSpPr/>
          <p:nvPr/>
        </p:nvSpPr>
        <p:spPr>
          <a:xfrm>
            <a:off x="2926080" y="4279392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&amp; recruiters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24728" y="4279392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1" name="Text 49"/>
          <p:cNvSpPr/>
          <p:nvPr/>
        </p:nvSpPr>
        <p:spPr>
          <a:xfrm>
            <a:off x="5916168" y="4279392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public, broad age range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814816" y="4279392"/>
            <a:ext cx="29900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3" name="Text 51"/>
          <p:cNvSpPr/>
          <p:nvPr/>
        </p:nvSpPr>
        <p:spPr>
          <a:xfrm>
            <a:off x="8906256" y="4279392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Younger, visually-driven audience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8640" y="4937760"/>
            <a:ext cx="2286000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5" name="Text 53"/>
          <p:cNvSpPr/>
          <p:nvPr/>
        </p:nvSpPr>
        <p:spPr>
          <a:xfrm>
            <a:off x="640080" y="49377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tool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2834640" y="4937760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7" name="Text 55"/>
          <p:cNvSpPr/>
          <p:nvPr/>
        </p:nvSpPr>
        <p:spPr>
          <a:xfrm>
            <a:off x="2926080" y="493776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824728" y="4937760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9" name="Text 57"/>
          <p:cNvSpPr/>
          <p:nvPr/>
        </p:nvSpPr>
        <p:spPr>
          <a:xfrm>
            <a:off x="5916168" y="493776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+ Business Page Insights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814816" y="4937760"/>
            <a:ext cx="2990088" cy="658368"/>
          </a:xfrm>
          <a:prstGeom prst="rect">
            <a:avLst/>
          </a:prstGeom>
          <a:solidFill>
            <a:srgbClr val="F4F6FA"/>
          </a:solidFill>
          <a:ln w="9525">
            <a:solidFill>
              <a:srgbClr val="DCE1E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1" name="Text 59"/>
          <p:cNvSpPr/>
          <p:nvPr/>
        </p:nvSpPr>
        <p:spPr>
          <a:xfrm>
            <a:off x="8906256" y="4937760"/>
            <a:ext cx="2807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+ Insights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WHAT YOU LEARNED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561320" y="13716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61320" y="137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Video Conferencing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1755648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 of 3, open any one of Google Meet, Microsoft Teams, or Zoom. Start a test meeting, turn on captions (or the closest equivalent), share your screen for 30 seconds, and list one facility your platform has that the other two groups’ platforms do not.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Social Media for Education, Jobs &amp; Marketing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400" y="4096512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of LinkedIn, Facebook, or Instagram. Write a one-paragraph plan for how a student-run small business (e.g. a bakery, tutoring service, or handmade crafts page) could use that platform for: (1) reaching students for education/awareness, (2) finding part-time help, and (3) marketing to new customers.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in Six 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48132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Meet, Microsoft Teams, and Zoom all solve the same problem — remote face-to-face communication — but each wins in a different context: Meet for lightweight browser access, Teams for Microsoft-based institutions, Zoom for large or low-bandwidth sessions.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3042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 removes distance as a barrier to education, healthcare (telemedicine), and global professional collaboration.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12724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is the strongest platform for verified learning (LinkedIn Learning) and direct job-matching (Easy Apply).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95020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Groups and Pages combine informal peer-learning communities with surprisingly detailed, low-cost marketing analytics.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77316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Instagram’s Reels and visual portfolio format make it uniquely strong for bite-sized education content and creative-industry job visibility.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6692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B84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59612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six platforms, the real value lies in features, not fame — knowing the right facility for the right task is the mark of an ICT-literate professional.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9966960" cy="4754880"/>
          </a:xfrm>
          <a:prstGeom prst="roundRect">
            <a:avLst>
              <a:gd name="adj" fmla="val 1538"/>
            </a:avLst>
          </a:prstGeom>
          <a:solidFill>
            <a:srgbClr val="F4F6FA"/>
          </a:solidFill>
          <a:ln w="12700">
            <a:solidFill>
              <a:srgbClr val="DCE1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slip of paper (or the LMS form), answer briefly: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3040" y="2194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4630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57400" y="217627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facility that makes Zoom different from Google Meet or Microsoft Teams.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3040" y="3337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146304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331927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of LinkedIn, Facebook, or Instagram and describe one way it could help you find a part-time job or internship.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63040" y="4480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146304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57400" y="446227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sentence, explain the difference between how Facebook and Instagram support marketing for a small business.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5623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Week 6 outline continues — stay tuned on the LMS for the next topic.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201  |  Week 6 — Video Conferencing &amp; Social Media Applications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2942</Words>
  <Application>Microsoft Office PowerPoint</Application>
  <PresentationFormat>Widescreen</PresentationFormat>
  <Paragraphs>376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FAHEEM SHAUKAT</cp:lastModifiedBy>
  <cp:revision>6</cp:revision>
  <dcterms:created xsi:type="dcterms:W3CDTF">2026-10-04T15:19:34Z</dcterms:created>
  <dcterms:modified xsi:type="dcterms:W3CDTF">2026-10-04T20:59:16Z</dcterms:modified>
</cp:coreProperties>
</file>