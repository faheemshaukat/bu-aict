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6" d="100"/>
          <a:sy n="66" d="100"/>
        </p:scale>
        <p:origin x="792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633386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2B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2B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309360"/>
            <a:ext cx="12191695" cy="73152"/>
          </a:xfrm>
          <a:prstGeom prst="rect">
            <a:avLst/>
          </a:prstGeom>
          <a:solidFill>
            <a:srgbClr val="B8860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/home/claude/bahria_logo_cropp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502920"/>
            <a:ext cx="1005840" cy="112471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828800" y="5943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D8B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BAHRIA UNIVERSITY, ISLAMABAD</a:t>
            </a: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822960" y="22860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kern="0" spc="300" dirty="0">
                <a:solidFill>
                  <a:srgbClr val="D8B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5</a:t>
            </a: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822960" y="2697480"/>
            <a:ext cx="10515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Note-Taking &amp; Organization</a:t>
            </a:r>
            <a:endParaRPr lang="en-US" sz="4000" dirty="0"/>
          </a:p>
        </p:txBody>
      </p:sp>
      <p:sp>
        <p:nvSpPr>
          <p:cNvPr id="9" name="Text 6"/>
          <p:cNvSpPr/>
          <p:nvPr/>
        </p:nvSpPr>
        <p:spPr>
          <a:xfrm>
            <a:off x="822960" y="34290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C7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Evernote &amp; Microsoft OneNote — A Complete Feature Tutorial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822960" y="4114800"/>
            <a:ext cx="10515600" cy="777240"/>
          </a:xfrm>
          <a:prstGeom prst="roundRect">
            <a:avLst>
              <a:gd name="adj" fmla="val 9412"/>
            </a:avLst>
          </a:prstGeom>
          <a:solidFill>
            <a:srgbClr val="2540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1051560" y="4114800"/>
            <a:ext cx="10058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8B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ICT 201  </a:t>
            </a: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 Applications of ICT   |  3-Hour Session   |  CLO-2   |  Fall 2026</a:t>
            </a:r>
            <a:endParaRPr lang="en-US" sz="1600" dirty="0"/>
          </a:p>
        </p:txBody>
      </p:sp>
      <p:pic>
        <p:nvPicPr>
          <p:cNvPr id="12" name="Image 1" descr="logos/evernote_ic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97680" y="5074920"/>
            <a:ext cx="731520" cy="7315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566160" y="580644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Evernote</a:t>
            </a:r>
            <a:endParaRPr lang="en-US" sz="1600" dirty="0"/>
          </a:p>
        </p:txBody>
      </p:sp>
      <p:pic>
        <p:nvPicPr>
          <p:cNvPr id="14" name="Image 2" descr="mockups/onenote_bad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32320" y="5074920"/>
            <a:ext cx="731520" cy="73152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035040" y="580644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OneNote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86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868680"/>
            <a:ext cx="12191695" cy="45720"/>
          </a:xfrm>
          <a:prstGeom prst="rect">
            <a:avLst/>
          </a:prstGeom>
          <a:solidFill>
            <a:srgbClr val="B886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109728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D8B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 — 3-HOUR SESSION, TWO BREAKS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347472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Today’s Roadmap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10561320" y="137160"/>
            <a:ext cx="1417320" cy="320040"/>
          </a:xfrm>
          <a:prstGeom prst="roundRect">
            <a:avLst>
              <a:gd name="adj" fmla="val 48571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0561320" y="137160"/>
            <a:ext cx="1417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180 MIN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097280"/>
            <a:ext cx="11247120" cy="402336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2700">
            <a:solidFill>
              <a:srgbClr val="DCE1EA"/>
            </a:solidFill>
            <a:prstDash val="solid"/>
          </a:ln>
        </p:spPr>
        <p:txBody>
          <a:bodyPr/>
          <a:lstStyle/>
          <a:p>
            <a:endParaRPr lang="en-US" sz="1600"/>
          </a:p>
        </p:txBody>
      </p:sp>
      <p:sp>
        <p:nvSpPr>
          <p:cNvPr id="9" name="Shape 7"/>
          <p:cNvSpPr/>
          <p:nvPr/>
        </p:nvSpPr>
        <p:spPr>
          <a:xfrm>
            <a:off x="548640" y="1152144"/>
            <a:ext cx="384048" cy="292608"/>
          </a:xfrm>
          <a:prstGeom prst="roundRect">
            <a:avLst>
              <a:gd name="adj" fmla="val 18750"/>
            </a:avLst>
          </a:prstGeom>
          <a:solidFill>
            <a:srgbClr val="1F3864"/>
          </a:solidFill>
          <a:ln/>
        </p:spPr>
        <p:txBody>
          <a:bodyPr/>
          <a:lstStyle/>
          <a:p>
            <a:endParaRPr lang="en-US" sz="1400"/>
          </a:p>
        </p:txBody>
      </p:sp>
      <p:sp>
        <p:nvSpPr>
          <p:cNvPr id="10" name="Text 8"/>
          <p:cNvSpPr/>
          <p:nvPr/>
        </p:nvSpPr>
        <p:spPr>
          <a:xfrm>
            <a:off x="548640" y="1152144"/>
            <a:ext cx="3840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51560" y="1097280"/>
            <a:ext cx="7680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Digital Note-Taking Matters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51560" y="1316736"/>
            <a:ext cx="7680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 with scattered notes across devices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9784080" y="1097280"/>
            <a:ext cx="1645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57200" y="1554480"/>
            <a:ext cx="11247120" cy="402336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2700">
            <a:solidFill>
              <a:srgbClr val="DCE1EA"/>
            </a:solidFill>
            <a:prstDash val="solid"/>
          </a:ln>
        </p:spPr>
        <p:txBody>
          <a:bodyPr/>
          <a:lstStyle/>
          <a:p>
            <a:endParaRPr lang="en-US" sz="1600"/>
          </a:p>
        </p:txBody>
      </p:sp>
      <p:sp>
        <p:nvSpPr>
          <p:cNvPr id="15" name="Shape 13"/>
          <p:cNvSpPr/>
          <p:nvPr/>
        </p:nvSpPr>
        <p:spPr>
          <a:xfrm>
            <a:off x="548640" y="1609344"/>
            <a:ext cx="384048" cy="292608"/>
          </a:xfrm>
          <a:prstGeom prst="roundRect">
            <a:avLst>
              <a:gd name="adj" fmla="val 18750"/>
            </a:avLst>
          </a:prstGeom>
          <a:solidFill>
            <a:srgbClr val="1F3864"/>
          </a:solidFill>
          <a:ln/>
        </p:spPr>
        <p:txBody>
          <a:bodyPr/>
          <a:lstStyle/>
          <a:p>
            <a:endParaRPr lang="en-US" sz="1400"/>
          </a:p>
        </p:txBody>
      </p:sp>
      <p:sp>
        <p:nvSpPr>
          <p:cNvPr id="16" name="Text 14"/>
          <p:cNvSpPr/>
          <p:nvPr/>
        </p:nvSpPr>
        <p:spPr>
          <a:xfrm>
            <a:off x="548640" y="1609344"/>
            <a:ext cx="3840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051560" y="1554480"/>
            <a:ext cx="7680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Evernote — Setup, Interface &amp; Notebooks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051560" y="1773936"/>
            <a:ext cx="7680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setup, dashboard tour, notebook management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9784080" y="1554480"/>
            <a:ext cx="1645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min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457200" y="2011680"/>
            <a:ext cx="11247120" cy="402336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2700">
            <a:solidFill>
              <a:srgbClr val="DCE1EA"/>
            </a:solidFill>
            <a:prstDash val="solid"/>
          </a:ln>
        </p:spPr>
        <p:txBody>
          <a:bodyPr/>
          <a:lstStyle/>
          <a:p>
            <a:endParaRPr lang="en-US" sz="1600"/>
          </a:p>
        </p:txBody>
      </p:sp>
      <p:sp>
        <p:nvSpPr>
          <p:cNvPr id="21" name="Shape 19"/>
          <p:cNvSpPr/>
          <p:nvPr/>
        </p:nvSpPr>
        <p:spPr>
          <a:xfrm>
            <a:off x="548640" y="2066544"/>
            <a:ext cx="384048" cy="292608"/>
          </a:xfrm>
          <a:prstGeom prst="roundRect">
            <a:avLst>
              <a:gd name="adj" fmla="val 18750"/>
            </a:avLst>
          </a:prstGeom>
          <a:solidFill>
            <a:srgbClr val="1F3864"/>
          </a:solidFill>
          <a:ln/>
        </p:spPr>
        <p:txBody>
          <a:bodyPr/>
          <a:lstStyle/>
          <a:p>
            <a:endParaRPr lang="en-US" sz="1400"/>
          </a:p>
        </p:txBody>
      </p:sp>
      <p:sp>
        <p:nvSpPr>
          <p:cNvPr id="22" name="Text 20"/>
          <p:cNvSpPr/>
          <p:nvPr/>
        </p:nvSpPr>
        <p:spPr>
          <a:xfrm>
            <a:off x="548640" y="2066544"/>
            <a:ext cx="3840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051560" y="2011680"/>
            <a:ext cx="7680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Evernote — Formatting, Lists &amp; Code Blocks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051560" y="2231136"/>
            <a:ext cx="7680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styling, headers, special formatting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9784080" y="2011680"/>
            <a:ext cx="1645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min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457200" y="2468880"/>
            <a:ext cx="11247120" cy="402336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2700">
            <a:solidFill>
              <a:srgbClr val="DCE1EA"/>
            </a:solidFill>
            <a:prstDash val="solid"/>
          </a:ln>
        </p:spPr>
        <p:txBody>
          <a:bodyPr/>
          <a:lstStyle/>
          <a:p>
            <a:endParaRPr lang="en-US" sz="1600"/>
          </a:p>
        </p:txBody>
      </p:sp>
      <p:sp>
        <p:nvSpPr>
          <p:cNvPr id="27" name="Shape 25"/>
          <p:cNvSpPr/>
          <p:nvPr/>
        </p:nvSpPr>
        <p:spPr>
          <a:xfrm>
            <a:off x="548640" y="2523744"/>
            <a:ext cx="384048" cy="292608"/>
          </a:xfrm>
          <a:prstGeom prst="roundRect">
            <a:avLst>
              <a:gd name="adj" fmla="val 18750"/>
            </a:avLst>
          </a:prstGeom>
          <a:solidFill>
            <a:srgbClr val="1F3864"/>
          </a:solidFill>
          <a:ln/>
        </p:spPr>
        <p:txBody>
          <a:bodyPr/>
          <a:lstStyle/>
          <a:p>
            <a:endParaRPr lang="en-US" sz="1400"/>
          </a:p>
        </p:txBody>
      </p:sp>
      <p:sp>
        <p:nvSpPr>
          <p:cNvPr id="28" name="Text 26"/>
          <p:cNvSpPr/>
          <p:nvPr/>
        </p:nvSpPr>
        <p:spPr>
          <a:xfrm>
            <a:off x="548640" y="2523744"/>
            <a:ext cx="3840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1051560" y="2468880"/>
            <a:ext cx="7680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Evernote — Sketches, Audio, Clipper &amp; Tables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1051560" y="2688336"/>
            <a:ext cx="7680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notes, web clipper, table creation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9784080" y="2468880"/>
            <a:ext cx="1645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min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457200" y="2926080"/>
            <a:ext cx="11247120" cy="402336"/>
          </a:xfrm>
          <a:prstGeom prst="roundRect">
            <a:avLst>
              <a:gd name="adj" fmla="val 18182"/>
            </a:avLst>
          </a:prstGeom>
          <a:solidFill>
            <a:srgbClr val="FDF3E3"/>
          </a:solidFill>
          <a:ln w="12700">
            <a:solidFill>
              <a:srgbClr val="DCE1EA"/>
            </a:solidFill>
            <a:prstDash val="solid"/>
          </a:ln>
        </p:spPr>
        <p:txBody>
          <a:bodyPr/>
          <a:lstStyle/>
          <a:p>
            <a:endParaRPr lang="en-US" sz="1600"/>
          </a:p>
        </p:txBody>
      </p:sp>
      <p:sp>
        <p:nvSpPr>
          <p:cNvPr id="33" name="Shape 31"/>
          <p:cNvSpPr/>
          <p:nvPr/>
        </p:nvSpPr>
        <p:spPr>
          <a:xfrm>
            <a:off x="548640" y="2980944"/>
            <a:ext cx="384048" cy="292608"/>
          </a:xfrm>
          <a:prstGeom prst="roundRect">
            <a:avLst>
              <a:gd name="adj" fmla="val 18750"/>
            </a:avLst>
          </a:prstGeom>
          <a:solidFill>
            <a:srgbClr val="B8860B"/>
          </a:solidFill>
          <a:ln/>
        </p:spPr>
        <p:txBody>
          <a:bodyPr/>
          <a:lstStyle/>
          <a:p>
            <a:endParaRPr lang="en-US" sz="1400"/>
          </a:p>
        </p:txBody>
      </p:sp>
      <p:sp>
        <p:nvSpPr>
          <p:cNvPr id="34" name="Text 32"/>
          <p:cNvSpPr/>
          <p:nvPr/>
        </p:nvSpPr>
        <p:spPr>
          <a:xfrm>
            <a:off x="548640" y="2980944"/>
            <a:ext cx="3840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☕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1051560" y="2953512"/>
            <a:ext cx="7680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 1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9784080" y="2926080"/>
            <a:ext cx="1645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457200" y="3383280"/>
            <a:ext cx="11247120" cy="402336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2700">
            <a:solidFill>
              <a:srgbClr val="DCE1EA"/>
            </a:solidFill>
            <a:prstDash val="solid"/>
          </a:ln>
        </p:spPr>
        <p:txBody>
          <a:bodyPr/>
          <a:lstStyle/>
          <a:p>
            <a:endParaRPr lang="en-US" sz="1600"/>
          </a:p>
        </p:txBody>
      </p:sp>
      <p:sp>
        <p:nvSpPr>
          <p:cNvPr id="38" name="Shape 36"/>
          <p:cNvSpPr/>
          <p:nvPr/>
        </p:nvSpPr>
        <p:spPr>
          <a:xfrm>
            <a:off x="548640" y="3438144"/>
            <a:ext cx="384048" cy="292608"/>
          </a:xfrm>
          <a:prstGeom prst="roundRect">
            <a:avLst>
              <a:gd name="adj" fmla="val 18750"/>
            </a:avLst>
          </a:prstGeom>
          <a:solidFill>
            <a:srgbClr val="1F3864"/>
          </a:solidFill>
          <a:ln/>
        </p:spPr>
        <p:txBody>
          <a:bodyPr/>
          <a:lstStyle/>
          <a:p>
            <a:endParaRPr lang="en-US" sz="1400"/>
          </a:p>
        </p:txBody>
      </p:sp>
      <p:sp>
        <p:nvSpPr>
          <p:cNvPr id="39" name="Text 37"/>
          <p:cNvSpPr/>
          <p:nvPr/>
        </p:nvSpPr>
        <p:spPr>
          <a:xfrm>
            <a:off x="548640" y="3438144"/>
            <a:ext cx="3840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1051560" y="3383280"/>
            <a:ext cx="7680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Evernote — Organization, Sharing &amp; Security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1051560" y="3602736"/>
            <a:ext cx="7680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Tags, search, sharing, encryption, backup/export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9784080" y="3383280"/>
            <a:ext cx="1645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min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457200" y="3840480"/>
            <a:ext cx="11247120" cy="402336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2700">
            <a:solidFill>
              <a:srgbClr val="DCE1EA"/>
            </a:solidFill>
            <a:prstDash val="solid"/>
          </a:ln>
        </p:spPr>
        <p:txBody>
          <a:bodyPr/>
          <a:lstStyle/>
          <a:p>
            <a:endParaRPr lang="en-US" sz="1600"/>
          </a:p>
        </p:txBody>
      </p:sp>
      <p:sp>
        <p:nvSpPr>
          <p:cNvPr id="44" name="Shape 42"/>
          <p:cNvSpPr/>
          <p:nvPr/>
        </p:nvSpPr>
        <p:spPr>
          <a:xfrm>
            <a:off x="548640" y="3895344"/>
            <a:ext cx="384048" cy="292608"/>
          </a:xfrm>
          <a:prstGeom prst="roundRect">
            <a:avLst>
              <a:gd name="adj" fmla="val 18750"/>
            </a:avLst>
          </a:prstGeom>
          <a:solidFill>
            <a:srgbClr val="1F3864"/>
          </a:solidFill>
          <a:ln/>
        </p:spPr>
        <p:txBody>
          <a:bodyPr/>
          <a:lstStyle/>
          <a:p>
            <a:endParaRPr lang="en-US" sz="1400"/>
          </a:p>
        </p:txBody>
      </p:sp>
      <p:sp>
        <p:nvSpPr>
          <p:cNvPr id="45" name="Text 43"/>
          <p:cNvSpPr/>
          <p:nvPr/>
        </p:nvSpPr>
        <p:spPr>
          <a:xfrm>
            <a:off x="548640" y="3895344"/>
            <a:ext cx="3840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400" dirty="0"/>
          </a:p>
        </p:txBody>
      </p:sp>
      <p:sp>
        <p:nvSpPr>
          <p:cNvPr id="46" name="Text 44"/>
          <p:cNvSpPr/>
          <p:nvPr/>
        </p:nvSpPr>
        <p:spPr>
          <a:xfrm>
            <a:off x="1051560" y="3840480"/>
            <a:ext cx="7680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OneNote — Introduction &amp; Structure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1051560" y="4059936"/>
            <a:ext cx="7680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centralization principle, Notebook→Section→Page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9784080" y="3840480"/>
            <a:ext cx="1645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min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457200" y="4297680"/>
            <a:ext cx="11247120" cy="402336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2700">
            <a:solidFill>
              <a:srgbClr val="DCE1EA"/>
            </a:solidFill>
            <a:prstDash val="solid"/>
          </a:ln>
        </p:spPr>
        <p:txBody>
          <a:bodyPr/>
          <a:lstStyle/>
          <a:p>
            <a:endParaRPr lang="en-US" sz="1600"/>
          </a:p>
        </p:txBody>
      </p:sp>
      <p:sp>
        <p:nvSpPr>
          <p:cNvPr id="50" name="Shape 48"/>
          <p:cNvSpPr/>
          <p:nvPr/>
        </p:nvSpPr>
        <p:spPr>
          <a:xfrm>
            <a:off x="548640" y="4352544"/>
            <a:ext cx="384048" cy="292608"/>
          </a:xfrm>
          <a:prstGeom prst="roundRect">
            <a:avLst>
              <a:gd name="adj" fmla="val 18750"/>
            </a:avLst>
          </a:prstGeom>
          <a:solidFill>
            <a:srgbClr val="1F3864"/>
          </a:solidFill>
          <a:ln/>
        </p:spPr>
        <p:txBody>
          <a:bodyPr/>
          <a:lstStyle/>
          <a:p>
            <a:endParaRPr lang="en-US" sz="1400"/>
          </a:p>
        </p:txBody>
      </p:sp>
      <p:sp>
        <p:nvSpPr>
          <p:cNvPr id="51" name="Text 49"/>
          <p:cNvSpPr/>
          <p:nvPr/>
        </p:nvSpPr>
        <p:spPr>
          <a:xfrm>
            <a:off x="548640" y="4352544"/>
            <a:ext cx="3840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400" dirty="0"/>
          </a:p>
        </p:txBody>
      </p:sp>
      <p:sp>
        <p:nvSpPr>
          <p:cNvPr id="52" name="Text 50"/>
          <p:cNvSpPr/>
          <p:nvPr/>
        </p:nvSpPr>
        <p:spPr>
          <a:xfrm>
            <a:off x="1051560" y="4297680"/>
            <a:ext cx="7680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OneNote — Formatting, Media &amp; Collaboration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1051560" y="4517136"/>
            <a:ext cx="7680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Tags, AI Dictate, rich media, sharing &amp; permissions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9784080" y="4297680"/>
            <a:ext cx="1645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min</a:t>
            </a:r>
            <a:endParaRPr lang="en-US" sz="1600" dirty="0"/>
          </a:p>
        </p:txBody>
      </p:sp>
      <p:sp>
        <p:nvSpPr>
          <p:cNvPr id="55" name="Shape 53"/>
          <p:cNvSpPr/>
          <p:nvPr/>
        </p:nvSpPr>
        <p:spPr>
          <a:xfrm>
            <a:off x="457200" y="4754880"/>
            <a:ext cx="11247120" cy="402336"/>
          </a:xfrm>
          <a:prstGeom prst="roundRect">
            <a:avLst>
              <a:gd name="adj" fmla="val 18182"/>
            </a:avLst>
          </a:prstGeom>
          <a:solidFill>
            <a:srgbClr val="FDF3E3"/>
          </a:solidFill>
          <a:ln w="12700">
            <a:solidFill>
              <a:srgbClr val="DCE1EA"/>
            </a:solidFill>
            <a:prstDash val="solid"/>
          </a:ln>
        </p:spPr>
        <p:txBody>
          <a:bodyPr/>
          <a:lstStyle/>
          <a:p>
            <a:endParaRPr lang="en-US" sz="1600"/>
          </a:p>
        </p:txBody>
      </p:sp>
      <p:sp>
        <p:nvSpPr>
          <p:cNvPr id="56" name="Shape 54"/>
          <p:cNvSpPr/>
          <p:nvPr/>
        </p:nvSpPr>
        <p:spPr>
          <a:xfrm>
            <a:off x="548640" y="4809744"/>
            <a:ext cx="384048" cy="292608"/>
          </a:xfrm>
          <a:prstGeom prst="roundRect">
            <a:avLst>
              <a:gd name="adj" fmla="val 18750"/>
            </a:avLst>
          </a:prstGeom>
          <a:solidFill>
            <a:srgbClr val="B8860B"/>
          </a:solidFill>
          <a:ln/>
        </p:spPr>
        <p:txBody>
          <a:bodyPr/>
          <a:lstStyle/>
          <a:p>
            <a:endParaRPr lang="en-US" sz="1400"/>
          </a:p>
        </p:txBody>
      </p:sp>
      <p:sp>
        <p:nvSpPr>
          <p:cNvPr id="57" name="Text 55"/>
          <p:cNvSpPr/>
          <p:nvPr/>
        </p:nvSpPr>
        <p:spPr>
          <a:xfrm>
            <a:off x="548640" y="4809744"/>
            <a:ext cx="3840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☕</a:t>
            </a:r>
            <a:endParaRPr lang="en-US" sz="1400" dirty="0"/>
          </a:p>
        </p:txBody>
      </p:sp>
      <p:sp>
        <p:nvSpPr>
          <p:cNvPr id="58" name="Text 56"/>
          <p:cNvSpPr/>
          <p:nvPr/>
        </p:nvSpPr>
        <p:spPr>
          <a:xfrm>
            <a:off x="1051560" y="4782312"/>
            <a:ext cx="7680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 2</a:t>
            </a:r>
            <a:endParaRPr lang="en-US" sz="1600" dirty="0"/>
          </a:p>
        </p:txBody>
      </p:sp>
      <p:sp>
        <p:nvSpPr>
          <p:cNvPr id="59" name="Text 57"/>
          <p:cNvSpPr/>
          <p:nvPr/>
        </p:nvSpPr>
        <p:spPr>
          <a:xfrm>
            <a:off x="9784080" y="4754880"/>
            <a:ext cx="1645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</a:t>
            </a:r>
            <a:endParaRPr lang="en-US" sz="1600" dirty="0"/>
          </a:p>
        </p:txBody>
      </p:sp>
      <p:sp>
        <p:nvSpPr>
          <p:cNvPr id="60" name="Shape 58"/>
          <p:cNvSpPr/>
          <p:nvPr/>
        </p:nvSpPr>
        <p:spPr>
          <a:xfrm>
            <a:off x="457200" y="5212080"/>
            <a:ext cx="11247120" cy="402336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2700">
            <a:solidFill>
              <a:srgbClr val="DCE1EA"/>
            </a:solidFill>
            <a:prstDash val="solid"/>
          </a:ln>
        </p:spPr>
        <p:txBody>
          <a:bodyPr/>
          <a:lstStyle/>
          <a:p>
            <a:endParaRPr lang="en-US" sz="1600"/>
          </a:p>
        </p:txBody>
      </p:sp>
      <p:sp>
        <p:nvSpPr>
          <p:cNvPr id="61" name="Shape 59"/>
          <p:cNvSpPr/>
          <p:nvPr/>
        </p:nvSpPr>
        <p:spPr>
          <a:xfrm>
            <a:off x="548640" y="5266944"/>
            <a:ext cx="384048" cy="292608"/>
          </a:xfrm>
          <a:prstGeom prst="roundRect">
            <a:avLst>
              <a:gd name="adj" fmla="val 18750"/>
            </a:avLst>
          </a:prstGeom>
          <a:solidFill>
            <a:srgbClr val="1F3864"/>
          </a:solidFill>
          <a:ln/>
        </p:spPr>
        <p:txBody>
          <a:bodyPr/>
          <a:lstStyle/>
          <a:p>
            <a:endParaRPr lang="en-US" sz="1400"/>
          </a:p>
        </p:txBody>
      </p:sp>
      <p:sp>
        <p:nvSpPr>
          <p:cNvPr id="62" name="Text 60"/>
          <p:cNvSpPr/>
          <p:nvPr/>
        </p:nvSpPr>
        <p:spPr>
          <a:xfrm>
            <a:off x="548640" y="5266944"/>
            <a:ext cx="3840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400" dirty="0"/>
          </a:p>
        </p:txBody>
      </p:sp>
      <p:sp>
        <p:nvSpPr>
          <p:cNvPr id="63" name="Text 61"/>
          <p:cNvSpPr/>
          <p:nvPr/>
        </p:nvSpPr>
        <p:spPr>
          <a:xfrm>
            <a:off x="1051560" y="5212080"/>
            <a:ext cx="7680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Evernote vs OneNote — Comparison</a:t>
            </a:r>
            <a:endParaRPr lang="en-US" sz="1600" dirty="0"/>
          </a:p>
        </p:txBody>
      </p:sp>
      <p:sp>
        <p:nvSpPr>
          <p:cNvPr id="64" name="Text 62"/>
          <p:cNvSpPr/>
          <p:nvPr/>
        </p:nvSpPr>
        <p:spPr>
          <a:xfrm>
            <a:off x="1051560" y="5431536"/>
            <a:ext cx="7680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Side-by-side feature comparison</a:t>
            </a:r>
            <a:endParaRPr lang="en-US" sz="1600" dirty="0"/>
          </a:p>
        </p:txBody>
      </p:sp>
      <p:sp>
        <p:nvSpPr>
          <p:cNvPr id="65" name="Text 63"/>
          <p:cNvSpPr/>
          <p:nvPr/>
        </p:nvSpPr>
        <p:spPr>
          <a:xfrm>
            <a:off x="9784080" y="5212080"/>
            <a:ext cx="1645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</a:t>
            </a:r>
            <a:endParaRPr lang="en-US" sz="1600" dirty="0"/>
          </a:p>
        </p:txBody>
      </p:sp>
      <p:sp>
        <p:nvSpPr>
          <p:cNvPr id="66" name="Shape 64"/>
          <p:cNvSpPr/>
          <p:nvPr/>
        </p:nvSpPr>
        <p:spPr>
          <a:xfrm>
            <a:off x="457200" y="5669280"/>
            <a:ext cx="11247120" cy="402336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2700">
            <a:solidFill>
              <a:srgbClr val="DCE1EA"/>
            </a:solidFill>
            <a:prstDash val="solid"/>
          </a:ln>
        </p:spPr>
        <p:txBody>
          <a:bodyPr/>
          <a:lstStyle/>
          <a:p>
            <a:endParaRPr lang="en-US" sz="1600"/>
          </a:p>
        </p:txBody>
      </p:sp>
      <p:sp>
        <p:nvSpPr>
          <p:cNvPr id="67" name="Shape 65"/>
          <p:cNvSpPr/>
          <p:nvPr/>
        </p:nvSpPr>
        <p:spPr>
          <a:xfrm>
            <a:off x="548640" y="5724144"/>
            <a:ext cx="384048" cy="292608"/>
          </a:xfrm>
          <a:prstGeom prst="roundRect">
            <a:avLst>
              <a:gd name="adj" fmla="val 18750"/>
            </a:avLst>
          </a:prstGeom>
          <a:solidFill>
            <a:srgbClr val="1F3864"/>
          </a:solidFill>
          <a:ln/>
        </p:spPr>
        <p:txBody>
          <a:bodyPr/>
          <a:lstStyle/>
          <a:p>
            <a:endParaRPr lang="en-US" sz="1400"/>
          </a:p>
        </p:txBody>
      </p:sp>
      <p:sp>
        <p:nvSpPr>
          <p:cNvPr id="68" name="Text 66"/>
          <p:cNvSpPr/>
          <p:nvPr/>
        </p:nvSpPr>
        <p:spPr>
          <a:xfrm>
            <a:off x="548640" y="5724144"/>
            <a:ext cx="3840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400" dirty="0"/>
          </a:p>
        </p:txBody>
      </p:sp>
      <p:sp>
        <p:nvSpPr>
          <p:cNvPr id="69" name="Text 67"/>
          <p:cNvSpPr/>
          <p:nvPr/>
        </p:nvSpPr>
        <p:spPr>
          <a:xfrm>
            <a:off x="1051560" y="5669280"/>
            <a:ext cx="7680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Activity + Key Takeaways</a:t>
            </a:r>
            <a:endParaRPr lang="en-US" sz="1600" dirty="0"/>
          </a:p>
        </p:txBody>
      </p:sp>
      <p:sp>
        <p:nvSpPr>
          <p:cNvPr id="70" name="Text 68"/>
          <p:cNvSpPr/>
          <p:nvPr/>
        </p:nvSpPr>
        <p:spPr>
          <a:xfrm>
            <a:off x="1051560" y="5888736"/>
            <a:ext cx="7680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Guided practice + wrap-up</a:t>
            </a:r>
            <a:endParaRPr lang="en-US" sz="1600" dirty="0"/>
          </a:p>
        </p:txBody>
      </p:sp>
      <p:sp>
        <p:nvSpPr>
          <p:cNvPr id="71" name="Text 69"/>
          <p:cNvSpPr/>
          <p:nvPr/>
        </p:nvSpPr>
        <p:spPr>
          <a:xfrm>
            <a:off x="9784080" y="5669280"/>
            <a:ext cx="1645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</a:t>
            </a:r>
            <a:endParaRPr lang="en-US" sz="1600" dirty="0"/>
          </a:p>
        </p:txBody>
      </p:sp>
      <p:sp>
        <p:nvSpPr>
          <p:cNvPr id="72" name="Text 70"/>
          <p:cNvSpPr/>
          <p:nvPr/>
        </p:nvSpPr>
        <p:spPr>
          <a:xfrm>
            <a:off x="457200" y="656539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6A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ICT 201  |  Week 5 — Evernote &amp; Microsoft OneNote</a:t>
            </a:r>
            <a:endParaRPr lang="en-US" sz="900" dirty="0"/>
          </a:p>
        </p:txBody>
      </p:sp>
      <p:sp>
        <p:nvSpPr>
          <p:cNvPr id="73" name="Text 71"/>
          <p:cNvSpPr/>
          <p:nvPr/>
        </p:nvSpPr>
        <p:spPr>
          <a:xfrm>
            <a:off x="11521440" y="656539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6A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86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868680"/>
            <a:ext cx="12191695" cy="45720"/>
          </a:xfrm>
          <a:prstGeom prst="rect">
            <a:avLst/>
          </a:prstGeom>
          <a:solidFill>
            <a:srgbClr val="B886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109728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D8B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 THE CONTEXT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347472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 with Scattered Notes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48640" y="1188720"/>
            <a:ext cx="11064240" cy="1188720"/>
          </a:xfrm>
          <a:prstGeom prst="roundRect">
            <a:avLst>
              <a:gd name="adj" fmla="val 6154"/>
            </a:avLst>
          </a:prstGeom>
          <a:solidFill>
            <a:srgbClr val="F4F6FA"/>
          </a:solidFill>
          <a:ln w="12700">
            <a:solidFill>
              <a:srgbClr val="DCE1EA"/>
            </a:solidFill>
            <a:prstDash val="solid"/>
          </a:ln>
          <a:effectLst>
            <a:outerShdw blurRad="76200" dist="25400" dir="5400000" algn="bl" rotWithShape="0">
              <a:srgbClr val="888888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22960" y="137160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i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“Your mind is for having ideas, not to remember them.”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548640" y="2651760"/>
            <a:ext cx="5440680" cy="2103120"/>
          </a:xfrm>
          <a:prstGeom prst="roundRect">
            <a:avLst>
              <a:gd name="adj" fmla="val 3478"/>
            </a:avLst>
          </a:prstGeom>
          <a:solidFill>
            <a:srgbClr val="FBEAEA"/>
          </a:solidFill>
          <a:ln w="12700">
            <a:solidFill>
              <a:srgbClr val="DCE1EA"/>
            </a:solidFill>
            <a:prstDash val="solid"/>
          </a:ln>
          <a:effectLst>
            <a:outerShdw blurRad="76200" dist="25400" dir="5400000" algn="bl" rotWithShape="0">
              <a:srgbClr val="888888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77240" y="283464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777240" y="3246120"/>
            <a:ext cx="49377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Notes scattered across physical notebooks, PCs, and phones lead to lost information, missed tasks, and reduced performance — academically and professionally.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172200" y="2651760"/>
            <a:ext cx="5440680" cy="2103120"/>
          </a:xfrm>
          <a:prstGeom prst="roundRect">
            <a:avLst>
              <a:gd name="adj" fmla="val 3478"/>
            </a:avLst>
          </a:prstGeom>
          <a:solidFill>
            <a:srgbClr val="EAF6EC"/>
          </a:solidFill>
          <a:ln w="12700">
            <a:solidFill>
              <a:srgbClr val="DCE1EA"/>
            </a:solidFill>
            <a:prstDash val="solid"/>
          </a:ln>
          <a:effectLst>
            <a:outerShdw blurRad="76200" dist="25400" dir="5400000" algn="bl" rotWithShape="0">
              <a:srgbClr val="888888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400800" y="283464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6400800" y="3246120"/>
            <a:ext cx="49377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note-taking apps centralize note creation in a single workspace, accessible across desktop, web, and mobile — always synced, always searchable.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48640" y="4983480"/>
            <a:ext cx="11064240" cy="1325880"/>
          </a:xfrm>
          <a:prstGeom prst="roundRect">
            <a:avLst>
              <a:gd name="adj" fmla="val 5517"/>
            </a:avLst>
          </a:prstGeom>
          <a:solidFill>
            <a:srgbClr val="FDF3E3"/>
          </a:solidFill>
          <a:ln w="12700">
            <a:solidFill>
              <a:srgbClr val="DCE1EA"/>
            </a:solidFill>
            <a:prstDash val="solid"/>
          </a:ln>
          <a:effectLst>
            <a:outerShdw blurRad="76200" dist="25400" dir="5400000" algn="bl" rotWithShape="0">
              <a:srgbClr val="888888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822960" y="51206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kern="0" spc="100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LEADING SOLUTIONS</a:t>
            </a: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822960" y="5413248"/>
            <a:ext cx="10332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 we explore Evernote and Microsoft OneNote — two of the most widely used digital note-taking and organization platforms, each with a distinct approach but the same underlying goal: never lose an idea again.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57200" y="656539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6A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ICT 201  |  Week 5 — Evernote &amp; Microsoft OneNote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521440" y="656539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6A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62B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2B4D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logos/evernote_ic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58968" y="1371600"/>
            <a:ext cx="1280160" cy="12801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22960" y="301752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kern="0" spc="300" dirty="0">
                <a:solidFill>
                  <a:srgbClr val="D8B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1: EVERNOTE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822960" y="347472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Setup, Formatting, Media, Organization &amp; Sharing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822960" y="420624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C7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complete feature tutorial with step-by-step guidance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86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868680"/>
            <a:ext cx="12191695" cy="45720"/>
          </a:xfrm>
          <a:prstGeom prst="rect">
            <a:avLst/>
          </a:prstGeom>
          <a:solidFill>
            <a:srgbClr val="B886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109728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D8B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1: EVERNOTE — TUTORIAL STEP 1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347472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Getting Started: Setup &amp; Interface</a:t>
            </a:r>
            <a:endParaRPr lang="en-US" sz="2400" dirty="0"/>
          </a:p>
        </p:txBody>
      </p:sp>
      <p:pic>
        <p:nvPicPr>
          <p:cNvPr id="6" name="Image 0" descr="mockups/evernote_dashbo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097280"/>
            <a:ext cx="7132320" cy="45720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818120" y="1097280"/>
            <a:ext cx="3886200" cy="5212080"/>
          </a:xfrm>
          <a:prstGeom prst="roundRect">
            <a:avLst>
              <a:gd name="adj" fmla="val 1882"/>
            </a:avLst>
          </a:prstGeom>
          <a:solidFill>
            <a:srgbClr val="F4F6FA"/>
          </a:solidFill>
          <a:ln w="12700">
            <a:solidFill>
              <a:srgbClr val="DCE1EA"/>
            </a:solidFill>
            <a:prstDash val="solid"/>
          </a:ln>
          <a:effectLst>
            <a:outerShdw blurRad="76200" dist="25400" dir="5400000" algn="bl" rotWithShape="0">
              <a:srgbClr val="888888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8046720" y="123444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kern="0" spc="100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 STEPS</a:t>
            </a: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8046720" y="160020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Download</a:t>
            </a:r>
            <a:endParaRPr lang="en-US" dirty="0"/>
          </a:p>
        </p:txBody>
      </p:sp>
      <p:sp>
        <p:nvSpPr>
          <p:cNvPr id="10" name="Text 7"/>
          <p:cNvSpPr/>
          <p:nvPr/>
        </p:nvSpPr>
        <p:spPr>
          <a:xfrm>
            <a:off x="8046720" y="187452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6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the desktop setup file directly from evernote.com for Windows or macOS.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8046720" y="256032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Create Account</a:t>
            </a:r>
            <a:endParaRPr lang="en-US" dirty="0"/>
          </a:p>
        </p:txBody>
      </p:sp>
      <p:sp>
        <p:nvSpPr>
          <p:cNvPr id="12" name="Text 9"/>
          <p:cNvSpPr/>
          <p:nvPr/>
        </p:nvSpPr>
        <p:spPr>
          <a:xfrm>
            <a:off x="8046720" y="283464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6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up or log in using email, Google account, or Apple ID.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8046720" y="352044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Sync Access</a:t>
            </a:r>
            <a:endParaRPr lang="en-US" dirty="0"/>
          </a:p>
        </p:txBody>
      </p:sp>
      <p:sp>
        <p:nvSpPr>
          <p:cNvPr id="14" name="Text 11"/>
          <p:cNvSpPr/>
          <p:nvPr/>
        </p:nvSpPr>
        <p:spPr>
          <a:xfrm>
            <a:off x="8046720" y="379476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6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account works across web and desktop versions instantly.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8046720" y="448056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ZONES ON DASHBOARD</a:t>
            </a:r>
            <a:endParaRPr lang="en-US" dirty="0"/>
          </a:p>
        </p:txBody>
      </p:sp>
      <p:sp>
        <p:nvSpPr>
          <p:cNvPr id="16" name="Text 13"/>
          <p:cNvSpPr/>
          <p:nvPr/>
        </p:nvSpPr>
        <p:spPr>
          <a:xfrm>
            <a:off x="8046720" y="4736592"/>
            <a:ext cx="3474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bar • Home • Notes • Notebooks • Tasks • Shortcuts • Tags • Shared • Trash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457200" y="656539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6A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ICT 201  |  Week 5 — Evernote &amp; Microsoft OneNote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11521440" y="656539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6A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86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868680"/>
            <a:ext cx="12191695" cy="45720"/>
          </a:xfrm>
          <a:prstGeom prst="rect">
            <a:avLst/>
          </a:prstGeom>
          <a:solidFill>
            <a:srgbClr val="B886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109728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D8B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1: EVERNOTE — TUTORIAL STEP 2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347472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Creating Notes &amp; Managing Notebooks</a:t>
            </a:r>
            <a:endParaRPr lang="en-US" sz="2400" dirty="0"/>
          </a:p>
        </p:txBody>
      </p:sp>
      <p:pic>
        <p:nvPicPr>
          <p:cNvPr id="6" name="Image 0" descr="mockups/evernote_notebook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097280"/>
            <a:ext cx="6858000" cy="44805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543800" y="1097280"/>
            <a:ext cx="4160520" cy="5212080"/>
          </a:xfrm>
          <a:prstGeom prst="roundRect">
            <a:avLst>
              <a:gd name="adj" fmla="val 1758"/>
            </a:avLst>
          </a:prstGeom>
          <a:solidFill>
            <a:srgbClr val="F4F6FA"/>
          </a:solidFill>
          <a:ln w="12700">
            <a:solidFill>
              <a:srgbClr val="DCE1EA"/>
            </a:solidFill>
            <a:prstDash val="solid"/>
          </a:ln>
          <a:effectLst>
            <a:outerShdw blurRad="76200" dist="25400" dir="5400000" algn="bl" rotWithShape="0">
              <a:srgbClr val="888888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7772400" y="12344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kern="0" spc="100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7772400" y="160020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note</a:t>
            </a:r>
            <a:endParaRPr lang="en-US" dirty="0"/>
          </a:p>
        </p:txBody>
      </p:sp>
      <p:sp>
        <p:nvSpPr>
          <p:cNvPr id="10" name="Text 7"/>
          <p:cNvSpPr/>
          <p:nvPr/>
        </p:nvSpPr>
        <p:spPr>
          <a:xfrm>
            <a:off x="7772400" y="1837944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250"/>
              </a:lnSpc>
              <a:buNone/>
            </a:pPr>
            <a:r>
              <a:rPr lang="en-US" sz="16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Home dashboard or the green "+" button for instant note creation.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7772400" y="2404872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into notebooks</a:t>
            </a:r>
            <a:endParaRPr lang="en-US" dirty="0"/>
          </a:p>
        </p:txBody>
      </p:sp>
      <p:sp>
        <p:nvSpPr>
          <p:cNvPr id="12" name="Text 9"/>
          <p:cNvSpPr/>
          <p:nvPr/>
        </p:nvSpPr>
        <p:spPr>
          <a:xfrm>
            <a:off x="7772400" y="2642616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250"/>
              </a:lnSpc>
              <a:buNone/>
            </a:pPr>
            <a:r>
              <a:rPr lang="en-US" sz="16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Organize related notes together under a custom notebook.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7772400" y="3209544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notebook (★)</a:t>
            </a:r>
            <a:endParaRPr lang="en-US" dirty="0"/>
          </a:p>
        </p:txBody>
      </p:sp>
      <p:sp>
        <p:nvSpPr>
          <p:cNvPr id="14" name="Text 11"/>
          <p:cNvSpPr/>
          <p:nvPr/>
        </p:nvSpPr>
        <p:spPr>
          <a:xfrm>
            <a:off x="7772400" y="3447288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250"/>
              </a:lnSpc>
              <a:buNone/>
            </a:pPr>
            <a:r>
              <a:rPr lang="en-US" sz="16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notebook is marked with a star — new notes auto-save here unless you choose otherwise.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7772400" y="4014216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Rename anytime</a:t>
            </a:r>
            <a:endParaRPr lang="en-US" dirty="0"/>
          </a:p>
        </p:txBody>
      </p:sp>
      <p:sp>
        <p:nvSpPr>
          <p:cNvPr id="16" name="Text 13"/>
          <p:cNvSpPr/>
          <p:nvPr/>
        </p:nvSpPr>
        <p:spPr>
          <a:xfrm>
            <a:off x="7772400" y="425196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250"/>
              </a:lnSpc>
              <a:buNone/>
            </a:pPr>
            <a:r>
              <a:rPr lang="en-US" sz="16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notebooks can be renamed whenever your organization needs change.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7772400" y="4818888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notebooks</a:t>
            </a:r>
            <a:endParaRPr lang="en-US" dirty="0"/>
          </a:p>
        </p:txBody>
      </p:sp>
      <p:sp>
        <p:nvSpPr>
          <p:cNvPr id="18" name="Text 15"/>
          <p:cNvSpPr/>
          <p:nvPr/>
        </p:nvSpPr>
        <p:spPr>
          <a:xfrm>
            <a:off x="7772400" y="5056632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250"/>
              </a:lnSpc>
              <a:buNone/>
            </a:pPr>
            <a:r>
              <a:rPr lang="en-US" sz="16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Deleting a notebook moves all its notes to Trash — not permanently gone.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457200" y="656539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6A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ICT 201  |  Week 5 — Evernote &amp; Microsoft OneNote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11521440" y="656539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6A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86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868680"/>
            <a:ext cx="12191695" cy="45720"/>
          </a:xfrm>
          <a:prstGeom prst="rect">
            <a:avLst/>
          </a:prstGeom>
          <a:solidFill>
            <a:srgbClr val="B886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109728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D8B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1: EVERNOTE — TUTORIAL STEP 3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347472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Formatting &amp; Header Hierarchy</a:t>
            </a:r>
            <a:endParaRPr lang="en-US" sz="2400" dirty="0"/>
          </a:p>
        </p:txBody>
      </p:sp>
      <p:pic>
        <p:nvPicPr>
          <p:cNvPr id="6" name="Image 0" descr="mockups/evernote_formatt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097280"/>
            <a:ext cx="6858000" cy="44805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543800" y="1097280"/>
            <a:ext cx="4160520" cy="5212080"/>
          </a:xfrm>
          <a:prstGeom prst="roundRect">
            <a:avLst>
              <a:gd name="adj" fmla="val 1758"/>
            </a:avLst>
          </a:prstGeom>
          <a:solidFill>
            <a:srgbClr val="F4F6FA"/>
          </a:solidFill>
          <a:ln w="12700">
            <a:solidFill>
              <a:srgbClr val="DCE1EA"/>
            </a:solidFill>
            <a:prstDash val="solid"/>
          </a:ln>
          <a:effectLst>
            <a:outerShdw blurRad="76200" dist="25400" dir="5400000" algn="bl" rotWithShape="0">
              <a:srgbClr val="888888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7772400" y="12344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STYLING</a:t>
            </a: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7772400" y="1536192"/>
            <a:ext cx="3657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 family, size, Bold, Italic, Underline, text color, and background highlight color — all customizable per selection.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7772400" y="23317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HEADER HIERARCHY</a:t>
            </a:r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7772400" y="2633472"/>
            <a:ext cx="3657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Large, Medium, or Small header styles to structure long notes. Updating one header style automatically updates ALL matching headers across the note — with an option to reset to default.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7543800" y="3977640"/>
            <a:ext cx="4160520" cy="2194560"/>
          </a:xfrm>
          <a:prstGeom prst="roundRect">
            <a:avLst>
              <a:gd name="adj" fmla="val 3333"/>
            </a:avLst>
          </a:prstGeom>
          <a:solidFill>
            <a:srgbClr val="FDF3E3"/>
          </a:solidFill>
          <a:ln w="12700">
            <a:solidFill>
              <a:srgbClr val="DCE1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7772400" y="4114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</a:t>
            </a:r>
            <a:endParaRPr lang="en-US" dirty="0"/>
          </a:p>
        </p:txBody>
      </p:sp>
      <p:sp>
        <p:nvSpPr>
          <p:cNvPr id="14" name="Text 11"/>
          <p:cNvSpPr/>
          <p:nvPr/>
        </p:nvSpPr>
        <p:spPr>
          <a:xfrm>
            <a:off x="7772400" y="4407408"/>
            <a:ext cx="36576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600" i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header styles turn a wall of text into a scannable, navigable document — the same principle used in this very lecture deck.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457200" y="656539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6A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ICT 201  |  Week 5 — Evernote &amp; Microsoft OneNote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11521440" y="656539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6A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86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868680"/>
            <a:ext cx="12191695" cy="45720"/>
          </a:xfrm>
          <a:prstGeom prst="rect">
            <a:avLst/>
          </a:prstGeom>
          <a:solidFill>
            <a:srgbClr val="B886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109728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D8B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1: EVERNOTE — TUTORIAL STEP 4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347472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Formatting, Lists &amp; Alignment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48640" y="1143000"/>
            <a:ext cx="5394960" cy="1600200"/>
          </a:xfrm>
          <a:prstGeom prst="roundRect">
            <a:avLst>
              <a:gd name="adj" fmla="val 4571"/>
            </a:avLst>
          </a:prstGeom>
          <a:solidFill>
            <a:srgbClr val="E8EEF9"/>
          </a:solidFill>
          <a:ln w="12700">
            <a:solidFill>
              <a:srgbClr val="DCE1EA"/>
            </a:solidFill>
            <a:prstDash val="solid"/>
          </a:ln>
        </p:spPr>
        <p:txBody>
          <a:bodyPr/>
          <a:lstStyle/>
          <a:p>
            <a:endParaRPr lang="en-US" sz="1600"/>
          </a:p>
        </p:txBody>
      </p:sp>
      <p:sp>
        <p:nvSpPr>
          <p:cNvPr id="7" name="Text 5"/>
          <p:cNvSpPr/>
          <p:nvPr/>
        </p:nvSpPr>
        <p:spPr>
          <a:xfrm>
            <a:off x="777240" y="128016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 Formatting</a:t>
            </a: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777240" y="1645920"/>
            <a:ext cx="4937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Strikethrough, superscript, and subscript (great for equations) — or simplify/remove all formatting to convert back to plain text.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172200" y="1143000"/>
            <a:ext cx="5394960" cy="1600200"/>
          </a:xfrm>
          <a:prstGeom prst="roundRect">
            <a:avLst>
              <a:gd name="adj" fmla="val 4571"/>
            </a:avLst>
          </a:prstGeom>
          <a:solidFill>
            <a:srgbClr val="FDF3E3"/>
          </a:solidFill>
          <a:ln w="12700">
            <a:solidFill>
              <a:srgbClr val="DCE1EA"/>
            </a:solidFill>
            <a:prstDash val="solid"/>
          </a:ln>
        </p:spPr>
        <p:txBody>
          <a:bodyPr/>
          <a:lstStyle/>
          <a:p>
            <a:endParaRPr lang="en-US" sz="1600"/>
          </a:p>
        </p:txBody>
      </p:sp>
      <p:sp>
        <p:nvSpPr>
          <p:cNvPr id="10" name="Text 8"/>
          <p:cNvSpPr/>
          <p:nvPr/>
        </p:nvSpPr>
        <p:spPr>
          <a:xfrm>
            <a:off x="6400800" y="128016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Blocks</a:t>
            </a: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6400800" y="1645920"/>
            <a:ext cx="4937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dedicated code blocks for programming snippets (e.g. HTML) that disable spellcheck/formatting while preserving indentation.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48640" y="2880360"/>
            <a:ext cx="5394960" cy="1600200"/>
          </a:xfrm>
          <a:prstGeom prst="roundRect">
            <a:avLst>
              <a:gd name="adj" fmla="val 4571"/>
            </a:avLst>
          </a:prstGeom>
          <a:solidFill>
            <a:srgbClr val="E8EEF9"/>
          </a:solidFill>
          <a:ln w="12700">
            <a:solidFill>
              <a:srgbClr val="DCE1EA"/>
            </a:solidFill>
            <a:prstDash val="solid"/>
          </a:ln>
        </p:spPr>
        <p:txBody>
          <a:bodyPr/>
          <a:lstStyle/>
          <a:p>
            <a:endParaRPr lang="en-US" sz="1600"/>
          </a:p>
        </p:txBody>
      </p:sp>
      <p:sp>
        <p:nvSpPr>
          <p:cNvPr id="13" name="Text 11"/>
          <p:cNvSpPr/>
          <p:nvPr/>
        </p:nvSpPr>
        <p:spPr>
          <a:xfrm>
            <a:off x="777240" y="301752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Types</a:t>
            </a: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777240" y="3383280"/>
            <a:ext cx="4937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bulleted lists, numbered lists, or interactive checklists for tasks.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172200" y="2880360"/>
            <a:ext cx="5394960" cy="1600200"/>
          </a:xfrm>
          <a:prstGeom prst="roundRect">
            <a:avLst>
              <a:gd name="adj" fmla="val 4571"/>
            </a:avLst>
          </a:prstGeom>
          <a:solidFill>
            <a:srgbClr val="FDF3E3"/>
          </a:solidFill>
          <a:ln w="12700">
            <a:solidFill>
              <a:srgbClr val="DCE1EA"/>
            </a:solidFill>
            <a:prstDash val="solid"/>
          </a:ln>
        </p:spPr>
        <p:txBody>
          <a:bodyPr/>
          <a:lstStyle/>
          <a:p>
            <a:endParaRPr lang="en-US" sz="1600"/>
          </a:p>
        </p:txBody>
      </p:sp>
      <p:sp>
        <p:nvSpPr>
          <p:cNvPr id="16" name="Text 14"/>
          <p:cNvSpPr/>
          <p:nvPr/>
        </p:nvSpPr>
        <p:spPr>
          <a:xfrm>
            <a:off x="6400800" y="301752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Multi-Level Sub-Lists</a:t>
            </a: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6400800" y="3383280"/>
            <a:ext cx="4937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 Tab within a bulleted list to nest it as a sub-list — multiple levels deep.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48640" y="4617720"/>
            <a:ext cx="5394960" cy="1600200"/>
          </a:xfrm>
          <a:prstGeom prst="roundRect">
            <a:avLst>
              <a:gd name="adj" fmla="val 4571"/>
            </a:avLst>
          </a:prstGeom>
          <a:solidFill>
            <a:srgbClr val="E8EEF9"/>
          </a:solidFill>
          <a:ln w="12700">
            <a:solidFill>
              <a:srgbClr val="DCE1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777240" y="475488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Alignment</a:t>
            </a: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777240" y="5120640"/>
            <a:ext cx="4937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 text Left, Center, or Right to match your note’s visual style.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172200" y="4617720"/>
            <a:ext cx="5394960" cy="1600200"/>
          </a:xfrm>
          <a:prstGeom prst="roundRect">
            <a:avLst>
              <a:gd name="adj" fmla="val 4571"/>
            </a:avLst>
          </a:prstGeom>
          <a:solidFill>
            <a:srgbClr val="FDF3E3"/>
          </a:solidFill>
          <a:ln w="12700">
            <a:solidFill>
              <a:srgbClr val="DCE1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400800" y="475488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Indentation</a:t>
            </a: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6400800" y="5120640"/>
            <a:ext cx="4937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Adjust paragraph indentation levels for clearer visual grouping.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457200" y="656539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6A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ICT 201  |  Week 5 — Evernote &amp; Microsoft OneNote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521440" y="656539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6A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86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868680"/>
            <a:ext cx="12191695" cy="45720"/>
          </a:xfrm>
          <a:prstGeom prst="rect">
            <a:avLst/>
          </a:prstGeom>
          <a:solidFill>
            <a:srgbClr val="B886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109728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D8B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1: EVERNOTE — TUTORIAL STEP 5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347472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Sketches, Audio &amp; Attachments</a:t>
            </a:r>
            <a:endParaRPr lang="en-US" sz="2400" dirty="0"/>
          </a:p>
        </p:txBody>
      </p:sp>
      <p:pic>
        <p:nvPicPr>
          <p:cNvPr id="6" name="Image 0" descr="mockups/evernote_sketch_audi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097280"/>
            <a:ext cx="7772400" cy="50749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8458200" y="1097280"/>
            <a:ext cx="3246120" cy="5074920"/>
          </a:xfrm>
          <a:prstGeom prst="roundRect">
            <a:avLst>
              <a:gd name="adj" fmla="val 2254"/>
            </a:avLst>
          </a:prstGeom>
          <a:solidFill>
            <a:srgbClr val="F4F6FA"/>
          </a:solidFill>
          <a:ln w="12700">
            <a:solidFill>
              <a:srgbClr val="DCE1EA"/>
            </a:solidFill>
            <a:prstDash val="solid"/>
          </a:ln>
          <a:effectLst>
            <a:outerShdw blurRad="76200" dist="25400" dir="5400000" algn="bl" rotWithShape="0">
              <a:srgbClr val="888888">
                <a:alpha val="18000"/>
              </a:srgbClr>
            </a:outerShdw>
          </a:effectLst>
        </p:spPr>
        <p:txBody>
          <a:bodyPr/>
          <a:lstStyle/>
          <a:p>
            <a:endParaRPr lang="en-US" sz="1600"/>
          </a:p>
        </p:txBody>
      </p:sp>
      <p:sp>
        <p:nvSpPr>
          <p:cNvPr id="8" name="Text 5"/>
          <p:cNvSpPr/>
          <p:nvPr/>
        </p:nvSpPr>
        <p:spPr>
          <a:xfrm>
            <a:off x="8686800" y="123444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CAN DO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686800" y="1554480"/>
            <a:ext cx="2834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Sketch</a:t>
            </a:r>
            <a:endParaRPr lang="en-US" dirty="0"/>
          </a:p>
        </p:txBody>
      </p:sp>
      <p:sp>
        <p:nvSpPr>
          <p:cNvPr id="10" name="Text 7"/>
          <p:cNvSpPr/>
          <p:nvPr/>
        </p:nvSpPr>
        <p:spPr>
          <a:xfrm>
            <a:off x="8686800" y="1830396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250"/>
              </a:lnSpc>
              <a:buNone/>
            </a:pPr>
            <a:r>
              <a:rPr lang="en-US" sz="16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Pen, highlighter, eraser, shape snapping, grids, and canvas rotation.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8686800" y="2468880"/>
            <a:ext cx="2834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audio</a:t>
            </a:r>
            <a:endParaRPr lang="en-US" dirty="0"/>
          </a:p>
        </p:txBody>
      </p:sp>
      <p:sp>
        <p:nvSpPr>
          <p:cNvPr id="12" name="Text 9"/>
          <p:cNvSpPr/>
          <p:nvPr/>
        </p:nvSpPr>
        <p:spPr>
          <a:xfrm>
            <a:off x="8686800" y="2715768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250"/>
              </a:lnSpc>
              <a:buNone/>
            </a:pPr>
            <a:r>
              <a:rPr lang="en-US" sz="16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audio saved as .webm with full playback controls.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8686800" y="3383280"/>
            <a:ext cx="2834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Attach files</a:t>
            </a:r>
            <a:endParaRPr lang="en-US" dirty="0"/>
          </a:p>
        </p:txBody>
      </p:sp>
      <p:sp>
        <p:nvSpPr>
          <p:cNvPr id="14" name="Text 11"/>
          <p:cNvSpPr/>
          <p:nvPr/>
        </p:nvSpPr>
        <p:spPr>
          <a:xfrm>
            <a:off x="8686800" y="3630168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250"/>
              </a:lnSpc>
              <a:buNone/>
            </a:pPr>
            <a:r>
              <a:rPr lang="en-US" sz="16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 SVGs and other files directly into the note.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8686800" y="4297680"/>
            <a:ext cx="2834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Drive links</a:t>
            </a:r>
            <a:endParaRPr lang="en-US" dirty="0"/>
          </a:p>
        </p:txBody>
      </p:sp>
      <p:sp>
        <p:nvSpPr>
          <p:cNvPr id="16" name="Text 13"/>
          <p:cNvSpPr/>
          <p:nvPr/>
        </p:nvSpPr>
        <p:spPr>
          <a:xfrm>
            <a:off x="8686800" y="4544568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250"/>
              </a:lnSpc>
              <a:buNone/>
            </a:pPr>
            <a:r>
              <a:rPr lang="en-US" sz="16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live Drive file links without leaving Evernote.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457200" y="656539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6A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ICT 201  |  Week 5 — Evernote &amp; Microsoft OneNote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11521440" y="656539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6A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86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868680"/>
            <a:ext cx="12191695" cy="45720"/>
          </a:xfrm>
          <a:prstGeom prst="rect">
            <a:avLst/>
          </a:prstGeom>
          <a:solidFill>
            <a:srgbClr val="B886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109728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D8B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1: EVERNOTE — TUTORIAL STEP 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347472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Clipper Integration</a:t>
            </a:r>
            <a:endParaRPr lang="en-US" sz="2400" dirty="0"/>
          </a:p>
        </p:txBody>
      </p:sp>
      <p:pic>
        <p:nvPicPr>
          <p:cNvPr id="6" name="Image 0" descr="mockups/evernote_webclipp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097280"/>
            <a:ext cx="7223760" cy="41605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680960" y="1097280"/>
            <a:ext cx="4023360" cy="5212080"/>
          </a:xfrm>
          <a:prstGeom prst="roundRect">
            <a:avLst>
              <a:gd name="adj" fmla="val 1928"/>
            </a:avLst>
          </a:prstGeom>
          <a:solidFill>
            <a:srgbClr val="F4F6FA"/>
          </a:solidFill>
          <a:ln w="12700">
            <a:solidFill>
              <a:srgbClr val="DCE1EA"/>
            </a:solidFill>
            <a:prstDash val="solid"/>
          </a:ln>
          <a:effectLst>
            <a:outerShdw blurRad="76200" dist="25400" dir="5400000" algn="bl" rotWithShape="0">
              <a:srgbClr val="888888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7909560" y="1234440"/>
            <a:ext cx="3611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INSTALLATION</a:t>
            </a: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7909560" y="1536192"/>
            <a:ext cx="3611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the Evernote Web Clipper browser extension on Chrome or Chromium-based browsers.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7909560" y="2286000"/>
            <a:ext cx="3611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CLIPPING MODES</a:t>
            </a:r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7909560" y="2577012"/>
            <a:ext cx="3611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Full Page: </a:t>
            </a:r>
            <a:endParaRPr lang="en-US" dirty="0"/>
          </a:p>
        </p:txBody>
      </p:sp>
      <p:sp>
        <p:nvSpPr>
          <p:cNvPr id="12" name="Text 9"/>
          <p:cNvSpPr/>
          <p:nvPr/>
        </p:nvSpPr>
        <p:spPr>
          <a:xfrm>
            <a:off x="8300034" y="3014178"/>
            <a:ext cx="322140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Captures the entire webpage as-is.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7909560" y="3165420"/>
            <a:ext cx="3611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Simplified Article: </a:t>
            </a:r>
            <a:endParaRPr lang="en-US" dirty="0"/>
          </a:p>
        </p:txBody>
      </p:sp>
      <p:sp>
        <p:nvSpPr>
          <p:cNvPr id="14" name="Text 11"/>
          <p:cNvSpPr/>
          <p:nvPr/>
        </p:nvSpPr>
        <p:spPr>
          <a:xfrm>
            <a:off x="8300034" y="3617100"/>
            <a:ext cx="322140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Clean, distraction-free reading view.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7909560" y="3811884"/>
            <a:ext cx="3611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Bookmark: </a:t>
            </a:r>
            <a:endParaRPr lang="en-US" dirty="0"/>
          </a:p>
        </p:txBody>
      </p:sp>
      <p:sp>
        <p:nvSpPr>
          <p:cNvPr id="16" name="Text 13"/>
          <p:cNvSpPr/>
          <p:nvPr/>
        </p:nvSpPr>
        <p:spPr>
          <a:xfrm>
            <a:off x="8300034" y="4147452"/>
            <a:ext cx="322140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Saves just the link and preview.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7909560" y="4240638"/>
            <a:ext cx="3611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Screenshot: </a:t>
            </a:r>
            <a:endParaRPr lang="en-US" dirty="0"/>
          </a:p>
        </p:txBody>
      </p:sp>
      <p:sp>
        <p:nvSpPr>
          <p:cNvPr id="18" name="Text 15"/>
          <p:cNvSpPr/>
          <p:nvPr/>
        </p:nvSpPr>
        <p:spPr>
          <a:xfrm>
            <a:off x="8300034" y="4648776"/>
            <a:ext cx="322140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Full-page visual capture.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457200" y="656539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6A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ICT 201  |  Week 5 — Evernote &amp; Microsoft OneNote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11521440" y="656539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6A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86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868680"/>
            <a:ext cx="12191695" cy="45720"/>
          </a:xfrm>
          <a:prstGeom prst="rect">
            <a:avLst/>
          </a:prstGeom>
          <a:solidFill>
            <a:srgbClr val="B886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109728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D8B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1: EVERNOTE — TUTORIAL STEP 7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347472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Creation &amp; Cell Properties</a:t>
            </a:r>
            <a:endParaRPr lang="en-US" sz="2400" dirty="0"/>
          </a:p>
        </p:txBody>
      </p:sp>
      <p:pic>
        <p:nvPicPr>
          <p:cNvPr id="6" name="Image 0" descr="mockups/evernote_tab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097280"/>
            <a:ext cx="7223760" cy="41605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909560" y="1097280"/>
            <a:ext cx="3794760" cy="5212080"/>
          </a:xfrm>
          <a:prstGeom prst="roundRect">
            <a:avLst>
              <a:gd name="adj" fmla="val 1928"/>
            </a:avLst>
          </a:prstGeom>
          <a:solidFill>
            <a:srgbClr val="F4F6FA"/>
          </a:solidFill>
          <a:ln w="12700">
            <a:solidFill>
              <a:srgbClr val="DCE1EA"/>
            </a:solidFill>
            <a:prstDash val="solid"/>
          </a:ln>
          <a:effectLst>
            <a:outerShdw blurRad="76200" dist="25400" dir="5400000" algn="bl" rotWithShape="0">
              <a:srgbClr val="888888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8138160" y="123444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BASICS</a:t>
            </a: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8138160" y="1536192"/>
            <a:ext cx="3383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tables, drag borders to resize cells, and insert or delete rows/columns as needed.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8138160" y="233172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CELL CUSTOMIZATION</a:t>
            </a:r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8138160" y="265176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Set individual cell background colors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8138160" y="310896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Adjust vertical alignment (Top, Center, Bottom)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8138160" y="356616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Toggle table width: Note Width vs. Window Width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8138160" y="402336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Merge or unmerge selected cells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457200" y="656539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6A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ICT 201  |  Week 5 — Evernote &amp; Microsoft OneNote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11521440" y="656539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6A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62B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2B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0" y="1463040"/>
            <a:ext cx="12191695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☕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0" y="2743200"/>
            <a:ext cx="121916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kern="0" spc="400" dirty="0">
                <a:solidFill>
                  <a:srgbClr val="D8B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 1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0" y="3291840"/>
            <a:ext cx="1219169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Minutes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0" y="4114800"/>
            <a:ext cx="121916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C7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 at it: Evernote organization, sharing &amp; security — then OneNote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86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868680"/>
            <a:ext cx="12191695" cy="45720"/>
          </a:xfrm>
          <a:prstGeom prst="rect">
            <a:avLst/>
          </a:prstGeom>
          <a:solidFill>
            <a:srgbClr val="B886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109728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D8B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1: EVERNOTE — TUTORIAL STEP 8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347472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Structuring &amp; Organizing Notes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48640" y="1143000"/>
            <a:ext cx="5394960" cy="1600200"/>
          </a:xfrm>
          <a:prstGeom prst="roundRect">
            <a:avLst>
              <a:gd name="adj" fmla="val 4571"/>
            </a:avLst>
          </a:prstGeom>
          <a:solidFill>
            <a:srgbClr val="EAF6EC"/>
          </a:solidFill>
          <a:ln w="12700">
            <a:solidFill>
              <a:srgbClr val="DCE1EA"/>
            </a:solidFill>
            <a:prstDash val="solid"/>
          </a:ln>
        </p:spPr>
        <p:txBody>
          <a:bodyPr/>
          <a:lstStyle/>
          <a:p>
            <a:endParaRPr lang="en-US" sz="1600"/>
          </a:p>
        </p:txBody>
      </p:sp>
      <p:sp>
        <p:nvSpPr>
          <p:cNvPr id="7" name="Text 5"/>
          <p:cNvSpPr/>
          <p:nvPr/>
        </p:nvSpPr>
        <p:spPr>
          <a:xfrm>
            <a:off x="777240" y="128016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Dividers</a:t>
            </a: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777240" y="1645920"/>
            <a:ext cx="4937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horizontal divider lines to split a single note into distinct visual sections — great for long lecture notes.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172200" y="1143000"/>
            <a:ext cx="5394960" cy="1600200"/>
          </a:xfrm>
          <a:prstGeom prst="roundRect">
            <a:avLst>
              <a:gd name="adj" fmla="val 4571"/>
            </a:avLst>
          </a:prstGeom>
          <a:solidFill>
            <a:srgbClr val="E8EEF9"/>
          </a:solidFill>
          <a:ln w="12700">
            <a:solidFill>
              <a:srgbClr val="DCE1EA"/>
            </a:solidFill>
            <a:prstDash val="solid"/>
          </a:ln>
        </p:spPr>
        <p:txBody>
          <a:bodyPr/>
          <a:lstStyle/>
          <a:p>
            <a:endParaRPr lang="en-US" sz="1600"/>
          </a:p>
        </p:txBody>
      </p:sp>
      <p:sp>
        <p:nvSpPr>
          <p:cNvPr id="10" name="Text 8"/>
          <p:cNvSpPr/>
          <p:nvPr/>
        </p:nvSpPr>
        <p:spPr>
          <a:xfrm>
            <a:off x="6400800" y="128016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Notes</a:t>
            </a: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6400800" y="1645920"/>
            <a:ext cx="4937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a note within the same notebook to create a working copy without affecting the original.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48640" y="2880360"/>
            <a:ext cx="5394960" cy="1600200"/>
          </a:xfrm>
          <a:prstGeom prst="roundRect">
            <a:avLst>
              <a:gd name="adj" fmla="val 4571"/>
            </a:avLst>
          </a:prstGeom>
          <a:solidFill>
            <a:srgbClr val="EAF6EC"/>
          </a:solidFill>
          <a:ln w="12700">
            <a:solidFill>
              <a:srgbClr val="DCE1EA"/>
            </a:solidFill>
            <a:prstDash val="solid"/>
          </a:ln>
        </p:spPr>
        <p:txBody>
          <a:bodyPr/>
          <a:lstStyle/>
          <a:p>
            <a:endParaRPr lang="en-US" sz="1600"/>
          </a:p>
        </p:txBody>
      </p:sp>
      <p:sp>
        <p:nvSpPr>
          <p:cNvPr id="13" name="Text 11"/>
          <p:cNvSpPr/>
          <p:nvPr/>
        </p:nvSpPr>
        <p:spPr>
          <a:xfrm>
            <a:off x="777240" y="301752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 Across Notebooks</a:t>
            </a: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777240" y="3383280"/>
            <a:ext cx="4937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 a note into a different notebook while keeping the original in place.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172200" y="2880360"/>
            <a:ext cx="5394960" cy="1600200"/>
          </a:xfrm>
          <a:prstGeom prst="roundRect">
            <a:avLst>
              <a:gd name="adj" fmla="val 4571"/>
            </a:avLst>
          </a:prstGeom>
          <a:solidFill>
            <a:srgbClr val="E8EEF9"/>
          </a:solidFill>
          <a:ln w="12700">
            <a:solidFill>
              <a:srgbClr val="DCE1EA"/>
            </a:solidFill>
            <a:prstDash val="solid"/>
          </a:ln>
        </p:spPr>
        <p:txBody>
          <a:bodyPr/>
          <a:lstStyle/>
          <a:p>
            <a:endParaRPr lang="en-US" sz="1600"/>
          </a:p>
        </p:txBody>
      </p:sp>
      <p:sp>
        <p:nvSpPr>
          <p:cNvPr id="16" name="Text 14"/>
          <p:cNvSpPr/>
          <p:nvPr/>
        </p:nvSpPr>
        <p:spPr>
          <a:xfrm>
            <a:off x="6400800" y="301752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Between Stacks</a:t>
            </a: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6400800" y="3383280"/>
            <a:ext cx="4937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Reorganize notes by moving them between notebook stacks as your structure evolves.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48640" y="4617720"/>
            <a:ext cx="5394960" cy="1600200"/>
          </a:xfrm>
          <a:prstGeom prst="roundRect">
            <a:avLst>
              <a:gd name="adj" fmla="val 4571"/>
            </a:avLst>
          </a:prstGeom>
          <a:solidFill>
            <a:srgbClr val="EAF6EC"/>
          </a:solidFill>
          <a:ln w="12700">
            <a:solidFill>
              <a:srgbClr val="DCE1EA"/>
            </a:solidFill>
            <a:prstDash val="solid"/>
          </a:ln>
        </p:spPr>
        <p:txBody>
          <a:bodyPr/>
          <a:lstStyle/>
          <a:p>
            <a:endParaRPr lang="en-US" sz="1600"/>
          </a:p>
        </p:txBody>
      </p:sp>
      <p:sp>
        <p:nvSpPr>
          <p:cNvPr id="19" name="Text 17"/>
          <p:cNvSpPr/>
          <p:nvPr/>
        </p:nvSpPr>
        <p:spPr>
          <a:xfrm>
            <a:off x="777240" y="475488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Notes</a:t>
            </a: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777240" y="5120640"/>
            <a:ext cx="4937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multiple notes and merge them into a single consolidated note with automatic subheaders.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172200" y="4617720"/>
            <a:ext cx="5394960" cy="1600200"/>
          </a:xfrm>
          <a:prstGeom prst="roundRect">
            <a:avLst>
              <a:gd name="adj" fmla="val 4571"/>
            </a:avLst>
          </a:prstGeom>
          <a:solidFill>
            <a:srgbClr val="E8EEF9"/>
          </a:solidFill>
          <a:ln w="12700">
            <a:solidFill>
              <a:srgbClr val="DCE1EA"/>
            </a:solidFill>
            <a:prstDash val="solid"/>
          </a:ln>
        </p:spPr>
        <p:txBody>
          <a:bodyPr/>
          <a:lstStyle/>
          <a:p>
            <a:endParaRPr lang="en-US" sz="1600"/>
          </a:p>
        </p:txBody>
      </p:sp>
      <p:sp>
        <p:nvSpPr>
          <p:cNvPr id="22" name="Text 20"/>
          <p:cNvSpPr/>
          <p:nvPr/>
        </p:nvSpPr>
        <p:spPr>
          <a:xfrm>
            <a:off x="6400800" y="475488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Cleaner Notebooks</a:t>
            </a: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6400800" y="5120640"/>
            <a:ext cx="4937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tools let you restructure without starting over — organization evolves as your content grows.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457200" y="656539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6A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ICT 201  |  Week 5 — Evernote &amp; Microsoft OneNote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521440" y="656539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6A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86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868680"/>
            <a:ext cx="12191695" cy="45720"/>
          </a:xfrm>
          <a:prstGeom prst="rect">
            <a:avLst/>
          </a:prstGeom>
          <a:solidFill>
            <a:srgbClr val="B886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109728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D8B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1: EVERNOTE — TUTORIAL STEP 9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347472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Tags, Filters &amp; Content Search</a:t>
            </a:r>
            <a:endParaRPr lang="en-US" sz="2400" dirty="0"/>
          </a:p>
        </p:txBody>
      </p:sp>
      <p:pic>
        <p:nvPicPr>
          <p:cNvPr id="6" name="Image 0" descr="mockups/evernote_tags_searc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097280"/>
            <a:ext cx="7223760" cy="443484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995886" y="1097280"/>
            <a:ext cx="4708434" cy="5212080"/>
          </a:xfrm>
          <a:prstGeom prst="roundRect">
            <a:avLst>
              <a:gd name="adj" fmla="val 1928"/>
            </a:avLst>
          </a:prstGeom>
          <a:solidFill>
            <a:srgbClr val="F4F6FA"/>
          </a:solidFill>
          <a:ln w="12700">
            <a:solidFill>
              <a:srgbClr val="DCE1EA"/>
            </a:solidFill>
            <a:prstDash val="solid"/>
          </a:ln>
          <a:effectLst>
            <a:outerShdw blurRad="76200" dist="25400" dir="5400000" algn="bl" rotWithShape="0">
              <a:srgbClr val="888888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7286171" y="1234440"/>
            <a:ext cx="423526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 HIERARCHY</a:t>
            </a: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7286171" y="1536192"/>
            <a:ext cx="4235269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Create, edit, rename, and nest sub-tags under primary tags to categorize content in a structured hierarchy.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7286171" y="2423160"/>
            <a:ext cx="423526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&amp; SEARCH</a:t>
            </a:r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7286171" y="2743200"/>
            <a:ext cx="4235269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Filter notes using single or multiple tags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7286171" y="3200400"/>
            <a:ext cx="4235269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Sort by date updated, date created, or title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7286171" y="3657600"/>
            <a:ext cx="4235269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Run global keyword searches across all notes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7286171" y="4114800"/>
            <a:ext cx="4235269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Search within a specific note using Ctrl+F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457200" y="656539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6A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ICT 201  |  Week 5 — Evernote &amp; Microsoft OneNote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11521440" y="656539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6A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86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868680"/>
            <a:ext cx="12191695" cy="45720"/>
          </a:xfrm>
          <a:prstGeom prst="rect">
            <a:avLst/>
          </a:prstGeom>
          <a:solidFill>
            <a:srgbClr val="B886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109728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D8B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1: EVERNOTE — TUTORIAL STEP 10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347472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 Sharing &amp; Collaboration</a:t>
            </a:r>
            <a:endParaRPr lang="en-US" sz="2400" dirty="0"/>
          </a:p>
        </p:txBody>
      </p:sp>
      <p:pic>
        <p:nvPicPr>
          <p:cNvPr id="6" name="Image 0" descr="mockups/evernote_shar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097280"/>
            <a:ext cx="6035040" cy="374904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132320" y="1097280"/>
            <a:ext cx="4572000" cy="5212080"/>
          </a:xfrm>
          <a:prstGeom prst="roundRect">
            <a:avLst>
              <a:gd name="adj" fmla="val 1600"/>
            </a:avLst>
          </a:prstGeom>
          <a:solidFill>
            <a:srgbClr val="F4F6FA"/>
          </a:solidFill>
          <a:ln w="12700">
            <a:solidFill>
              <a:srgbClr val="DCE1EA"/>
            </a:solidFill>
            <a:prstDash val="solid"/>
          </a:ln>
          <a:effectLst>
            <a:outerShdw blurRad="76200" dist="25400" dir="5400000" algn="bl" rotWithShape="0">
              <a:srgbClr val="888888">
                <a:alpha val="18000"/>
              </a:srgbClr>
            </a:outerShdw>
          </a:effectLst>
        </p:spPr>
        <p:txBody>
          <a:bodyPr/>
          <a:lstStyle/>
          <a:p>
            <a:endParaRPr lang="en-US" sz="1600"/>
          </a:p>
        </p:txBody>
      </p:sp>
      <p:sp>
        <p:nvSpPr>
          <p:cNvPr id="8" name="Text 5"/>
          <p:cNvSpPr/>
          <p:nvPr/>
        </p:nvSpPr>
        <p:spPr>
          <a:xfrm>
            <a:off x="7360920" y="123444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SHARING OPTIONS</a:t>
            </a: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7360920" y="1572768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Shareable links</a:t>
            </a:r>
            <a:endParaRPr lang="en-US" dirty="0"/>
          </a:p>
        </p:txBody>
      </p:sp>
      <p:sp>
        <p:nvSpPr>
          <p:cNvPr id="10" name="Text 7"/>
          <p:cNvSpPr/>
          <p:nvPr/>
        </p:nvSpPr>
        <p:spPr>
          <a:xfrm>
            <a:off x="7360920" y="1819656"/>
            <a:ext cx="4114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6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public, view-only links for anyone to see.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7360920" y="2532888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invitations</a:t>
            </a:r>
            <a:endParaRPr lang="en-US" dirty="0"/>
          </a:p>
        </p:txBody>
      </p:sp>
      <p:sp>
        <p:nvSpPr>
          <p:cNvPr id="12" name="Text 9"/>
          <p:cNvSpPr/>
          <p:nvPr/>
        </p:nvSpPr>
        <p:spPr>
          <a:xfrm>
            <a:off x="7360920" y="2779776"/>
            <a:ext cx="4114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6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Invite specific people with permissions: Can view or Can edit.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7360920" y="3493008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Co-editing</a:t>
            </a:r>
            <a:endParaRPr lang="en-US" dirty="0"/>
          </a:p>
        </p:txBody>
      </p:sp>
      <p:sp>
        <p:nvSpPr>
          <p:cNvPr id="14" name="Text 11"/>
          <p:cNvSpPr/>
          <p:nvPr/>
        </p:nvSpPr>
        <p:spPr>
          <a:xfrm>
            <a:off x="7360920" y="3739896"/>
            <a:ext cx="4114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6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users collaborate on the same note, with single-user editing locks while changes sync.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7360920" y="4453128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Chat</a:t>
            </a:r>
            <a:endParaRPr lang="en-US" dirty="0"/>
          </a:p>
        </p:txBody>
      </p:sp>
      <p:sp>
        <p:nvSpPr>
          <p:cNvPr id="16" name="Text 13"/>
          <p:cNvSpPr/>
          <p:nvPr/>
        </p:nvSpPr>
        <p:spPr>
          <a:xfrm>
            <a:off x="7360920" y="4700016"/>
            <a:ext cx="4114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6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Communicate directly with collaborators inside Evernote — no need to switch apps.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457200" y="656539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6A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ICT 201  |  Week 5 — Evernote &amp; Microsoft OneNote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11521440" y="656539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6A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86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868680"/>
            <a:ext cx="12191695" cy="45720"/>
          </a:xfrm>
          <a:prstGeom prst="rect">
            <a:avLst/>
          </a:prstGeom>
          <a:solidFill>
            <a:srgbClr val="B8860B"/>
          </a:solidFill>
          <a:ln/>
        </p:spPr>
        <p:txBody>
          <a:bodyPr/>
          <a:lstStyle/>
          <a:p>
            <a:endParaRPr lang="en-US" sz="1600"/>
          </a:p>
        </p:txBody>
      </p:sp>
      <p:sp>
        <p:nvSpPr>
          <p:cNvPr id="4" name="Text 2"/>
          <p:cNvSpPr/>
          <p:nvPr/>
        </p:nvSpPr>
        <p:spPr>
          <a:xfrm>
            <a:off x="457200" y="109728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D8B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1: EVERNOTE — TUTORIAL STEP 11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347472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Encryption, Metadata &amp; Productivity Tools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48640" y="1143000"/>
            <a:ext cx="5394960" cy="1600200"/>
          </a:xfrm>
          <a:prstGeom prst="roundRect">
            <a:avLst>
              <a:gd name="adj" fmla="val 4571"/>
            </a:avLst>
          </a:prstGeom>
          <a:solidFill>
            <a:srgbClr val="FBEAEA"/>
          </a:solidFill>
          <a:ln w="12700">
            <a:solidFill>
              <a:srgbClr val="DCE1EA"/>
            </a:solidFill>
            <a:prstDash val="solid"/>
          </a:ln>
        </p:spPr>
        <p:txBody>
          <a:bodyPr/>
          <a:lstStyle/>
          <a:p>
            <a:endParaRPr lang="en-US" sz="1600"/>
          </a:p>
        </p:txBody>
      </p:sp>
      <p:sp>
        <p:nvSpPr>
          <p:cNvPr id="7" name="Text 5"/>
          <p:cNvSpPr/>
          <p:nvPr/>
        </p:nvSpPr>
        <p:spPr>
          <a:xfrm>
            <a:off x="777240" y="128016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Encryption</a:t>
            </a: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777240" y="1645920"/>
            <a:ext cx="4937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 confidential text selections with custom passphrases; content can be temporarily revealed or permanently decrypted.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172200" y="1143000"/>
            <a:ext cx="5394960" cy="1600200"/>
          </a:xfrm>
          <a:prstGeom prst="roundRect">
            <a:avLst>
              <a:gd name="adj" fmla="val 4571"/>
            </a:avLst>
          </a:prstGeom>
          <a:solidFill>
            <a:srgbClr val="EAF6EC"/>
          </a:solidFill>
          <a:ln w="12700">
            <a:solidFill>
              <a:srgbClr val="DCE1EA"/>
            </a:solidFill>
            <a:prstDash val="solid"/>
          </a:ln>
        </p:spPr>
        <p:txBody>
          <a:bodyPr/>
          <a:lstStyle/>
          <a:p>
            <a:endParaRPr lang="en-US" sz="1600"/>
          </a:p>
        </p:txBody>
      </p:sp>
      <p:sp>
        <p:nvSpPr>
          <p:cNvPr id="10" name="Text 8"/>
          <p:cNvSpPr/>
          <p:nvPr/>
        </p:nvSpPr>
        <p:spPr>
          <a:xfrm>
            <a:off x="6400800" y="128016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 Metadata</a:t>
            </a: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6400800" y="1645920"/>
            <a:ext cx="4937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View/modify title, creation date, author name, and related web URLs for any note.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48640" y="2880360"/>
            <a:ext cx="5394960" cy="1600200"/>
          </a:xfrm>
          <a:prstGeom prst="roundRect">
            <a:avLst>
              <a:gd name="adj" fmla="val 4571"/>
            </a:avLst>
          </a:prstGeom>
          <a:solidFill>
            <a:srgbClr val="FBEAEA"/>
          </a:solidFill>
          <a:ln w="12700">
            <a:solidFill>
              <a:srgbClr val="DCE1EA"/>
            </a:solidFill>
            <a:prstDash val="solid"/>
          </a:ln>
        </p:spPr>
        <p:txBody>
          <a:bodyPr/>
          <a:lstStyle/>
          <a:p>
            <a:endParaRPr lang="en-US" sz="1600"/>
          </a:p>
        </p:txBody>
      </p:sp>
      <p:sp>
        <p:nvSpPr>
          <p:cNvPr id="13" name="Text 11"/>
          <p:cNvSpPr/>
          <p:nvPr/>
        </p:nvSpPr>
        <p:spPr>
          <a:xfrm>
            <a:off x="777240" y="301752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Links</a:t>
            </a: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777240" y="3383280"/>
            <a:ext cx="4937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internal App/Web links to cross-reference other notes.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172200" y="2880360"/>
            <a:ext cx="5394960" cy="1600200"/>
          </a:xfrm>
          <a:prstGeom prst="roundRect">
            <a:avLst>
              <a:gd name="adj" fmla="val 4571"/>
            </a:avLst>
          </a:prstGeom>
          <a:solidFill>
            <a:srgbClr val="EAF6EC"/>
          </a:solidFill>
          <a:ln w="12700">
            <a:solidFill>
              <a:srgbClr val="DCE1EA"/>
            </a:solidFill>
            <a:prstDash val="solid"/>
          </a:ln>
        </p:spPr>
        <p:txBody>
          <a:bodyPr/>
          <a:lstStyle/>
          <a:p>
            <a:endParaRPr lang="en-US" sz="1600"/>
          </a:p>
        </p:txBody>
      </p:sp>
      <p:sp>
        <p:nvSpPr>
          <p:cNvPr id="16" name="Text 14"/>
          <p:cNvSpPr/>
          <p:nvPr/>
        </p:nvSpPr>
        <p:spPr>
          <a:xfrm>
            <a:off x="6400800" y="301752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Scratch Pad</a:t>
            </a: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6400800" y="3383280"/>
            <a:ext cx="4937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homepage Scratch Pad for quick temporary notes — convert to a permanent note with one click.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48640" y="4617720"/>
            <a:ext cx="5394960" cy="1600200"/>
          </a:xfrm>
          <a:prstGeom prst="roundRect">
            <a:avLst>
              <a:gd name="adj" fmla="val 4571"/>
            </a:avLst>
          </a:prstGeom>
          <a:solidFill>
            <a:srgbClr val="FBEAEA"/>
          </a:solidFill>
          <a:ln w="12700">
            <a:solidFill>
              <a:srgbClr val="DCE1EA"/>
            </a:solidFill>
            <a:prstDash val="solid"/>
          </a:ln>
        </p:spPr>
        <p:txBody>
          <a:bodyPr/>
          <a:lstStyle/>
          <a:p>
            <a:endParaRPr lang="en-US" sz="1600"/>
          </a:p>
        </p:txBody>
      </p:sp>
      <p:sp>
        <p:nvSpPr>
          <p:cNvPr id="19" name="Text 17"/>
          <p:cNvSpPr/>
          <p:nvPr/>
        </p:nvSpPr>
        <p:spPr>
          <a:xfrm>
            <a:off x="777240" y="475488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Checklists</a:t>
            </a: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777240" y="5120640"/>
            <a:ext cx="4937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dedicated task checklists to track to-dos alongside your notes.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172200" y="4617720"/>
            <a:ext cx="5394960" cy="1600200"/>
          </a:xfrm>
          <a:prstGeom prst="roundRect">
            <a:avLst>
              <a:gd name="adj" fmla="val 4571"/>
            </a:avLst>
          </a:prstGeom>
          <a:solidFill>
            <a:srgbClr val="EAF6EC"/>
          </a:solidFill>
          <a:ln w="12700">
            <a:solidFill>
              <a:srgbClr val="DCE1EA"/>
            </a:solidFill>
            <a:prstDash val="solid"/>
          </a:ln>
        </p:spPr>
        <p:txBody>
          <a:bodyPr/>
          <a:lstStyle/>
          <a:p>
            <a:endParaRPr lang="en-US" sz="1600"/>
          </a:p>
        </p:txBody>
      </p:sp>
      <p:sp>
        <p:nvSpPr>
          <p:cNvPr id="22" name="Text 20"/>
          <p:cNvSpPr/>
          <p:nvPr/>
        </p:nvSpPr>
        <p:spPr>
          <a:xfrm>
            <a:off x="6400800" y="475488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Shortcuts Sidebar</a:t>
            </a: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6400800" y="5120640"/>
            <a:ext cx="4937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 frequently used notes or tags to the Shortcuts sidebar for instant access.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457200" y="656539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A6A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ICT 201  |  Week 5 — Evernote &amp; Microsoft OneNote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1521440" y="656539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600" dirty="0">
                <a:solidFill>
                  <a:srgbClr val="A6A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6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86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868680"/>
            <a:ext cx="12191695" cy="45720"/>
          </a:xfrm>
          <a:prstGeom prst="rect">
            <a:avLst/>
          </a:prstGeom>
          <a:solidFill>
            <a:srgbClr val="B886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109728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D8B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1: EVERNOTE — TUTORIAL STEP 12 (FINAL)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347472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Preferences, Trash &amp; Backup Export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48640" y="1143000"/>
            <a:ext cx="5394960" cy="1600200"/>
          </a:xfrm>
          <a:prstGeom prst="roundRect">
            <a:avLst>
              <a:gd name="adj" fmla="val 4571"/>
            </a:avLst>
          </a:prstGeom>
          <a:solidFill>
            <a:srgbClr val="E8EEF9"/>
          </a:solidFill>
          <a:ln w="12700">
            <a:solidFill>
              <a:srgbClr val="DCE1EA"/>
            </a:solidFill>
            <a:prstDash val="solid"/>
          </a:ln>
        </p:spPr>
        <p:txBody>
          <a:bodyPr/>
          <a:lstStyle/>
          <a:p>
            <a:endParaRPr lang="en-US" sz="1600"/>
          </a:p>
        </p:txBody>
      </p:sp>
      <p:sp>
        <p:nvSpPr>
          <p:cNvPr id="7" name="Text 5"/>
          <p:cNvSpPr/>
          <p:nvPr/>
        </p:nvSpPr>
        <p:spPr>
          <a:xfrm>
            <a:off x="777240" y="128016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Light/Dark Mode</a:t>
            </a: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777240" y="1645920"/>
            <a:ext cx="4937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Toggle appearance mode and set startup preferences to match your workflow.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172200" y="1143000"/>
            <a:ext cx="5394960" cy="1600200"/>
          </a:xfrm>
          <a:prstGeom prst="roundRect">
            <a:avLst>
              <a:gd name="adj" fmla="val 4571"/>
            </a:avLst>
          </a:prstGeom>
          <a:solidFill>
            <a:srgbClr val="FDF3E3"/>
          </a:solidFill>
          <a:ln w="12700">
            <a:solidFill>
              <a:srgbClr val="DCE1EA"/>
            </a:solidFill>
            <a:prstDash val="solid"/>
          </a:ln>
        </p:spPr>
        <p:txBody>
          <a:bodyPr/>
          <a:lstStyle/>
          <a:p>
            <a:endParaRPr lang="en-US" sz="1600"/>
          </a:p>
        </p:txBody>
      </p:sp>
      <p:sp>
        <p:nvSpPr>
          <p:cNvPr id="10" name="Text 8"/>
          <p:cNvSpPr/>
          <p:nvPr/>
        </p:nvSpPr>
        <p:spPr>
          <a:xfrm>
            <a:off x="6400800" y="128016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Auto-Import Folders</a:t>
            </a: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6400800" y="1645920"/>
            <a:ext cx="4937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local folders so files placed there are automatically imported as notes.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48640" y="2880360"/>
            <a:ext cx="5394960" cy="1600200"/>
          </a:xfrm>
          <a:prstGeom prst="roundRect">
            <a:avLst>
              <a:gd name="adj" fmla="val 4571"/>
            </a:avLst>
          </a:prstGeom>
          <a:solidFill>
            <a:srgbClr val="E8EEF9"/>
          </a:solidFill>
          <a:ln w="12700">
            <a:solidFill>
              <a:srgbClr val="DCE1EA"/>
            </a:solidFill>
            <a:prstDash val="solid"/>
          </a:ln>
        </p:spPr>
        <p:txBody>
          <a:bodyPr/>
          <a:lstStyle/>
          <a:p>
            <a:endParaRPr lang="en-US" sz="1600"/>
          </a:p>
        </p:txBody>
      </p:sp>
      <p:sp>
        <p:nvSpPr>
          <p:cNvPr id="13" name="Text 11"/>
          <p:cNvSpPr/>
          <p:nvPr/>
        </p:nvSpPr>
        <p:spPr>
          <a:xfrm>
            <a:off x="777240" y="301752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Trash Management</a:t>
            </a: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777240" y="3383280"/>
            <a:ext cx="4937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deleted notes and permanently empty the Trash when ready.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172200" y="2880360"/>
            <a:ext cx="5394960" cy="1600200"/>
          </a:xfrm>
          <a:prstGeom prst="roundRect">
            <a:avLst>
              <a:gd name="adj" fmla="val 4571"/>
            </a:avLst>
          </a:prstGeom>
          <a:solidFill>
            <a:srgbClr val="FDF3E3"/>
          </a:solidFill>
          <a:ln w="12700">
            <a:solidFill>
              <a:srgbClr val="DCE1EA"/>
            </a:solidFill>
            <a:prstDash val="solid"/>
          </a:ln>
        </p:spPr>
        <p:txBody>
          <a:bodyPr/>
          <a:lstStyle/>
          <a:p>
            <a:endParaRPr lang="en-US" sz="1600"/>
          </a:p>
        </p:txBody>
      </p:sp>
      <p:sp>
        <p:nvSpPr>
          <p:cNvPr id="16" name="Text 14"/>
          <p:cNvSpPr/>
          <p:nvPr/>
        </p:nvSpPr>
        <p:spPr>
          <a:xfrm>
            <a:off x="6400800" y="301752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as .enex/PDF/HTML</a:t>
            </a: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6400800" y="3383280"/>
            <a:ext cx="4937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 and export entire notebooks in Evernote’s native format, PDF, or HTML.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48640" y="4617720"/>
            <a:ext cx="5394960" cy="1600200"/>
          </a:xfrm>
          <a:prstGeom prst="roundRect">
            <a:avLst>
              <a:gd name="adj" fmla="val 4571"/>
            </a:avLst>
          </a:prstGeom>
          <a:solidFill>
            <a:srgbClr val="E8EEF9"/>
          </a:solidFill>
          <a:ln w="12700">
            <a:solidFill>
              <a:srgbClr val="DCE1EA"/>
            </a:solidFill>
            <a:prstDash val="solid"/>
          </a:ln>
        </p:spPr>
        <p:txBody>
          <a:bodyPr/>
          <a:lstStyle/>
          <a:p>
            <a:endParaRPr lang="en-US" sz="1600"/>
          </a:p>
        </p:txBody>
      </p:sp>
      <p:sp>
        <p:nvSpPr>
          <p:cNvPr id="19" name="Text 17"/>
          <p:cNvSpPr/>
          <p:nvPr/>
        </p:nvSpPr>
        <p:spPr>
          <a:xfrm>
            <a:off x="777240" y="475488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 Options</a:t>
            </a: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777240" y="5120640"/>
            <a:ext cx="4937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 plain text files or .enex backups directly into desktop Evernote.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172200" y="4617720"/>
            <a:ext cx="5394960" cy="1600200"/>
          </a:xfrm>
          <a:prstGeom prst="roundRect">
            <a:avLst>
              <a:gd name="adj" fmla="val 4571"/>
            </a:avLst>
          </a:prstGeom>
          <a:solidFill>
            <a:srgbClr val="FDF3E3"/>
          </a:solidFill>
          <a:ln w="12700">
            <a:solidFill>
              <a:srgbClr val="DCE1EA"/>
            </a:solidFill>
            <a:prstDash val="solid"/>
          </a:ln>
        </p:spPr>
        <p:txBody>
          <a:bodyPr/>
          <a:lstStyle/>
          <a:p>
            <a:endParaRPr lang="en-US" sz="1600"/>
          </a:p>
        </p:txBody>
      </p:sp>
      <p:sp>
        <p:nvSpPr>
          <p:cNvPr id="22" name="Text 20"/>
          <p:cNvSpPr/>
          <p:nvPr/>
        </p:nvSpPr>
        <p:spPr>
          <a:xfrm>
            <a:off x="6400800" y="475488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6400800" y="5120640"/>
            <a:ext cx="4937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tools ensure your notes are portable, backed up, and never locked into one platform.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457200" y="656539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6A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ICT 201  |  Week 5 — Evernote &amp; Microsoft OneNote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521440" y="656539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6A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62B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2B4D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mockups/onenote_bad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50408" y="1371600"/>
            <a:ext cx="1097280" cy="10972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22960" y="283464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kern="0" spc="300" dirty="0">
                <a:solidFill>
                  <a:srgbClr val="D8B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2: MICROSOFT ONENOTE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822960" y="329184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Structure, Formatting, Media &amp; Collaboration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822960" y="402336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C7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Microsoft’s digital notebook for capturing and organizing ideas</a:t>
            </a:r>
            <a:endParaRPr lang="en-US" sz="16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86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868680"/>
            <a:ext cx="12191695" cy="45720"/>
          </a:xfrm>
          <a:prstGeom prst="rect">
            <a:avLst/>
          </a:prstGeom>
          <a:solidFill>
            <a:srgbClr val="B886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109728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D8B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2: ONENOTE — TUTORIAL STEP 1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347472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Introduction: Solving Scattered Information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48640" y="1188720"/>
            <a:ext cx="11064240" cy="1005840"/>
          </a:xfrm>
          <a:prstGeom prst="roundRect">
            <a:avLst>
              <a:gd name="adj" fmla="val 7273"/>
            </a:avLst>
          </a:prstGeom>
          <a:solidFill>
            <a:srgbClr val="F4F6FA"/>
          </a:solidFill>
          <a:ln w="12700">
            <a:solidFill>
              <a:srgbClr val="DCE1EA"/>
            </a:solidFill>
            <a:prstDash val="solid"/>
          </a:ln>
          <a:effectLst>
            <a:outerShdw blurRad="76200" dist="25400" dir="5400000" algn="bl" rotWithShape="0">
              <a:srgbClr val="888888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22960" y="132588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i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“Your mind is for having ideas, not to remember them.”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48640" y="2423160"/>
            <a:ext cx="5440680" cy="2194560"/>
          </a:xfrm>
          <a:prstGeom prst="roundRect">
            <a:avLst>
              <a:gd name="adj" fmla="val 3333"/>
            </a:avLst>
          </a:prstGeom>
          <a:solidFill>
            <a:srgbClr val="FBEAEA"/>
          </a:solidFill>
          <a:ln w="12700">
            <a:solidFill>
              <a:srgbClr val="DCE1EA"/>
            </a:solidFill>
            <a:prstDash val="solid"/>
          </a:ln>
          <a:effectLst>
            <a:outerShdw blurRad="76200" dist="25400" dir="5400000" algn="bl" rotWithShape="0">
              <a:srgbClr val="888888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77240" y="260604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777240" y="3017520"/>
            <a:ext cx="49377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Unorganized notes across physical notebooks, PCs, and mobile devices lead to lost information, missed tasks, and reduced professional performance.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172200" y="2423160"/>
            <a:ext cx="5440680" cy="2194560"/>
          </a:xfrm>
          <a:prstGeom prst="roundRect">
            <a:avLst>
              <a:gd name="adj" fmla="val 3333"/>
            </a:avLst>
          </a:prstGeom>
          <a:solidFill>
            <a:srgbClr val="EAF6EC"/>
          </a:solidFill>
          <a:ln w="12700">
            <a:solidFill>
              <a:srgbClr val="DCE1EA"/>
            </a:solidFill>
            <a:prstDash val="solid"/>
          </a:ln>
          <a:effectLst>
            <a:outerShdw blurRad="76200" dist="25400" dir="5400000" algn="bl" rotWithShape="0">
              <a:srgbClr val="888888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400800" y="260604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6400800" y="3017520"/>
            <a:ext cx="49377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OneNote centralizes note creation in a single digital workspace, accessible across desktop, web, and mobile devices.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48640" y="4846320"/>
            <a:ext cx="11064240" cy="1463040"/>
          </a:xfrm>
          <a:prstGeom prst="roundRect">
            <a:avLst>
              <a:gd name="adj" fmla="val 5000"/>
            </a:avLst>
          </a:prstGeom>
          <a:solidFill>
            <a:srgbClr val="FDF3E3"/>
          </a:solidFill>
          <a:ln w="12700">
            <a:solidFill>
              <a:srgbClr val="DCE1EA"/>
            </a:solidFill>
            <a:prstDash val="solid"/>
          </a:ln>
          <a:effectLst>
            <a:outerShdw blurRad="76200" dist="25400" dir="5400000" algn="bl" rotWithShape="0">
              <a:srgbClr val="888888">
                <a:alpha val="18000"/>
              </a:srgbClr>
            </a:outerShdw>
          </a:effectLst>
        </p:spPr>
        <p:txBody>
          <a:bodyPr/>
          <a:lstStyle/>
          <a:p>
            <a:endParaRPr lang="en-US" sz="1600"/>
          </a:p>
        </p:txBody>
      </p:sp>
      <p:sp>
        <p:nvSpPr>
          <p:cNvPr id="15" name="Text 13"/>
          <p:cNvSpPr/>
          <p:nvPr/>
        </p:nvSpPr>
        <p:spPr>
          <a:xfrm>
            <a:off x="822960" y="49834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GOAL, DIFFERENT ECOSYSTEM</a:t>
            </a: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822960" y="5285232"/>
            <a:ext cx="10332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While Evernote is platform-independent, OneNote is deeply tied to the Microsoft 365 ecosystem — useful to know when recommending a tool for a specific workplace or institution.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57200" y="656539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A6A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ICT 201  |  Week 5 — Evernote &amp; Microsoft OneNote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1521440" y="656539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600" dirty="0">
                <a:solidFill>
                  <a:srgbClr val="A6A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6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86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868680"/>
            <a:ext cx="12191695" cy="45720"/>
          </a:xfrm>
          <a:prstGeom prst="rect">
            <a:avLst/>
          </a:prstGeom>
          <a:solidFill>
            <a:srgbClr val="B886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109728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D8B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2: ONENOTE — TUTORIAL STEP 2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347472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OneNote Dashboard &amp; File Navigation</a:t>
            </a:r>
            <a:endParaRPr lang="en-US" sz="2400" dirty="0"/>
          </a:p>
        </p:txBody>
      </p:sp>
      <p:pic>
        <p:nvPicPr>
          <p:cNvPr id="6" name="Image 0" descr="mockups/onenote_dashbo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097280"/>
            <a:ext cx="7223760" cy="4443984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909560" y="1097280"/>
            <a:ext cx="3794760" cy="5212080"/>
          </a:xfrm>
          <a:prstGeom prst="roundRect">
            <a:avLst>
              <a:gd name="adj" fmla="val 1928"/>
            </a:avLst>
          </a:prstGeom>
          <a:solidFill>
            <a:srgbClr val="F4F6FA"/>
          </a:solidFill>
          <a:ln w="12700">
            <a:solidFill>
              <a:srgbClr val="DCE1EA"/>
            </a:solidFill>
            <a:prstDash val="solid"/>
          </a:ln>
          <a:effectLst>
            <a:outerShdw blurRad="76200" dist="25400" dir="5400000" algn="bl" rotWithShape="0">
              <a:srgbClr val="888888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8138160" y="123444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ACCESSING ONENOTE</a:t>
            </a: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8138160" y="1536192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into microsoft.com and select OneNote from the Microsoft 365 App Launcher.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8138160" y="2286000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Recent &amp; Pinned</a:t>
            </a:r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8138160" y="2532888"/>
            <a:ext cx="3383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6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recently created files or pin important notebooks to keep them always accessible.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8138160" y="3246120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Notebooks</a:t>
            </a:r>
            <a:endParaRPr lang="en-US" dirty="0"/>
          </a:p>
        </p:txBody>
      </p:sp>
      <p:sp>
        <p:nvSpPr>
          <p:cNvPr id="13" name="Text 10"/>
          <p:cNvSpPr/>
          <p:nvPr/>
        </p:nvSpPr>
        <p:spPr>
          <a:xfrm>
            <a:off x="8138160" y="3493008"/>
            <a:ext cx="3383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6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personal notebooks, private by default.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8138160" y="4206240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with Me</a:t>
            </a:r>
            <a:endParaRPr lang="en-US" dirty="0"/>
          </a:p>
        </p:txBody>
      </p:sp>
      <p:sp>
        <p:nvSpPr>
          <p:cNvPr id="15" name="Text 12"/>
          <p:cNvSpPr/>
          <p:nvPr/>
        </p:nvSpPr>
        <p:spPr>
          <a:xfrm>
            <a:off x="8138160" y="4453128"/>
            <a:ext cx="3383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6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Notebooks shared by internal colleagues or external members, kept visually separate.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457200" y="656539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6A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ICT 201  |  Week 5 — Evernote &amp; Microsoft OneNote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11521440" y="656539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6A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86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868680"/>
            <a:ext cx="12191695" cy="45720"/>
          </a:xfrm>
          <a:prstGeom prst="rect">
            <a:avLst/>
          </a:prstGeom>
          <a:solidFill>
            <a:srgbClr val="B886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109728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D8B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2: ONENOTE — TUTORIAL STEP 3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347472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 &amp; Organization: Notebooks, Sections, Pages</a:t>
            </a:r>
            <a:endParaRPr lang="en-US" sz="2400" dirty="0"/>
          </a:p>
        </p:txBody>
      </p:sp>
      <p:pic>
        <p:nvPicPr>
          <p:cNvPr id="6" name="Image 0" descr="mockups/onenote_structu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097280"/>
            <a:ext cx="7223760" cy="4443984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647543" y="1097280"/>
            <a:ext cx="5056777" cy="5212080"/>
          </a:xfrm>
          <a:prstGeom prst="roundRect">
            <a:avLst>
              <a:gd name="adj" fmla="val 1928"/>
            </a:avLst>
          </a:prstGeom>
          <a:solidFill>
            <a:srgbClr val="F4F6FA"/>
          </a:solidFill>
          <a:ln w="12700">
            <a:solidFill>
              <a:srgbClr val="DCE1EA"/>
            </a:solidFill>
            <a:prstDash val="solid"/>
          </a:ln>
          <a:effectLst>
            <a:outerShdw blurRad="76200" dist="25400" dir="5400000" algn="bl" rotWithShape="0">
              <a:srgbClr val="888888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6894286" y="1234440"/>
            <a:ext cx="462715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HIERARCHY</a:t>
            </a: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6894286" y="1536192"/>
            <a:ext cx="462715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 → Sections → Pages → Subpages</a:t>
            </a:r>
            <a:endParaRPr lang="en-US" dirty="0"/>
          </a:p>
        </p:txBody>
      </p:sp>
      <p:sp>
        <p:nvSpPr>
          <p:cNvPr id="10" name="Text 7"/>
          <p:cNvSpPr/>
          <p:nvPr/>
        </p:nvSpPr>
        <p:spPr>
          <a:xfrm>
            <a:off x="6894286" y="2148840"/>
            <a:ext cx="462715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Grouping</a:t>
            </a:r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6894286" y="2395728"/>
            <a:ext cx="462715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6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information logically by client, department (e.g. Sales, Marketing), or specific project.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6894286" y="3108960"/>
            <a:ext cx="462715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Customization</a:t>
            </a:r>
            <a:endParaRPr lang="en-US" dirty="0"/>
          </a:p>
        </p:txBody>
      </p:sp>
      <p:sp>
        <p:nvSpPr>
          <p:cNvPr id="13" name="Text 10"/>
          <p:cNvSpPr/>
          <p:nvPr/>
        </p:nvSpPr>
        <p:spPr>
          <a:xfrm>
            <a:off x="6894286" y="3355848"/>
            <a:ext cx="462715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6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Reorder pages, customize section colors, create subpages.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6894286" y="4069080"/>
            <a:ext cx="462715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History</a:t>
            </a:r>
            <a:endParaRPr lang="en-US" dirty="0"/>
          </a:p>
        </p:txBody>
      </p:sp>
      <p:sp>
        <p:nvSpPr>
          <p:cNvPr id="15" name="Text 12"/>
          <p:cNvSpPr/>
          <p:nvPr/>
        </p:nvSpPr>
        <p:spPr>
          <a:xfrm>
            <a:off x="6894286" y="4315968"/>
            <a:ext cx="462715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6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past edits via Show Versions — nothing is ever truly lost.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457200" y="656539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6A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ICT 201  |  Week 5 — Evernote &amp; Microsoft OneNote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11521440" y="656539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6A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86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868680"/>
            <a:ext cx="12191695" cy="45720"/>
          </a:xfrm>
          <a:prstGeom prst="rect">
            <a:avLst/>
          </a:prstGeom>
          <a:solidFill>
            <a:srgbClr val="B886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109728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D8B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2: ONENOTE — TUTORIAL STEP 4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347472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Formatting Tools, Tags &amp; AI Voice Dictation</a:t>
            </a:r>
            <a:endParaRPr lang="en-US" sz="2400" dirty="0"/>
          </a:p>
        </p:txBody>
      </p:sp>
      <p:pic>
        <p:nvPicPr>
          <p:cNvPr id="6" name="Image 0" descr="mockups/onenote_tags_dicta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097280"/>
            <a:ext cx="7223760" cy="4443984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778171" y="1097280"/>
            <a:ext cx="4926149" cy="5212080"/>
          </a:xfrm>
          <a:prstGeom prst="roundRect">
            <a:avLst>
              <a:gd name="adj" fmla="val 1928"/>
            </a:avLst>
          </a:prstGeom>
          <a:solidFill>
            <a:srgbClr val="F4F6FA"/>
          </a:solidFill>
          <a:ln w="12700">
            <a:solidFill>
              <a:srgbClr val="DCE1EA"/>
            </a:solidFill>
            <a:prstDash val="solid"/>
          </a:ln>
          <a:effectLst>
            <a:outerShdw blurRad="76200" dist="25400" dir="5400000" algn="bl" rotWithShape="0">
              <a:srgbClr val="888888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7024914" y="1234440"/>
            <a:ext cx="449652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CATEGORIZATION WITH TAGS</a:t>
            </a: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7024914" y="1517904"/>
            <a:ext cx="449652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Highlight important points using tags like To-Do, Address, Critical, Question, or "Discuss with Person."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7024914" y="2286000"/>
            <a:ext cx="449652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STANDARDIZED TAGGING</a:t>
            </a:r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7024914" y="2569464"/>
            <a:ext cx="449652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Establishing organization-wide tagging standards improves clarity in team communication.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7024914" y="3200400"/>
            <a:ext cx="449652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DICTATE</a:t>
            </a:r>
            <a:endParaRPr lang="en-US" dirty="0"/>
          </a:p>
        </p:txBody>
      </p:sp>
      <p:sp>
        <p:nvSpPr>
          <p:cNvPr id="13" name="Text 10"/>
          <p:cNvSpPr/>
          <p:nvPr/>
        </p:nvSpPr>
        <p:spPr>
          <a:xfrm>
            <a:off x="7024914" y="3483864"/>
            <a:ext cx="449652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Automatically convert spoken voice into text within notes using AI-powered dictation.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7024914" y="4114800"/>
            <a:ext cx="449652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MAINTENANCE</a:t>
            </a:r>
            <a:endParaRPr lang="en-US" dirty="0"/>
          </a:p>
        </p:txBody>
      </p:sp>
      <p:sp>
        <p:nvSpPr>
          <p:cNvPr id="15" name="Text 12"/>
          <p:cNvSpPr/>
          <p:nvPr/>
        </p:nvSpPr>
        <p:spPr>
          <a:xfrm>
            <a:off x="7024914" y="4398264"/>
            <a:ext cx="449652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spelling check and auto-correct ensure note accuracy.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457200" y="656539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6A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ICT 201  |  Week 5 — Evernote &amp; Microsoft OneNote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11521440" y="656539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6A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86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868680"/>
            <a:ext cx="12191695" cy="45720"/>
          </a:xfrm>
          <a:prstGeom prst="rect">
            <a:avLst/>
          </a:prstGeom>
          <a:solidFill>
            <a:srgbClr val="B8860B"/>
          </a:solidFill>
          <a:ln/>
        </p:spPr>
        <p:txBody>
          <a:bodyPr/>
          <a:lstStyle/>
          <a:p>
            <a:endParaRPr lang="en-US" sz="1600"/>
          </a:p>
        </p:txBody>
      </p:sp>
      <p:sp>
        <p:nvSpPr>
          <p:cNvPr id="4" name="Text 2"/>
          <p:cNvSpPr/>
          <p:nvPr/>
        </p:nvSpPr>
        <p:spPr>
          <a:xfrm>
            <a:off x="457200" y="109728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D8B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2: ONENOTE — TUTORIAL STEP 5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347472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Rich Media &amp; Information Insertion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48640" y="1143000"/>
            <a:ext cx="5394960" cy="1600200"/>
          </a:xfrm>
          <a:prstGeom prst="roundRect">
            <a:avLst>
              <a:gd name="adj" fmla="val 4571"/>
            </a:avLst>
          </a:prstGeom>
          <a:solidFill>
            <a:srgbClr val="E8EEF9"/>
          </a:solidFill>
          <a:ln w="12700">
            <a:solidFill>
              <a:srgbClr val="DCE1EA"/>
            </a:solidFill>
            <a:prstDash val="solid"/>
          </a:ln>
        </p:spPr>
        <p:txBody>
          <a:bodyPr/>
          <a:lstStyle/>
          <a:p>
            <a:endParaRPr lang="en-US" sz="1600"/>
          </a:p>
        </p:txBody>
      </p:sp>
      <p:sp>
        <p:nvSpPr>
          <p:cNvPr id="7" name="Text 5"/>
          <p:cNvSpPr/>
          <p:nvPr/>
        </p:nvSpPr>
        <p:spPr>
          <a:xfrm>
            <a:off x="777240" y="128016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Tables</a:t>
            </a: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777240" y="1645920"/>
            <a:ext cx="4937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tables for meeting notes or product details — same concept as Evernote, different engine.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172200" y="1143000"/>
            <a:ext cx="5394960" cy="1600200"/>
          </a:xfrm>
          <a:prstGeom prst="roundRect">
            <a:avLst>
              <a:gd name="adj" fmla="val 4571"/>
            </a:avLst>
          </a:prstGeom>
          <a:solidFill>
            <a:srgbClr val="FDF3E3"/>
          </a:solidFill>
          <a:ln w="12700">
            <a:solidFill>
              <a:srgbClr val="DCE1EA"/>
            </a:solidFill>
            <a:prstDash val="solid"/>
          </a:ln>
        </p:spPr>
        <p:txBody>
          <a:bodyPr/>
          <a:lstStyle/>
          <a:p>
            <a:endParaRPr lang="en-US" sz="1600"/>
          </a:p>
        </p:txBody>
      </p:sp>
      <p:sp>
        <p:nvSpPr>
          <p:cNvPr id="10" name="Text 8"/>
          <p:cNvSpPr/>
          <p:nvPr/>
        </p:nvSpPr>
        <p:spPr>
          <a:xfrm>
            <a:off x="6400800" y="128016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Attachments</a:t>
            </a: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6400800" y="1645920"/>
            <a:ext cx="4937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Attach external files that appear as downloadable link icons directly on the page.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48640" y="2880360"/>
            <a:ext cx="5394960" cy="1600200"/>
          </a:xfrm>
          <a:prstGeom prst="roundRect">
            <a:avLst>
              <a:gd name="adj" fmla="val 4571"/>
            </a:avLst>
          </a:prstGeom>
          <a:solidFill>
            <a:srgbClr val="E8EEF9"/>
          </a:solidFill>
          <a:ln w="12700">
            <a:solidFill>
              <a:srgbClr val="DCE1EA"/>
            </a:solidFill>
            <a:prstDash val="solid"/>
          </a:ln>
        </p:spPr>
        <p:txBody>
          <a:bodyPr/>
          <a:lstStyle/>
          <a:p>
            <a:endParaRPr lang="en-US" sz="1600"/>
          </a:p>
        </p:txBody>
      </p:sp>
      <p:sp>
        <p:nvSpPr>
          <p:cNvPr id="13" name="Text 11"/>
          <p:cNvSpPr/>
          <p:nvPr/>
        </p:nvSpPr>
        <p:spPr>
          <a:xfrm>
            <a:off x="777240" y="301752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Images &amp; Web Links</a:t>
            </a: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777240" y="3383280"/>
            <a:ext cx="4937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 images directly on pages or add clickable web links for reference.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172200" y="2880360"/>
            <a:ext cx="5394960" cy="1600200"/>
          </a:xfrm>
          <a:prstGeom prst="roundRect">
            <a:avLst>
              <a:gd name="adj" fmla="val 4571"/>
            </a:avLst>
          </a:prstGeom>
          <a:solidFill>
            <a:srgbClr val="FDF3E3"/>
          </a:solidFill>
          <a:ln w="12700">
            <a:solidFill>
              <a:srgbClr val="DCE1EA"/>
            </a:solidFill>
            <a:prstDash val="solid"/>
          </a:ln>
        </p:spPr>
        <p:txBody>
          <a:bodyPr/>
          <a:lstStyle/>
          <a:p>
            <a:endParaRPr lang="en-US" sz="1600"/>
          </a:p>
        </p:txBody>
      </p:sp>
      <p:sp>
        <p:nvSpPr>
          <p:cNvPr id="16" name="Text 14"/>
          <p:cNvSpPr/>
          <p:nvPr/>
        </p:nvSpPr>
        <p:spPr>
          <a:xfrm>
            <a:off x="6400800" y="301752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 Recording</a:t>
            </a: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6400800" y="3383280"/>
            <a:ext cx="4937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and attach audio files to explain notes in your own voice.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48640" y="4617720"/>
            <a:ext cx="5394960" cy="1600200"/>
          </a:xfrm>
          <a:prstGeom prst="roundRect">
            <a:avLst>
              <a:gd name="adj" fmla="val 4571"/>
            </a:avLst>
          </a:prstGeom>
          <a:solidFill>
            <a:srgbClr val="E8EEF9"/>
          </a:solidFill>
          <a:ln w="12700">
            <a:solidFill>
              <a:srgbClr val="DCE1EA"/>
            </a:solidFill>
            <a:prstDash val="solid"/>
          </a:ln>
        </p:spPr>
        <p:txBody>
          <a:bodyPr/>
          <a:lstStyle/>
          <a:p>
            <a:endParaRPr lang="en-US" sz="1600"/>
          </a:p>
        </p:txBody>
      </p:sp>
      <p:sp>
        <p:nvSpPr>
          <p:cNvPr id="19" name="Text 17"/>
          <p:cNvSpPr/>
          <p:nvPr/>
        </p:nvSpPr>
        <p:spPr>
          <a:xfrm>
            <a:off x="777240" y="475488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 &amp; Symbols</a:t>
            </a: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777240" y="5120640"/>
            <a:ext cx="4937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math calculations, symbols, and emojis directly into notes.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172200" y="4617720"/>
            <a:ext cx="5394960" cy="1600200"/>
          </a:xfrm>
          <a:prstGeom prst="roundRect">
            <a:avLst>
              <a:gd name="adj" fmla="val 4571"/>
            </a:avLst>
          </a:prstGeom>
          <a:solidFill>
            <a:srgbClr val="FDF3E3"/>
          </a:solidFill>
          <a:ln w="12700">
            <a:solidFill>
              <a:srgbClr val="DCE1EA"/>
            </a:solidFill>
            <a:prstDash val="solid"/>
          </a:ln>
        </p:spPr>
        <p:txBody>
          <a:bodyPr/>
          <a:lstStyle/>
          <a:p>
            <a:endParaRPr lang="en-US" sz="1600"/>
          </a:p>
        </p:txBody>
      </p:sp>
      <p:sp>
        <p:nvSpPr>
          <p:cNvPr id="22" name="Text 20"/>
          <p:cNvSpPr/>
          <p:nvPr/>
        </p:nvSpPr>
        <p:spPr>
          <a:xfrm>
            <a:off x="6400800" y="475488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Calendar &amp; Add-ins</a:t>
            </a: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6400800" y="5120640"/>
            <a:ext cx="4937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Office Add-ins, stickers, and direct Microsoft Calendar meeting details.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457200" y="656539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A6A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ICT 201  |  Week 5 — Evernote &amp; Microsoft OneNote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1521440" y="656539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600" dirty="0">
                <a:solidFill>
                  <a:srgbClr val="A6A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6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86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868680"/>
            <a:ext cx="12191695" cy="45720"/>
          </a:xfrm>
          <a:prstGeom prst="rect">
            <a:avLst/>
          </a:prstGeom>
          <a:solidFill>
            <a:srgbClr val="B886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109728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D8B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2: ONENOTE — TUTORIAL STEP 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347472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Freehand Drawing, View Modes &amp; Version Tracking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48640" y="1143000"/>
            <a:ext cx="5394960" cy="1600200"/>
          </a:xfrm>
          <a:prstGeom prst="roundRect">
            <a:avLst>
              <a:gd name="adj" fmla="val 4571"/>
            </a:avLst>
          </a:prstGeom>
          <a:solidFill>
            <a:srgbClr val="EAF6EC"/>
          </a:solidFill>
          <a:ln w="12700">
            <a:solidFill>
              <a:srgbClr val="DCE1EA"/>
            </a:solidFill>
            <a:prstDash val="solid"/>
          </a:ln>
        </p:spPr>
        <p:txBody>
          <a:bodyPr/>
          <a:lstStyle/>
          <a:p>
            <a:endParaRPr lang="en-US" sz="1600"/>
          </a:p>
        </p:txBody>
      </p:sp>
      <p:sp>
        <p:nvSpPr>
          <p:cNvPr id="7" name="Text 5"/>
          <p:cNvSpPr/>
          <p:nvPr/>
        </p:nvSpPr>
        <p:spPr>
          <a:xfrm>
            <a:off x="777240" y="128016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 Tools</a:t>
            </a: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777240" y="1645920"/>
            <a:ext cx="4937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Sketch diagrams, handwritten calculations, or project designs directly on the page.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172200" y="1143000"/>
            <a:ext cx="5394960" cy="1600200"/>
          </a:xfrm>
          <a:prstGeom prst="roundRect">
            <a:avLst>
              <a:gd name="adj" fmla="val 4571"/>
            </a:avLst>
          </a:prstGeom>
          <a:solidFill>
            <a:srgbClr val="E8EEF9"/>
          </a:solidFill>
          <a:ln w="12700">
            <a:solidFill>
              <a:srgbClr val="DCE1EA"/>
            </a:solidFill>
            <a:prstDash val="solid"/>
          </a:ln>
        </p:spPr>
        <p:txBody>
          <a:bodyPr/>
          <a:lstStyle/>
          <a:p>
            <a:endParaRPr lang="en-US" sz="1600"/>
          </a:p>
        </p:txBody>
      </p:sp>
      <p:sp>
        <p:nvSpPr>
          <p:cNvPr id="10" name="Text 8"/>
          <p:cNvSpPr/>
          <p:nvPr/>
        </p:nvSpPr>
        <p:spPr>
          <a:xfrm>
            <a:off x="6400800" y="128016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Immersive Reader</a:t>
            </a: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6400800" y="1645920"/>
            <a:ext cx="4937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Have text read aloud — useful for reviewing long notes hands-free.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48640" y="2880360"/>
            <a:ext cx="5394960" cy="1600200"/>
          </a:xfrm>
          <a:prstGeom prst="roundRect">
            <a:avLst>
              <a:gd name="adj" fmla="val 4571"/>
            </a:avLst>
          </a:prstGeom>
          <a:solidFill>
            <a:srgbClr val="EAF6EC"/>
          </a:solidFill>
          <a:ln w="12700">
            <a:solidFill>
              <a:srgbClr val="DCE1EA"/>
            </a:solidFill>
            <a:prstDash val="solid"/>
          </a:ln>
        </p:spPr>
        <p:txBody>
          <a:bodyPr/>
          <a:lstStyle/>
          <a:p>
            <a:endParaRPr lang="en-US" sz="1600"/>
          </a:p>
        </p:txBody>
      </p:sp>
      <p:sp>
        <p:nvSpPr>
          <p:cNvPr id="13" name="Text 11"/>
          <p:cNvSpPr/>
          <p:nvPr/>
        </p:nvSpPr>
        <p:spPr>
          <a:xfrm>
            <a:off x="777240" y="301752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Zoom &amp; Page Colors</a:t>
            </a: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777240" y="3383280"/>
            <a:ext cx="4937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Adjust zoom levels and change page background colors to reduce eye strain.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172200" y="2880360"/>
            <a:ext cx="5394960" cy="1600200"/>
          </a:xfrm>
          <a:prstGeom prst="roundRect">
            <a:avLst>
              <a:gd name="adj" fmla="val 4571"/>
            </a:avLst>
          </a:prstGeom>
          <a:solidFill>
            <a:srgbClr val="E8EEF9"/>
          </a:solidFill>
          <a:ln w="12700">
            <a:solidFill>
              <a:srgbClr val="DCE1EA"/>
            </a:solidFill>
            <a:prstDash val="solid"/>
          </a:ln>
        </p:spPr>
        <p:txBody>
          <a:bodyPr/>
          <a:lstStyle/>
          <a:p>
            <a:endParaRPr lang="en-US" sz="1600"/>
          </a:p>
        </p:txBody>
      </p:sp>
      <p:sp>
        <p:nvSpPr>
          <p:cNvPr id="16" name="Text 14"/>
          <p:cNvSpPr/>
          <p:nvPr/>
        </p:nvSpPr>
        <p:spPr>
          <a:xfrm>
            <a:off x="6400800" y="301752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Rulers &amp; Gridlines</a:t>
            </a: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6400800" y="3383280"/>
            <a:ext cx="4937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physical file-like rulers/gridlines for precise diagram alignment.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48640" y="4617720"/>
            <a:ext cx="5394960" cy="1600200"/>
          </a:xfrm>
          <a:prstGeom prst="roundRect">
            <a:avLst>
              <a:gd name="adj" fmla="val 4571"/>
            </a:avLst>
          </a:prstGeom>
          <a:solidFill>
            <a:srgbClr val="EAF6EC"/>
          </a:solidFill>
          <a:ln w="12700">
            <a:solidFill>
              <a:srgbClr val="DCE1EA"/>
            </a:solidFill>
            <a:prstDash val="solid"/>
          </a:ln>
        </p:spPr>
        <p:txBody>
          <a:bodyPr/>
          <a:lstStyle/>
          <a:p>
            <a:endParaRPr lang="en-US" sz="1600"/>
          </a:p>
        </p:txBody>
      </p:sp>
      <p:sp>
        <p:nvSpPr>
          <p:cNvPr id="19" name="Text 17"/>
          <p:cNvSpPr/>
          <p:nvPr/>
        </p:nvSpPr>
        <p:spPr>
          <a:xfrm>
            <a:off x="777240" y="475488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Author</a:t>
            </a: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777240" y="5120640"/>
            <a:ext cx="4937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who created specific content on a shared page.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172200" y="4617720"/>
            <a:ext cx="5394960" cy="1600200"/>
          </a:xfrm>
          <a:prstGeom prst="roundRect">
            <a:avLst>
              <a:gd name="adj" fmla="val 4571"/>
            </a:avLst>
          </a:prstGeom>
          <a:solidFill>
            <a:srgbClr val="E8EEF9"/>
          </a:solidFill>
          <a:ln w="12700">
            <a:solidFill>
              <a:srgbClr val="DCE1EA"/>
            </a:solidFill>
            <a:prstDash val="solid"/>
          </a:ln>
        </p:spPr>
        <p:txBody>
          <a:bodyPr/>
          <a:lstStyle/>
          <a:p>
            <a:endParaRPr lang="en-US" sz="1600"/>
          </a:p>
        </p:txBody>
      </p:sp>
      <p:sp>
        <p:nvSpPr>
          <p:cNvPr id="22" name="Text 20"/>
          <p:cNvSpPr/>
          <p:nvPr/>
        </p:nvSpPr>
        <p:spPr>
          <a:xfrm>
            <a:off x="6400800" y="475488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History</a:t>
            </a: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6400800" y="5120640"/>
            <a:ext cx="4937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or revert to earlier page versions — nothing is permanently lost.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457200" y="656539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6A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ICT 201  |  Week 5 — Evernote &amp; Microsoft OneNote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521440" y="656539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6A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62B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2B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0" y="1463040"/>
            <a:ext cx="12191695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☕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0" y="2743200"/>
            <a:ext cx="121916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kern="0" spc="400" dirty="0">
                <a:solidFill>
                  <a:srgbClr val="D8B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 2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0" y="3291840"/>
            <a:ext cx="1219169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Minutes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0" y="4114800"/>
            <a:ext cx="121916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C7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 at it: OneNote sharing &amp; permissions — then the final comparison</a:t>
            </a:r>
            <a:endParaRPr lang="en-US" sz="16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86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868680"/>
            <a:ext cx="12191695" cy="45720"/>
          </a:xfrm>
          <a:prstGeom prst="rect">
            <a:avLst/>
          </a:prstGeom>
          <a:solidFill>
            <a:srgbClr val="B886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109728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D8B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2: ONENOTE — TUTORIAL STEP 7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347472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Sharing Capabilities &amp; Collaboration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48640" y="1280160"/>
            <a:ext cx="5394960" cy="1737360"/>
          </a:xfrm>
          <a:prstGeom prst="roundRect">
            <a:avLst>
              <a:gd name="adj" fmla="val 4211"/>
            </a:avLst>
          </a:prstGeom>
          <a:solidFill>
            <a:srgbClr val="E8EEF9"/>
          </a:solidFill>
          <a:ln w="12700">
            <a:solidFill>
              <a:srgbClr val="DCE1EA"/>
            </a:solidFill>
            <a:prstDash val="solid"/>
          </a:ln>
        </p:spPr>
        <p:txBody>
          <a:bodyPr/>
          <a:lstStyle/>
          <a:p>
            <a:endParaRPr lang="en-US" sz="1600"/>
          </a:p>
        </p:txBody>
      </p:sp>
      <p:sp>
        <p:nvSpPr>
          <p:cNvPr id="7" name="Text 5"/>
          <p:cNvSpPr/>
          <p:nvPr/>
        </p:nvSpPr>
        <p:spPr>
          <a:xfrm>
            <a:off x="777240" y="141732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Targeted Sharing</a:t>
            </a: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777240" y="1783080"/>
            <a:ext cx="493776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notebooks with individual employees, entire departments (e.g. HR), or external freelancers via email.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172200" y="1280160"/>
            <a:ext cx="5394960" cy="1737360"/>
          </a:xfrm>
          <a:prstGeom prst="roundRect">
            <a:avLst>
              <a:gd name="adj" fmla="val 4211"/>
            </a:avLst>
          </a:prstGeom>
          <a:solidFill>
            <a:srgbClr val="FDF3E3"/>
          </a:solidFill>
          <a:ln w="12700">
            <a:solidFill>
              <a:srgbClr val="DCE1EA"/>
            </a:solidFill>
            <a:prstDash val="solid"/>
          </a:ln>
        </p:spPr>
        <p:txBody>
          <a:bodyPr/>
          <a:lstStyle/>
          <a:p>
            <a:endParaRPr lang="en-US" sz="1600"/>
          </a:p>
        </p:txBody>
      </p:sp>
      <p:sp>
        <p:nvSpPr>
          <p:cNvPr id="10" name="Text 8"/>
          <p:cNvSpPr/>
          <p:nvPr/>
        </p:nvSpPr>
        <p:spPr>
          <a:xfrm>
            <a:off x="6400800" y="141732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Entire Notebook</a:t>
            </a: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6400800" y="1783080"/>
            <a:ext cx="493776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Grant full co-authoring access — live updates by any contributor are visible to everyone.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48640" y="3154680"/>
            <a:ext cx="5394960" cy="1737360"/>
          </a:xfrm>
          <a:prstGeom prst="roundRect">
            <a:avLst>
              <a:gd name="adj" fmla="val 4211"/>
            </a:avLst>
          </a:prstGeom>
          <a:solidFill>
            <a:srgbClr val="E8EEF9"/>
          </a:solidFill>
          <a:ln w="12700">
            <a:solidFill>
              <a:srgbClr val="DCE1EA"/>
            </a:solidFill>
            <a:prstDash val="solid"/>
          </a:ln>
        </p:spPr>
        <p:txBody>
          <a:bodyPr/>
          <a:lstStyle/>
          <a:p>
            <a:endParaRPr lang="en-US" sz="1600"/>
          </a:p>
        </p:txBody>
      </p:sp>
      <p:sp>
        <p:nvSpPr>
          <p:cNvPr id="13" name="Text 11"/>
          <p:cNvSpPr/>
          <p:nvPr/>
        </p:nvSpPr>
        <p:spPr>
          <a:xfrm>
            <a:off x="777240" y="329184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 Link</a:t>
            </a: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777240" y="3657600"/>
            <a:ext cx="493776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a standalone copy of the notebook so future additions to your master notebook remain private.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172200" y="3154680"/>
            <a:ext cx="5394960" cy="1737360"/>
          </a:xfrm>
          <a:prstGeom prst="roundRect">
            <a:avLst>
              <a:gd name="adj" fmla="val 4211"/>
            </a:avLst>
          </a:prstGeom>
          <a:solidFill>
            <a:srgbClr val="FDF3E3"/>
          </a:solidFill>
          <a:ln w="12700">
            <a:solidFill>
              <a:srgbClr val="DCE1EA"/>
            </a:solidFill>
            <a:prstDash val="solid"/>
          </a:ln>
        </p:spPr>
        <p:txBody>
          <a:bodyPr/>
          <a:lstStyle/>
          <a:p>
            <a:endParaRPr lang="en-US" sz="1600"/>
          </a:p>
        </p:txBody>
      </p:sp>
      <p:sp>
        <p:nvSpPr>
          <p:cNvPr id="16" name="Text 14"/>
          <p:cNvSpPr/>
          <p:nvPr/>
        </p:nvSpPr>
        <p:spPr>
          <a:xfrm>
            <a:off x="6400800" y="329184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 Notebook</a:t>
            </a: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6400800" y="3657600"/>
            <a:ext cx="493776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the notebook entirely for someone to build on independently.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57200" y="656539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6A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ICT 201  |  Week 5 — Evernote &amp; Microsoft OneNote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521440" y="656539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6A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86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868680"/>
            <a:ext cx="12191695" cy="45720"/>
          </a:xfrm>
          <a:prstGeom prst="rect">
            <a:avLst/>
          </a:prstGeom>
          <a:solidFill>
            <a:srgbClr val="B886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109728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D8B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2: ONENOTE — TUTORIAL STEP 8 (FINAL)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347472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Permissions &amp; Access Control</a:t>
            </a:r>
            <a:endParaRPr lang="en-US" sz="2400" dirty="0"/>
          </a:p>
        </p:txBody>
      </p:sp>
      <p:pic>
        <p:nvPicPr>
          <p:cNvPr id="6" name="Image 0" descr="mockups/onenote_shar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097280"/>
            <a:ext cx="6035040" cy="374904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313714" y="1097280"/>
            <a:ext cx="5390606" cy="5212080"/>
          </a:xfrm>
          <a:prstGeom prst="roundRect">
            <a:avLst>
              <a:gd name="adj" fmla="val 1600"/>
            </a:avLst>
          </a:prstGeom>
          <a:solidFill>
            <a:srgbClr val="F4F6FA"/>
          </a:solidFill>
          <a:ln w="12700">
            <a:solidFill>
              <a:srgbClr val="DCE1EA"/>
            </a:solidFill>
            <a:prstDash val="solid"/>
          </a:ln>
          <a:effectLst>
            <a:outerShdw blurRad="76200" dist="25400" dir="5400000" algn="bl" rotWithShape="0">
              <a:srgbClr val="888888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6502400" y="1234440"/>
            <a:ext cx="4973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PERMISSION LEVELS</a:t>
            </a: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6502400" y="1572768"/>
            <a:ext cx="4973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or Edit rights</a:t>
            </a:r>
            <a:endParaRPr lang="en-US" dirty="0"/>
          </a:p>
        </p:txBody>
      </p:sp>
      <p:sp>
        <p:nvSpPr>
          <p:cNvPr id="10" name="Text 7"/>
          <p:cNvSpPr/>
          <p:nvPr/>
        </p:nvSpPr>
        <p:spPr>
          <a:xfrm>
            <a:off x="6502400" y="1819656"/>
            <a:ext cx="4973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6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 either permission level when sending a sharing invitation.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6502400" y="2624328"/>
            <a:ext cx="4973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features</a:t>
            </a:r>
            <a:endParaRPr lang="en-US" dirty="0"/>
          </a:p>
        </p:txBody>
      </p:sp>
      <p:sp>
        <p:nvSpPr>
          <p:cNvPr id="12" name="Text 9"/>
          <p:cNvSpPr/>
          <p:nvPr/>
        </p:nvSpPr>
        <p:spPr>
          <a:xfrm>
            <a:off x="6502400" y="2871216"/>
            <a:ext cx="4973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6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expiration dates and password protection on shared notebook links.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6502400" y="3675888"/>
            <a:ext cx="4973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access</a:t>
            </a:r>
            <a:endParaRPr lang="en-US" dirty="0"/>
          </a:p>
        </p:txBody>
      </p:sp>
      <p:sp>
        <p:nvSpPr>
          <p:cNvPr id="14" name="Text 11"/>
          <p:cNvSpPr/>
          <p:nvPr/>
        </p:nvSpPr>
        <p:spPr>
          <a:xfrm>
            <a:off x="6502400" y="3922776"/>
            <a:ext cx="4973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6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sharing history, modify permissions on the fly, or revoke access when a project ends (e.g. for external freelancers).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457200" y="656539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6A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ICT 201  |  Week 5 — Evernote &amp; Microsoft OneNote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11521440" y="656539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6A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86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868680"/>
            <a:ext cx="12191695" cy="45720"/>
          </a:xfrm>
          <a:prstGeom prst="rect">
            <a:avLst/>
          </a:prstGeom>
          <a:solidFill>
            <a:srgbClr val="B886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109728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D8B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SIDE-BY-SIDE COMPARISON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347472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Evernote vs. OneNote — Feature Comparison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48640" y="1188720"/>
            <a:ext cx="3291840" cy="457200"/>
          </a:xfrm>
          <a:prstGeom prst="rect">
            <a:avLst/>
          </a:prstGeom>
          <a:solidFill>
            <a:srgbClr val="1F3864"/>
          </a:solidFill>
          <a:ln/>
        </p:spPr>
        <p:txBody>
          <a:bodyPr/>
          <a:lstStyle/>
          <a:p>
            <a:endParaRPr lang="en-US" sz="1600"/>
          </a:p>
        </p:txBody>
      </p:sp>
      <p:sp>
        <p:nvSpPr>
          <p:cNvPr id="7" name="Text 5"/>
          <p:cNvSpPr/>
          <p:nvPr/>
        </p:nvSpPr>
        <p:spPr>
          <a:xfrm>
            <a:off x="548640" y="118872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Facility</a:t>
            </a: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3840480" y="1188720"/>
            <a:ext cx="3977640" cy="457200"/>
          </a:xfrm>
          <a:prstGeom prst="rect">
            <a:avLst/>
          </a:prstGeom>
          <a:solidFill>
            <a:srgbClr val="00A82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840480" y="1188720"/>
            <a:ext cx="3977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Evernote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818120" y="1188720"/>
            <a:ext cx="3977640" cy="457200"/>
          </a:xfrm>
          <a:prstGeom prst="rect">
            <a:avLst/>
          </a:prstGeom>
          <a:solidFill>
            <a:srgbClr val="7D379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818120" y="1188720"/>
            <a:ext cx="3977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OneNote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48640" y="1645920"/>
            <a:ext cx="329184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CE1EA"/>
            </a:solidFill>
            <a:prstDash val="solid"/>
          </a:ln>
        </p:spPr>
        <p:txBody>
          <a:bodyPr/>
          <a:lstStyle/>
          <a:p>
            <a:endParaRPr lang="en-US" sz="1600"/>
          </a:p>
        </p:txBody>
      </p:sp>
      <p:sp>
        <p:nvSpPr>
          <p:cNvPr id="13" name="Text 11"/>
          <p:cNvSpPr/>
          <p:nvPr/>
        </p:nvSpPr>
        <p:spPr>
          <a:xfrm>
            <a:off x="658368" y="1645920"/>
            <a:ext cx="307238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Organization model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3840480" y="1645920"/>
            <a:ext cx="397764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CE1EA"/>
            </a:solidFill>
            <a:prstDash val="solid"/>
          </a:ln>
        </p:spPr>
        <p:txBody>
          <a:bodyPr/>
          <a:lstStyle/>
          <a:p>
            <a:endParaRPr lang="en-US" sz="1600"/>
          </a:p>
        </p:txBody>
      </p:sp>
      <p:sp>
        <p:nvSpPr>
          <p:cNvPr id="15" name="Text 13"/>
          <p:cNvSpPr/>
          <p:nvPr/>
        </p:nvSpPr>
        <p:spPr>
          <a:xfrm>
            <a:off x="3950208" y="1645920"/>
            <a:ext cx="375818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Notebooks + Tags (flat/multi-tag)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7818120" y="1645920"/>
            <a:ext cx="397764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CE1EA"/>
            </a:solidFill>
            <a:prstDash val="solid"/>
          </a:ln>
        </p:spPr>
        <p:txBody>
          <a:bodyPr/>
          <a:lstStyle/>
          <a:p>
            <a:endParaRPr lang="en-US" sz="1600"/>
          </a:p>
        </p:txBody>
      </p:sp>
      <p:sp>
        <p:nvSpPr>
          <p:cNvPr id="17" name="Text 15"/>
          <p:cNvSpPr/>
          <p:nvPr/>
        </p:nvSpPr>
        <p:spPr>
          <a:xfrm>
            <a:off x="7927848" y="1645920"/>
            <a:ext cx="375818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 → Section → Page (hierarchy)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48640" y="2194560"/>
            <a:ext cx="3291840" cy="548640"/>
          </a:xfrm>
          <a:prstGeom prst="rect">
            <a:avLst/>
          </a:prstGeom>
          <a:solidFill>
            <a:srgbClr val="F4F6FA"/>
          </a:solidFill>
          <a:ln w="9525">
            <a:solidFill>
              <a:srgbClr val="DCE1EA"/>
            </a:solidFill>
            <a:prstDash val="solid"/>
          </a:ln>
        </p:spPr>
        <p:txBody>
          <a:bodyPr/>
          <a:lstStyle/>
          <a:p>
            <a:endParaRPr lang="en-US" sz="1600"/>
          </a:p>
        </p:txBody>
      </p:sp>
      <p:sp>
        <p:nvSpPr>
          <p:cNvPr id="19" name="Text 17"/>
          <p:cNvSpPr/>
          <p:nvPr/>
        </p:nvSpPr>
        <p:spPr>
          <a:xfrm>
            <a:off x="658368" y="2194560"/>
            <a:ext cx="307238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Ecosystem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3840480" y="2194560"/>
            <a:ext cx="3977640" cy="548640"/>
          </a:xfrm>
          <a:prstGeom prst="rect">
            <a:avLst/>
          </a:prstGeom>
          <a:solidFill>
            <a:srgbClr val="F4F6FA"/>
          </a:solidFill>
          <a:ln w="9525">
            <a:solidFill>
              <a:srgbClr val="DCE1EA"/>
            </a:solidFill>
            <a:prstDash val="solid"/>
          </a:ln>
        </p:spPr>
        <p:txBody>
          <a:bodyPr/>
          <a:lstStyle/>
          <a:p>
            <a:endParaRPr lang="en-US" sz="1600"/>
          </a:p>
        </p:txBody>
      </p:sp>
      <p:sp>
        <p:nvSpPr>
          <p:cNvPr id="21" name="Text 19"/>
          <p:cNvSpPr/>
          <p:nvPr/>
        </p:nvSpPr>
        <p:spPr>
          <a:xfrm>
            <a:off x="3950208" y="2194560"/>
            <a:ext cx="375818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Platform-independent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7818120" y="2194560"/>
            <a:ext cx="3977640" cy="548640"/>
          </a:xfrm>
          <a:prstGeom prst="rect">
            <a:avLst/>
          </a:prstGeom>
          <a:solidFill>
            <a:srgbClr val="F4F6FA"/>
          </a:solidFill>
          <a:ln w="9525">
            <a:solidFill>
              <a:srgbClr val="DCE1EA"/>
            </a:solidFill>
            <a:prstDash val="solid"/>
          </a:ln>
        </p:spPr>
        <p:txBody>
          <a:bodyPr/>
          <a:lstStyle/>
          <a:p>
            <a:endParaRPr lang="en-US" sz="1600"/>
          </a:p>
        </p:txBody>
      </p:sp>
      <p:sp>
        <p:nvSpPr>
          <p:cNvPr id="23" name="Text 21"/>
          <p:cNvSpPr/>
          <p:nvPr/>
        </p:nvSpPr>
        <p:spPr>
          <a:xfrm>
            <a:off x="7927848" y="2194560"/>
            <a:ext cx="375818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Microsoft 365 integration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548640" y="2743200"/>
            <a:ext cx="329184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CE1EA"/>
            </a:solidFill>
            <a:prstDash val="solid"/>
          </a:ln>
        </p:spPr>
        <p:txBody>
          <a:bodyPr/>
          <a:lstStyle/>
          <a:p>
            <a:endParaRPr lang="en-US" sz="1600"/>
          </a:p>
        </p:txBody>
      </p:sp>
      <p:sp>
        <p:nvSpPr>
          <p:cNvPr id="25" name="Text 23"/>
          <p:cNvSpPr/>
          <p:nvPr/>
        </p:nvSpPr>
        <p:spPr>
          <a:xfrm>
            <a:off x="658368" y="2743200"/>
            <a:ext cx="307238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capture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3840480" y="2743200"/>
            <a:ext cx="397764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CE1EA"/>
            </a:solidFill>
            <a:prstDash val="solid"/>
          </a:ln>
        </p:spPr>
        <p:txBody>
          <a:bodyPr/>
          <a:lstStyle/>
          <a:p>
            <a:endParaRPr lang="en-US" sz="1600"/>
          </a:p>
        </p:txBody>
      </p:sp>
      <p:sp>
        <p:nvSpPr>
          <p:cNvPr id="27" name="Text 25"/>
          <p:cNvSpPr/>
          <p:nvPr/>
        </p:nvSpPr>
        <p:spPr>
          <a:xfrm>
            <a:off x="3950208" y="2743200"/>
            <a:ext cx="375818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Clipper browser extension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7818120" y="2743200"/>
            <a:ext cx="397764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CE1EA"/>
            </a:solidFill>
            <a:prstDash val="solid"/>
          </a:ln>
        </p:spPr>
        <p:txBody>
          <a:bodyPr/>
          <a:lstStyle/>
          <a:p>
            <a:endParaRPr lang="en-US" sz="1600"/>
          </a:p>
        </p:txBody>
      </p:sp>
      <p:sp>
        <p:nvSpPr>
          <p:cNvPr id="29" name="Text 27"/>
          <p:cNvSpPr/>
          <p:nvPr/>
        </p:nvSpPr>
        <p:spPr>
          <a:xfrm>
            <a:off x="7927848" y="2743200"/>
            <a:ext cx="375818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clipping via browser extension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548640" y="3291840"/>
            <a:ext cx="3291840" cy="548640"/>
          </a:xfrm>
          <a:prstGeom prst="rect">
            <a:avLst/>
          </a:prstGeom>
          <a:solidFill>
            <a:srgbClr val="F4F6FA"/>
          </a:solidFill>
          <a:ln w="9525">
            <a:solidFill>
              <a:srgbClr val="DCE1EA"/>
            </a:solidFill>
            <a:prstDash val="solid"/>
          </a:ln>
        </p:spPr>
        <p:txBody>
          <a:bodyPr/>
          <a:lstStyle/>
          <a:p>
            <a:endParaRPr lang="en-US" sz="1600"/>
          </a:p>
        </p:txBody>
      </p:sp>
      <p:sp>
        <p:nvSpPr>
          <p:cNvPr id="31" name="Text 29"/>
          <p:cNvSpPr/>
          <p:nvPr/>
        </p:nvSpPr>
        <p:spPr>
          <a:xfrm>
            <a:off x="658368" y="3291840"/>
            <a:ext cx="307238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input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3840480" y="3291840"/>
            <a:ext cx="3977640" cy="548640"/>
          </a:xfrm>
          <a:prstGeom prst="rect">
            <a:avLst/>
          </a:prstGeom>
          <a:solidFill>
            <a:srgbClr val="F4F6FA"/>
          </a:solidFill>
          <a:ln w="9525">
            <a:solidFill>
              <a:srgbClr val="DCE1EA"/>
            </a:solidFill>
            <a:prstDash val="solid"/>
          </a:ln>
        </p:spPr>
        <p:txBody>
          <a:bodyPr/>
          <a:lstStyle/>
          <a:p>
            <a:endParaRPr lang="en-US" sz="1600"/>
          </a:p>
        </p:txBody>
      </p:sp>
      <p:sp>
        <p:nvSpPr>
          <p:cNvPr id="33" name="Text 31"/>
          <p:cNvSpPr/>
          <p:nvPr/>
        </p:nvSpPr>
        <p:spPr>
          <a:xfrm>
            <a:off x="3950208" y="3291840"/>
            <a:ext cx="375818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 recording only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7818120" y="3291840"/>
            <a:ext cx="3977640" cy="548640"/>
          </a:xfrm>
          <a:prstGeom prst="rect">
            <a:avLst/>
          </a:prstGeom>
          <a:solidFill>
            <a:srgbClr val="F4F6FA"/>
          </a:solidFill>
          <a:ln w="9525">
            <a:solidFill>
              <a:srgbClr val="DCE1EA"/>
            </a:solidFill>
            <a:prstDash val="solid"/>
          </a:ln>
        </p:spPr>
        <p:txBody>
          <a:bodyPr/>
          <a:lstStyle/>
          <a:p>
            <a:endParaRPr lang="en-US" sz="1600"/>
          </a:p>
        </p:txBody>
      </p:sp>
      <p:sp>
        <p:nvSpPr>
          <p:cNvPr id="35" name="Text 33"/>
          <p:cNvSpPr/>
          <p:nvPr/>
        </p:nvSpPr>
        <p:spPr>
          <a:xfrm>
            <a:off x="7927848" y="3291840"/>
            <a:ext cx="375818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Dictate (voice-to-text)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548640" y="3840480"/>
            <a:ext cx="329184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CE1EA"/>
            </a:solidFill>
            <a:prstDash val="solid"/>
          </a:ln>
        </p:spPr>
        <p:txBody>
          <a:bodyPr/>
          <a:lstStyle/>
          <a:p>
            <a:endParaRPr lang="en-US" sz="1600"/>
          </a:p>
        </p:txBody>
      </p:sp>
      <p:sp>
        <p:nvSpPr>
          <p:cNvPr id="37" name="Text 35"/>
          <p:cNvSpPr/>
          <p:nvPr/>
        </p:nvSpPr>
        <p:spPr>
          <a:xfrm>
            <a:off x="658368" y="3840480"/>
            <a:ext cx="307238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Drawing/Sketching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3840480" y="3840480"/>
            <a:ext cx="397764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CE1EA"/>
            </a:solidFill>
            <a:prstDash val="solid"/>
          </a:ln>
        </p:spPr>
        <p:txBody>
          <a:bodyPr/>
          <a:lstStyle/>
          <a:p>
            <a:endParaRPr lang="en-US" sz="1600"/>
          </a:p>
        </p:txBody>
      </p:sp>
      <p:sp>
        <p:nvSpPr>
          <p:cNvPr id="39" name="Text 37"/>
          <p:cNvSpPr/>
          <p:nvPr/>
        </p:nvSpPr>
        <p:spPr>
          <a:xfrm>
            <a:off x="3950208" y="3840480"/>
            <a:ext cx="375818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sketch canvas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7818120" y="3840480"/>
            <a:ext cx="397764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CE1EA"/>
            </a:solidFill>
            <a:prstDash val="solid"/>
          </a:ln>
        </p:spPr>
        <p:txBody>
          <a:bodyPr/>
          <a:lstStyle/>
          <a:p>
            <a:endParaRPr lang="en-US" sz="1600"/>
          </a:p>
        </p:txBody>
      </p:sp>
      <p:sp>
        <p:nvSpPr>
          <p:cNvPr id="41" name="Text 39"/>
          <p:cNvSpPr/>
          <p:nvPr/>
        </p:nvSpPr>
        <p:spPr>
          <a:xfrm>
            <a:off x="7927848" y="3840480"/>
            <a:ext cx="375818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freehand Draw tools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548640" y="4389120"/>
            <a:ext cx="3291840" cy="548640"/>
          </a:xfrm>
          <a:prstGeom prst="rect">
            <a:avLst/>
          </a:prstGeom>
          <a:solidFill>
            <a:srgbClr val="F4F6FA"/>
          </a:solidFill>
          <a:ln w="9525">
            <a:solidFill>
              <a:srgbClr val="DCE1EA"/>
            </a:solidFill>
            <a:prstDash val="solid"/>
          </a:ln>
        </p:spPr>
        <p:txBody>
          <a:bodyPr/>
          <a:lstStyle/>
          <a:p>
            <a:endParaRPr lang="en-US" sz="1600"/>
          </a:p>
        </p:txBody>
      </p:sp>
      <p:sp>
        <p:nvSpPr>
          <p:cNvPr id="43" name="Text 41"/>
          <p:cNvSpPr/>
          <p:nvPr/>
        </p:nvSpPr>
        <p:spPr>
          <a:xfrm>
            <a:off x="658368" y="4389120"/>
            <a:ext cx="307238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3840480" y="4389120"/>
            <a:ext cx="3977640" cy="548640"/>
          </a:xfrm>
          <a:prstGeom prst="rect">
            <a:avLst/>
          </a:prstGeom>
          <a:solidFill>
            <a:srgbClr val="F4F6FA"/>
          </a:solidFill>
          <a:ln w="9525">
            <a:solidFill>
              <a:srgbClr val="DCE1EA"/>
            </a:solidFill>
            <a:prstDash val="solid"/>
          </a:ln>
        </p:spPr>
        <p:txBody>
          <a:bodyPr/>
          <a:lstStyle/>
          <a:p>
            <a:endParaRPr lang="en-US" sz="1600"/>
          </a:p>
        </p:txBody>
      </p:sp>
      <p:sp>
        <p:nvSpPr>
          <p:cNvPr id="45" name="Text 43"/>
          <p:cNvSpPr/>
          <p:nvPr/>
        </p:nvSpPr>
        <p:spPr>
          <a:xfrm>
            <a:off x="3950208" y="4389120"/>
            <a:ext cx="375818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encryption (passphrase)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7818120" y="4389120"/>
            <a:ext cx="3977640" cy="548640"/>
          </a:xfrm>
          <a:prstGeom prst="rect">
            <a:avLst/>
          </a:prstGeom>
          <a:solidFill>
            <a:srgbClr val="F4F6FA"/>
          </a:solidFill>
          <a:ln w="9525">
            <a:solidFill>
              <a:srgbClr val="DCE1EA"/>
            </a:solidFill>
            <a:prstDash val="solid"/>
          </a:ln>
        </p:spPr>
        <p:txBody>
          <a:bodyPr/>
          <a:lstStyle/>
          <a:p>
            <a:endParaRPr lang="en-US" sz="1600"/>
          </a:p>
        </p:txBody>
      </p:sp>
      <p:sp>
        <p:nvSpPr>
          <p:cNvPr id="47" name="Text 45"/>
          <p:cNvSpPr/>
          <p:nvPr/>
        </p:nvSpPr>
        <p:spPr>
          <a:xfrm>
            <a:off x="7927848" y="4389120"/>
            <a:ext cx="375818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Password-protected shared links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548640" y="4937760"/>
            <a:ext cx="329184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CE1EA"/>
            </a:solidFill>
            <a:prstDash val="solid"/>
          </a:ln>
        </p:spPr>
        <p:txBody>
          <a:bodyPr/>
          <a:lstStyle/>
          <a:p>
            <a:endParaRPr lang="en-US" sz="1600"/>
          </a:p>
        </p:txBody>
      </p:sp>
      <p:sp>
        <p:nvSpPr>
          <p:cNvPr id="49" name="Text 47"/>
          <p:cNvSpPr/>
          <p:nvPr/>
        </p:nvSpPr>
        <p:spPr>
          <a:xfrm>
            <a:off x="658368" y="4937760"/>
            <a:ext cx="307238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fit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3840480" y="4937760"/>
            <a:ext cx="397764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CE1EA"/>
            </a:solidFill>
            <a:prstDash val="solid"/>
          </a:ln>
        </p:spPr>
        <p:txBody>
          <a:bodyPr/>
          <a:lstStyle/>
          <a:p>
            <a:endParaRPr lang="en-US" sz="1600"/>
          </a:p>
        </p:txBody>
      </p:sp>
      <p:sp>
        <p:nvSpPr>
          <p:cNvPr id="51" name="Text 49"/>
          <p:cNvSpPr/>
          <p:nvPr/>
        </p:nvSpPr>
        <p:spPr>
          <a:xfrm>
            <a:off x="3950208" y="4937760"/>
            <a:ext cx="375818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&amp; cross-platform users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7818120" y="4937760"/>
            <a:ext cx="397764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CE1EA"/>
            </a:solidFill>
            <a:prstDash val="solid"/>
          </a:ln>
        </p:spPr>
        <p:txBody>
          <a:bodyPr/>
          <a:lstStyle/>
          <a:p>
            <a:endParaRPr lang="en-US" sz="1600"/>
          </a:p>
        </p:txBody>
      </p:sp>
      <p:sp>
        <p:nvSpPr>
          <p:cNvPr id="53" name="Text 51"/>
          <p:cNvSpPr/>
          <p:nvPr/>
        </p:nvSpPr>
        <p:spPr>
          <a:xfrm>
            <a:off x="7927848" y="4937760"/>
            <a:ext cx="375818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365 organizations &amp; teams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457200" y="656539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6A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ICT 201  |  Week 5 — Evernote &amp; Microsoft OneNote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11521440" y="656539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6A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86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868680"/>
            <a:ext cx="12191695" cy="45720"/>
          </a:xfrm>
          <a:prstGeom prst="rect">
            <a:avLst/>
          </a:prstGeom>
          <a:solidFill>
            <a:srgbClr val="B886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109728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D8B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WHAT YOU LEARNED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347472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Activity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10561320" y="137160"/>
            <a:ext cx="1417320" cy="320040"/>
          </a:xfrm>
          <a:prstGeom prst="roundRect">
            <a:avLst>
              <a:gd name="adj" fmla="val 48571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0561320" y="137160"/>
            <a:ext cx="1417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40080" y="1280160"/>
            <a:ext cx="1088136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DCE1EA"/>
            </a:solidFill>
            <a:prstDash val="solid"/>
          </a:ln>
          <a:effectLst>
            <a:outerShdw blurRad="76200" dist="25400" dir="5400000" algn="bl" rotWithShape="0">
              <a:srgbClr val="888888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914400" y="14630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0A8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1 — Evernote</a:t>
            </a: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914400" y="1828800"/>
            <a:ext cx="103327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free Evernote account. Make one note titled "ICT 201 Week 5," apply a Large header, add a bulleted list of 3 note-taking apps you’ve used before, and tag the note "Week5."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40080" y="3749040"/>
            <a:ext cx="10881360" cy="246888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12700">
            <a:solidFill>
              <a:srgbClr val="DCE1EA"/>
            </a:solidFill>
            <a:prstDash val="solid"/>
          </a:ln>
          <a:effectLst>
            <a:outerShdw blurRad="76200" dist="25400" dir="5400000" algn="bl" rotWithShape="0">
              <a:srgbClr val="888888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914400" y="39319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7D37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2 — OneNote</a:t>
            </a: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914400" y="4297680"/>
            <a:ext cx="103327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OneNote, create a new Section called "Week 5" inside your personal notebook, add a Page titled "Comparison Notes," and use the To-Do tag on at least 2 lines summarizing what you learned today.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57200" y="656539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A6A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ICT 201  |  Week 5 — Evernote &amp; Microsoft OneNote</a:t>
            </a: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11521440" y="656539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dirty="0">
                <a:solidFill>
                  <a:srgbClr val="A6A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1F386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2B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4572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D8B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82296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5 in Six Points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40080" y="1600200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D8B8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40080" y="16002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62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234440" y="1554480"/>
            <a:ext cx="10332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note-taking centralizes information across devices — solving the "scattered notes" problem for good.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40080" y="2395728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D8B8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40080" y="239572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62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234440" y="2350008"/>
            <a:ext cx="10332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Evernote organizes with Notebooks + multi-tag Labels; OneNote organizes with a strict Notebook → Section → Page hierarchy.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40080" y="3191256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D8B8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40080" y="3191256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62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234440" y="3145536"/>
            <a:ext cx="10332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apps support rich media: sketches, audio, tables, and file attachments — notes aren’t just text anymore.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40080" y="3986784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D8B8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40080" y="3986784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62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234440" y="3941064"/>
            <a:ext cx="10332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OneNote’s AI Dictate and deep Microsoft 365 integration make it a natural fit inside Microsoft-based organizations.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40080" y="4782312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D8B8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40080" y="478231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62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234440" y="4736592"/>
            <a:ext cx="10332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Evernote’s Web Clipper and cross-platform flexibility make it a strong personal, platform-independent choice.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40080" y="5577840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D8B8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40080" y="55778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62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234440" y="5532120"/>
            <a:ext cx="10332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offer granular sharing controls (view/edit permissions, expiration, password protection) — essential ICT etiquette for collaboration.</a:t>
            </a:r>
            <a:endParaRPr lang="en-US" sz="16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86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868680"/>
            <a:ext cx="12191695" cy="45720"/>
          </a:xfrm>
          <a:prstGeom prst="rect">
            <a:avLst/>
          </a:prstGeom>
          <a:solidFill>
            <a:srgbClr val="B886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109728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D8B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YOU LEAVE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347472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 Ticket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1097280" y="1371600"/>
            <a:ext cx="9966960" cy="4754880"/>
          </a:xfrm>
          <a:prstGeom prst="roundRect">
            <a:avLst>
              <a:gd name="adj" fmla="val 1538"/>
            </a:avLst>
          </a:prstGeom>
          <a:solidFill>
            <a:srgbClr val="F4F6FA"/>
          </a:solidFill>
          <a:ln w="12700">
            <a:solidFill>
              <a:srgbClr val="DCE1EA"/>
            </a:solidFill>
            <a:prstDash val="solid"/>
          </a:ln>
          <a:effectLst>
            <a:outerShdw blurRad="76200" dist="25400" dir="5400000" algn="bl" rotWithShape="0">
              <a:srgbClr val="888888">
                <a:alpha val="18000"/>
              </a:srgbClr>
            </a:outerShdw>
          </a:effectLst>
        </p:spPr>
        <p:txBody>
          <a:bodyPr/>
          <a:lstStyle/>
          <a:p>
            <a:endParaRPr lang="en-US" sz="1600"/>
          </a:p>
        </p:txBody>
      </p:sp>
      <p:sp>
        <p:nvSpPr>
          <p:cNvPr id="7" name="Text 5"/>
          <p:cNvSpPr/>
          <p:nvPr/>
        </p:nvSpPr>
        <p:spPr>
          <a:xfrm>
            <a:off x="1463040" y="16459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a slip of paper (or the LMS form), answer briefly: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1463040" y="2194560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1F3864"/>
          </a:solidFill>
          <a:ln/>
        </p:spPr>
        <p:txBody>
          <a:bodyPr/>
          <a:lstStyle/>
          <a:p>
            <a:endParaRPr lang="en-US" sz="1600"/>
          </a:p>
        </p:txBody>
      </p:sp>
      <p:sp>
        <p:nvSpPr>
          <p:cNvPr id="9" name="Text 7"/>
          <p:cNvSpPr/>
          <p:nvPr/>
        </p:nvSpPr>
        <p:spPr>
          <a:xfrm>
            <a:off x="1463040" y="21945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2057400" y="2176272"/>
            <a:ext cx="8686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ONE feature Evernote has that OneNote does not (or vice versa).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1463040" y="3337560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1F3864"/>
          </a:solidFill>
          <a:ln/>
        </p:spPr>
        <p:txBody>
          <a:bodyPr/>
          <a:lstStyle/>
          <a:p>
            <a:endParaRPr lang="en-US" sz="1600"/>
          </a:p>
        </p:txBody>
      </p:sp>
      <p:sp>
        <p:nvSpPr>
          <p:cNvPr id="12" name="Text 10"/>
          <p:cNvSpPr/>
          <p:nvPr/>
        </p:nvSpPr>
        <p:spPr>
          <a:xfrm>
            <a:off x="1463040" y="33375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057400" y="3319272"/>
            <a:ext cx="8686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Explain, in one sentence, why organizing notes with tags differs from organizing with a strict folder hierarchy.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1463040" y="4480560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1F3864"/>
          </a:solidFill>
          <a:ln/>
        </p:spPr>
        <p:txBody>
          <a:bodyPr/>
          <a:lstStyle/>
          <a:p>
            <a:endParaRPr lang="en-US" sz="1600"/>
          </a:p>
        </p:txBody>
      </p:sp>
      <p:sp>
        <p:nvSpPr>
          <p:cNvPr id="15" name="Text 13"/>
          <p:cNvSpPr/>
          <p:nvPr/>
        </p:nvSpPr>
        <p:spPr>
          <a:xfrm>
            <a:off x="1463040" y="44805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2057400" y="4462272"/>
            <a:ext cx="8686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app would you personally choose for your own studies — Evernote or OneNote — and why?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463040" y="56235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session: Video Conferencing (Meet, Teams, Zoom) &amp; Social Media Applications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57200" y="656539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6A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ICT 201  |  Week 5 — Evernote &amp; Microsoft OneNote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521440" y="656539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6A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683</TotalTime>
  <Words>2941</Words>
  <Application>Microsoft Office PowerPoint</Application>
  <PresentationFormat>Widescreen</PresentationFormat>
  <Paragraphs>440</Paragraphs>
  <Slides>31</Slides>
  <Notes>31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4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FAHEEM SHAUKAT</cp:lastModifiedBy>
  <cp:revision>11</cp:revision>
  <dcterms:created xsi:type="dcterms:W3CDTF">2026-09-26T18:49:07Z</dcterms:created>
  <dcterms:modified xsi:type="dcterms:W3CDTF">2026-09-27T06:51:37Z</dcterms:modified>
</cp:coreProperties>
</file>