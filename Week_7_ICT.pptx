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79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4131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B4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sp>
        <p:nvSpPr>
          <p:cNvPr id="3" name="Shape 1"/>
          <p:cNvSpPr/>
          <p:nvPr/>
        </p:nvSpPr>
        <p:spPr>
          <a:xfrm>
            <a:off x="0" y="6309360"/>
            <a:ext cx="12191695" cy="73152"/>
          </a:xfrm>
          <a:prstGeom prst="rect">
            <a:avLst/>
          </a:prstGeom>
          <a:solidFill>
            <a:srgbClr val="B8860B"/>
          </a:solidFill>
          <a:ln/>
        </p:spPr>
        <p:txBody>
          <a:bodyPr/>
          <a:lstStyle/>
          <a:p>
            <a:endParaRPr lang="en-US"/>
          </a:p>
        </p:txBody>
      </p:sp>
      <p:pic>
        <p:nvPicPr>
          <p:cNvPr id="4" name="Image 0" descr="/home/claude/bahria_logo_cropped.png"/>
          <p:cNvPicPr>
            <a:picLocks noChangeAspect="1"/>
          </p:cNvPicPr>
          <p:nvPr/>
        </p:nvPicPr>
        <p:blipFill>
          <a:blip r:embed="rId3"/>
          <a:stretch>
            <a:fillRect/>
          </a:stretch>
        </p:blipFill>
        <p:spPr>
          <a:xfrm>
            <a:off x="640080" y="502920"/>
            <a:ext cx="1005840" cy="1124712"/>
          </a:xfrm>
          <a:prstGeom prst="rect">
            <a:avLst/>
          </a:prstGeom>
        </p:spPr>
      </p:pic>
      <p:sp>
        <p:nvSpPr>
          <p:cNvPr id="5" name="Text 2"/>
          <p:cNvSpPr/>
          <p:nvPr/>
        </p:nvSpPr>
        <p:spPr>
          <a:xfrm>
            <a:off x="1828800" y="594360"/>
            <a:ext cx="8229600" cy="365760"/>
          </a:xfrm>
          <a:prstGeom prst="rect">
            <a:avLst/>
          </a:prstGeom>
          <a:noFill/>
          <a:ln/>
        </p:spPr>
        <p:txBody>
          <a:bodyPr wrap="square" rtlCol="0" anchor="ctr"/>
          <a:lstStyle/>
          <a:p>
            <a:pPr marL="0" indent="0">
              <a:buNone/>
            </a:pPr>
            <a:r>
              <a:rPr lang="en-US" sz="1600" b="1" dirty="0">
                <a:solidFill>
                  <a:srgbClr val="D8B84A"/>
                </a:solidFill>
                <a:latin typeface="Calibri" pitchFamily="34" charset="0"/>
                <a:ea typeface="Calibri" pitchFamily="34" charset="-122"/>
                <a:cs typeface="Calibri" pitchFamily="34" charset="-120"/>
              </a:rPr>
              <a:t>BAHRIA UNIVERSITY, ISLAMABAD</a:t>
            </a:r>
            <a:endParaRPr lang="en-US" sz="1600" dirty="0"/>
          </a:p>
        </p:txBody>
      </p:sp>
      <p:sp>
        <p:nvSpPr>
          <p:cNvPr id="7" name="Text 4"/>
          <p:cNvSpPr/>
          <p:nvPr/>
        </p:nvSpPr>
        <p:spPr>
          <a:xfrm>
            <a:off x="822960" y="2011680"/>
            <a:ext cx="10515600" cy="457200"/>
          </a:xfrm>
          <a:prstGeom prst="rect">
            <a:avLst/>
          </a:prstGeom>
          <a:noFill/>
          <a:ln/>
        </p:spPr>
        <p:txBody>
          <a:bodyPr wrap="square" rtlCol="0" anchor="ctr"/>
          <a:lstStyle/>
          <a:p>
            <a:pPr marL="0" indent="0">
              <a:buNone/>
            </a:pPr>
            <a:r>
              <a:rPr lang="en-US" sz="1600" b="1" kern="0" spc="300" dirty="0">
                <a:solidFill>
                  <a:srgbClr val="D8B84A"/>
                </a:solidFill>
                <a:latin typeface="Calibri" pitchFamily="34" charset="0"/>
                <a:ea typeface="Calibri" pitchFamily="34" charset="-122"/>
                <a:cs typeface="Calibri" pitchFamily="34" charset="-120"/>
              </a:rPr>
              <a:t>WEEK 7  +  WEEK 6 RECAP</a:t>
            </a:r>
            <a:endParaRPr lang="en-US" sz="1600" dirty="0"/>
          </a:p>
        </p:txBody>
      </p:sp>
      <p:sp>
        <p:nvSpPr>
          <p:cNvPr id="8" name="Text 5"/>
          <p:cNvSpPr/>
          <p:nvPr/>
        </p:nvSpPr>
        <p:spPr>
          <a:xfrm>
            <a:off x="822960" y="2423160"/>
            <a:ext cx="10515600" cy="822960"/>
          </a:xfrm>
          <a:prstGeom prst="rect">
            <a:avLst/>
          </a:prstGeom>
          <a:noFill/>
          <a:ln/>
        </p:spPr>
        <p:txBody>
          <a:bodyPr wrap="square"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Working with Learning Management Systems</a:t>
            </a:r>
            <a:endParaRPr lang="en-US" sz="3800" dirty="0"/>
          </a:p>
        </p:txBody>
      </p:sp>
      <p:sp>
        <p:nvSpPr>
          <p:cNvPr id="9" name="Text 6"/>
          <p:cNvSpPr/>
          <p:nvPr/>
        </p:nvSpPr>
        <p:spPr>
          <a:xfrm>
            <a:off x="822960" y="3246120"/>
            <a:ext cx="10515600" cy="457200"/>
          </a:xfrm>
          <a:prstGeom prst="rect">
            <a:avLst/>
          </a:prstGeom>
          <a:noFill/>
          <a:ln/>
        </p:spPr>
        <p:txBody>
          <a:bodyPr wrap="square" rtlCol="0" anchor="ctr"/>
          <a:lstStyle/>
          <a:p>
            <a:pPr marL="0" indent="0">
              <a:buNone/>
            </a:pPr>
            <a:r>
              <a:rPr lang="en-US" sz="1600" i="1" dirty="0">
                <a:solidFill>
                  <a:srgbClr val="C7D0E0"/>
                </a:solidFill>
                <a:latin typeface="Calibri" pitchFamily="34" charset="0"/>
                <a:ea typeface="Calibri" pitchFamily="34" charset="-122"/>
                <a:cs typeface="Calibri" pitchFamily="34" charset="-120"/>
              </a:rPr>
              <a:t>Moodle, Canvas &amp; Google Classroom  —  plus a full recap of Video Conferencing &amp; Social Media</a:t>
            </a:r>
            <a:endParaRPr lang="en-US" sz="1600" dirty="0"/>
          </a:p>
        </p:txBody>
      </p:sp>
      <p:sp>
        <p:nvSpPr>
          <p:cNvPr id="10" name="Shape 7"/>
          <p:cNvSpPr/>
          <p:nvPr/>
        </p:nvSpPr>
        <p:spPr>
          <a:xfrm>
            <a:off x="822960" y="3886200"/>
            <a:ext cx="10515600" cy="713232"/>
          </a:xfrm>
          <a:prstGeom prst="roundRect">
            <a:avLst>
              <a:gd name="adj" fmla="val 10256"/>
            </a:avLst>
          </a:prstGeom>
          <a:solidFill>
            <a:srgbClr val="25406B"/>
          </a:solidFill>
          <a:ln/>
        </p:spPr>
        <p:txBody>
          <a:bodyPr/>
          <a:lstStyle/>
          <a:p>
            <a:endParaRPr lang="en-US"/>
          </a:p>
        </p:txBody>
      </p:sp>
      <p:sp>
        <p:nvSpPr>
          <p:cNvPr id="11" name="Text 8"/>
          <p:cNvSpPr/>
          <p:nvPr/>
        </p:nvSpPr>
        <p:spPr>
          <a:xfrm>
            <a:off x="1051560" y="3886200"/>
            <a:ext cx="10058400" cy="713232"/>
          </a:xfrm>
          <a:prstGeom prst="rect">
            <a:avLst/>
          </a:prstGeom>
          <a:noFill/>
          <a:ln/>
        </p:spPr>
        <p:txBody>
          <a:bodyPr wrap="square" rtlCol="0" anchor="ctr"/>
          <a:lstStyle/>
          <a:p>
            <a:pPr marL="0" indent="0">
              <a:buNone/>
            </a:pPr>
            <a:r>
              <a:rPr lang="en-US" sz="1300" b="1" dirty="0">
                <a:solidFill>
                  <a:srgbClr val="D8B84A"/>
                </a:solidFill>
                <a:latin typeface="Calibri" pitchFamily="34" charset="0"/>
                <a:ea typeface="Calibri" pitchFamily="34" charset="-122"/>
                <a:cs typeface="Calibri" pitchFamily="34" charset="-120"/>
              </a:rPr>
              <a:t>ICT 201  </a:t>
            </a:r>
            <a:r>
              <a:rPr lang="en-US" sz="1300" dirty="0">
                <a:solidFill>
                  <a:srgbClr val="FFFFFF"/>
                </a:solidFill>
                <a:latin typeface="Calibri" pitchFamily="34" charset="0"/>
                <a:ea typeface="Calibri" pitchFamily="34" charset="-122"/>
                <a:cs typeface="Calibri" pitchFamily="34" charset="-120"/>
              </a:rPr>
              <a:t>|  Applications of ICT   |  3-Hour Session   |  CLO-2 &amp; CLO-3   |  Fall 2026</a:t>
            </a:r>
            <a:endParaRPr lang="en-US" sz="1300" dirty="0"/>
          </a:p>
        </p:txBody>
      </p:sp>
      <p:pic>
        <p:nvPicPr>
          <p:cNvPr id="12" name="Image 1" descr="logos/moodle_icon.png"/>
          <p:cNvPicPr>
            <a:picLocks noChangeAspect="1"/>
          </p:cNvPicPr>
          <p:nvPr/>
        </p:nvPicPr>
        <p:blipFill>
          <a:blip r:embed="rId4"/>
          <a:stretch>
            <a:fillRect/>
          </a:stretch>
        </p:blipFill>
        <p:spPr>
          <a:xfrm>
            <a:off x="1097280" y="4846320"/>
            <a:ext cx="566928" cy="566928"/>
          </a:xfrm>
          <a:prstGeom prst="rect">
            <a:avLst/>
          </a:prstGeom>
        </p:spPr>
      </p:pic>
      <p:sp>
        <p:nvSpPr>
          <p:cNvPr id="13" name="Text 9"/>
          <p:cNvSpPr/>
          <p:nvPr/>
        </p:nvSpPr>
        <p:spPr>
          <a:xfrm>
            <a:off x="640080" y="5468112"/>
            <a:ext cx="1481328" cy="457200"/>
          </a:xfrm>
          <a:prstGeom prst="rect">
            <a:avLst/>
          </a:prstGeom>
          <a:noFill/>
          <a:ln/>
        </p:spPr>
        <p:txBody>
          <a:bodyPr wrap="square" rtlCol="0" anchor="t"/>
          <a:lstStyle/>
          <a:p>
            <a:pPr marL="0" indent="0" algn="ctr">
              <a:buNone/>
            </a:pPr>
            <a:r>
              <a:rPr lang="en-US" sz="1000" b="1" dirty="0">
                <a:solidFill>
                  <a:srgbClr val="FFFFFF"/>
                </a:solidFill>
                <a:latin typeface="Calibri" pitchFamily="34" charset="0"/>
                <a:ea typeface="Calibri" pitchFamily="34" charset="-122"/>
                <a:cs typeface="Calibri" pitchFamily="34" charset="-120"/>
              </a:rPr>
              <a:t>Moodle</a:t>
            </a:r>
            <a:endParaRPr lang="en-US" sz="1000" dirty="0"/>
          </a:p>
        </p:txBody>
      </p:sp>
      <p:pic>
        <p:nvPicPr>
          <p:cNvPr id="14" name="Image 2" descr="logos/canvas_icon.png"/>
          <p:cNvPicPr>
            <a:picLocks noChangeAspect="1"/>
          </p:cNvPicPr>
          <p:nvPr/>
        </p:nvPicPr>
        <p:blipFill>
          <a:blip r:embed="rId5"/>
          <a:stretch>
            <a:fillRect/>
          </a:stretch>
        </p:blipFill>
        <p:spPr>
          <a:xfrm>
            <a:off x="2578608" y="4846320"/>
            <a:ext cx="566928" cy="566928"/>
          </a:xfrm>
          <a:prstGeom prst="rect">
            <a:avLst/>
          </a:prstGeom>
        </p:spPr>
      </p:pic>
      <p:sp>
        <p:nvSpPr>
          <p:cNvPr id="15" name="Text 10"/>
          <p:cNvSpPr/>
          <p:nvPr/>
        </p:nvSpPr>
        <p:spPr>
          <a:xfrm>
            <a:off x="2121408" y="5468112"/>
            <a:ext cx="1481328" cy="457200"/>
          </a:xfrm>
          <a:prstGeom prst="rect">
            <a:avLst/>
          </a:prstGeom>
          <a:noFill/>
          <a:ln/>
        </p:spPr>
        <p:txBody>
          <a:bodyPr wrap="square" rtlCol="0" anchor="t"/>
          <a:lstStyle/>
          <a:p>
            <a:pPr marL="0" indent="0" algn="ctr">
              <a:buNone/>
            </a:pPr>
            <a:r>
              <a:rPr lang="en-US" sz="1000" b="1" dirty="0">
                <a:solidFill>
                  <a:srgbClr val="FFFFFF"/>
                </a:solidFill>
                <a:latin typeface="Calibri" pitchFamily="34" charset="0"/>
                <a:ea typeface="Calibri" pitchFamily="34" charset="-122"/>
                <a:cs typeface="Calibri" pitchFamily="34" charset="-120"/>
              </a:rPr>
              <a:t>Canvas</a:t>
            </a:r>
            <a:endParaRPr lang="en-US" sz="1000" dirty="0"/>
          </a:p>
        </p:txBody>
      </p:sp>
      <p:pic>
        <p:nvPicPr>
          <p:cNvPr id="16" name="Image 3" descr="logos/gclass_icon.png"/>
          <p:cNvPicPr>
            <a:picLocks noChangeAspect="1"/>
          </p:cNvPicPr>
          <p:nvPr/>
        </p:nvPicPr>
        <p:blipFill>
          <a:blip r:embed="rId6"/>
          <a:stretch>
            <a:fillRect/>
          </a:stretch>
        </p:blipFill>
        <p:spPr>
          <a:xfrm>
            <a:off x="4059936" y="4846320"/>
            <a:ext cx="566928" cy="566928"/>
          </a:xfrm>
          <a:prstGeom prst="rect">
            <a:avLst/>
          </a:prstGeom>
        </p:spPr>
      </p:pic>
      <p:sp>
        <p:nvSpPr>
          <p:cNvPr id="17" name="Text 11"/>
          <p:cNvSpPr/>
          <p:nvPr/>
        </p:nvSpPr>
        <p:spPr>
          <a:xfrm>
            <a:off x="3602736" y="5468112"/>
            <a:ext cx="1481328" cy="457200"/>
          </a:xfrm>
          <a:prstGeom prst="rect">
            <a:avLst/>
          </a:prstGeom>
          <a:noFill/>
          <a:ln/>
        </p:spPr>
        <p:txBody>
          <a:bodyPr wrap="square" rtlCol="0" anchor="t"/>
          <a:lstStyle/>
          <a:p>
            <a:pPr marL="0" indent="0" algn="ctr">
              <a:buNone/>
            </a:pPr>
            <a:r>
              <a:rPr lang="en-US" sz="1000" b="1" dirty="0">
                <a:solidFill>
                  <a:srgbClr val="FFFFFF"/>
                </a:solidFill>
                <a:latin typeface="Calibri" pitchFamily="34" charset="0"/>
                <a:ea typeface="Calibri" pitchFamily="34" charset="-122"/>
                <a:cs typeface="Calibri" pitchFamily="34" charset="-120"/>
              </a:rPr>
              <a:t>Google Classroom</a:t>
            </a:r>
            <a:endParaRPr lang="en-US" sz="1000" dirty="0"/>
          </a:p>
        </p:txBody>
      </p:sp>
      <p:pic>
        <p:nvPicPr>
          <p:cNvPr id="18" name="Image 4" descr="logos/gmeet_icon.png"/>
          <p:cNvPicPr>
            <a:picLocks noChangeAspect="1"/>
          </p:cNvPicPr>
          <p:nvPr/>
        </p:nvPicPr>
        <p:blipFill>
          <a:blip r:embed="rId7"/>
          <a:stretch>
            <a:fillRect/>
          </a:stretch>
        </p:blipFill>
        <p:spPr>
          <a:xfrm>
            <a:off x="5541264" y="4846320"/>
            <a:ext cx="566928" cy="566928"/>
          </a:xfrm>
          <a:prstGeom prst="rect">
            <a:avLst/>
          </a:prstGeom>
        </p:spPr>
      </p:pic>
      <p:sp>
        <p:nvSpPr>
          <p:cNvPr id="19" name="Text 12"/>
          <p:cNvSpPr/>
          <p:nvPr/>
        </p:nvSpPr>
        <p:spPr>
          <a:xfrm>
            <a:off x="5084064" y="5468112"/>
            <a:ext cx="1481328" cy="457200"/>
          </a:xfrm>
          <a:prstGeom prst="rect">
            <a:avLst/>
          </a:prstGeom>
          <a:noFill/>
          <a:ln/>
        </p:spPr>
        <p:txBody>
          <a:bodyPr wrap="square" rtlCol="0" anchor="t"/>
          <a:lstStyle/>
          <a:p>
            <a:pPr marL="0" indent="0" algn="ctr">
              <a:buNone/>
            </a:pPr>
            <a:r>
              <a:rPr lang="en-US" sz="1000" b="1" dirty="0">
                <a:solidFill>
                  <a:srgbClr val="FFFFFF"/>
                </a:solidFill>
                <a:latin typeface="Calibri" pitchFamily="34" charset="0"/>
                <a:ea typeface="Calibri" pitchFamily="34" charset="-122"/>
                <a:cs typeface="Calibri" pitchFamily="34" charset="-120"/>
              </a:rPr>
              <a:t>Meet / Teams / Zoom</a:t>
            </a:r>
            <a:endParaRPr lang="en-US" sz="1000" dirty="0"/>
          </a:p>
        </p:txBody>
      </p:sp>
      <p:pic>
        <p:nvPicPr>
          <p:cNvPr id="20" name="Image 5" descr="mockups/linkedin_badge.png"/>
          <p:cNvPicPr>
            <a:picLocks noChangeAspect="1"/>
          </p:cNvPicPr>
          <p:nvPr/>
        </p:nvPicPr>
        <p:blipFill>
          <a:blip r:embed="rId8"/>
          <a:stretch>
            <a:fillRect/>
          </a:stretch>
        </p:blipFill>
        <p:spPr>
          <a:xfrm>
            <a:off x="7022592" y="4846320"/>
            <a:ext cx="566928" cy="566928"/>
          </a:xfrm>
          <a:prstGeom prst="rect">
            <a:avLst/>
          </a:prstGeom>
        </p:spPr>
      </p:pic>
      <p:sp>
        <p:nvSpPr>
          <p:cNvPr id="21" name="Text 13"/>
          <p:cNvSpPr/>
          <p:nvPr/>
        </p:nvSpPr>
        <p:spPr>
          <a:xfrm>
            <a:off x="6565392" y="5468112"/>
            <a:ext cx="1481328" cy="457200"/>
          </a:xfrm>
          <a:prstGeom prst="rect">
            <a:avLst/>
          </a:prstGeom>
          <a:noFill/>
          <a:ln/>
        </p:spPr>
        <p:txBody>
          <a:bodyPr wrap="square" rtlCol="0" anchor="t"/>
          <a:lstStyle/>
          <a:p>
            <a:pPr marL="0" indent="0" algn="ctr">
              <a:buNone/>
            </a:pPr>
            <a:r>
              <a:rPr lang="en-US" sz="1000" b="1" dirty="0">
                <a:solidFill>
                  <a:srgbClr val="FFFFFF"/>
                </a:solidFill>
                <a:latin typeface="Calibri" pitchFamily="34" charset="0"/>
                <a:ea typeface="Calibri" pitchFamily="34" charset="-122"/>
                <a:cs typeface="Calibri" pitchFamily="34" charset="-120"/>
              </a:rPr>
              <a:t>LinkedIn</a:t>
            </a:r>
            <a:endParaRPr lang="en-US" sz="1000" dirty="0"/>
          </a:p>
        </p:txBody>
      </p:sp>
      <p:pic>
        <p:nvPicPr>
          <p:cNvPr id="22" name="Image 6" descr="logos/facebook_icon.png"/>
          <p:cNvPicPr>
            <a:picLocks noChangeAspect="1"/>
          </p:cNvPicPr>
          <p:nvPr/>
        </p:nvPicPr>
        <p:blipFill>
          <a:blip r:embed="rId9"/>
          <a:stretch>
            <a:fillRect/>
          </a:stretch>
        </p:blipFill>
        <p:spPr>
          <a:xfrm>
            <a:off x="8503920" y="4846320"/>
            <a:ext cx="566928" cy="566928"/>
          </a:xfrm>
          <a:prstGeom prst="rect">
            <a:avLst/>
          </a:prstGeom>
        </p:spPr>
      </p:pic>
      <p:sp>
        <p:nvSpPr>
          <p:cNvPr id="23" name="Text 14"/>
          <p:cNvSpPr/>
          <p:nvPr/>
        </p:nvSpPr>
        <p:spPr>
          <a:xfrm>
            <a:off x="8046720" y="5468112"/>
            <a:ext cx="1481328" cy="457200"/>
          </a:xfrm>
          <a:prstGeom prst="rect">
            <a:avLst/>
          </a:prstGeom>
          <a:noFill/>
          <a:ln/>
        </p:spPr>
        <p:txBody>
          <a:bodyPr wrap="square" rtlCol="0" anchor="t"/>
          <a:lstStyle/>
          <a:p>
            <a:pPr marL="0" indent="0" algn="ctr">
              <a:buNone/>
            </a:pPr>
            <a:r>
              <a:rPr lang="en-US" sz="1000" b="1" dirty="0">
                <a:solidFill>
                  <a:srgbClr val="FFFFFF"/>
                </a:solidFill>
                <a:latin typeface="Calibri" pitchFamily="34" charset="0"/>
                <a:ea typeface="Calibri" pitchFamily="34" charset="-122"/>
                <a:cs typeface="Calibri" pitchFamily="34" charset="-120"/>
              </a:rPr>
              <a:t>Facebook</a:t>
            </a:r>
            <a:endParaRPr lang="en-US" sz="1000" dirty="0"/>
          </a:p>
        </p:txBody>
      </p:sp>
      <p:pic>
        <p:nvPicPr>
          <p:cNvPr id="24" name="Image 7" descr="logos/instagram_icon.png"/>
          <p:cNvPicPr>
            <a:picLocks noChangeAspect="1"/>
          </p:cNvPicPr>
          <p:nvPr/>
        </p:nvPicPr>
        <p:blipFill>
          <a:blip r:embed="rId10"/>
          <a:stretch>
            <a:fillRect/>
          </a:stretch>
        </p:blipFill>
        <p:spPr>
          <a:xfrm>
            <a:off x="9985248" y="4846320"/>
            <a:ext cx="566928" cy="566928"/>
          </a:xfrm>
          <a:prstGeom prst="rect">
            <a:avLst/>
          </a:prstGeom>
        </p:spPr>
      </p:pic>
      <p:sp>
        <p:nvSpPr>
          <p:cNvPr id="25" name="Text 15"/>
          <p:cNvSpPr/>
          <p:nvPr/>
        </p:nvSpPr>
        <p:spPr>
          <a:xfrm>
            <a:off x="9528048" y="5468112"/>
            <a:ext cx="1481328" cy="457200"/>
          </a:xfrm>
          <a:prstGeom prst="rect">
            <a:avLst/>
          </a:prstGeom>
          <a:noFill/>
          <a:ln/>
        </p:spPr>
        <p:txBody>
          <a:bodyPr wrap="square" rtlCol="0" anchor="t"/>
          <a:lstStyle/>
          <a:p>
            <a:pPr marL="0" indent="0" algn="ctr">
              <a:buNone/>
            </a:pPr>
            <a:r>
              <a:rPr lang="en-US" sz="1000" b="1" dirty="0">
                <a:solidFill>
                  <a:srgbClr val="FFFFFF"/>
                </a:solidFill>
                <a:latin typeface="Calibri" pitchFamily="34" charset="0"/>
                <a:ea typeface="Calibri" pitchFamily="34" charset="-122"/>
                <a:cs typeface="Calibri"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AGENDA — 3-HOUR SESSION, TWO BREAKS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Today’s Roadmap</a:t>
            </a:r>
            <a:endParaRPr lang="en-US" sz="2400" dirty="0"/>
          </a:p>
        </p:txBody>
      </p:sp>
      <p:sp>
        <p:nvSpPr>
          <p:cNvPr id="6" name="Shape 4"/>
          <p:cNvSpPr/>
          <p:nvPr/>
        </p:nvSpPr>
        <p:spPr>
          <a:xfrm>
            <a:off x="10561320" y="137160"/>
            <a:ext cx="1417320" cy="320040"/>
          </a:xfrm>
          <a:prstGeom prst="roundRect">
            <a:avLst>
              <a:gd name="adj" fmla="val 48571"/>
            </a:avLst>
          </a:prstGeom>
          <a:solidFill>
            <a:srgbClr val="FFFFFF"/>
          </a:solidFill>
          <a:ln/>
        </p:spPr>
        <p:txBody>
          <a:bodyPr/>
          <a:lstStyle/>
          <a:p>
            <a:endParaRPr lang="en-US"/>
          </a:p>
        </p:txBody>
      </p:sp>
      <p:sp>
        <p:nvSpPr>
          <p:cNvPr id="7" name="Text 5"/>
          <p:cNvSpPr/>
          <p:nvPr/>
        </p:nvSpPr>
        <p:spPr>
          <a:xfrm>
            <a:off x="10561320" y="137160"/>
            <a:ext cx="1417320" cy="320040"/>
          </a:xfrm>
          <a:prstGeom prst="rect">
            <a:avLst/>
          </a:prstGeom>
          <a:noFill/>
          <a:ln/>
        </p:spPr>
        <p:txBody>
          <a:bodyPr wrap="square" rtlCol="0" anchor="ctr"/>
          <a:lstStyle/>
          <a:p>
            <a:pPr marL="0" indent="0" algn="ctr">
              <a:buNone/>
            </a:pPr>
            <a:r>
              <a:rPr lang="en-US" sz="1100" b="1" dirty="0">
                <a:solidFill>
                  <a:srgbClr val="1F3864"/>
                </a:solidFill>
                <a:latin typeface="Calibri" pitchFamily="34" charset="0"/>
                <a:ea typeface="Calibri" pitchFamily="34" charset="-122"/>
                <a:cs typeface="Calibri" pitchFamily="34" charset="-120"/>
              </a:rPr>
              <a:t>180 MIN</a:t>
            </a:r>
            <a:endParaRPr lang="en-US" sz="1100" dirty="0"/>
          </a:p>
        </p:txBody>
      </p:sp>
      <p:sp>
        <p:nvSpPr>
          <p:cNvPr id="8" name="Shape 6"/>
          <p:cNvSpPr/>
          <p:nvPr/>
        </p:nvSpPr>
        <p:spPr>
          <a:xfrm>
            <a:off x="457200" y="1143000"/>
            <a:ext cx="11247120" cy="438912"/>
          </a:xfrm>
          <a:prstGeom prst="roundRect">
            <a:avLst>
              <a:gd name="adj" fmla="val 16667"/>
            </a:avLst>
          </a:prstGeom>
          <a:solidFill>
            <a:srgbClr val="FFFFFF"/>
          </a:solidFill>
          <a:ln w="12700">
            <a:solidFill>
              <a:srgbClr val="DCE1EA"/>
            </a:solidFill>
            <a:prstDash val="solid"/>
          </a:ln>
        </p:spPr>
        <p:txBody>
          <a:bodyPr/>
          <a:lstStyle/>
          <a:p>
            <a:endParaRPr lang="en-US" sz="1600"/>
          </a:p>
        </p:txBody>
      </p:sp>
      <p:sp>
        <p:nvSpPr>
          <p:cNvPr id="9" name="Shape 7"/>
          <p:cNvSpPr/>
          <p:nvPr/>
        </p:nvSpPr>
        <p:spPr>
          <a:xfrm>
            <a:off x="548640" y="1197864"/>
            <a:ext cx="411480" cy="329184"/>
          </a:xfrm>
          <a:prstGeom prst="roundRect">
            <a:avLst>
              <a:gd name="adj" fmla="val 16667"/>
            </a:avLst>
          </a:prstGeom>
          <a:solidFill>
            <a:srgbClr val="1F3864"/>
          </a:solidFill>
          <a:ln/>
        </p:spPr>
        <p:txBody>
          <a:bodyPr/>
          <a:lstStyle/>
          <a:p>
            <a:endParaRPr lang="en-US" sz="1600"/>
          </a:p>
        </p:txBody>
      </p:sp>
      <p:sp>
        <p:nvSpPr>
          <p:cNvPr id="10" name="Text 8"/>
          <p:cNvSpPr/>
          <p:nvPr/>
        </p:nvSpPr>
        <p:spPr>
          <a:xfrm>
            <a:off x="548640" y="119786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1" name="Text 9"/>
          <p:cNvSpPr/>
          <p:nvPr/>
        </p:nvSpPr>
        <p:spPr>
          <a:xfrm>
            <a:off x="1097280" y="1143000"/>
            <a:ext cx="8412480" cy="27432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Why LMS? Fundamentals, Components &amp; How It Works</a:t>
            </a:r>
            <a:endParaRPr lang="en-US" sz="1600" dirty="0"/>
          </a:p>
        </p:txBody>
      </p:sp>
      <p:sp>
        <p:nvSpPr>
          <p:cNvPr id="12" name="Text 10"/>
          <p:cNvSpPr/>
          <p:nvPr/>
        </p:nvSpPr>
        <p:spPr>
          <a:xfrm>
            <a:off x="1097280" y="1389888"/>
            <a:ext cx="8412480" cy="18288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Purpose, core components, workflow, types of LMS</a:t>
            </a:r>
            <a:endParaRPr lang="en-US" sz="1600" dirty="0"/>
          </a:p>
        </p:txBody>
      </p:sp>
      <p:sp>
        <p:nvSpPr>
          <p:cNvPr id="13" name="Text 11"/>
          <p:cNvSpPr/>
          <p:nvPr/>
        </p:nvSpPr>
        <p:spPr>
          <a:xfrm>
            <a:off x="9784080" y="114300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20 min</a:t>
            </a:r>
            <a:endParaRPr lang="en-US" sz="1600" dirty="0"/>
          </a:p>
        </p:txBody>
      </p:sp>
      <p:sp>
        <p:nvSpPr>
          <p:cNvPr id="14" name="Shape 12"/>
          <p:cNvSpPr/>
          <p:nvPr/>
        </p:nvSpPr>
        <p:spPr>
          <a:xfrm>
            <a:off x="457200" y="1645920"/>
            <a:ext cx="11247120" cy="438912"/>
          </a:xfrm>
          <a:prstGeom prst="roundRect">
            <a:avLst>
              <a:gd name="adj" fmla="val 16667"/>
            </a:avLst>
          </a:prstGeom>
          <a:solidFill>
            <a:srgbClr val="FFFFFF"/>
          </a:solidFill>
          <a:ln w="12700">
            <a:solidFill>
              <a:srgbClr val="DCE1EA"/>
            </a:solidFill>
            <a:prstDash val="solid"/>
          </a:ln>
        </p:spPr>
        <p:txBody>
          <a:bodyPr/>
          <a:lstStyle/>
          <a:p>
            <a:endParaRPr lang="en-US" sz="1600"/>
          </a:p>
        </p:txBody>
      </p:sp>
      <p:sp>
        <p:nvSpPr>
          <p:cNvPr id="15" name="Shape 13"/>
          <p:cNvSpPr/>
          <p:nvPr/>
        </p:nvSpPr>
        <p:spPr>
          <a:xfrm>
            <a:off x="548640" y="1700784"/>
            <a:ext cx="411480" cy="329184"/>
          </a:xfrm>
          <a:prstGeom prst="roundRect">
            <a:avLst>
              <a:gd name="adj" fmla="val 16667"/>
            </a:avLst>
          </a:prstGeom>
          <a:solidFill>
            <a:srgbClr val="1F3864"/>
          </a:solidFill>
          <a:ln/>
        </p:spPr>
        <p:txBody>
          <a:bodyPr/>
          <a:lstStyle/>
          <a:p>
            <a:endParaRPr lang="en-US" sz="1600"/>
          </a:p>
        </p:txBody>
      </p:sp>
      <p:sp>
        <p:nvSpPr>
          <p:cNvPr id="16" name="Text 14"/>
          <p:cNvSpPr/>
          <p:nvPr/>
        </p:nvSpPr>
        <p:spPr>
          <a:xfrm>
            <a:off x="548640" y="170078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7" name="Text 15"/>
          <p:cNvSpPr/>
          <p:nvPr/>
        </p:nvSpPr>
        <p:spPr>
          <a:xfrm>
            <a:off x="1097280" y="1645920"/>
            <a:ext cx="8412480" cy="27432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Moodle — Open-Source Learning Platform</a:t>
            </a:r>
            <a:endParaRPr lang="en-US" sz="1600" dirty="0"/>
          </a:p>
        </p:txBody>
      </p:sp>
      <p:sp>
        <p:nvSpPr>
          <p:cNvPr id="18" name="Text 16"/>
          <p:cNvSpPr/>
          <p:nvPr/>
        </p:nvSpPr>
        <p:spPr>
          <a:xfrm>
            <a:off x="1097280" y="1892808"/>
            <a:ext cx="8412480" cy="18288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Course page, activities, quizzes, gradebook, benefits</a:t>
            </a:r>
            <a:endParaRPr lang="en-US" sz="1600" dirty="0"/>
          </a:p>
        </p:txBody>
      </p:sp>
      <p:sp>
        <p:nvSpPr>
          <p:cNvPr id="19" name="Text 17"/>
          <p:cNvSpPr/>
          <p:nvPr/>
        </p:nvSpPr>
        <p:spPr>
          <a:xfrm>
            <a:off x="9784080" y="164592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20 min</a:t>
            </a:r>
            <a:endParaRPr lang="en-US" sz="1600" dirty="0"/>
          </a:p>
        </p:txBody>
      </p:sp>
      <p:sp>
        <p:nvSpPr>
          <p:cNvPr id="20" name="Shape 18"/>
          <p:cNvSpPr/>
          <p:nvPr/>
        </p:nvSpPr>
        <p:spPr>
          <a:xfrm>
            <a:off x="457200" y="2148840"/>
            <a:ext cx="11247120" cy="438912"/>
          </a:xfrm>
          <a:prstGeom prst="roundRect">
            <a:avLst>
              <a:gd name="adj" fmla="val 16667"/>
            </a:avLst>
          </a:prstGeom>
          <a:solidFill>
            <a:srgbClr val="FFFFFF"/>
          </a:solidFill>
          <a:ln w="12700">
            <a:solidFill>
              <a:srgbClr val="DCE1EA"/>
            </a:solidFill>
            <a:prstDash val="solid"/>
          </a:ln>
        </p:spPr>
        <p:txBody>
          <a:bodyPr/>
          <a:lstStyle/>
          <a:p>
            <a:endParaRPr lang="en-US" sz="1600"/>
          </a:p>
        </p:txBody>
      </p:sp>
      <p:sp>
        <p:nvSpPr>
          <p:cNvPr id="21" name="Shape 19"/>
          <p:cNvSpPr/>
          <p:nvPr/>
        </p:nvSpPr>
        <p:spPr>
          <a:xfrm>
            <a:off x="548640" y="2203704"/>
            <a:ext cx="411480" cy="329184"/>
          </a:xfrm>
          <a:prstGeom prst="roundRect">
            <a:avLst>
              <a:gd name="adj" fmla="val 16667"/>
            </a:avLst>
          </a:prstGeom>
          <a:solidFill>
            <a:srgbClr val="1F3864"/>
          </a:solidFill>
          <a:ln/>
        </p:spPr>
        <p:txBody>
          <a:bodyPr/>
          <a:lstStyle/>
          <a:p>
            <a:endParaRPr lang="en-US" sz="1600"/>
          </a:p>
        </p:txBody>
      </p:sp>
      <p:sp>
        <p:nvSpPr>
          <p:cNvPr id="22" name="Text 20"/>
          <p:cNvSpPr/>
          <p:nvPr/>
        </p:nvSpPr>
        <p:spPr>
          <a:xfrm>
            <a:off x="548640" y="220370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3" name="Text 21"/>
          <p:cNvSpPr/>
          <p:nvPr/>
        </p:nvSpPr>
        <p:spPr>
          <a:xfrm>
            <a:off x="1097280" y="2148840"/>
            <a:ext cx="8412480" cy="27432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Canvas — Cloud-Based Learning Platform</a:t>
            </a:r>
            <a:endParaRPr lang="en-US" sz="1600" dirty="0"/>
          </a:p>
        </p:txBody>
      </p:sp>
      <p:sp>
        <p:nvSpPr>
          <p:cNvPr id="24" name="Text 22"/>
          <p:cNvSpPr/>
          <p:nvPr/>
        </p:nvSpPr>
        <p:spPr>
          <a:xfrm>
            <a:off x="1097280" y="2395728"/>
            <a:ext cx="8412480" cy="18288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Dashboard, modules, SpeedGrader, integrations</a:t>
            </a:r>
            <a:endParaRPr lang="en-US" sz="1600" dirty="0"/>
          </a:p>
        </p:txBody>
      </p:sp>
      <p:sp>
        <p:nvSpPr>
          <p:cNvPr id="25" name="Text 23"/>
          <p:cNvSpPr/>
          <p:nvPr/>
        </p:nvSpPr>
        <p:spPr>
          <a:xfrm>
            <a:off x="9784080" y="214884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20 min</a:t>
            </a:r>
            <a:endParaRPr lang="en-US" sz="1600" dirty="0"/>
          </a:p>
        </p:txBody>
      </p:sp>
      <p:sp>
        <p:nvSpPr>
          <p:cNvPr id="26" name="Shape 24"/>
          <p:cNvSpPr/>
          <p:nvPr/>
        </p:nvSpPr>
        <p:spPr>
          <a:xfrm>
            <a:off x="457200" y="2651760"/>
            <a:ext cx="11247120" cy="438912"/>
          </a:xfrm>
          <a:prstGeom prst="roundRect">
            <a:avLst>
              <a:gd name="adj" fmla="val 16667"/>
            </a:avLst>
          </a:prstGeom>
          <a:solidFill>
            <a:srgbClr val="FDF3E3"/>
          </a:solidFill>
          <a:ln w="12700">
            <a:solidFill>
              <a:srgbClr val="DCE1EA"/>
            </a:solidFill>
            <a:prstDash val="solid"/>
          </a:ln>
        </p:spPr>
        <p:txBody>
          <a:bodyPr/>
          <a:lstStyle/>
          <a:p>
            <a:endParaRPr lang="en-US" sz="1600"/>
          </a:p>
        </p:txBody>
      </p:sp>
      <p:sp>
        <p:nvSpPr>
          <p:cNvPr id="27" name="Shape 25"/>
          <p:cNvSpPr/>
          <p:nvPr/>
        </p:nvSpPr>
        <p:spPr>
          <a:xfrm>
            <a:off x="548640" y="2706624"/>
            <a:ext cx="411480" cy="329184"/>
          </a:xfrm>
          <a:prstGeom prst="roundRect">
            <a:avLst>
              <a:gd name="adj" fmla="val 16667"/>
            </a:avLst>
          </a:prstGeom>
          <a:solidFill>
            <a:srgbClr val="B8860B"/>
          </a:solidFill>
          <a:ln/>
        </p:spPr>
        <p:txBody>
          <a:bodyPr/>
          <a:lstStyle/>
          <a:p>
            <a:endParaRPr lang="en-US" sz="1600"/>
          </a:p>
        </p:txBody>
      </p:sp>
      <p:sp>
        <p:nvSpPr>
          <p:cNvPr id="28" name="Text 26"/>
          <p:cNvSpPr/>
          <p:nvPr/>
        </p:nvSpPr>
        <p:spPr>
          <a:xfrm>
            <a:off x="548640" y="270662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9" name="Text 27"/>
          <p:cNvSpPr/>
          <p:nvPr/>
        </p:nvSpPr>
        <p:spPr>
          <a:xfrm>
            <a:off x="1097280" y="2688336"/>
            <a:ext cx="8412480" cy="274320"/>
          </a:xfrm>
          <a:prstGeom prst="rect">
            <a:avLst/>
          </a:prstGeom>
          <a:noFill/>
          <a:ln/>
        </p:spPr>
        <p:txBody>
          <a:bodyPr wrap="square" rtlCol="0" anchor="ctr"/>
          <a:lstStyle/>
          <a:p>
            <a:pPr marL="0" indent="0">
              <a:buNone/>
            </a:pPr>
            <a:r>
              <a:rPr lang="en-US" sz="1600" b="1" dirty="0">
                <a:solidFill>
                  <a:srgbClr val="B8860B"/>
                </a:solidFill>
                <a:latin typeface="Calibri" pitchFamily="34" charset="0"/>
                <a:ea typeface="Calibri" pitchFamily="34" charset="-122"/>
                <a:cs typeface="Calibri" pitchFamily="34" charset="-120"/>
              </a:rPr>
              <a:t>BREAK 1</a:t>
            </a:r>
            <a:endParaRPr lang="en-US" sz="1600" dirty="0"/>
          </a:p>
        </p:txBody>
      </p:sp>
      <p:sp>
        <p:nvSpPr>
          <p:cNvPr id="30" name="Text 28"/>
          <p:cNvSpPr/>
          <p:nvPr/>
        </p:nvSpPr>
        <p:spPr>
          <a:xfrm>
            <a:off x="9784080" y="265176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15 min</a:t>
            </a:r>
            <a:endParaRPr lang="en-US" sz="1600" dirty="0"/>
          </a:p>
        </p:txBody>
      </p:sp>
      <p:sp>
        <p:nvSpPr>
          <p:cNvPr id="31" name="Shape 29"/>
          <p:cNvSpPr/>
          <p:nvPr/>
        </p:nvSpPr>
        <p:spPr>
          <a:xfrm>
            <a:off x="457200" y="3154680"/>
            <a:ext cx="11247120" cy="438912"/>
          </a:xfrm>
          <a:prstGeom prst="roundRect">
            <a:avLst>
              <a:gd name="adj" fmla="val 16667"/>
            </a:avLst>
          </a:prstGeom>
          <a:solidFill>
            <a:srgbClr val="FFFFFF"/>
          </a:solidFill>
          <a:ln w="12700">
            <a:solidFill>
              <a:srgbClr val="DCE1EA"/>
            </a:solidFill>
            <a:prstDash val="solid"/>
          </a:ln>
        </p:spPr>
        <p:txBody>
          <a:bodyPr/>
          <a:lstStyle/>
          <a:p>
            <a:endParaRPr lang="en-US" sz="1600"/>
          </a:p>
        </p:txBody>
      </p:sp>
      <p:sp>
        <p:nvSpPr>
          <p:cNvPr id="32" name="Shape 30"/>
          <p:cNvSpPr/>
          <p:nvPr/>
        </p:nvSpPr>
        <p:spPr>
          <a:xfrm>
            <a:off x="548640" y="3209544"/>
            <a:ext cx="411480" cy="329184"/>
          </a:xfrm>
          <a:prstGeom prst="roundRect">
            <a:avLst>
              <a:gd name="adj" fmla="val 16667"/>
            </a:avLst>
          </a:prstGeom>
          <a:solidFill>
            <a:srgbClr val="1F3864"/>
          </a:solidFill>
          <a:ln/>
        </p:spPr>
        <p:txBody>
          <a:bodyPr/>
          <a:lstStyle/>
          <a:p>
            <a:endParaRPr lang="en-US" sz="1600"/>
          </a:p>
        </p:txBody>
      </p:sp>
      <p:sp>
        <p:nvSpPr>
          <p:cNvPr id="33" name="Text 31"/>
          <p:cNvSpPr/>
          <p:nvPr/>
        </p:nvSpPr>
        <p:spPr>
          <a:xfrm>
            <a:off x="548640" y="320954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34" name="Text 32"/>
          <p:cNvSpPr/>
          <p:nvPr/>
        </p:nvSpPr>
        <p:spPr>
          <a:xfrm>
            <a:off x="1097280" y="3154680"/>
            <a:ext cx="8412480" cy="27432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Google Classroom — Simple &amp; Free</a:t>
            </a:r>
            <a:endParaRPr lang="en-US" sz="1600" dirty="0"/>
          </a:p>
        </p:txBody>
      </p:sp>
      <p:sp>
        <p:nvSpPr>
          <p:cNvPr id="35" name="Text 33"/>
          <p:cNvSpPr/>
          <p:nvPr/>
        </p:nvSpPr>
        <p:spPr>
          <a:xfrm>
            <a:off x="1097280" y="3401568"/>
            <a:ext cx="8412480" cy="18288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Stream, classwork, grading, Google tools</a:t>
            </a:r>
            <a:endParaRPr lang="en-US" sz="1600" dirty="0"/>
          </a:p>
        </p:txBody>
      </p:sp>
      <p:sp>
        <p:nvSpPr>
          <p:cNvPr id="36" name="Text 34"/>
          <p:cNvSpPr/>
          <p:nvPr/>
        </p:nvSpPr>
        <p:spPr>
          <a:xfrm>
            <a:off x="9784080" y="315468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15 min</a:t>
            </a:r>
            <a:endParaRPr lang="en-US" sz="1600" dirty="0"/>
          </a:p>
        </p:txBody>
      </p:sp>
      <p:sp>
        <p:nvSpPr>
          <p:cNvPr id="37" name="Shape 35"/>
          <p:cNvSpPr/>
          <p:nvPr/>
        </p:nvSpPr>
        <p:spPr>
          <a:xfrm>
            <a:off x="457200" y="3657600"/>
            <a:ext cx="11247120" cy="438912"/>
          </a:xfrm>
          <a:prstGeom prst="roundRect">
            <a:avLst>
              <a:gd name="adj" fmla="val 16667"/>
            </a:avLst>
          </a:prstGeom>
          <a:solidFill>
            <a:srgbClr val="FFFFFF"/>
          </a:solidFill>
          <a:ln w="12700">
            <a:solidFill>
              <a:srgbClr val="DCE1EA"/>
            </a:solidFill>
            <a:prstDash val="solid"/>
          </a:ln>
        </p:spPr>
        <p:txBody>
          <a:bodyPr/>
          <a:lstStyle/>
          <a:p>
            <a:endParaRPr lang="en-US" sz="1600"/>
          </a:p>
        </p:txBody>
      </p:sp>
      <p:sp>
        <p:nvSpPr>
          <p:cNvPr id="38" name="Shape 36"/>
          <p:cNvSpPr/>
          <p:nvPr/>
        </p:nvSpPr>
        <p:spPr>
          <a:xfrm>
            <a:off x="548640" y="3712464"/>
            <a:ext cx="411480" cy="329184"/>
          </a:xfrm>
          <a:prstGeom prst="roundRect">
            <a:avLst>
              <a:gd name="adj" fmla="val 16667"/>
            </a:avLst>
          </a:prstGeom>
          <a:solidFill>
            <a:srgbClr val="1F3864"/>
          </a:solidFill>
          <a:ln/>
        </p:spPr>
        <p:txBody>
          <a:bodyPr/>
          <a:lstStyle/>
          <a:p>
            <a:endParaRPr lang="en-US" sz="1600"/>
          </a:p>
        </p:txBody>
      </p:sp>
      <p:sp>
        <p:nvSpPr>
          <p:cNvPr id="39" name="Text 37"/>
          <p:cNvSpPr/>
          <p:nvPr/>
        </p:nvSpPr>
        <p:spPr>
          <a:xfrm>
            <a:off x="548640" y="371246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40" name="Text 38"/>
          <p:cNvSpPr/>
          <p:nvPr/>
        </p:nvSpPr>
        <p:spPr>
          <a:xfrm>
            <a:off x="1097280" y="3657600"/>
            <a:ext cx="8412480" cy="27432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LMS Comparison, Benefits to Society &amp; Student Etiquette</a:t>
            </a:r>
            <a:endParaRPr lang="en-US" sz="1600" dirty="0"/>
          </a:p>
        </p:txBody>
      </p:sp>
      <p:sp>
        <p:nvSpPr>
          <p:cNvPr id="41" name="Text 39"/>
          <p:cNvSpPr/>
          <p:nvPr/>
        </p:nvSpPr>
        <p:spPr>
          <a:xfrm>
            <a:off x="1097280" y="3904488"/>
            <a:ext cx="8412480" cy="18288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Side-by-side table, scenarios, responsible use</a:t>
            </a:r>
            <a:endParaRPr lang="en-US" sz="1600" dirty="0"/>
          </a:p>
        </p:txBody>
      </p:sp>
      <p:sp>
        <p:nvSpPr>
          <p:cNvPr id="42" name="Text 40"/>
          <p:cNvSpPr/>
          <p:nvPr/>
        </p:nvSpPr>
        <p:spPr>
          <a:xfrm>
            <a:off x="9784080" y="365760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20 min</a:t>
            </a:r>
            <a:endParaRPr lang="en-US" sz="1600" dirty="0"/>
          </a:p>
        </p:txBody>
      </p:sp>
      <p:sp>
        <p:nvSpPr>
          <p:cNvPr id="43" name="Shape 41"/>
          <p:cNvSpPr/>
          <p:nvPr/>
        </p:nvSpPr>
        <p:spPr>
          <a:xfrm>
            <a:off x="457200" y="4160520"/>
            <a:ext cx="11247120" cy="438912"/>
          </a:xfrm>
          <a:prstGeom prst="roundRect">
            <a:avLst>
              <a:gd name="adj" fmla="val 16667"/>
            </a:avLst>
          </a:prstGeom>
          <a:solidFill>
            <a:srgbClr val="FFFFFF"/>
          </a:solidFill>
          <a:ln w="12700">
            <a:solidFill>
              <a:srgbClr val="DCE1EA"/>
            </a:solidFill>
            <a:prstDash val="solid"/>
          </a:ln>
        </p:spPr>
        <p:txBody>
          <a:bodyPr/>
          <a:lstStyle/>
          <a:p>
            <a:endParaRPr lang="en-US" sz="1600"/>
          </a:p>
        </p:txBody>
      </p:sp>
      <p:sp>
        <p:nvSpPr>
          <p:cNvPr id="44" name="Shape 42"/>
          <p:cNvSpPr/>
          <p:nvPr/>
        </p:nvSpPr>
        <p:spPr>
          <a:xfrm>
            <a:off x="548640" y="4215384"/>
            <a:ext cx="411480" cy="329184"/>
          </a:xfrm>
          <a:prstGeom prst="roundRect">
            <a:avLst>
              <a:gd name="adj" fmla="val 16667"/>
            </a:avLst>
          </a:prstGeom>
          <a:solidFill>
            <a:srgbClr val="1F3864"/>
          </a:solidFill>
          <a:ln/>
        </p:spPr>
        <p:txBody>
          <a:bodyPr/>
          <a:lstStyle/>
          <a:p>
            <a:endParaRPr lang="en-US" sz="1600"/>
          </a:p>
        </p:txBody>
      </p:sp>
      <p:sp>
        <p:nvSpPr>
          <p:cNvPr id="45" name="Text 43"/>
          <p:cNvSpPr/>
          <p:nvPr/>
        </p:nvSpPr>
        <p:spPr>
          <a:xfrm>
            <a:off x="548640" y="421538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46" name="Text 44"/>
          <p:cNvSpPr/>
          <p:nvPr/>
        </p:nvSpPr>
        <p:spPr>
          <a:xfrm>
            <a:off x="1097280" y="4160520"/>
            <a:ext cx="8412480" cy="27432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Week 6 Recap — Video Conferencing</a:t>
            </a:r>
            <a:endParaRPr lang="en-US" sz="1600" dirty="0"/>
          </a:p>
        </p:txBody>
      </p:sp>
      <p:sp>
        <p:nvSpPr>
          <p:cNvPr id="47" name="Text 45"/>
          <p:cNvSpPr/>
          <p:nvPr/>
        </p:nvSpPr>
        <p:spPr>
          <a:xfrm>
            <a:off x="1097280" y="4407408"/>
            <a:ext cx="8412480" cy="18288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Purpose, how it works, Meet vs Teams vs Zoom, netiquette</a:t>
            </a:r>
            <a:endParaRPr lang="en-US" sz="1600" dirty="0"/>
          </a:p>
        </p:txBody>
      </p:sp>
      <p:sp>
        <p:nvSpPr>
          <p:cNvPr id="48" name="Text 46"/>
          <p:cNvSpPr/>
          <p:nvPr/>
        </p:nvSpPr>
        <p:spPr>
          <a:xfrm>
            <a:off x="9784080" y="416052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30 min</a:t>
            </a:r>
            <a:endParaRPr lang="en-US" sz="1600" dirty="0"/>
          </a:p>
        </p:txBody>
      </p:sp>
      <p:sp>
        <p:nvSpPr>
          <p:cNvPr id="49" name="Shape 47"/>
          <p:cNvSpPr/>
          <p:nvPr/>
        </p:nvSpPr>
        <p:spPr>
          <a:xfrm>
            <a:off x="457200" y="4663440"/>
            <a:ext cx="11247120" cy="438912"/>
          </a:xfrm>
          <a:prstGeom prst="roundRect">
            <a:avLst>
              <a:gd name="adj" fmla="val 16667"/>
            </a:avLst>
          </a:prstGeom>
          <a:solidFill>
            <a:srgbClr val="FDF3E3"/>
          </a:solidFill>
          <a:ln w="12700">
            <a:solidFill>
              <a:srgbClr val="DCE1EA"/>
            </a:solidFill>
            <a:prstDash val="solid"/>
          </a:ln>
        </p:spPr>
        <p:txBody>
          <a:bodyPr/>
          <a:lstStyle/>
          <a:p>
            <a:endParaRPr lang="en-US" sz="1600"/>
          </a:p>
        </p:txBody>
      </p:sp>
      <p:sp>
        <p:nvSpPr>
          <p:cNvPr id="50" name="Shape 48"/>
          <p:cNvSpPr/>
          <p:nvPr/>
        </p:nvSpPr>
        <p:spPr>
          <a:xfrm>
            <a:off x="548640" y="4718304"/>
            <a:ext cx="411480" cy="329184"/>
          </a:xfrm>
          <a:prstGeom prst="roundRect">
            <a:avLst>
              <a:gd name="adj" fmla="val 16667"/>
            </a:avLst>
          </a:prstGeom>
          <a:solidFill>
            <a:srgbClr val="B8860B"/>
          </a:solidFill>
          <a:ln/>
        </p:spPr>
        <p:txBody>
          <a:bodyPr/>
          <a:lstStyle/>
          <a:p>
            <a:endParaRPr lang="en-US" sz="1600"/>
          </a:p>
        </p:txBody>
      </p:sp>
      <p:sp>
        <p:nvSpPr>
          <p:cNvPr id="51" name="Text 49"/>
          <p:cNvSpPr/>
          <p:nvPr/>
        </p:nvSpPr>
        <p:spPr>
          <a:xfrm>
            <a:off x="548640" y="471830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52" name="Text 50"/>
          <p:cNvSpPr/>
          <p:nvPr/>
        </p:nvSpPr>
        <p:spPr>
          <a:xfrm>
            <a:off x="1097280" y="4700016"/>
            <a:ext cx="8412480" cy="274320"/>
          </a:xfrm>
          <a:prstGeom prst="rect">
            <a:avLst/>
          </a:prstGeom>
          <a:noFill/>
          <a:ln/>
        </p:spPr>
        <p:txBody>
          <a:bodyPr wrap="square" rtlCol="0" anchor="ctr"/>
          <a:lstStyle/>
          <a:p>
            <a:pPr marL="0" indent="0">
              <a:buNone/>
            </a:pPr>
            <a:r>
              <a:rPr lang="en-US" sz="1600" b="1" dirty="0">
                <a:solidFill>
                  <a:srgbClr val="B8860B"/>
                </a:solidFill>
                <a:latin typeface="Calibri" pitchFamily="34" charset="0"/>
                <a:ea typeface="Calibri" pitchFamily="34" charset="-122"/>
                <a:cs typeface="Calibri" pitchFamily="34" charset="-120"/>
              </a:rPr>
              <a:t>BREAK 2</a:t>
            </a:r>
            <a:endParaRPr lang="en-US" sz="1600" dirty="0"/>
          </a:p>
        </p:txBody>
      </p:sp>
      <p:sp>
        <p:nvSpPr>
          <p:cNvPr id="53" name="Text 51"/>
          <p:cNvSpPr/>
          <p:nvPr/>
        </p:nvSpPr>
        <p:spPr>
          <a:xfrm>
            <a:off x="9784080" y="466344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10 min</a:t>
            </a:r>
            <a:endParaRPr lang="en-US" sz="1600" dirty="0"/>
          </a:p>
        </p:txBody>
      </p:sp>
      <p:sp>
        <p:nvSpPr>
          <p:cNvPr id="54" name="Shape 52"/>
          <p:cNvSpPr/>
          <p:nvPr/>
        </p:nvSpPr>
        <p:spPr>
          <a:xfrm>
            <a:off x="457200" y="5166360"/>
            <a:ext cx="11247120" cy="438912"/>
          </a:xfrm>
          <a:prstGeom prst="roundRect">
            <a:avLst>
              <a:gd name="adj" fmla="val 16667"/>
            </a:avLst>
          </a:prstGeom>
          <a:solidFill>
            <a:srgbClr val="FFFFFF"/>
          </a:solidFill>
          <a:ln w="12700">
            <a:solidFill>
              <a:srgbClr val="DCE1EA"/>
            </a:solidFill>
            <a:prstDash val="solid"/>
          </a:ln>
        </p:spPr>
        <p:txBody>
          <a:bodyPr/>
          <a:lstStyle/>
          <a:p>
            <a:endParaRPr lang="en-US" sz="1600"/>
          </a:p>
        </p:txBody>
      </p:sp>
      <p:sp>
        <p:nvSpPr>
          <p:cNvPr id="55" name="Shape 53"/>
          <p:cNvSpPr/>
          <p:nvPr/>
        </p:nvSpPr>
        <p:spPr>
          <a:xfrm>
            <a:off x="548640" y="5221224"/>
            <a:ext cx="411480" cy="329184"/>
          </a:xfrm>
          <a:prstGeom prst="roundRect">
            <a:avLst>
              <a:gd name="adj" fmla="val 16667"/>
            </a:avLst>
          </a:prstGeom>
          <a:solidFill>
            <a:srgbClr val="1F3864"/>
          </a:solidFill>
          <a:ln/>
        </p:spPr>
        <p:txBody>
          <a:bodyPr/>
          <a:lstStyle/>
          <a:p>
            <a:endParaRPr lang="en-US" sz="1600"/>
          </a:p>
        </p:txBody>
      </p:sp>
      <p:sp>
        <p:nvSpPr>
          <p:cNvPr id="56" name="Text 54"/>
          <p:cNvSpPr/>
          <p:nvPr/>
        </p:nvSpPr>
        <p:spPr>
          <a:xfrm>
            <a:off x="548640" y="522122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07</a:t>
            </a:r>
            <a:endParaRPr lang="en-US" sz="1600" dirty="0"/>
          </a:p>
        </p:txBody>
      </p:sp>
      <p:sp>
        <p:nvSpPr>
          <p:cNvPr id="57" name="Text 55"/>
          <p:cNvSpPr/>
          <p:nvPr/>
        </p:nvSpPr>
        <p:spPr>
          <a:xfrm>
            <a:off x="1097280" y="5166360"/>
            <a:ext cx="8412480" cy="27432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Week 6 Recap — Social Media Applications</a:t>
            </a:r>
            <a:endParaRPr lang="en-US" sz="1600" dirty="0"/>
          </a:p>
        </p:txBody>
      </p:sp>
      <p:sp>
        <p:nvSpPr>
          <p:cNvPr id="58" name="Text 56"/>
          <p:cNvSpPr/>
          <p:nvPr/>
        </p:nvSpPr>
        <p:spPr>
          <a:xfrm>
            <a:off x="1097280" y="5413248"/>
            <a:ext cx="8412480" cy="18288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LinkedIn, Facebook, Instagram: education, jobs, marketing</a:t>
            </a:r>
            <a:endParaRPr lang="en-US" sz="1600" dirty="0"/>
          </a:p>
        </p:txBody>
      </p:sp>
      <p:sp>
        <p:nvSpPr>
          <p:cNvPr id="59" name="Text 57"/>
          <p:cNvSpPr/>
          <p:nvPr/>
        </p:nvSpPr>
        <p:spPr>
          <a:xfrm>
            <a:off x="9784080" y="516636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20 min</a:t>
            </a:r>
            <a:endParaRPr lang="en-US" sz="1600" dirty="0"/>
          </a:p>
        </p:txBody>
      </p:sp>
      <p:sp>
        <p:nvSpPr>
          <p:cNvPr id="60" name="Shape 58"/>
          <p:cNvSpPr/>
          <p:nvPr/>
        </p:nvSpPr>
        <p:spPr>
          <a:xfrm>
            <a:off x="457200" y="5669280"/>
            <a:ext cx="11247120" cy="438912"/>
          </a:xfrm>
          <a:prstGeom prst="roundRect">
            <a:avLst>
              <a:gd name="adj" fmla="val 16667"/>
            </a:avLst>
          </a:prstGeom>
          <a:solidFill>
            <a:srgbClr val="FFFFFF"/>
          </a:solidFill>
          <a:ln w="12700">
            <a:solidFill>
              <a:srgbClr val="DCE1EA"/>
            </a:solidFill>
            <a:prstDash val="solid"/>
          </a:ln>
        </p:spPr>
        <p:txBody>
          <a:bodyPr/>
          <a:lstStyle/>
          <a:p>
            <a:endParaRPr lang="en-US" sz="1600"/>
          </a:p>
        </p:txBody>
      </p:sp>
      <p:sp>
        <p:nvSpPr>
          <p:cNvPr id="61" name="Shape 59"/>
          <p:cNvSpPr/>
          <p:nvPr/>
        </p:nvSpPr>
        <p:spPr>
          <a:xfrm>
            <a:off x="548640" y="5724144"/>
            <a:ext cx="411480" cy="329184"/>
          </a:xfrm>
          <a:prstGeom prst="roundRect">
            <a:avLst>
              <a:gd name="adj" fmla="val 16667"/>
            </a:avLst>
          </a:prstGeom>
          <a:solidFill>
            <a:srgbClr val="1F3864"/>
          </a:solidFill>
          <a:ln/>
        </p:spPr>
        <p:txBody>
          <a:bodyPr/>
          <a:lstStyle/>
          <a:p>
            <a:endParaRPr lang="en-US" sz="1600"/>
          </a:p>
        </p:txBody>
      </p:sp>
      <p:sp>
        <p:nvSpPr>
          <p:cNvPr id="62" name="Text 60"/>
          <p:cNvSpPr/>
          <p:nvPr/>
        </p:nvSpPr>
        <p:spPr>
          <a:xfrm>
            <a:off x="548640" y="5724144"/>
            <a:ext cx="411480" cy="329184"/>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08</a:t>
            </a:r>
            <a:endParaRPr lang="en-US" sz="1600" dirty="0"/>
          </a:p>
        </p:txBody>
      </p:sp>
      <p:sp>
        <p:nvSpPr>
          <p:cNvPr id="63" name="Text 61"/>
          <p:cNvSpPr/>
          <p:nvPr/>
        </p:nvSpPr>
        <p:spPr>
          <a:xfrm>
            <a:off x="1097280" y="5669280"/>
            <a:ext cx="8412480" cy="274320"/>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Hands-On Activity, Key Takeaways &amp; Exit Ticket</a:t>
            </a:r>
            <a:endParaRPr lang="en-US" sz="1600" dirty="0"/>
          </a:p>
        </p:txBody>
      </p:sp>
      <p:sp>
        <p:nvSpPr>
          <p:cNvPr id="64" name="Text 62"/>
          <p:cNvSpPr/>
          <p:nvPr/>
        </p:nvSpPr>
        <p:spPr>
          <a:xfrm>
            <a:off x="1097280" y="5916168"/>
            <a:ext cx="8412480" cy="182880"/>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Guided practice and wrap-up</a:t>
            </a:r>
            <a:endParaRPr lang="en-US" sz="1600" dirty="0"/>
          </a:p>
        </p:txBody>
      </p:sp>
      <p:sp>
        <p:nvSpPr>
          <p:cNvPr id="65" name="Text 63"/>
          <p:cNvSpPr/>
          <p:nvPr/>
        </p:nvSpPr>
        <p:spPr>
          <a:xfrm>
            <a:off x="9784080" y="5669280"/>
            <a:ext cx="1645920" cy="43891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10 min</a:t>
            </a:r>
            <a:endParaRPr lang="en-US" sz="1600" dirty="0"/>
          </a:p>
        </p:txBody>
      </p:sp>
      <p:sp>
        <p:nvSpPr>
          <p:cNvPr id="66" name="Text 64"/>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67" name="Text 65"/>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SETTING THE CONTEXT</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Why Do We Need a Learning Management System?</a:t>
            </a:r>
            <a:endParaRPr lang="en-US" sz="2400" dirty="0"/>
          </a:p>
        </p:txBody>
      </p:sp>
      <p:sp>
        <p:nvSpPr>
          <p:cNvPr id="6" name="Shape 4"/>
          <p:cNvSpPr/>
          <p:nvPr/>
        </p:nvSpPr>
        <p:spPr>
          <a:xfrm>
            <a:off x="548640" y="1188720"/>
            <a:ext cx="11064240" cy="1051560"/>
          </a:xfrm>
          <a:prstGeom prst="roundRect">
            <a:avLst>
              <a:gd name="adj" fmla="val 6957"/>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7" name="Text 5"/>
          <p:cNvSpPr/>
          <p:nvPr/>
        </p:nvSpPr>
        <p:spPr>
          <a:xfrm>
            <a:off x="822960" y="1353312"/>
            <a:ext cx="10515600" cy="731520"/>
          </a:xfrm>
          <a:prstGeom prst="rect">
            <a:avLst/>
          </a:prstGeom>
          <a:noFill/>
          <a:ln/>
        </p:spPr>
        <p:txBody>
          <a:bodyPr wrap="square" rtlCol="0" anchor="ctr"/>
          <a:lstStyle/>
          <a:p>
            <a:pPr marL="0" indent="0" algn="ctr">
              <a:buNone/>
            </a:pPr>
            <a:r>
              <a:rPr lang="en-US" sz="2000" b="1" i="1" dirty="0">
                <a:solidFill>
                  <a:srgbClr val="1F3864"/>
                </a:solidFill>
                <a:latin typeface="Calibri" pitchFamily="34" charset="0"/>
                <a:ea typeface="Calibri" pitchFamily="34" charset="-122"/>
                <a:cs typeface="Calibri" pitchFamily="34" charset="-120"/>
              </a:rPr>
              <a:t>“A good LMS keeps the classroom open after the bell rings.”</a:t>
            </a:r>
            <a:endParaRPr lang="en-US" sz="2000" dirty="0"/>
          </a:p>
        </p:txBody>
      </p:sp>
      <p:sp>
        <p:nvSpPr>
          <p:cNvPr id="8" name="Shape 6"/>
          <p:cNvSpPr/>
          <p:nvPr/>
        </p:nvSpPr>
        <p:spPr>
          <a:xfrm>
            <a:off x="548640" y="2514600"/>
            <a:ext cx="5440680" cy="2103120"/>
          </a:xfrm>
          <a:prstGeom prst="roundRect">
            <a:avLst>
              <a:gd name="adj" fmla="val 3478"/>
            </a:avLst>
          </a:prstGeom>
          <a:solidFill>
            <a:srgbClr val="FBEAE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9" name="Text 7"/>
          <p:cNvSpPr/>
          <p:nvPr/>
        </p:nvSpPr>
        <p:spPr>
          <a:xfrm>
            <a:off x="777240" y="2697480"/>
            <a:ext cx="4937760" cy="36576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The Problem</a:t>
            </a:r>
            <a:endParaRPr lang="en-US" dirty="0"/>
          </a:p>
        </p:txBody>
      </p:sp>
      <p:sp>
        <p:nvSpPr>
          <p:cNvPr id="10" name="Text 8"/>
          <p:cNvSpPr/>
          <p:nvPr/>
        </p:nvSpPr>
        <p:spPr>
          <a:xfrm>
            <a:off x="777240" y="3108960"/>
            <a:ext cx="4937760" cy="1371600"/>
          </a:xfrm>
          <a:prstGeom prst="rect">
            <a:avLst/>
          </a:prstGeom>
          <a:noFill/>
          <a:ln/>
        </p:spPr>
        <p:txBody>
          <a:bodyPr wrap="square" rtlCol="0" anchor="t"/>
          <a:lstStyle/>
          <a:p>
            <a:pPr marL="0" indent="0">
              <a:lnSpc>
                <a:spcPts val="1700"/>
              </a:lnSpc>
              <a:buNone/>
            </a:pPr>
            <a:r>
              <a:rPr lang="en-US" sz="1600" dirty="0">
                <a:solidFill>
                  <a:srgbClr val="333333"/>
                </a:solidFill>
                <a:latin typeface="Calibri" pitchFamily="34" charset="0"/>
                <a:ea typeface="Calibri" pitchFamily="34" charset="-122"/>
                <a:cs typeface="Calibri" pitchFamily="34" charset="-120"/>
              </a:rPr>
              <a:t>Slides sent on WhatsApp, deadlines announced by email, marks written on paper, questions lost in group chats — students and teachers spend more time chasing information than learning.</a:t>
            </a:r>
            <a:endParaRPr lang="en-US" sz="1600" dirty="0"/>
          </a:p>
        </p:txBody>
      </p:sp>
      <p:sp>
        <p:nvSpPr>
          <p:cNvPr id="11" name="Shape 9"/>
          <p:cNvSpPr/>
          <p:nvPr/>
        </p:nvSpPr>
        <p:spPr>
          <a:xfrm>
            <a:off x="6172200" y="2514600"/>
            <a:ext cx="5440680" cy="2103120"/>
          </a:xfrm>
          <a:prstGeom prst="roundRect">
            <a:avLst>
              <a:gd name="adj" fmla="val 3478"/>
            </a:avLst>
          </a:prstGeom>
          <a:solidFill>
            <a:srgbClr val="EAF6EC"/>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2" name="Text 10"/>
          <p:cNvSpPr/>
          <p:nvPr/>
        </p:nvSpPr>
        <p:spPr>
          <a:xfrm>
            <a:off x="6400800" y="2697480"/>
            <a:ext cx="4937760" cy="36576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The Solution</a:t>
            </a:r>
            <a:endParaRPr lang="en-US" dirty="0"/>
          </a:p>
        </p:txBody>
      </p:sp>
      <p:sp>
        <p:nvSpPr>
          <p:cNvPr id="13" name="Text 11"/>
          <p:cNvSpPr/>
          <p:nvPr/>
        </p:nvSpPr>
        <p:spPr>
          <a:xfrm>
            <a:off x="6400800" y="3108960"/>
            <a:ext cx="4937760" cy="1371600"/>
          </a:xfrm>
          <a:prstGeom prst="rect">
            <a:avLst/>
          </a:prstGeom>
          <a:noFill/>
          <a:ln/>
        </p:spPr>
        <p:txBody>
          <a:bodyPr wrap="square" rtlCol="0" anchor="t"/>
          <a:lstStyle/>
          <a:p>
            <a:pPr marL="0" indent="0">
              <a:lnSpc>
                <a:spcPts val="1700"/>
              </a:lnSpc>
              <a:buNone/>
            </a:pPr>
            <a:r>
              <a:rPr lang="en-US" sz="1600" dirty="0">
                <a:solidFill>
                  <a:srgbClr val="333333"/>
                </a:solidFill>
                <a:latin typeface="Calibri" pitchFamily="34" charset="0"/>
                <a:ea typeface="Calibri" pitchFamily="34" charset="-122"/>
                <a:cs typeface="Calibri" pitchFamily="34" charset="-120"/>
              </a:rPr>
              <a:t>A Learning Management System (LMS) puts content, assignments, quizzes, grades, and communication in one secure, always-available place, reachable from any device.</a:t>
            </a:r>
            <a:endParaRPr lang="en-US" sz="1600" dirty="0"/>
          </a:p>
        </p:txBody>
      </p:sp>
      <p:sp>
        <p:nvSpPr>
          <p:cNvPr id="14" name="Shape 12"/>
          <p:cNvSpPr/>
          <p:nvPr/>
        </p:nvSpPr>
        <p:spPr>
          <a:xfrm>
            <a:off x="548640" y="4846320"/>
            <a:ext cx="11064240" cy="1463040"/>
          </a:xfrm>
          <a:prstGeom prst="roundRect">
            <a:avLst>
              <a:gd name="adj" fmla="val 5000"/>
            </a:avLst>
          </a:prstGeom>
          <a:solidFill>
            <a:srgbClr val="FDF3E3"/>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5" name="Text 13"/>
          <p:cNvSpPr/>
          <p:nvPr/>
        </p:nvSpPr>
        <p:spPr>
          <a:xfrm>
            <a:off x="822960" y="4983480"/>
            <a:ext cx="7315200" cy="274320"/>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TODAY’S PLAN</a:t>
            </a:r>
            <a:endParaRPr lang="en-US" dirty="0"/>
          </a:p>
        </p:txBody>
      </p:sp>
      <p:sp>
        <p:nvSpPr>
          <p:cNvPr id="16" name="Text 14"/>
          <p:cNvSpPr/>
          <p:nvPr/>
        </p:nvSpPr>
        <p:spPr>
          <a:xfrm>
            <a:off x="822960" y="5285232"/>
            <a:ext cx="10332720" cy="914400"/>
          </a:xfrm>
          <a:prstGeom prst="rect">
            <a:avLst/>
          </a:prstGeom>
          <a:noFill/>
          <a:ln/>
        </p:spPr>
        <p:txBody>
          <a:bodyPr wrap="square" rtlCol="0" anchor="t"/>
          <a:lstStyle/>
          <a:p>
            <a:pPr marL="0" indent="0">
              <a:lnSpc>
                <a:spcPts val="1800"/>
              </a:lnSpc>
              <a:buNone/>
            </a:pPr>
            <a:r>
              <a:rPr lang="en-US" sz="1600" dirty="0">
                <a:solidFill>
                  <a:srgbClr val="222222"/>
                </a:solidFill>
                <a:latin typeface="Calibri" pitchFamily="34" charset="0"/>
                <a:ea typeface="Calibri" pitchFamily="34" charset="-122"/>
                <a:cs typeface="Calibri" pitchFamily="34" charset="-120"/>
              </a:rPr>
              <a:t>First half: Learning Management Systems — Moodle, Canvas, and Google Classroom. Second half: because last week’s session went to Evernote/OneNote revision, we complete Week 6 in full — video conferencing (Meet, Teams, Zoom) and social media (LinkedIn, Facebook, Instagram).</a:t>
            </a:r>
            <a:endParaRPr lang="en-US" sz="1600" dirty="0"/>
          </a:p>
        </p:txBody>
      </p:sp>
      <p:sp>
        <p:nvSpPr>
          <p:cNvPr id="17" name="Text 15"/>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8" name="Text 16"/>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2B4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pic>
        <p:nvPicPr>
          <p:cNvPr id="3" name="Image 0" descr="logos/moodle_icon.png"/>
          <p:cNvPicPr>
            <a:picLocks noChangeAspect="1"/>
          </p:cNvPicPr>
          <p:nvPr/>
        </p:nvPicPr>
        <p:blipFill>
          <a:blip r:embed="rId3"/>
          <a:stretch>
            <a:fillRect/>
          </a:stretch>
        </p:blipFill>
        <p:spPr>
          <a:xfrm>
            <a:off x="4568800" y="1417320"/>
            <a:ext cx="914400" cy="914400"/>
          </a:xfrm>
          <a:prstGeom prst="rect">
            <a:avLst/>
          </a:prstGeom>
        </p:spPr>
      </p:pic>
      <p:pic>
        <p:nvPicPr>
          <p:cNvPr id="4" name="Image 1" descr="logos/canvas_icon.png"/>
          <p:cNvPicPr>
            <a:picLocks noChangeAspect="1"/>
          </p:cNvPicPr>
          <p:nvPr/>
        </p:nvPicPr>
        <p:blipFill>
          <a:blip r:embed="rId4"/>
          <a:stretch>
            <a:fillRect/>
          </a:stretch>
        </p:blipFill>
        <p:spPr>
          <a:xfrm>
            <a:off x="5638648" y="1417320"/>
            <a:ext cx="914400" cy="914400"/>
          </a:xfrm>
          <a:prstGeom prst="rect">
            <a:avLst/>
          </a:prstGeom>
        </p:spPr>
      </p:pic>
      <p:pic>
        <p:nvPicPr>
          <p:cNvPr id="5" name="Image 2" descr="logos/gclass_icon.png"/>
          <p:cNvPicPr>
            <a:picLocks noChangeAspect="1"/>
          </p:cNvPicPr>
          <p:nvPr/>
        </p:nvPicPr>
        <p:blipFill>
          <a:blip r:embed="rId5"/>
          <a:stretch>
            <a:fillRect/>
          </a:stretch>
        </p:blipFill>
        <p:spPr>
          <a:xfrm>
            <a:off x="6708496" y="1417320"/>
            <a:ext cx="914400" cy="914400"/>
          </a:xfrm>
          <a:prstGeom prst="rect">
            <a:avLst/>
          </a:prstGeom>
        </p:spPr>
      </p:pic>
      <p:sp>
        <p:nvSpPr>
          <p:cNvPr id="6" name="Text 1"/>
          <p:cNvSpPr/>
          <p:nvPr/>
        </p:nvSpPr>
        <p:spPr>
          <a:xfrm>
            <a:off x="822960" y="2697480"/>
            <a:ext cx="10515600" cy="457200"/>
          </a:xfrm>
          <a:prstGeom prst="rect">
            <a:avLst/>
          </a:prstGeom>
          <a:noFill/>
          <a:ln/>
        </p:spPr>
        <p:txBody>
          <a:bodyPr wrap="square" rtlCol="0" anchor="ctr"/>
          <a:lstStyle/>
          <a:p>
            <a:pPr marL="0" indent="0" algn="ctr">
              <a:buNone/>
            </a:pPr>
            <a:r>
              <a:rPr lang="en-US" sz="1600" b="1" kern="0" spc="300" dirty="0">
                <a:solidFill>
                  <a:srgbClr val="D8B84A"/>
                </a:solidFill>
                <a:latin typeface="Calibri" pitchFamily="34" charset="0"/>
                <a:ea typeface="Calibri" pitchFamily="34" charset="-122"/>
                <a:cs typeface="Calibri" pitchFamily="34" charset="-120"/>
              </a:rPr>
              <a:t>PART 1: LEARNING MANAGEMENT SYSTEMS</a:t>
            </a:r>
            <a:endParaRPr lang="en-US" sz="1600" dirty="0"/>
          </a:p>
        </p:txBody>
      </p:sp>
      <p:sp>
        <p:nvSpPr>
          <p:cNvPr id="7" name="Text 2"/>
          <p:cNvSpPr/>
          <p:nvPr/>
        </p:nvSpPr>
        <p:spPr>
          <a:xfrm>
            <a:off x="822960" y="3154680"/>
            <a:ext cx="10515600" cy="73152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Moodle, Canvas &amp; Google Classroom</a:t>
            </a:r>
            <a:endParaRPr lang="en-US" sz="3000" dirty="0"/>
          </a:p>
        </p:txBody>
      </p:sp>
      <p:sp>
        <p:nvSpPr>
          <p:cNvPr id="8" name="Text 3"/>
          <p:cNvSpPr/>
          <p:nvPr/>
        </p:nvSpPr>
        <p:spPr>
          <a:xfrm>
            <a:off x="822960" y="3886200"/>
            <a:ext cx="10515600" cy="457200"/>
          </a:xfrm>
          <a:prstGeom prst="rect">
            <a:avLst/>
          </a:prstGeom>
          <a:noFill/>
          <a:ln/>
        </p:spPr>
        <p:txBody>
          <a:bodyPr wrap="square" rtlCol="0" anchor="ctr"/>
          <a:lstStyle/>
          <a:p>
            <a:pPr marL="0" indent="0" algn="ctr">
              <a:buNone/>
            </a:pPr>
            <a:r>
              <a:rPr lang="en-US" sz="1600" i="1" dirty="0">
                <a:solidFill>
                  <a:srgbClr val="C7D0E0"/>
                </a:solidFill>
                <a:latin typeface="Calibri" pitchFamily="34" charset="0"/>
                <a:ea typeface="Calibri" pitchFamily="34" charset="-122"/>
                <a:cs typeface="Calibri" pitchFamily="34" charset="-120"/>
              </a:rPr>
              <a:t>Purpose, working, features, and benefits to society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LMS FUNDAMENTALS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Is a Learning Management System?</a:t>
            </a:r>
            <a:endParaRPr lang="en-US" sz="2400" dirty="0"/>
          </a:p>
        </p:txBody>
      </p:sp>
      <p:sp>
        <p:nvSpPr>
          <p:cNvPr id="6" name="Shape 4"/>
          <p:cNvSpPr/>
          <p:nvPr/>
        </p:nvSpPr>
        <p:spPr>
          <a:xfrm>
            <a:off x="548640" y="1188720"/>
            <a:ext cx="11064240" cy="1234440"/>
          </a:xfrm>
          <a:prstGeom prst="roundRect">
            <a:avLst>
              <a:gd name="adj" fmla="val 5926"/>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7" name="Text 5"/>
          <p:cNvSpPr/>
          <p:nvPr/>
        </p:nvSpPr>
        <p:spPr>
          <a:xfrm>
            <a:off x="822960" y="1188720"/>
            <a:ext cx="10515600" cy="1234440"/>
          </a:xfrm>
          <a:prstGeom prst="rect">
            <a:avLst/>
          </a:prstGeom>
          <a:noFill/>
          <a:ln/>
        </p:spPr>
        <p:txBody>
          <a:bodyPr wrap="square" rtlCol="0" anchor="ctr"/>
          <a:lstStyle/>
          <a:p>
            <a:pPr marL="0" indent="0">
              <a:lnSpc>
                <a:spcPts val="2100"/>
              </a:lnSpc>
              <a:buNone/>
            </a:pPr>
            <a:r>
              <a:rPr lang="en-US" sz="1600" b="1" dirty="0">
                <a:solidFill>
                  <a:srgbClr val="1F3864"/>
                </a:solidFill>
                <a:latin typeface="Calibri" pitchFamily="34" charset="0"/>
                <a:ea typeface="Calibri" pitchFamily="34" charset="-122"/>
                <a:cs typeface="Calibri" pitchFamily="34" charset="-120"/>
              </a:rPr>
              <a:t>An LMS is a software application — usually web-based — used to plan, deliver, manage, and track learning. It is the digital “campus” where a course lives: its materials, tasks, tests, marks, and conversations.</a:t>
            </a:r>
            <a:endParaRPr lang="en-US" sz="1600" dirty="0"/>
          </a:p>
        </p:txBody>
      </p:sp>
      <p:sp>
        <p:nvSpPr>
          <p:cNvPr id="8" name="Shape 6"/>
          <p:cNvSpPr/>
          <p:nvPr/>
        </p:nvSpPr>
        <p:spPr>
          <a:xfrm>
            <a:off x="548640" y="2697480"/>
            <a:ext cx="3566160" cy="2743200"/>
          </a:xfrm>
          <a:prstGeom prst="roundRect">
            <a:avLst>
              <a:gd name="adj" fmla="val 2667"/>
            </a:avLst>
          </a:prstGeom>
          <a:solidFill>
            <a:srgbClr val="E8EEF9"/>
          </a:solidFill>
          <a:ln w="12700">
            <a:solidFill>
              <a:srgbClr val="DCE1EA"/>
            </a:solidFill>
            <a:prstDash val="solid"/>
          </a:ln>
        </p:spPr>
        <p:txBody>
          <a:bodyPr/>
          <a:lstStyle/>
          <a:p>
            <a:endParaRPr lang="en-US" sz="1600"/>
          </a:p>
        </p:txBody>
      </p:sp>
      <p:sp>
        <p:nvSpPr>
          <p:cNvPr id="9" name="Text 7"/>
          <p:cNvSpPr/>
          <p:nvPr/>
        </p:nvSpPr>
        <p:spPr>
          <a:xfrm>
            <a:off x="777240" y="2852928"/>
            <a:ext cx="3108960" cy="36576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Purpose</a:t>
            </a:r>
            <a:endParaRPr lang="en-US" dirty="0"/>
          </a:p>
        </p:txBody>
      </p:sp>
      <p:sp>
        <p:nvSpPr>
          <p:cNvPr id="10" name="Text 8"/>
          <p:cNvSpPr/>
          <p:nvPr/>
        </p:nvSpPr>
        <p:spPr>
          <a:xfrm>
            <a:off x="777240" y="3291840"/>
            <a:ext cx="3108960" cy="2011680"/>
          </a:xfrm>
          <a:prstGeom prst="rect">
            <a:avLst/>
          </a:prstGeom>
          <a:noFill/>
          <a:ln/>
        </p:spPr>
        <p:txBody>
          <a:bodyPr wrap="square" rtlCol="0" anchor="t"/>
          <a:lstStyle/>
          <a:p>
            <a:pPr marL="0" indent="0">
              <a:lnSpc>
                <a:spcPts val="1700"/>
              </a:lnSpc>
              <a:buNone/>
            </a:pPr>
            <a:r>
              <a:rPr lang="en-US" sz="1600" dirty="0">
                <a:solidFill>
                  <a:srgbClr val="333333"/>
                </a:solidFill>
                <a:latin typeface="Calibri" pitchFamily="34" charset="0"/>
                <a:ea typeface="Calibri" pitchFamily="34" charset="-122"/>
                <a:cs typeface="Calibri" pitchFamily="34" charset="-120"/>
              </a:rPr>
              <a:t>Deliver course content, collect and grade work, communicate with learners, and keep a reliable record of progress — without depending on physical presence or paper.</a:t>
            </a:r>
            <a:endParaRPr lang="en-US" sz="1600" dirty="0"/>
          </a:p>
        </p:txBody>
      </p:sp>
      <p:sp>
        <p:nvSpPr>
          <p:cNvPr id="11" name="Shape 9"/>
          <p:cNvSpPr/>
          <p:nvPr/>
        </p:nvSpPr>
        <p:spPr>
          <a:xfrm>
            <a:off x="4297680" y="2697480"/>
            <a:ext cx="3566160" cy="2743200"/>
          </a:xfrm>
          <a:prstGeom prst="roundRect">
            <a:avLst>
              <a:gd name="adj" fmla="val 2667"/>
            </a:avLst>
          </a:prstGeom>
          <a:solidFill>
            <a:srgbClr val="FDF3E3"/>
          </a:solidFill>
          <a:ln w="12700">
            <a:solidFill>
              <a:srgbClr val="DCE1EA"/>
            </a:solidFill>
            <a:prstDash val="solid"/>
          </a:ln>
        </p:spPr>
        <p:txBody>
          <a:bodyPr/>
          <a:lstStyle/>
          <a:p>
            <a:endParaRPr lang="en-US" sz="1600"/>
          </a:p>
        </p:txBody>
      </p:sp>
      <p:sp>
        <p:nvSpPr>
          <p:cNvPr id="12" name="Text 10"/>
          <p:cNvSpPr/>
          <p:nvPr/>
        </p:nvSpPr>
        <p:spPr>
          <a:xfrm>
            <a:off x="4526280" y="2852928"/>
            <a:ext cx="3108960" cy="36576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Who Uses It</a:t>
            </a:r>
            <a:endParaRPr lang="en-US" dirty="0"/>
          </a:p>
        </p:txBody>
      </p:sp>
      <p:sp>
        <p:nvSpPr>
          <p:cNvPr id="13" name="Text 11"/>
          <p:cNvSpPr/>
          <p:nvPr/>
        </p:nvSpPr>
        <p:spPr>
          <a:xfrm>
            <a:off x="4526280" y="3291840"/>
            <a:ext cx="3108960" cy="2011680"/>
          </a:xfrm>
          <a:prstGeom prst="rect">
            <a:avLst/>
          </a:prstGeom>
          <a:noFill/>
          <a:ln/>
        </p:spPr>
        <p:txBody>
          <a:bodyPr wrap="square" rtlCol="0" anchor="t"/>
          <a:lstStyle/>
          <a:p>
            <a:pPr marL="0" indent="0">
              <a:lnSpc>
                <a:spcPts val="1700"/>
              </a:lnSpc>
              <a:buNone/>
            </a:pPr>
            <a:r>
              <a:rPr lang="en-US" sz="1600" dirty="0">
                <a:solidFill>
                  <a:srgbClr val="333333"/>
                </a:solidFill>
                <a:latin typeface="Calibri" pitchFamily="34" charset="0"/>
                <a:ea typeface="Calibri" pitchFamily="34" charset="-122"/>
                <a:cs typeface="Calibri" pitchFamily="34" charset="-120"/>
              </a:rPr>
              <a:t>Teachers create and manage courses. Students learn and submit work. Administrators manage users and security. Some systems also give parents or guardians a progress view.</a:t>
            </a:r>
            <a:endParaRPr lang="en-US" sz="1600" dirty="0"/>
          </a:p>
        </p:txBody>
      </p:sp>
      <p:sp>
        <p:nvSpPr>
          <p:cNvPr id="14" name="Shape 12"/>
          <p:cNvSpPr/>
          <p:nvPr/>
        </p:nvSpPr>
        <p:spPr>
          <a:xfrm>
            <a:off x="8046720" y="2697480"/>
            <a:ext cx="3566160" cy="2743200"/>
          </a:xfrm>
          <a:prstGeom prst="roundRect">
            <a:avLst>
              <a:gd name="adj" fmla="val 2667"/>
            </a:avLst>
          </a:prstGeom>
          <a:solidFill>
            <a:srgbClr val="EAF6EC"/>
          </a:solidFill>
          <a:ln w="12700">
            <a:solidFill>
              <a:srgbClr val="DCE1EA"/>
            </a:solidFill>
            <a:prstDash val="solid"/>
          </a:ln>
        </p:spPr>
        <p:txBody>
          <a:bodyPr/>
          <a:lstStyle/>
          <a:p>
            <a:endParaRPr lang="en-US" sz="1600"/>
          </a:p>
        </p:txBody>
      </p:sp>
      <p:sp>
        <p:nvSpPr>
          <p:cNvPr id="15" name="Text 13"/>
          <p:cNvSpPr/>
          <p:nvPr/>
        </p:nvSpPr>
        <p:spPr>
          <a:xfrm>
            <a:off x="8275320" y="2852928"/>
            <a:ext cx="3108960" cy="36576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Where It Is Used</a:t>
            </a:r>
            <a:endParaRPr lang="en-US" dirty="0"/>
          </a:p>
        </p:txBody>
      </p:sp>
      <p:sp>
        <p:nvSpPr>
          <p:cNvPr id="16" name="Text 14"/>
          <p:cNvSpPr/>
          <p:nvPr/>
        </p:nvSpPr>
        <p:spPr>
          <a:xfrm>
            <a:off x="8275320" y="3291840"/>
            <a:ext cx="3108960" cy="2011680"/>
          </a:xfrm>
          <a:prstGeom prst="rect">
            <a:avLst/>
          </a:prstGeom>
          <a:noFill/>
          <a:ln/>
        </p:spPr>
        <p:txBody>
          <a:bodyPr wrap="square" rtlCol="0" anchor="t"/>
          <a:lstStyle/>
          <a:p>
            <a:pPr marL="0" indent="0">
              <a:lnSpc>
                <a:spcPts val="1700"/>
              </a:lnSpc>
              <a:buNone/>
            </a:pPr>
            <a:r>
              <a:rPr lang="en-US" sz="1600" dirty="0">
                <a:solidFill>
                  <a:srgbClr val="333333"/>
                </a:solidFill>
                <a:latin typeface="Calibri" pitchFamily="34" charset="0"/>
                <a:ea typeface="Calibri" pitchFamily="34" charset="-122"/>
                <a:cs typeface="Calibri" pitchFamily="34" charset="-120"/>
              </a:rPr>
              <a:t>Universities and schools, corporate training and compliance programs, government and NGO capacity building, and online course providers.</a:t>
            </a:r>
            <a:endParaRPr lang="en-US" sz="1600" dirty="0"/>
          </a:p>
        </p:txBody>
      </p:sp>
      <p:sp>
        <p:nvSpPr>
          <p:cNvPr id="17" name="Shape 15"/>
          <p:cNvSpPr/>
          <p:nvPr/>
        </p:nvSpPr>
        <p:spPr>
          <a:xfrm>
            <a:off x="548640" y="5623560"/>
            <a:ext cx="11064240" cy="685800"/>
          </a:xfrm>
          <a:prstGeom prst="roundRect">
            <a:avLst>
              <a:gd name="adj" fmla="val 10667"/>
            </a:avLst>
          </a:prstGeom>
          <a:solidFill>
            <a:srgbClr val="FFFFFF"/>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8" name="Text 16"/>
          <p:cNvSpPr/>
          <p:nvPr/>
        </p:nvSpPr>
        <p:spPr>
          <a:xfrm>
            <a:off x="822960" y="5623560"/>
            <a:ext cx="10515600" cy="685800"/>
          </a:xfrm>
          <a:prstGeom prst="rect">
            <a:avLst/>
          </a:prstGeom>
          <a:noFill/>
          <a:ln/>
        </p:spPr>
        <p:txBody>
          <a:bodyPr wrap="square" rtlCol="0" anchor="ctr"/>
          <a:lstStyle/>
          <a:p>
            <a:pPr marL="0" indent="0">
              <a:buNone/>
            </a:pPr>
            <a:r>
              <a:rPr lang="en-US" sz="1300" b="1" dirty="0">
                <a:solidFill>
                  <a:srgbClr val="B8860B"/>
                </a:solidFill>
                <a:latin typeface="Calibri" pitchFamily="34" charset="0"/>
                <a:ea typeface="Calibri" pitchFamily="34" charset="-122"/>
                <a:cs typeface="Calibri" pitchFamily="34" charset="-120"/>
              </a:rPr>
              <a:t>Examples you will meet today:  Moodle (open-source)   |   Canvas (cloud-based)   |   Google Classroom (free &amp; simple)</a:t>
            </a:r>
            <a:endParaRPr lang="en-US" sz="1300" dirty="0"/>
          </a:p>
        </p:txBody>
      </p:sp>
      <p:sp>
        <p:nvSpPr>
          <p:cNvPr id="19" name="Text 17"/>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20" name="Text 18"/>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LMS FUNDAMENTALS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Core Components of an LMS</a:t>
            </a:r>
            <a:endParaRPr lang="en-US" sz="2400" dirty="0"/>
          </a:p>
        </p:txBody>
      </p:sp>
      <p:sp>
        <p:nvSpPr>
          <p:cNvPr id="6" name="Shape 4"/>
          <p:cNvSpPr/>
          <p:nvPr/>
        </p:nvSpPr>
        <p:spPr>
          <a:xfrm>
            <a:off x="54864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1. Course &amp; Content Management</a:t>
            </a:r>
            <a:endParaRPr lang="en-US"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Organize lectures, readings, videos, and links by week or topic so students always know where to find what they need.</a:t>
            </a:r>
            <a:endParaRPr lang="en-US" sz="1600" dirty="0"/>
          </a:p>
        </p:txBody>
      </p:sp>
      <p:sp>
        <p:nvSpPr>
          <p:cNvPr id="9" name="Shape 7"/>
          <p:cNvSpPr/>
          <p:nvPr/>
        </p:nvSpPr>
        <p:spPr>
          <a:xfrm>
            <a:off x="6172200" y="114300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2. Assessment &amp; Assignments</a:t>
            </a:r>
            <a:endParaRPr lang="en-US"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Create quizzes with automatic marking, accept assignment uploads, apply rubrics, and run plagiarism checks.</a:t>
            </a:r>
            <a:endParaRPr lang="en-US" sz="1600" dirty="0"/>
          </a:p>
        </p:txBody>
      </p:sp>
      <p:sp>
        <p:nvSpPr>
          <p:cNvPr id="12" name="Shape 10"/>
          <p:cNvSpPr/>
          <p:nvPr/>
        </p:nvSpPr>
        <p:spPr>
          <a:xfrm>
            <a:off x="54864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3. Grading &amp; Feedback</a:t>
            </a:r>
            <a:endParaRPr lang="en-US"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A central gradebook stores every mark; teachers add written, audio, or video feedback and release results when ready.</a:t>
            </a:r>
            <a:endParaRPr lang="en-US" sz="1600" dirty="0"/>
          </a:p>
        </p:txBody>
      </p:sp>
      <p:sp>
        <p:nvSpPr>
          <p:cNvPr id="15" name="Shape 13"/>
          <p:cNvSpPr/>
          <p:nvPr/>
        </p:nvSpPr>
        <p:spPr>
          <a:xfrm>
            <a:off x="6172200" y="288036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4. Communication Tools</a:t>
            </a:r>
            <a:endParaRPr lang="en-US"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Announcements, discussion forums, private messages, notifications, and links to video meetings keep everyone connected.</a:t>
            </a:r>
            <a:endParaRPr lang="en-US" sz="1600" dirty="0"/>
          </a:p>
        </p:txBody>
      </p:sp>
      <p:sp>
        <p:nvSpPr>
          <p:cNvPr id="18" name="Shape 16"/>
          <p:cNvSpPr/>
          <p:nvPr/>
        </p:nvSpPr>
        <p:spPr>
          <a:xfrm>
            <a:off x="54864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5. Tracking &amp; Analytics</a:t>
            </a:r>
            <a:endParaRPr lang="en-US"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Reports show who has logged in, finished activities, or missed deadlines — helping teachers support struggling students early.</a:t>
            </a:r>
            <a:endParaRPr lang="en-US" sz="1600" dirty="0"/>
          </a:p>
        </p:txBody>
      </p:sp>
      <p:sp>
        <p:nvSpPr>
          <p:cNvPr id="21" name="Shape 19"/>
          <p:cNvSpPr/>
          <p:nvPr/>
        </p:nvSpPr>
        <p:spPr>
          <a:xfrm>
            <a:off x="6172200" y="461772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6. User Roles &amp; Security</a:t>
            </a:r>
            <a:endParaRPr lang="en-US"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Administrator, teacher, student, and guest roles each get different permissions; secure login protects privacy and grades.</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LMS FUNDAMENTALS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How an LMS Works — Step by Step</a:t>
            </a:r>
            <a:endParaRPr lang="en-US" sz="2400" dirty="0"/>
          </a:p>
        </p:txBody>
      </p:sp>
      <p:sp>
        <p:nvSpPr>
          <p:cNvPr id="6" name="Shape 4"/>
          <p:cNvSpPr/>
          <p:nvPr/>
        </p:nvSpPr>
        <p:spPr>
          <a:xfrm>
            <a:off x="548640" y="1234440"/>
            <a:ext cx="1432560" cy="2926080"/>
          </a:xfrm>
          <a:prstGeom prst="roundRect">
            <a:avLst>
              <a:gd name="adj" fmla="val 5106"/>
            </a:avLst>
          </a:prstGeom>
          <a:solidFill>
            <a:srgbClr val="E8EEF9"/>
          </a:solidFill>
          <a:ln w="12700">
            <a:solidFill>
              <a:srgbClr val="DCE1EA"/>
            </a:solidFill>
            <a:prstDash val="solid"/>
          </a:ln>
        </p:spPr>
        <p:txBody>
          <a:bodyPr/>
          <a:lstStyle/>
          <a:p>
            <a:endParaRPr lang="en-US" sz="1600"/>
          </a:p>
        </p:txBody>
      </p:sp>
      <p:sp>
        <p:nvSpPr>
          <p:cNvPr id="7" name="Shape 5"/>
          <p:cNvSpPr/>
          <p:nvPr/>
        </p:nvSpPr>
        <p:spPr>
          <a:xfrm>
            <a:off x="685800" y="1371600"/>
            <a:ext cx="411480" cy="411480"/>
          </a:xfrm>
          <a:prstGeom prst="ellipse">
            <a:avLst/>
          </a:prstGeom>
          <a:solidFill>
            <a:srgbClr val="1F3864"/>
          </a:solidFill>
          <a:ln/>
        </p:spPr>
        <p:txBody>
          <a:bodyPr/>
          <a:lstStyle/>
          <a:p>
            <a:endParaRPr lang="en-US" sz="1600"/>
          </a:p>
        </p:txBody>
      </p:sp>
      <p:sp>
        <p:nvSpPr>
          <p:cNvPr id="8" name="Text 6"/>
          <p:cNvSpPr/>
          <p:nvPr/>
        </p:nvSpPr>
        <p:spPr>
          <a:xfrm>
            <a:off x="685800"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658368"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Set Up</a:t>
            </a:r>
            <a:endParaRPr lang="en-US" sz="1600" dirty="0"/>
          </a:p>
        </p:txBody>
      </p:sp>
      <p:sp>
        <p:nvSpPr>
          <p:cNvPr id="10" name="Text 8"/>
          <p:cNvSpPr/>
          <p:nvPr/>
        </p:nvSpPr>
        <p:spPr>
          <a:xfrm>
            <a:off x="548640" y="2423160"/>
            <a:ext cx="1432560"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The administrator installs or subscribes to the LMS, creates user accounts, and builds empty courses.</a:t>
            </a:r>
            <a:endParaRPr lang="en-US" sz="1600" dirty="0"/>
          </a:p>
        </p:txBody>
      </p:sp>
      <p:sp>
        <p:nvSpPr>
          <p:cNvPr id="11" name="Shape 9"/>
          <p:cNvSpPr/>
          <p:nvPr/>
        </p:nvSpPr>
        <p:spPr>
          <a:xfrm>
            <a:off x="2090928" y="2560320"/>
            <a:ext cx="274320" cy="274320"/>
          </a:xfrm>
          <a:prstGeom prst="rightArrow">
            <a:avLst/>
          </a:prstGeom>
          <a:solidFill>
            <a:srgbClr val="B8860B"/>
          </a:solidFill>
          <a:ln/>
        </p:spPr>
        <p:txBody>
          <a:bodyPr/>
          <a:lstStyle/>
          <a:p>
            <a:endParaRPr lang="en-US" sz="1600"/>
          </a:p>
        </p:txBody>
      </p:sp>
      <p:sp>
        <p:nvSpPr>
          <p:cNvPr id="12" name="Shape 10"/>
          <p:cNvSpPr/>
          <p:nvPr/>
        </p:nvSpPr>
        <p:spPr>
          <a:xfrm>
            <a:off x="2474976" y="1234440"/>
            <a:ext cx="1432560" cy="2926080"/>
          </a:xfrm>
          <a:prstGeom prst="roundRect">
            <a:avLst>
              <a:gd name="adj" fmla="val 5106"/>
            </a:avLst>
          </a:prstGeom>
          <a:solidFill>
            <a:srgbClr val="FDF3E3"/>
          </a:solidFill>
          <a:ln w="12700">
            <a:solidFill>
              <a:srgbClr val="DCE1EA"/>
            </a:solidFill>
            <a:prstDash val="solid"/>
          </a:ln>
        </p:spPr>
        <p:txBody>
          <a:bodyPr/>
          <a:lstStyle/>
          <a:p>
            <a:endParaRPr lang="en-US" sz="1600"/>
          </a:p>
        </p:txBody>
      </p:sp>
      <p:sp>
        <p:nvSpPr>
          <p:cNvPr id="13" name="Shape 11"/>
          <p:cNvSpPr/>
          <p:nvPr/>
        </p:nvSpPr>
        <p:spPr>
          <a:xfrm>
            <a:off x="2612136" y="1371600"/>
            <a:ext cx="411480" cy="411480"/>
          </a:xfrm>
          <a:prstGeom prst="ellipse">
            <a:avLst/>
          </a:prstGeom>
          <a:solidFill>
            <a:srgbClr val="1F3864"/>
          </a:solidFill>
          <a:ln/>
        </p:spPr>
        <p:txBody>
          <a:bodyPr/>
          <a:lstStyle/>
          <a:p>
            <a:endParaRPr lang="en-US" sz="1600"/>
          </a:p>
        </p:txBody>
      </p:sp>
      <p:sp>
        <p:nvSpPr>
          <p:cNvPr id="14" name="Text 12"/>
          <p:cNvSpPr/>
          <p:nvPr/>
        </p:nvSpPr>
        <p:spPr>
          <a:xfrm>
            <a:off x="2612136"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2584704"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Build the Course</a:t>
            </a:r>
            <a:endParaRPr lang="en-US" sz="1600" dirty="0"/>
          </a:p>
        </p:txBody>
      </p:sp>
      <p:sp>
        <p:nvSpPr>
          <p:cNvPr id="16" name="Text 14"/>
          <p:cNvSpPr/>
          <p:nvPr/>
        </p:nvSpPr>
        <p:spPr>
          <a:xfrm>
            <a:off x="2584704"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The teacher uploads content, sets deadlines, and creates quizzes and assignments.</a:t>
            </a:r>
            <a:endParaRPr lang="en-US" sz="1600" dirty="0"/>
          </a:p>
        </p:txBody>
      </p:sp>
      <p:sp>
        <p:nvSpPr>
          <p:cNvPr id="17" name="Shape 15"/>
          <p:cNvSpPr/>
          <p:nvPr/>
        </p:nvSpPr>
        <p:spPr>
          <a:xfrm>
            <a:off x="4017264" y="2560320"/>
            <a:ext cx="274320" cy="274320"/>
          </a:xfrm>
          <a:prstGeom prst="rightArrow">
            <a:avLst/>
          </a:prstGeom>
          <a:solidFill>
            <a:srgbClr val="B8860B"/>
          </a:solidFill>
          <a:ln/>
        </p:spPr>
        <p:txBody>
          <a:bodyPr/>
          <a:lstStyle/>
          <a:p>
            <a:endParaRPr lang="en-US" sz="1600"/>
          </a:p>
        </p:txBody>
      </p:sp>
      <p:sp>
        <p:nvSpPr>
          <p:cNvPr id="18" name="Shape 16"/>
          <p:cNvSpPr/>
          <p:nvPr/>
        </p:nvSpPr>
        <p:spPr>
          <a:xfrm>
            <a:off x="4401312" y="1234440"/>
            <a:ext cx="1432560" cy="2926080"/>
          </a:xfrm>
          <a:prstGeom prst="roundRect">
            <a:avLst>
              <a:gd name="adj" fmla="val 5106"/>
            </a:avLst>
          </a:prstGeom>
          <a:solidFill>
            <a:srgbClr val="E8EEF9"/>
          </a:solidFill>
          <a:ln w="12700">
            <a:solidFill>
              <a:srgbClr val="DCE1EA"/>
            </a:solidFill>
            <a:prstDash val="solid"/>
          </a:ln>
        </p:spPr>
        <p:txBody>
          <a:bodyPr/>
          <a:lstStyle/>
          <a:p>
            <a:endParaRPr lang="en-US" sz="1600"/>
          </a:p>
        </p:txBody>
      </p:sp>
      <p:sp>
        <p:nvSpPr>
          <p:cNvPr id="19" name="Shape 17"/>
          <p:cNvSpPr/>
          <p:nvPr/>
        </p:nvSpPr>
        <p:spPr>
          <a:xfrm>
            <a:off x="4538472" y="1371600"/>
            <a:ext cx="411480" cy="411480"/>
          </a:xfrm>
          <a:prstGeom prst="ellipse">
            <a:avLst/>
          </a:prstGeom>
          <a:solidFill>
            <a:srgbClr val="1F3864"/>
          </a:solidFill>
          <a:ln/>
        </p:spPr>
        <p:txBody>
          <a:bodyPr/>
          <a:lstStyle/>
          <a:p>
            <a:endParaRPr lang="en-US" sz="1600"/>
          </a:p>
        </p:txBody>
      </p:sp>
      <p:sp>
        <p:nvSpPr>
          <p:cNvPr id="20" name="Text 18"/>
          <p:cNvSpPr/>
          <p:nvPr/>
        </p:nvSpPr>
        <p:spPr>
          <a:xfrm>
            <a:off x="4538472"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4511040"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Students Enrol</a:t>
            </a:r>
            <a:endParaRPr lang="en-US" sz="1600" dirty="0"/>
          </a:p>
        </p:txBody>
      </p:sp>
      <p:sp>
        <p:nvSpPr>
          <p:cNvPr id="22" name="Text 20"/>
          <p:cNvSpPr/>
          <p:nvPr/>
        </p:nvSpPr>
        <p:spPr>
          <a:xfrm>
            <a:off x="4511040"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Students log in (or join with a class code) and see their courses and to-do list.</a:t>
            </a:r>
            <a:endParaRPr lang="en-US" sz="1600" dirty="0"/>
          </a:p>
        </p:txBody>
      </p:sp>
      <p:sp>
        <p:nvSpPr>
          <p:cNvPr id="23" name="Shape 21"/>
          <p:cNvSpPr/>
          <p:nvPr/>
        </p:nvSpPr>
        <p:spPr>
          <a:xfrm>
            <a:off x="5943600" y="2560320"/>
            <a:ext cx="274320" cy="274320"/>
          </a:xfrm>
          <a:prstGeom prst="rightArrow">
            <a:avLst/>
          </a:prstGeom>
          <a:solidFill>
            <a:srgbClr val="B8860B"/>
          </a:solidFill>
          <a:ln/>
        </p:spPr>
        <p:txBody>
          <a:bodyPr/>
          <a:lstStyle/>
          <a:p>
            <a:endParaRPr lang="en-US" sz="1600"/>
          </a:p>
        </p:txBody>
      </p:sp>
      <p:sp>
        <p:nvSpPr>
          <p:cNvPr id="24" name="Shape 22"/>
          <p:cNvSpPr/>
          <p:nvPr/>
        </p:nvSpPr>
        <p:spPr>
          <a:xfrm>
            <a:off x="6327648" y="1234440"/>
            <a:ext cx="1432560" cy="2926080"/>
          </a:xfrm>
          <a:prstGeom prst="roundRect">
            <a:avLst>
              <a:gd name="adj" fmla="val 5106"/>
            </a:avLst>
          </a:prstGeom>
          <a:solidFill>
            <a:srgbClr val="FDF3E3"/>
          </a:solidFill>
          <a:ln w="12700">
            <a:solidFill>
              <a:srgbClr val="DCE1EA"/>
            </a:solidFill>
            <a:prstDash val="solid"/>
          </a:ln>
        </p:spPr>
        <p:txBody>
          <a:bodyPr/>
          <a:lstStyle/>
          <a:p>
            <a:endParaRPr lang="en-US" sz="1600"/>
          </a:p>
        </p:txBody>
      </p:sp>
      <p:sp>
        <p:nvSpPr>
          <p:cNvPr id="25" name="Shape 23"/>
          <p:cNvSpPr/>
          <p:nvPr/>
        </p:nvSpPr>
        <p:spPr>
          <a:xfrm>
            <a:off x="6464808" y="1371600"/>
            <a:ext cx="411480" cy="411480"/>
          </a:xfrm>
          <a:prstGeom prst="ellipse">
            <a:avLst/>
          </a:prstGeom>
          <a:solidFill>
            <a:srgbClr val="1F3864"/>
          </a:solidFill>
          <a:ln/>
        </p:spPr>
        <p:txBody>
          <a:bodyPr/>
          <a:lstStyle/>
          <a:p>
            <a:endParaRPr lang="en-US" sz="1600"/>
          </a:p>
        </p:txBody>
      </p:sp>
      <p:sp>
        <p:nvSpPr>
          <p:cNvPr id="26" name="Text 24"/>
          <p:cNvSpPr/>
          <p:nvPr/>
        </p:nvSpPr>
        <p:spPr>
          <a:xfrm>
            <a:off x="6464808"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6437376"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Learn &amp; Participate</a:t>
            </a:r>
            <a:endParaRPr lang="en-US" sz="1600" dirty="0"/>
          </a:p>
        </p:txBody>
      </p:sp>
      <p:sp>
        <p:nvSpPr>
          <p:cNvPr id="28" name="Text 26"/>
          <p:cNvSpPr/>
          <p:nvPr/>
        </p:nvSpPr>
        <p:spPr>
          <a:xfrm>
            <a:off x="6437376"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They read, watch, discuss, and take quizzes at their own pace or by schedule.</a:t>
            </a:r>
            <a:endParaRPr lang="en-US" sz="1600" dirty="0"/>
          </a:p>
        </p:txBody>
      </p:sp>
      <p:sp>
        <p:nvSpPr>
          <p:cNvPr id="29" name="Shape 27"/>
          <p:cNvSpPr/>
          <p:nvPr/>
        </p:nvSpPr>
        <p:spPr>
          <a:xfrm>
            <a:off x="7869936" y="2560320"/>
            <a:ext cx="274320" cy="274320"/>
          </a:xfrm>
          <a:prstGeom prst="rightArrow">
            <a:avLst/>
          </a:prstGeom>
          <a:solidFill>
            <a:srgbClr val="B8860B"/>
          </a:solidFill>
          <a:ln/>
        </p:spPr>
        <p:txBody>
          <a:bodyPr/>
          <a:lstStyle/>
          <a:p>
            <a:endParaRPr lang="en-US" sz="1600"/>
          </a:p>
        </p:txBody>
      </p:sp>
      <p:sp>
        <p:nvSpPr>
          <p:cNvPr id="30" name="Shape 28"/>
          <p:cNvSpPr/>
          <p:nvPr/>
        </p:nvSpPr>
        <p:spPr>
          <a:xfrm>
            <a:off x="8253984" y="1234440"/>
            <a:ext cx="1432560" cy="2926080"/>
          </a:xfrm>
          <a:prstGeom prst="roundRect">
            <a:avLst>
              <a:gd name="adj" fmla="val 5106"/>
            </a:avLst>
          </a:prstGeom>
          <a:solidFill>
            <a:srgbClr val="E8EEF9"/>
          </a:solidFill>
          <a:ln w="12700">
            <a:solidFill>
              <a:srgbClr val="DCE1EA"/>
            </a:solidFill>
            <a:prstDash val="solid"/>
          </a:ln>
        </p:spPr>
        <p:txBody>
          <a:bodyPr/>
          <a:lstStyle/>
          <a:p>
            <a:endParaRPr lang="en-US" sz="1600"/>
          </a:p>
        </p:txBody>
      </p:sp>
      <p:sp>
        <p:nvSpPr>
          <p:cNvPr id="31" name="Shape 29"/>
          <p:cNvSpPr/>
          <p:nvPr/>
        </p:nvSpPr>
        <p:spPr>
          <a:xfrm>
            <a:off x="8391144" y="1371600"/>
            <a:ext cx="411480" cy="411480"/>
          </a:xfrm>
          <a:prstGeom prst="ellipse">
            <a:avLst/>
          </a:prstGeom>
          <a:solidFill>
            <a:srgbClr val="1F3864"/>
          </a:solidFill>
          <a:ln/>
        </p:spPr>
        <p:txBody>
          <a:bodyPr/>
          <a:lstStyle/>
          <a:p>
            <a:endParaRPr lang="en-US" sz="1600"/>
          </a:p>
        </p:txBody>
      </p:sp>
      <p:sp>
        <p:nvSpPr>
          <p:cNvPr id="32" name="Text 30"/>
          <p:cNvSpPr/>
          <p:nvPr/>
        </p:nvSpPr>
        <p:spPr>
          <a:xfrm>
            <a:off x="8391144"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3" name="Text 31"/>
          <p:cNvSpPr/>
          <p:nvPr/>
        </p:nvSpPr>
        <p:spPr>
          <a:xfrm>
            <a:off x="8363712"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Submit &amp; Grade</a:t>
            </a:r>
            <a:endParaRPr lang="en-US" sz="1600" dirty="0"/>
          </a:p>
        </p:txBody>
      </p:sp>
      <p:sp>
        <p:nvSpPr>
          <p:cNvPr id="34" name="Text 32"/>
          <p:cNvSpPr/>
          <p:nvPr/>
        </p:nvSpPr>
        <p:spPr>
          <a:xfrm>
            <a:off x="8363712"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Work is uploaded; the teacher marks it using rubrics or automatic scoring.</a:t>
            </a:r>
            <a:endParaRPr lang="en-US" sz="1600" dirty="0"/>
          </a:p>
        </p:txBody>
      </p:sp>
      <p:sp>
        <p:nvSpPr>
          <p:cNvPr id="35" name="Shape 33"/>
          <p:cNvSpPr/>
          <p:nvPr/>
        </p:nvSpPr>
        <p:spPr>
          <a:xfrm>
            <a:off x="9796272" y="2560320"/>
            <a:ext cx="274320" cy="274320"/>
          </a:xfrm>
          <a:prstGeom prst="rightArrow">
            <a:avLst/>
          </a:prstGeom>
          <a:solidFill>
            <a:srgbClr val="B8860B"/>
          </a:solidFill>
          <a:ln/>
        </p:spPr>
        <p:txBody>
          <a:bodyPr/>
          <a:lstStyle/>
          <a:p>
            <a:endParaRPr lang="en-US" sz="1600"/>
          </a:p>
        </p:txBody>
      </p:sp>
      <p:sp>
        <p:nvSpPr>
          <p:cNvPr id="36" name="Shape 34"/>
          <p:cNvSpPr/>
          <p:nvPr/>
        </p:nvSpPr>
        <p:spPr>
          <a:xfrm>
            <a:off x="10180320" y="1234440"/>
            <a:ext cx="1432560" cy="2926080"/>
          </a:xfrm>
          <a:prstGeom prst="roundRect">
            <a:avLst>
              <a:gd name="adj" fmla="val 5106"/>
            </a:avLst>
          </a:prstGeom>
          <a:solidFill>
            <a:srgbClr val="FDF3E3"/>
          </a:solidFill>
          <a:ln w="12700">
            <a:solidFill>
              <a:srgbClr val="DCE1EA"/>
            </a:solidFill>
            <a:prstDash val="solid"/>
          </a:ln>
        </p:spPr>
        <p:txBody>
          <a:bodyPr/>
          <a:lstStyle/>
          <a:p>
            <a:endParaRPr lang="en-US" sz="1600"/>
          </a:p>
        </p:txBody>
      </p:sp>
      <p:sp>
        <p:nvSpPr>
          <p:cNvPr id="37" name="Shape 35"/>
          <p:cNvSpPr/>
          <p:nvPr/>
        </p:nvSpPr>
        <p:spPr>
          <a:xfrm>
            <a:off x="10317480" y="1371600"/>
            <a:ext cx="411480" cy="411480"/>
          </a:xfrm>
          <a:prstGeom prst="ellipse">
            <a:avLst/>
          </a:prstGeom>
          <a:solidFill>
            <a:srgbClr val="1F3864"/>
          </a:solidFill>
          <a:ln/>
        </p:spPr>
        <p:txBody>
          <a:bodyPr/>
          <a:lstStyle/>
          <a:p>
            <a:endParaRPr lang="en-US" sz="1600"/>
          </a:p>
        </p:txBody>
      </p:sp>
      <p:sp>
        <p:nvSpPr>
          <p:cNvPr id="38" name="Text 36"/>
          <p:cNvSpPr/>
          <p:nvPr/>
        </p:nvSpPr>
        <p:spPr>
          <a:xfrm>
            <a:off x="10317480"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9" name="Text 37"/>
          <p:cNvSpPr/>
          <p:nvPr/>
        </p:nvSpPr>
        <p:spPr>
          <a:xfrm>
            <a:off x="10290048"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Feedback &amp; Insight</a:t>
            </a:r>
            <a:endParaRPr lang="en-US" sz="1600" dirty="0"/>
          </a:p>
        </p:txBody>
      </p:sp>
      <p:sp>
        <p:nvSpPr>
          <p:cNvPr id="40" name="Text 38"/>
          <p:cNvSpPr/>
          <p:nvPr/>
        </p:nvSpPr>
        <p:spPr>
          <a:xfrm>
            <a:off x="10290048"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Students see grades and comments; reports show progress for everyone.</a:t>
            </a:r>
            <a:endParaRPr lang="en-US" sz="1600" dirty="0"/>
          </a:p>
        </p:txBody>
      </p:sp>
      <p:sp>
        <p:nvSpPr>
          <p:cNvPr id="41" name="Shape 39"/>
          <p:cNvSpPr/>
          <p:nvPr/>
        </p:nvSpPr>
        <p:spPr>
          <a:xfrm>
            <a:off x="548640" y="4434840"/>
            <a:ext cx="3566160" cy="1325880"/>
          </a:xfrm>
          <a:prstGeom prst="roundRect">
            <a:avLst>
              <a:gd name="adj" fmla="val 5517"/>
            </a:avLst>
          </a:prstGeom>
          <a:solidFill>
            <a:srgbClr val="E8EEF9"/>
          </a:solidFill>
          <a:ln w="12700">
            <a:solidFill>
              <a:srgbClr val="DCE1EA"/>
            </a:solidFill>
            <a:prstDash val="solid"/>
          </a:ln>
        </p:spPr>
        <p:txBody>
          <a:bodyPr/>
          <a:lstStyle/>
          <a:p>
            <a:endParaRPr lang="en-US" sz="1600"/>
          </a:p>
        </p:txBody>
      </p:sp>
      <p:sp>
        <p:nvSpPr>
          <p:cNvPr id="42" name="Text 40"/>
          <p:cNvSpPr/>
          <p:nvPr/>
        </p:nvSpPr>
        <p:spPr>
          <a:xfrm>
            <a:off x="731520" y="454456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Behind the scenes</a:t>
            </a:r>
            <a:endParaRPr lang="en-US" sz="1600" dirty="0"/>
          </a:p>
        </p:txBody>
      </p:sp>
      <p:sp>
        <p:nvSpPr>
          <p:cNvPr id="43" name="Text 41"/>
          <p:cNvSpPr/>
          <p:nvPr/>
        </p:nvSpPr>
        <p:spPr>
          <a:xfrm>
            <a:off x="731520" y="487375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Content and records live on a server (the institution’s or the vendor’s cloud) and are opened through a web browser or mobile app.</a:t>
            </a:r>
            <a:endParaRPr lang="en-US" sz="1600" dirty="0"/>
          </a:p>
        </p:txBody>
      </p:sp>
      <p:sp>
        <p:nvSpPr>
          <p:cNvPr id="44" name="Shape 42"/>
          <p:cNvSpPr/>
          <p:nvPr/>
        </p:nvSpPr>
        <p:spPr>
          <a:xfrm>
            <a:off x="4297680" y="4434840"/>
            <a:ext cx="3566160" cy="1325880"/>
          </a:xfrm>
          <a:prstGeom prst="roundRect">
            <a:avLst>
              <a:gd name="adj" fmla="val 5517"/>
            </a:avLst>
          </a:prstGeom>
          <a:solidFill>
            <a:srgbClr val="FDF3E3"/>
          </a:solidFill>
          <a:ln w="12700">
            <a:solidFill>
              <a:srgbClr val="DCE1EA"/>
            </a:solidFill>
            <a:prstDash val="solid"/>
          </a:ln>
        </p:spPr>
        <p:txBody>
          <a:bodyPr/>
          <a:lstStyle/>
          <a:p>
            <a:endParaRPr lang="en-US" sz="1600"/>
          </a:p>
        </p:txBody>
      </p:sp>
      <p:sp>
        <p:nvSpPr>
          <p:cNvPr id="45" name="Text 43"/>
          <p:cNvSpPr/>
          <p:nvPr/>
        </p:nvSpPr>
        <p:spPr>
          <a:xfrm>
            <a:off x="4480560" y="454456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Why it works anywhere</a:t>
            </a:r>
            <a:endParaRPr lang="en-US" sz="1600" dirty="0"/>
          </a:p>
        </p:txBody>
      </p:sp>
      <p:sp>
        <p:nvSpPr>
          <p:cNvPr id="46" name="Text 44"/>
          <p:cNvSpPr/>
          <p:nvPr/>
        </p:nvSpPr>
        <p:spPr>
          <a:xfrm>
            <a:off x="4480560" y="487375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Because the LMS runs over the internet, a student only needs a device and a connection — at home, in a hostel, or on a phone.</a:t>
            </a:r>
            <a:endParaRPr lang="en-US" sz="1600" dirty="0"/>
          </a:p>
        </p:txBody>
      </p:sp>
      <p:sp>
        <p:nvSpPr>
          <p:cNvPr id="47" name="Shape 45"/>
          <p:cNvSpPr/>
          <p:nvPr/>
        </p:nvSpPr>
        <p:spPr>
          <a:xfrm>
            <a:off x="8046720" y="4434840"/>
            <a:ext cx="3566160" cy="1325880"/>
          </a:xfrm>
          <a:prstGeom prst="roundRect">
            <a:avLst>
              <a:gd name="adj" fmla="val 5517"/>
            </a:avLst>
          </a:prstGeom>
          <a:solidFill>
            <a:srgbClr val="E8EEF9"/>
          </a:solidFill>
          <a:ln w="12700">
            <a:solidFill>
              <a:srgbClr val="DCE1EA"/>
            </a:solidFill>
            <a:prstDash val="solid"/>
          </a:ln>
        </p:spPr>
        <p:txBody>
          <a:bodyPr/>
          <a:lstStyle/>
          <a:p>
            <a:endParaRPr lang="en-US" sz="1600"/>
          </a:p>
        </p:txBody>
      </p:sp>
      <p:sp>
        <p:nvSpPr>
          <p:cNvPr id="48" name="Text 46"/>
          <p:cNvSpPr/>
          <p:nvPr/>
        </p:nvSpPr>
        <p:spPr>
          <a:xfrm>
            <a:off x="8229600" y="454456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Data you can trust</a:t>
            </a:r>
            <a:endParaRPr lang="en-US" sz="1600" dirty="0"/>
          </a:p>
        </p:txBody>
      </p:sp>
      <p:sp>
        <p:nvSpPr>
          <p:cNvPr id="49" name="Text 47"/>
          <p:cNvSpPr/>
          <p:nvPr/>
        </p:nvSpPr>
        <p:spPr>
          <a:xfrm>
            <a:off x="8229600" y="487375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Every submission is time-stamped and every grade is stored, so deadlines and marks are transparent for both sides.</a:t>
            </a:r>
            <a:endParaRPr lang="en-US" sz="1600" dirty="0"/>
          </a:p>
        </p:txBody>
      </p:sp>
      <p:sp>
        <p:nvSpPr>
          <p:cNvPr id="50" name="Text 48"/>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51" name="Text 49"/>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LMS FUNDAMENTALS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Types of LMS &amp; How They Are Delivered</a:t>
            </a:r>
            <a:endParaRPr lang="en-US" sz="2400" dirty="0"/>
          </a:p>
        </p:txBody>
      </p:sp>
      <p:sp>
        <p:nvSpPr>
          <p:cNvPr id="6" name="Shape 4"/>
          <p:cNvSpPr/>
          <p:nvPr/>
        </p:nvSpPr>
        <p:spPr>
          <a:xfrm>
            <a:off x="548640" y="114300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Open-Source LMS (e.g. Moodle)</a:t>
            </a:r>
            <a:endParaRPr lang="en-US"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Free software that an institution installs on its own server and can modify. Maximum control and customization, but needs technical staff.</a:t>
            </a:r>
            <a:endParaRPr lang="en-US" sz="1600" dirty="0"/>
          </a:p>
        </p:txBody>
      </p:sp>
      <p:sp>
        <p:nvSpPr>
          <p:cNvPr id="9" name="Shape 7"/>
          <p:cNvSpPr/>
          <p:nvPr/>
        </p:nvSpPr>
        <p:spPr>
          <a:xfrm>
            <a:off x="617220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Commercial Cloud LMS (e.g. Canvas)</a:t>
            </a:r>
            <a:endParaRPr lang="en-US"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The vendor hosts, secures, and updates the system for a subscription fee. Less maintenance, polished experience, less low-level control.</a:t>
            </a:r>
            <a:endParaRPr lang="en-US" sz="1600" dirty="0"/>
          </a:p>
        </p:txBody>
      </p:sp>
      <p:sp>
        <p:nvSpPr>
          <p:cNvPr id="12" name="Shape 10"/>
          <p:cNvSpPr/>
          <p:nvPr/>
        </p:nvSpPr>
        <p:spPr>
          <a:xfrm>
            <a:off x="548640" y="288036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Lightweight Classroom Tools (e.g. Google Classroom)</a:t>
            </a:r>
            <a:endParaRPr lang="en-US"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Free, quick-to-start tools tied to an existing account system. Ideal for simple class management, with fewer advanced course-design features.</a:t>
            </a:r>
            <a:endParaRPr lang="en-US" sz="1600" dirty="0"/>
          </a:p>
        </p:txBody>
      </p:sp>
      <p:sp>
        <p:nvSpPr>
          <p:cNvPr id="15" name="Shape 13"/>
          <p:cNvSpPr/>
          <p:nvPr/>
        </p:nvSpPr>
        <p:spPr>
          <a:xfrm>
            <a:off x="617220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Self-Hosted vs Cloud-Hosted</a:t>
            </a:r>
            <a:endParaRPr lang="en-US"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Self-hosted = you run it (control, responsibility). Cloud-hosted = vendor runs it (convenience, recurring cost). Both are accessed through a browser.</a:t>
            </a:r>
            <a:endParaRPr lang="en-US" sz="1600" dirty="0"/>
          </a:p>
        </p:txBody>
      </p:sp>
      <p:sp>
        <p:nvSpPr>
          <p:cNvPr id="18" name="Shape 16"/>
          <p:cNvSpPr/>
          <p:nvPr/>
        </p:nvSpPr>
        <p:spPr>
          <a:xfrm>
            <a:off x="548640" y="461772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Standards &amp; Integrations</a:t>
            </a:r>
            <a:endParaRPr lang="en-US"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Common standards such as LTI and SCORM let an LMS connect to video meetings, plagiarism checkers, publishers’ content, and student information systems.</a:t>
            </a:r>
            <a:endParaRPr lang="en-US" sz="1600" dirty="0"/>
          </a:p>
        </p:txBody>
      </p:sp>
      <p:sp>
        <p:nvSpPr>
          <p:cNvPr id="21" name="Shape 19"/>
          <p:cNvSpPr/>
          <p:nvPr/>
        </p:nvSpPr>
        <p:spPr>
          <a:xfrm>
            <a:off x="617220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Mobile Access</a:t>
            </a:r>
            <a:endParaRPr lang="en-US"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Dedicated apps send deadline reminders and let students read, submit, and discuss from a phone — vital where laptops are scarce.</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LMS — MOODLE</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Moodle — The Course Page</a:t>
            </a:r>
            <a:endParaRPr lang="en-US" sz="2400" dirty="0"/>
          </a:p>
        </p:txBody>
      </p:sp>
      <p:pic>
        <p:nvPicPr>
          <p:cNvPr id="6" name="Image 0" descr="mockups/moodle_course.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WHAT IT IS</a:t>
            </a:r>
            <a:endParaRPr lang="en-US"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An open-source LMS (free to download and customize) used by universities, schools, and training organizations worldwide.</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HOW IT WORKS</a:t>
            </a:r>
            <a:endParaRPr lang="en-US" dirty="0"/>
          </a:p>
        </p:txBody>
      </p:sp>
      <p:sp>
        <p:nvSpPr>
          <p:cNvPr id="13" name="Text 10"/>
          <p:cNvSpPr/>
          <p:nvPr/>
        </p:nvSpPr>
        <p:spPr>
          <a:xfrm>
            <a:off x="8138160" y="2676144"/>
            <a:ext cx="3337560" cy="10525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Teachers add Resources (files, pages, links) and Activities (assignments, quizzes, forums) into weekly sections. Students log in at the institution’s Moodle site and see their courses on a Dashboard.</a:t>
            </a:r>
            <a:endParaRPr lang="en-US" sz="1600" dirty="0"/>
          </a:p>
        </p:txBody>
      </p:sp>
      <p:sp>
        <p:nvSpPr>
          <p:cNvPr id="14" name="Text 11"/>
          <p:cNvSpPr/>
          <p:nvPr/>
        </p:nvSpPr>
        <p:spPr>
          <a:xfrm>
            <a:off x="8138160" y="3911600"/>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KEY AREAS SHOWN</a:t>
            </a:r>
            <a:endParaRPr lang="en-US" dirty="0"/>
          </a:p>
        </p:txBody>
      </p:sp>
      <p:sp>
        <p:nvSpPr>
          <p:cNvPr id="15" name="Text 12"/>
          <p:cNvSpPr/>
          <p:nvPr/>
        </p:nvSpPr>
        <p:spPr>
          <a:xfrm>
            <a:off x="8138160" y="4204208"/>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Course index — jump to any week</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Topic section with activity icons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Timeline — upcoming deadlines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Completion progress bar</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LMS — MOODLE</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Moodle — Main Features</a:t>
            </a:r>
            <a:endParaRPr lang="en-US" sz="2400" dirty="0"/>
          </a:p>
        </p:txBody>
      </p:sp>
      <p:sp>
        <p:nvSpPr>
          <p:cNvPr id="6" name="Shape 4"/>
          <p:cNvSpPr/>
          <p:nvPr/>
        </p:nvSpPr>
        <p:spPr>
          <a:xfrm>
            <a:off x="548640" y="114300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Rich Activity Library</a:t>
            </a:r>
            <a:endParaRPr lang="en-US"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Assignment, Quiz, Forum, Workshop (peer assessment), Lesson, Glossary, Wiki, and H5P interactive content — all inside one course.</a:t>
            </a:r>
            <a:endParaRPr lang="en-US" sz="1600" dirty="0"/>
          </a:p>
        </p:txBody>
      </p:sp>
      <p:sp>
        <p:nvSpPr>
          <p:cNvPr id="9" name="Shape 7"/>
          <p:cNvSpPr/>
          <p:nvPr/>
        </p:nvSpPr>
        <p:spPr>
          <a:xfrm>
            <a:off x="617220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Question Bank &amp; Quizzes</a:t>
            </a:r>
            <a:endParaRPr lang="en-US"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Many question types, random questions from a bank, timers, automatic marking, and instant feedback to students.</a:t>
            </a:r>
            <a:endParaRPr lang="en-US" sz="1600" dirty="0"/>
          </a:p>
        </p:txBody>
      </p:sp>
      <p:sp>
        <p:nvSpPr>
          <p:cNvPr id="12" name="Shape 10"/>
          <p:cNvSpPr/>
          <p:nvPr/>
        </p:nvSpPr>
        <p:spPr>
          <a:xfrm>
            <a:off x="548640" y="288036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Gradebook &amp; Rubrics</a:t>
            </a:r>
            <a:endParaRPr lang="en-US"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Weighted grade categories, scales, and rubrics; results can be exported to a spreadsheet for records.</a:t>
            </a:r>
            <a:endParaRPr lang="en-US" sz="1600" dirty="0"/>
          </a:p>
        </p:txBody>
      </p:sp>
      <p:sp>
        <p:nvSpPr>
          <p:cNvPr id="15" name="Shape 13"/>
          <p:cNvSpPr/>
          <p:nvPr/>
        </p:nvSpPr>
        <p:spPr>
          <a:xfrm>
            <a:off x="617220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Completion &amp; Restricted Access</a:t>
            </a:r>
            <a:endParaRPr lang="en-US"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Lock a topic until earlier tasks are finished or a date arrives, guiding students through the course in order.</a:t>
            </a:r>
            <a:endParaRPr lang="en-US" sz="1600" dirty="0"/>
          </a:p>
        </p:txBody>
      </p:sp>
      <p:sp>
        <p:nvSpPr>
          <p:cNvPr id="18" name="Shape 16"/>
          <p:cNvSpPr/>
          <p:nvPr/>
        </p:nvSpPr>
        <p:spPr>
          <a:xfrm>
            <a:off x="548640" y="461772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Plugins &amp; Customization</a:t>
            </a:r>
            <a:endParaRPr lang="en-US"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Thousands of free plugins and themes; institutions can adapt the system to their branding and workflow.</a:t>
            </a:r>
            <a:endParaRPr lang="en-US" sz="1600" dirty="0"/>
          </a:p>
        </p:txBody>
      </p:sp>
      <p:sp>
        <p:nvSpPr>
          <p:cNvPr id="21" name="Shape 19"/>
          <p:cNvSpPr/>
          <p:nvPr/>
        </p:nvSpPr>
        <p:spPr>
          <a:xfrm>
            <a:off x="617220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Roles, Groups &amp; Badges</a:t>
            </a:r>
            <a:endParaRPr lang="en-US"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Fine-grained permissions, group work, and digital badges or certificates that reward achievement.</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LMS — MOODLE</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Moodle — Quizzes &amp; Gradebook</a:t>
            </a:r>
            <a:endParaRPr lang="en-US" sz="2400" dirty="0"/>
          </a:p>
        </p:txBody>
      </p:sp>
      <p:pic>
        <p:nvPicPr>
          <p:cNvPr id="6" name="Image 0" descr="mockups/moodle_quiz_grades.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TAKING A QUIZ</a:t>
            </a:r>
            <a:endParaRPr lang="en-US" dirty="0"/>
          </a:p>
        </p:txBody>
      </p:sp>
      <p:sp>
        <p:nvSpPr>
          <p:cNvPr id="11" name="Text 8"/>
          <p:cNvSpPr/>
          <p:nvPr/>
        </p:nvSpPr>
        <p:spPr>
          <a:xfrm>
            <a:off x="8138160" y="1554480"/>
            <a:ext cx="3337560" cy="8493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 countdown timer, a navigation panel, and automatic saving help students work through questions; the quiz can auto-submit when time ends.</a:t>
            </a:r>
            <a:endParaRPr lang="en-US" sz="1600" dirty="0"/>
          </a:p>
        </p:txBody>
      </p:sp>
      <p:sp>
        <p:nvSpPr>
          <p:cNvPr id="12" name="Text 9"/>
          <p:cNvSpPr/>
          <p:nvPr/>
        </p:nvSpPr>
        <p:spPr>
          <a:xfrm>
            <a:off x="8138160" y="2586736"/>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GRADER REPORT</a:t>
            </a:r>
            <a:endParaRPr lang="en-US" dirty="0"/>
          </a:p>
        </p:txBody>
      </p:sp>
      <p:sp>
        <p:nvSpPr>
          <p:cNvPr id="13" name="Text 10"/>
          <p:cNvSpPr/>
          <p:nvPr/>
        </p:nvSpPr>
        <p:spPr>
          <a:xfrm>
            <a:off x="8138160" y="2879344"/>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Teachers see every student’s marks in one table with class averages; students see only their own row.</a:t>
            </a:r>
            <a:endParaRPr lang="en-US" sz="1600" dirty="0"/>
          </a:p>
        </p:txBody>
      </p:sp>
      <p:sp>
        <p:nvSpPr>
          <p:cNvPr id="14" name="Text 11"/>
          <p:cNvSpPr/>
          <p:nvPr/>
        </p:nvSpPr>
        <p:spPr>
          <a:xfrm>
            <a:off x="8138160" y="3708400"/>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WHY IT MATTERS</a:t>
            </a:r>
            <a:endParaRPr lang="en-US" dirty="0"/>
          </a:p>
        </p:txBody>
      </p:sp>
      <p:sp>
        <p:nvSpPr>
          <p:cNvPr id="15" name="Text 12"/>
          <p:cNvSpPr/>
          <p:nvPr/>
        </p:nvSpPr>
        <p:spPr>
          <a:xfrm>
            <a:off x="8138160" y="4001008"/>
            <a:ext cx="3337560" cy="10017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Objective quizzes are marked instantly</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Question banks are reused every semester</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Marks are stored safely, not on paper</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LMS — MOODLE</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Moodle — Benefits, Best Fit &amp; Cautions</a:t>
            </a:r>
            <a:endParaRPr lang="en-US" sz="2400" dirty="0"/>
          </a:p>
        </p:txBody>
      </p:sp>
      <p:sp>
        <p:nvSpPr>
          <p:cNvPr id="6" name="Shape 4"/>
          <p:cNvSpPr/>
          <p:nvPr/>
        </p:nvSpPr>
        <p:spPr>
          <a:xfrm>
            <a:off x="548640" y="1188720"/>
            <a:ext cx="5394960" cy="1920240"/>
          </a:xfrm>
          <a:prstGeom prst="roundRect">
            <a:avLst>
              <a:gd name="adj" fmla="val 3810"/>
            </a:avLst>
          </a:prstGeom>
          <a:solidFill>
            <a:srgbClr val="EAF6EC"/>
          </a:solidFill>
          <a:ln w="12700">
            <a:solidFill>
              <a:srgbClr val="DCE1EA"/>
            </a:solidFill>
            <a:prstDash val="solid"/>
          </a:ln>
        </p:spPr>
        <p:txBody>
          <a:bodyPr/>
          <a:lstStyle/>
          <a:p>
            <a:endParaRPr lang="en-US" sz="1600"/>
          </a:p>
        </p:txBody>
      </p:sp>
      <p:sp>
        <p:nvSpPr>
          <p:cNvPr id="7" name="Text 5"/>
          <p:cNvSpPr/>
          <p:nvPr/>
        </p:nvSpPr>
        <p:spPr>
          <a:xfrm>
            <a:off x="777240" y="1325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Key Benefits</a:t>
            </a:r>
            <a:endParaRPr lang="en-US" dirty="0"/>
          </a:p>
        </p:txBody>
      </p:sp>
      <p:sp>
        <p:nvSpPr>
          <p:cNvPr id="8" name="Text 6"/>
          <p:cNvSpPr/>
          <p:nvPr/>
        </p:nvSpPr>
        <p:spPr>
          <a:xfrm>
            <a:off x="777240" y="16916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No license fee, a very large global community, support for many languages, and exceptional flexibility through plugins and settings.</a:t>
            </a:r>
            <a:endParaRPr lang="en-US" sz="1600" dirty="0"/>
          </a:p>
        </p:txBody>
      </p:sp>
      <p:sp>
        <p:nvSpPr>
          <p:cNvPr id="9" name="Shape 7"/>
          <p:cNvSpPr/>
          <p:nvPr/>
        </p:nvSpPr>
        <p:spPr>
          <a:xfrm>
            <a:off x="6172200" y="1188720"/>
            <a:ext cx="5394960" cy="1920240"/>
          </a:xfrm>
          <a:prstGeom prst="roundRect">
            <a:avLst>
              <a:gd name="adj" fmla="val 3810"/>
            </a:avLst>
          </a:prstGeom>
          <a:solidFill>
            <a:srgbClr val="FDF3E3"/>
          </a:solidFill>
          <a:ln w="12700">
            <a:solidFill>
              <a:srgbClr val="DCE1EA"/>
            </a:solidFill>
            <a:prstDash val="solid"/>
          </a:ln>
        </p:spPr>
        <p:txBody>
          <a:bodyPr/>
          <a:lstStyle/>
          <a:p>
            <a:endParaRPr lang="en-US" sz="1600"/>
          </a:p>
        </p:txBody>
      </p:sp>
      <p:sp>
        <p:nvSpPr>
          <p:cNvPr id="10" name="Text 8"/>
          <p:cNvSpPr/>
          <p:nvPr/>
        </p:nvSpPr>
        <p:spPr>
          <a:xfrm>
            <a:off x="6400800" y="1325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Best Fit</a:t>
            </a:r>
            <a:endParaRPr lang="en-US" dirty="0"/>
          </a:p>
        </p:txBody>
      </p:sp>
      <p:sp>
        <p:nvSpPr>
          <p:cNvPr id="11" name="Text 9"/>
          <p:cNvSpPr/>
          <p:nvPr/>
        </p:nvSpPr>
        <p:spPr>
          <a:xfrm>
            <a:off x="6400800" y="16916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Institutions that want full control over data, branding, and features — for example universities with their own IT team and servers.</a:t>
            </a:r>
            <a:endParaRPr lang="en-US" sz="1600" dirty="0"/>
          </a:p>
        </p:txBody>
      </p:sp>
      <p:sp>
        <p:nvSpPr>
          <p:cNvPr id="12" name="Shape 10"/>
          <p:cNvSpPr/>
          <p:nvPr/>
        </p:nvSpPr>
        <p:spPr>
          <a:xfrm>
            <a:off x="548640" y="3246120"/>
            <a:ext cx="5394960" cy="1920240"/>
          </a:xfrm>
          <a:prstGeom prst="roundRect">
            <a:avLst>
              <a:gd name="adj" fmla="val 3810"/>
            </a:avLst>
          </a:prstGeom>
          <a:solidFill>
            <a:srgbClr val="EAF6EC"/>
          </a:solidFill>
          <a:ln w="12700">
            <a:solidFill>
              <a:srgbClr val="DCE1EA"/>
            </a:solidFill>
            <a:prstDash val="solid"/>
          </a:ln>
        </p:spPr>
        <p:txBody>
          <a:bodyPr/>
          <a:lstStyle/>
          <a:p>
            <a:endParaRPr lang="en-US" sz="1600"/>
          </a:p>
        </p:txBody>
      </p:sp>
      <p:sp>
        <p:nvSpPr>
          <p:cNvPr id="13" name="Text 11"/>
          <p:cNvSpPr/>
          <p:nvPr/>
        </p:nvSpPr>
        <p:spPr>
          <a:xfrm>
            <a:off x="777240" y="33832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Things to Consider</a:t>
            </a:r>
            <a:endParaRPr lang="en-US" dirty="0"/>
          </a:p>
        </p:txBody>
      </p:sp>
      <p:sp>
        <p:nvSpPr>
          <p:cNvPr id="14" name="Text 12"/>
          <p:cNvSpPr/>
          <p:nvPr/>
        </p:nvSpPr>
        <p:spPr>
          <a:xfrm>
            <a:off x="777240" y="37490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Needs a server and technical administration (or paid cloud hosting). Without good setup the interface can feel dense to new users.</a:t>
            </a:r>
            <a:endParaRPr lang="en-US" sz="1600" dirty="0"/>
          </a:p>
        </p:txBody>
      </p:sp>
      <p:sp>
        <p:nvSpPr>
          <p:cNvPr id="15" name="Shape 13"/>
          <p:cNvSpPr/>
          <p:nvPr/>
        </p:nvSpPr>
        <p:spPr>
          <a:xfrm>
            <a:off x="6172200" y="3246120"/>
            <a:ext cx="5394960" cy="1920240"/>
          </a:xfrm>
          <a:prstGeom prst="roundRect">
            <a:avLst>
              <a:gd name="adj" fmla="val 3810"/>
            </a:avLst>
          </a:prstGeom>
          <a:solidFill>
            <a:srgbClr val="FDF3E3"/>
          </a:solidFill>
          <a:ln w="12700">
            <a:solidFill>
              <a:srgbClr val="DCE1EA"/>
            </a:solidFill>
            <a:prstDash val="solid"/>
          </a:ln>
        </p:spPr>
        <p:txBody>
          <a:bodyPr/>
          <a:lstStyle/>
          <a:p>
            <a:endParaRPr lang="en-US" sz="1600"/>
          </a:p>
        </p:txBody>
      </p:sp>
      <p:sp>
        <p:nvSpPr>
          <p:cNvPr id="16" name="Text 14"/>
          <p:cNvSpPr/>
          <p:nvPr/>
        </p:nvSpPr>
        <p:spPr>
          <a:xfrm>
            <a:off x="6400800" y="33832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Typical Users</a:t>
            </a:r>
            <a:endParaRPr lang="en-US" dirty="0"/>
          </a:p>
        </p:txBody>
      </p:sp>
      <p:sp>
        <p:nvSpPr>
          <p:cNvPr id="17" name="Text 15"/>
          <p:cNvSpPr/>
          <p:nvPr/>
        </p:nvSpPr>
        <p:spPr>
          <a:xfrm>
            <a:off x="6400800" y="37490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Universities, colleges, schools, NGOs, and corporate training teams around the world that value open-source software.</a:t>
            </a:r>
            <a:endParaRPr lang="en-US" sz="1600" dirty="0"/>
          </a:p>
        </p:txBody>
      </p:sp>
      <p:sp>
        <p:nvSpPr>
          <p:cNvPr id="18" name="Text 16"/>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9" name="Text 17"/>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LMS — CANVAS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Canvas — Dashboard &amp; Global Navigation</a:t>
            </a:r>
            <a:endParaRPr lang="en-US" sz="2400" dirty="0"/>
          </a:p>
        </p:txBody>
      </p:sp>
      <p:pic>
        <p:nvPicPr>
          <p:cNvPr id="6" name="Image 0" descr="mockups/canvas_dashboard.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WHAT IT IS</a:t>
            </a:r>
            <a:endParaRPr lang="en-US" dirty="0"/>
          </a:p>
        </p:txBody>
      </p:sp>
      <p:sp>
        <p:nvSpPr>
          <p:cNvPr id="11" name="Text 8"/>
          <p:cNvSpPr/>
          <p:nvPr/>
        </p:nvSpPr>
        <p:spPr>
          <a:xfrm>
            <a:off x="8138160" y="1554480"/>
            <a:ext cx="3337560" cy="8493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 cloud-based LMS made by Instructure. The vendor hosts and updates it; students simply open their institution’s Canvas web address or mobile app.</a:t>
            </a:r>
            <a:endParaRPr lang="en-US" sz="1600" dirty="0"/>
          </a:p>
        </p:txBody>
      </p:sp>
      <p:sp>
        <p:nvSpPr>
          <p:cNvPr id="12" name="Text 9"/>
          <p:cNvSpPr/>
          <p:nvPr/>
        </p:nvSpPr>
        <p:spPr>
          <a:xfrm>
            <a:off x="8138160" y="2586736"/>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DASHBOARD</a:t>
            </a:r>
            <a:endParaRPr lang="en-US" dirty="0"/>
          </a:p>
        </p:txBody>
      </p:sp>
      <p:sp>
        <p:nvSpPr>
          <p:cNvPr id="13" name="Text 10"/>
          <p:cNvSpPr/>
          <p:nvPr/>
        </p:nvSpPr>
        <p:spPr>
          <a:xfrm>
            <a:off x="8138160" y="2879344"/>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Colorful course cards open each course. The sidebar lists To Do items, Recent Feedback, and Coming Up deadlines.</a:t>
            </a:r>
            <a:endParaRPr lang="en-US" sz="1600" dirty="0"/>
          </a:p>
        </p:txBody>
      </p:sp>
      <p:sp>
        <p:nvSpPr>
          <p:cNvPr id="14" name="Text 11"/>
          <p:cNvSpPr/>
          <p:nvPr/>
        </p:nvSpPr>
        <p:spPr>
          <a:xfrm>
            <a:off x="8138160" y="3708400"/>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GLOBAL NAVIGATION (LEFT BAR)</a:t>
            </a:r>
            <a:endParaRPr lang="en-US" dirty="0"/>
          </a:p>
        </p:txBody>
      </p:sp>
      <p:sp>
        <p:nvSpPr>
          <p:cNvPr id="15" name="Text 12"/>
          <p:cNvSpPr/>
          <p:nvPr/>
        </p:nvSpPr>
        <p:spPr>
          <a:xfrm>
            <a:off x="8138160" y="4073578"/>
            <a:ext cx="3337560" cy="798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Account, Dashboard, Courses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Calendar and Inbox messaging</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History and Help</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LMS — CANVAS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Canvas — Modules &amp; Course Navigation</a:t>
            </a:r>
            <a:endParaRPr lang="en-US" sz="2400" dirty="0"/>
          </a:p>
        </p:txBody>
      </p:sp>
      <p:pic>
        <p:nvPicPr>
          <p:cNvPr id="6" name="Image 0" descr="mockups/canvas_modules.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HOW MODULES WORK</a:t>
            </a:r>
            <a:endParaRPr lang="en-US" dirty="0"/>
          </a:p>
        </p:txBody>
      </p:sp>
      <p:sp>
        <p:nvSpPr>
          <p:cNvPr id="11" name="Text 8"/>
          <p:cNvSpPr/>
          <p:nvPr/>
        </p:nvSpPr>
        <p:spPr>
          <a:xfrm>
            <a:off x="8138160" y="1554480"/>
            <a:ext cx="3337560" cy="8493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Teachers group content into sequential Modules (by week or unit). Each module holds pages, files, videos, quizzes, and assignments.</a:t>
            </a:r>
            <a:endParaRPr lang="en-US" sz="1600" dirty="0"/>
          </a:p>
        </p:txBody>
      </p:sp>
      <p:sp>
        <p:nvSpPr>
          <p:cNvPr id="12" name="Text 9"/>
          <p:cNvSpPr/>
          <p:nvPr/>
        </p:nvSpPr>
        <p:spPr>
          <a:xfrm>
            <a:off x="8138160" y="2586736"/>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REQUIREMENTS &amp; PREREQUISITES</a:t>
            </a:r>
            <a:endParaRPr lang="en-US" dirty="0"/>
          </a:p>
        </p:txBody>
      </p:sp>
      <p:sp>
        <p:nvSpPr>
          <p:cNvPr id="13" name="Text 10"/>
          <p:cNvSpPr/>
          <p:nvPr/>
        </p:nvSpPr>
        <p:spPr>
          <a:xfrm>
            <a:off x="8138160" y="2951914"/>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 module can stay locked until the previous one is completed, so students follow a clear learning path.</a:t>
            </a:r>
            <a:endParaRPr lang="en-US" sz="1600" dirty="0"/>
          </a:p>
        </p:txBody>
      </p:sp>
      <p:sp>
        <p:nvSpPr>
          <p:cNvPr id="14" name="Text 11"/>
          <p:cNvSpPr/>
          <p:nvPr/>
        </p:nvSpPr>
        <p:spPr>
          <a:xfrm>
            <a:off x="8138160" y="3708400"/>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STUDENT BENEFIT</a:t>
            </a:r>
            <a:endParaRPr lang="en-US" dirty="0"/>
          </a:p>
        </p:txBody>
      </p:sp>
      <p:sp>
        <p:nvSpPr>
          <p:cNvPr id="15" name="Text 12"/>
          <p:cNvSpPr/>
          <p:nvPr/>
        </p:nvSpPr>
        <p:spPr>
          <a:xfrm>
            <a:off x="8138160" y="4001008"/>
            <a:ext cx="3337560" cy="10017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Green check marks show progress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One predictable place for all content</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Course menu: Home, Assignments, Discussions, Grades, People</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LMS — CANVAS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Canvas — SpeedGrader &amp; Rubrics</a:t>
            </a:r>
            <a:endParaRPr lang="en-US" sz="2400" dirty="0"/>
          </a:p>
        </p:txBody>
      </p:sp>
      <p:pic>
        <p:nvPicPr>
          <p:cNvPr id="6" name="Image 0" descr="mockups/canvas_speedgrader.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SPEEDGRADER</a:t>
            </a:r>
            <a:endParaRPr lang="en-US"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Teachers open each submission in the browser, highlight text, add comments, and move quickly from student to student.</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RUBRICS</a:t>
            </a:r>
            <a:endParaRPr lang="en-US" dirty="0"/>
          </a:p>
        </p:txBody>
      </p:sp>
      <p:sp>
        <p:nvSpPr>
          <p:cNvPr id="13" name="Text 10"/>
          <p:cNvSpPr/>
          <p:nvPr/>
        </p:nvSpPr>
        <p:spPr>
          <a:xfrm>
            <a:off x="8138160" y="2676144"/>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Scores for each criterion add up automatically, which makes marking consistent and transparent.</a:t>
            </a:r>
            <a:endParaRPr lang="en-US" sz="1600" dirty="0"/>
          </a:p>
        </p:txBody>
      </p:sp>
      <p:sp>
        <p:nvSpPr>
          <p:cNvPr id="14" name="Text 11"/>
          <p:cNvSpPr/>
          <p:nvPr/>
        </p:nvSpPr>
        <p:spPr>
          <a:xfrm>
            <a:off x="8138160" y="3505200"/>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FEEDBACK</a:t>
            </a:r>
            <a:endParaRPr lang="en-US" dirty="0"/>
          </a:p>
        </p:txBody>
      </p:sp>
      <p:sp>
        <p:nvSpPr>
          <p:cNvPr id="15" name="Text 12"/>
          <p:cNvSpPr/>
          <p:nvPr/>
        </p:nvSpPr>
        <p:spPr>
          <a:xfrm>
            <a:off x="8138160" y="3797808"/>
            <a:ext cx="3337560" cy="8493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Written, audio, or video comments appear to the student as soon as the grade is submitted, helping them improve the next assignment.</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LMS — CANVAS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Canvas — Main Features &amp; Integrations</a:t>
            </a:r>
            <a:endParaRPr lang="en-US" sz="2400" dirty="0"/>
          </a:p>
        </p:txBody>
      </p:sp>
      <p:sp>
        <p:nvSpPr>
          <p:cNvPr id="6" name="Shape 4"/>
          <p:cNvSpPr/>
          <p:nvPr/>
        </p:nvSpPr>
        <p:spPr>
          <a:xfrm>
            <a:off x="548640" y="1143000"/>
            <a:ext cx="5394960" cy="1600200"/>
          </a:xfrm>
          <a:prstGeom prst="roundRect">
            <a:avLst>
              <a:gd name="adj" fmla="val 4571"/>
            </a:avLst>
          </a:prstGeom>
          <a:solidFill>
            <a:srgbClr val="FBEAEA"/>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Modules &amp; Mastery Paths</a:t>
            </a:r>
            <a:endParaRPr lang="en-US"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Sequenced content with prerequisites, and paths that adapt to a student’s performance on earlier work.</a:t>
            </a:r>
            <a:endParaRPr lang="en-US" sz="1600" dirty="0"/>
          </a:p>
        </p:txBody>
      </p:sp>
      <p:sp>
        <p:nvSpPr>
          <p:cNvPr id="9" name="Shape 7"/>
          <p:cNvSpPr/>
          <p:nvPr/>
        </p:nvSpPr>
        <p:spPr>
          <a:xfrm>
            <a:off x="617220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Calendar &amp; To-Do List</a:t>
            </a:r>
            <a:endParaRPr lang="en-US"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Every deadline from every course appears in one calendar and a personal to-do list, reducing missed submissions.</a:t>
            </a:r>
            <a:endParaRPr lang="en-US" sz="1600" dirty="0"/>
          </a:p>
        </p:txBody>
      </p:sp>
      <p:sp>
        <p:nvSpPr>
          <p:cNvPr id="12" name="Shape 10"/>
          <p:cNvSpPr/>
          <p:nvPr/>
        </p:nvSpPr>
        <p:spPr>
          <a:xfrm>
            <a:off x="548640" y="2880360"/>
            <a:ext cx="5394960" cy="1600200"/>
          </a:xfrm>
          <a:prstGeom prst="roundRect">
            <a:avLst>
              <a:gd name="adj" fmla="val 4571"/>
            </a:avLst>
          </a:prstGeom>
          <a:solidFill>
            <a:srgbClr val="FBEAEA"/>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Quizzes, Rubrics &amp; Gradebook</a:t>
            </a:r>
            <a:endParaRPr lang="en-US"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Quiz tools, reusable rubrics, and a flexible gradebook with comments and late-work policies.</a:t>
            </a:r>
            <a:endParaRPr lang="en-US" sz="1600" dirty="0"/>
          </a:p>
        </p:txBody>
      </p:sp>
      <p:sp>
        <p:nvSpPr>
          <p:cNvPr id="15" name="Shape 13"/>
          <p:cNvSpPr/>
          <p:nvPr/>
        </p:nvSpPr>
        <p:spPr>
          <a:xfrm>
            <a:off x="617220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Discussions &amp; Groups</a:t>
            </a:r>
            <a:endParaRPr lang="en-US"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Threaded class discussions and student groups with their own spaces for projects.</a:t>
            </a:r>
            <a:endParaRPr lang="en-US" sz="1600" dirty="0"/>
          </a:p>
        </p:txBody>
      </p:sp>
      <p:sp>
        <p:nvSpPr>
          <p:cNvPr id="18" name="Shape 16"/>
          <p:cNvSpPr/>
          <p:nvPr/>
        </p:nvSpPr>
        <p:spPr>
          <a:xfrm>
            <a:off x="548640" y="4617720"/>
            <a:ext cx="5394960" cy="1600200"/>
          </a:xfrm>
          <a:prstGeom prst="roundRect">
            <a:avLst>
              <a:gd name="adj" fmla="val 4571"/>
            </a:avLst>
          </a:prstGeom>
          <a:solidFill>
            <a:srgbClr val="FBEAEA"/>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Mobile Apps</a:t>
            </a:r>
            <a:endParaRPr lang="en-US"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Canvas Student and Canvas Teacher apps allow reading, submitting, grading, and notifications on a phone.</a:t>
            </a:r>
            <a:endParaRPr lang="en-US" sz="1600" dirty="0"/>
          </a:p>
        </p:txBody>
      </p:sp>
      <p:sp>
        <p:nvSpPr>
          <p:cNvPr id="21" name="Shape 19"/>
          <p:cNvSpPr/>
          <p:nvPr/>
        </p:nvSpPr>
        <p:spPr>
          <a:xfrm>
            <a:off x="617220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Integrations (LTI)</a:t>
            </a:r>
            <a:endParaRPr lang="en-US"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Connects to tools such as video meetings, Google Drive, Microsoft 365, and plagiarism checkers inside the course.</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2B4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sp>
        <p:nvSpPr>
          <p:cNvPr id="3" name="Text 1"/>
          <p:cNvSpPr/>
          <p:nvPr/>
        </p:nvSpPr>
        <p:spPr>
          <a:xfrm>
            <a:off x="0" y="1463040"/>
            <a:ext cx="12191695" cy="1188720"/>
          </a:xfrm>
          <a:prstGeom prst="rect">
            <a:avLst/>
          </a:prstGeom>
          <a:noFill/>
          <a:ln/>
        </p:spPr>
        <p:txBody>
          <a:bodyPr wrap="square" rtlCol="0" anchor="ctr"/>
          <a:lstStyle/>
          <a:p>
            <a:pPr marL="0" indent="0" algn="ctr">
              <a:buNone/>
            </a:pPr>
            <a:r>
              <a:rPr lang="en-US" sz="6000" dirty="0">
                <a:solidFill>
                  <a:srgbClr val="000000"/>
                </a:solidFill>
                <a:latin typeface="Calibri" pitchFamily="34" charset="0"/>
                <a:ea typeface="Calibri" pitchFamily="34" charset="-122"/>
                <a:cs typeface="Calibri" pitchFamily="34" charset="-120"/>
              </a:rPr>
              <a:t>☕</a:t>
            </a:r>
            <a:endParaRPr lang="en-US" sz="6000" dirty="0"/>
          </a:p>
        </p:txBody>
      </p:sp>
      <p:sp>
        <p:nvSpPr>
          <p:cNvPr id="4" name="Text 2"/>
          <p:cNvSpPr/>
          <p:nvPr/>
        </p:nvSpPr>
        <p:spPr>
          <a:xfrm>
            <a:off x="0" y="2743200"/>
            <a:ext cx="12191695" cy="548640"/>
          </a:xfrm>
          <a:prstGeom prst="rect">
            <a:avLst/>
          </a:prstGeom>
          <a:noFill/>
          <a:ln/>
        </p:spPr>
        <p:txBody>
          <a:bodyPr wrap="square" rtlCol="0" anchor="ctr"/>
          <a:lstStyle/>
          <a:p>
            <a:pPr marL="0" indent="0" algn="ctr">
              <a:buNone/>
            </a:pPr>
            <a:r>
              <a:rPr lang="en-US" sz="2000" b="1" kern="0" spc="400" dirty="0">
                <a:solidFill>
                  <a:srgbClr val="D8B84A"/>
                </a:solidFill>
                <a:latin typeface="Calibri" pitchFamily="34" charset="0"/>
                <a:ea typeface="Calibri" pitchFamily="34" charset="-122"/>
                <a:cs typeface="Calibri" pitchFamily="34" charset="-120"/>
              </a:rPr>
              <a:t>BREAK 1</a:t>
            </a:r>
            <a:endParaRPr lang="en-US" sz="2000" dirty="0"/>
          </a:p>
        </p:txBody>
      </p:sp>
      <p:sp>
        <p:nvSpPr>
          <p:cNvPr id="5" name="Text 3"/>
          <p:cNvSpPr/>
          <p:nvPr/>
        </p:nvSpPr>
        <p:spPr>
          <a:xfrm>
            <a:off x="0" y="3291840"/>
            <a:ext cx="12191695" cy="73152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15 Minutes</a:t>
            </a:r>
            <a:endParaRPr lang="en-US" sz="3600" dirty="0"/>
          </a:p>
        </p:txBody>
      </p:sp>
      <p:sp>
        <p:nvSpPr>
          <p:cNvPr id="6" name="Text 4"/>
          <p:cNvSpPr/>
          <p:nvPr/>
        </p:nvSpPr>
        <p:spPr>
          <a:xfrm>
            <a:off x="0" y="4114800"/>
            <a:ext cx="12191695" cy="457200"/>
          </a:xfrm>
          <a:prstGeom prst="rect">
            <a:avLst/>
          </a:prstGeom>
          <a:noFill/>
          <a:ln/>
        </p:spPr>
        <p:txBody>
          <a:bodyPr wrap="square" rtlCol="0" anchor="ctr"/>
          <a:lstStyle/>
          <a:p>
            <a:pPr marL="0" indent="0" algn="ctr">
              <a:buNone/>
            </a:pPr>
            <a:r>
              <a:rPr lang="en-US" sz="1600" i="1" dirty="0">
                <a:solidFill>
                  <a:srgbClr val="C7D0E0"/>
                </a:solidFill>
                <a:latin typeface="Calibri" pitchFamily="34" charset="0"/>
                <a:ea typeface="Calibri" pitchFamily="34" charset="-122"/>
                <a:cs typeface="Calibri" pitchFamily="34" charset="-120"/>
              </a:rPr>
              <a:t>Back at it: Google Classroom, LMS comparison, and then the Week 6 recap</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LMS — GOOGLE CLASSROOM</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Google Classroom — The Stream</a:t>
            </a:r>
            <a:endParaRPr lang="en-US" sz="2400" dirty="0"/>
          </a:p>
        </p:txBody>
      </p:sp>
      <p:pic>
        <p:nvPicPr>
          <p:cNvPr id="6" name="Image 0" descr="mockups/gclass_stream.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WHAT IT IS</a:t>
            </a:r>
            <a:endParaRPr lang="en-US"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 free, simple class-management tool from Google that works with Google accounts. Students join using a class code.</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THE STREAM</a:t>
            </a:r>
            <a:endParaRPr lang="en-US" dirty="0"/>
          </a:p>
        </p:txBody>
      </p:sp>
      <p:sp>
        <p:nvSpPr>
          <p:cNvPr id="13" name="Text 10"/>
          <p:cNvSpPr/>
          <p:nvPr/>
        </p:nvSpPr>
        <p:spPr>
          <a:xfrm>
            <a:off x="8138160" y="2676144"/>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 feed of announcements, new assignments, and class comments. The Upcoming box shows what is due soon.</a:t>
            </a:r>
            <a:endParaRPr lang="en-US" sz="1600" dirty="0"/>
          </a:p>
        </p:txBody>
      </p:sp>
      <p:sp>
        <p:nvSpPr>
          <p:cNvPr id="14" name="Text 11"/>
          <p:cNvSpPr/>
          <p:nvPr/>
        </p:nvSpPr>
        <p:spPr>
          <a:xfrm>
            <a:off x="8138160" y="3505200"/>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WORKS WITH GOOGLE TOOLS</a:t>
            </a:r>
            <a:endParaRPr lang="en-US" dirty="0"/>
          </a:p>
        </p:txBody>
      </p:sp>
      <p:sp>
        <p:nvSpPr>
          <p:cNvPr id="15" name="Text 12"/>
          <p:cNvSpPr/>
          <p:nvPr/>
        </p:nvSpPr>
        <p:spPr>
          <a:xfrm>
            <a:off x="8138160" y="3797808"/>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Docs, Slides, and Forms for work</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Drive for storing files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Meet for live lessons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Calendar for deadlines</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LMS — GOOGLE CLASSROOM</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Google Classroom — Classwork &amp; Grading</a:t>
            </a:r>
            <a:endParaRPr lang="en-US" sz="2400" dirty="0"/>
          </a:p>
        </p:txBody>
      </p:sp>
      <p:pic>
        <p:nvPicPr>
          <p:cNvPr id="6" name="Image 0" descr="mockups/gclass_classwork.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CLASSWORK TAB</a:t>
            </a:r>
            <a:endParaRPr lang="en-US"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Teachers organize work under Topics and post Assignments, Quiz assignments (Google Forms), Questions, and Materials.</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STUDENT WORK</a:t>
            </a:r>
            <a:endParaRPr lang="en-US" dirty="0"/>
          </a:p>
        </p:txBody>
      </p:sp>
      <p:sp>
        <p:nvSpPr>
          <p:cNvPr id="13" name="Text 10"/>
          <p:cNvSpPr/>
          <p:nvPr/>
        </p:nvSpPr>
        <p:spPr>
          <a:xfrm>
            <a:off x="8138160" y="2676144"/>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Each submission shows a status — Assigned, Turned in, Turned in late, or Returned — with counts for the whole class.</a:t>
            </a:r>
            <a:endParaRPr lang="en-US" sz="1600" dirty="0"/>
          </a:p>
        </p:txBody>
      </p:sp>
      <p:sp>
        <p:nvSpPr>
          <p:cNvPr id="14" name="Text 11"/>
          <p:cNvSpPr/>
          <p:nvPr/>
        </p:nvSpPr>
        <p:spPr>
          <a:xfrm>
            <a:off x="8138160" y="3505200"/>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GRADING</a:t>
            </a:r>
            <a:endParaRPr lang="en-US" dirty="0"/>
          </a:p>
        </p:txBody>
      </p:sp>
      <p:sp>
        <p:nvSpPr>
          <p:cNvPr id="15" name="Text 12"/>
          <p:cNvSpPr/>
          <p:nvPr/>
        </p:nvSpPr>
        <p:spPr>
          <a:xfrm>
            <a:off x="8138160" y="3797808"/>
            <a:ext cx="3337560" cy="798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Add points and private comments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Return work to the student</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Marks flow into the Grades tab</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LMS — GOOGLE CLASSROOM</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Google Classroom — Facilities &amp; Strengths</a:t>
            </a:r>
            <a:endParaRPr lang="en-US" sz="2400" dirty="0"/>
          </a:p>
        </p:txBody>
      </p:sp>
      <p:sp>
        <p:nvSpPr>
          <p:cNvPr id="6" name="Shape 4"/>
          <p:cNvSpPr/>
          <p:nvPr/>
        </p:nvSpPr>
        <p:spPr>
          <a:xfrm>
            <a:off x="548640" y="114300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Google Meet Integration</a:t>
            </a:r>
            <a:endParaRPr lang="en-US"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Each class can include a Meet link, so live lessons start from the same place as the assignments.</a:t>
            </a:r>
            <a:endParaRPr lang="en-US" sz="1600" dirty="0"/>
          </a:p>
        </p:txBody>
      </p:sp>
      <p:sp>
        <p:nvSpPr>
          <p:cNvPr id="9" name="Shape 7"/>
          <p:cNvSpPr/>
          <p:nvPr/>
        </p:nvSpPr>
        <p:spPr>
          <a:xfrm>
            <a:off x="6172200" y="114300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Drive &amp; Docs Collaboration</a:t>
            </a:r>
            <a:endParaRPr lang="en-US"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 personal copy of a Doc is created for each student; the teacher can comment on drafts as students write.</a:t>
            </a:r>
            <a:endParaRPr lang="en-US" sz="1600" dirty="0"/>
          </a:p>
        </p:txBody>
      </p:sp>
      <p:sp>
        <p:nvSpPr>
          <p:cNvPr id="12" name="Shape 10"/>
          <p:cNvSpPr/>
          <p:nvPr/>
        </p:nvSpPr>
        <p:spPr>
          <a:xfrm>
            <a:off x="548640" y="288036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Quizzes with Google Forms</a:t>
            </a:r>
            <a:endParaRPr lang="en-US"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Auto-graded quizzes, with answers and scores flowing back to the Classroom grade list.</a:t>
            </a:r>
            <a:endParaRPr lang="en-US" sz="1600" dirty="0"/>
          </a:p>
        </p:txBody>
      </p:sp>
      <p:sp>
        <p:nvSpPr>
          <p:cNvPr id="15" name="Shape 13"/>
          <p:cNvSpPr/>
          <p:nvPr/>
        </p:nvSpPr>
        <p:spPr>
          <a:xfrm>
            <a:off x="6172200" y="288036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Rubrics &amp; Originality Reports</a:t>
            </a:r>
            <a:endParaRPr lang="en-US"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Rubrics help consistent marking; originality (plagiarism) checks are available in certain Google Workspace for Education editions.</a:t>
            </a:r>
            <a:endParaRPr lang="en-US" sz="1600" dirty="0"/>
          </a:p>
        </p:txBody>
      </p:sp>
      <p:sp>
        <p:nvSpPr>
          <p:cNvPr id="18" name="Shape 16"/>
          <p:cNvSpPr/>
          <p:nvPr/>
        </p:nvSpPr>
        <p:spPr>
          <a:xfrm>
            <a:off x="548640" y="461772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Guardian Summaries</a:t>
            </a:r>
            <a:endParaRPr lang="en-US"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Parents or guardians can receive email summaries of upcoming and missing work when the school enables it.</a:t>
            </a:r>
            <a:endParaRPr lang="en-US" sz="1600" dirty="0"/>
          </a:p>
        </p:txBody>
      </p:sp>
      <p:sp>
        <p:nvSpPr>
          <p:cNvPr id="21" name="Shape 19"/>
          <p:cNvSpPr/>
          <p:nvPr/>
        </p:nvSpPr>
        <p:spPr>
          <a:xfrm>
            <a:off x="6172200" y="461772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Free &amp; Quick to Start</a:t>
            </a:r>
            <a:endParaRPr lang="en-US"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Free for schools using Google accounts, set up in minutes, and works on phones and tablets — but with fewer advanced course-design tools than Moodle or Canvas.</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SIDE-BY-SIDE COMPARISON</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Moodle vs Canvas vs Google Classroom</a:t>
            </a:r>
            <a:endParaRPr lang="en-US" sz="2400" dirty="0"/>
          </a:p>
        </p:txBody>
      </p:sp>
      <p:sp>
        <p:nvSpPr>
          <p:cNvPr id="6" name="Shape 4"/>
          <p:cNvSpPr/>
          <p:nvPr/>
        </p:nvSpPr>
        <p:spPr>
          <a:xfrm>
            <a:off x="548640" y="1188720"/>
            <a:ext cx="2011680" cy="457200"/>
          </a:xfrm>
          <a:prstGeom prst="rect">
            <a:avLst/>
          </a:prstGeom>
          <a:solidFill>
            <a:srgbClr val="1F3864"/>
          </a:solidFill>
          <a:ln/>
        </p:spPr>
        <p:txBody>
          <a:bodyPr/>
          <a:lstStyle/>
          <a:p>
            <a:endParaRPr lang="en-US" sz="1600"/>
          </a:p>
        </p:txBody>
      </p:sp>
      <p:sp>
        <p:nvSpPr>
          <p:cNvPr id="7" name="Text 5"/>
          <p:cNvSpPr/>
          <p:nvPr/>
        </p:nvSpPr>
        <p:spPr>
          <a:xfrm>
            <a:off x="548640" y="1188720"/>
            <a:ext cx="201168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Aspect</a:t>
            </a:r>
            <a:endParaRPr lang="en-US" sz="1600" dirty="0"/>
          </a:p>
        </p:txBody>
      </p:sp>
      <p:sp>
        <p:nvSpPr>
          <p:cNvPr id="8" name="Shape 6"/>
          <p:cNvSpPr/>
          <p:nvPr/>
        </p:nvSpPr>
        <p:spPr>
          <a:xfrm>
            <a:off x="2560320" y="1188720"/>
            <a:ext cx="3017520" cy="457200"/>
          </a:xfrm>
          <a:prstGeom prst="rect">
            <a:avLst/>
          </a:prstGeom>
          <a:solidFill>
            <a:srgbClr val="F98012"/>
          </a:solidFill>
          <a:ln/>
        </p:spPr>
        <p:txBody>
          <a:bodyPr/>
          <a:lstStyle/>
          <a:p>
            <a:endParaRPr lang="en-US" sz="1600"/>
          </a:p>
        </p:txBody>
      </p:sp>
      <p:sp>
        <p:nvSpPr>
          <p:cNvPr id="9" name="Text 7"/>
          <p:cNvSpPr/>
          <p:nvPr/>
        </p:nvSpPr>
        <p:spPr>
          <a:xfrm>
            <a:off x="2560320" y="1188720"/>
            <a:ext cx="301752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Moodle</a:t>
            </a:r>
            <a:endParaRPr lang="en-US" sz="1600" dirty="0"/>
          </a:p>
        </p:txBody>
      </p:sp>
      <p:sp>
        <p:nvSpPr>
          <p:cNvPr id="10" name="Shape 8"/>
          <p:cNvSpPr/>
          <p:nvPr/>
        </p:nvSpPr>
        <p:spPr>
          <a:xfrm>
            <a:off x="5577840" y="1188720"/>
            <a:ext cx="3017520" cy="457200"/>
          </a:xfrm>
          <a:prstGeom prst="rect">
            <a:avLst/>
          </a:prstGeom>
          <a:solidFill>
            <a:srgbClr val="E6343E"/>
          </a:solidFill>
          <a:ln/>
        </p:spPr>
        <p:txBody>
          <a:bodyPr/>
          <a:lstStyle/>
          <a:p>
            <a:endParaRPr lang="en-US" sz="1600"/>
          </a:p>
        </p:txBody>
      </p:sp>
      <p:sp>
        <p:nvSpPr>
          <p:cNvPr id="11" name="Text 9"/>
          <p:cNvSpPr/>
          <p:nvPr/>
        </p:nvSpPr>
        <p:spPr>
          <a:xfrm>
            <a:off x="5577840" y="1188720"/>
            <a:ext cx="301752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Canvas</a:t>
            </a:r>
            <a:endParaRPr lang="en-US" sz="1600" dirty="0"/>
          </a:p>
        </p:txBody>
      </p:sp>
      <p:sp>
        <p:nvSpPr>
          <p:cNvPr id="12" name="Shape 10"/>
          <p:cNvSpPr/>
          <p:nvPr/>
        </p:nvSpPr>
        <p:spPr>
          <a:xfrm>
            <a:off x="8595360" y="1188720"/>
            <a:ext cx="3017520" cy="457200"/>
          </a:xfrm>
          <a:prstGeom prst="rect">
            <a:avLst/>
          </a:prstGeom>
          <a:solidFill>
            <a:srgbClr val="0F9D58"/>
          </a:solidFill>
          <a:ln/>
        </p:spPr>
        <p:txBody>
          <a:bodyPr/>
          <a:lstStyle/>
          <a:p>
            <a:endParaRPr lang="en-US" sz="1600"/>
          </a:p>
        </p:txBody>
      </p:sp>
      <p:sp>
        <p:nvSpPr>
          <p:cNvPr id="13" name="Text 11"/>
          <p:cNvSpPr/>
          <p:nvPr/>
        </p:nvSpPr>
        <p:spPr>
          <a:xfrm>
            <a:off x="8595360" y="1188720"/>
            <a:ext cx="301752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Google Classroom</a:t>
            </a:r>
            <a:endParaRPr lang="en-US" sz="1600" dirty="0"/>
          </a:p>
        </p:txBody>
      </p:sp>
      <p:sp>
        <p:nvSpPr>
          <p:cNvPr id="14" name="Shape 12"/>
          <p:cNvSpPr/>
          <p:nvPr/>
        </p:nvSpPr>
        <p:spPr>
          <a:xfrm>
            <a:off x="548640" y="1645920"/>
            <a:ext cx="2011680" cy="621792"/>
          </a:xfrm>
          <a:prstGeom prst="rect">
            <a:avLst/>
          </a:prstGeom>
          <a:solidFill>
            <a:srgbClr val="FFFFFF"/>
          </a:solidFill>
          <a:ln w="9525">
            <a:solidFill>
              <a:srgbClr val="DCE1EA"/>
            </a:solidFill>
            <a:prstDash val="solid"/>
          </a:ln>
        </p:spPr>
        <p:txBody>
          <a:bodyPr/>
          <a:lstStyle/>
          <a:p>
            <a:endParaRPr lang="en-US" sz="1600"/>
          </a:p>
        </p:txBody>
      </p:sp>
      <p:sp>
        <p:nvSpPr>
          <p:cNvPr id="15" name="Text 13"/>
          <p:cNvSpPr/>
          <p:nvPr/>
        </p:nvSpPr>
        <p:spPr>
          <a:xfrm>
            <a:off x="640080" y="1645920"/>
            <a:ext cx="1828800" cy="62179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Cost model</a:t>
            </a:r>
            <a:endParaRPr lang="en-US" sz="1600" dirty="0"/>
          </a:p>
        </p:txBody>
      </p:sp>
      <p:sp>
        <p:nvSpPr>
          <p:cNvPr id="16" name="Shape 14"/>
          <p:cNvSpPr/>
          <p:nvPr/>
        </p:nvSpPr>
        <p:spPr>
          <a:xfrm>
            <a:off x="2560320" y="1645920"/>
            <a:ext cx="3017520" cy="621792"/>
          </a:xfrm>
          <a:prstGeom prst="rect">
            <a:avLst/>
          </a:prstGeom>
          <a:solidFill>
            <a:srgbClr val="FFFFFF"/>
          </a:solidFill>
          <a:ln w="9525">
            <a:solidFill>
              <a:srgbClr val="DCE1EA"/>
            </a:solidFill>
            <a:prstDash val="solid"/>
          </a:ln>
        </p:spPr>
        <p:txBody>
          <a:bodyPr/>
          <a:lstStyle/>
          <a:p>
            <a:endParaRPr lang="en-US" sz="1600"/>
          </a:p>
        </p:txBody>
      </p:sp>
      <p:sp>
        <p:nvSpPr>
          <p:cNvPr id="17" name="Text 15"/>
          <p:cNvSpPr/>
          <p:nvPr/>
        </p:nvSpPr>
        <p:spPr>
          <a:xfrm>
            <a:off x="2651760" y="1645920"/>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Free open-source software (hosting and support cost extra)</a:t>
            </a:r>
            <a:endParaRPr lang="en-US" sz="1600" dirty="0"/>
          </a:p>
        </p:txBody>
      </p:sp>
      <p:sp>
        <p:nvSpPr>
          <p:cNvPr id="18" name="Shape 16"/>
          <p:cNvSpPr/>
          <p:nvPr/>
        </p:nvSpPr>
        <p:spPr>
          <a:xfrm>
            <a:off x="5577840" y="1645920"/>
            <a:ext cx="3017520" cy="621792"/>
          </a:xfrm>
          <a:prstGeom prst="rect">
            <a:avLst/>
          </a:prstGeom>
          <a:solidFill>
            <a:srgbClr val="FFFFFF"/>
          </a:solidFill>
          <a:ln w="9525">
            <a:solidFill>
              <a:srgbClr val="DCE1EA"/>
            </a:solidFill>
            <a:prstDash val="solid"/>
          </a:ln>
        </p:spPr>
        <p:txBody>
          <a:bodyPr/>
          <a:lstStyle/>
          <a:p>
            <a:endParaRPr lang="en-US" sz="1600"/>
          </a:p>
        </p:txBody>
      </p:sp>
      <p:sp>
        <p:nvSpPr>
          <p:cNvPr id="19" name="Text 17"/>
          <p:cNvSpPr/>
          <p:nvPr/>
        </p:nvSpPr>
        <p:spPr>
          <a:xfrm>
            <a:off x="5669280" y="1645920"/>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Subscription paid by the institution; vendor-hosted</a:t>
            </a:r>
            <a:endParaRPr lang="en-US" sz="1600" dirty="0"/>
          </a:p>
        </p:txBody>
      </p:sp>
      <p:sp>
        <p:nvSpPr>
          <p:cNvPr id="20" name="Shape 18"/>
          <p:cNvSpPr/>
          <p:nvPr/>
        </p:nvSpPr>
        <p:spPr>
          <a:xfrm>
            <a:off x="8595360" y="1645920"/>
            <a:ext cx="3017520" cy="621792"/>
          </a:xfrm>
          <a:prstGeom prst="rect">
            <a:avLst/>
          </a:prstGeom>
          <a:solidFill>
            <a:srgbClr val="FFFFFF"/>
          </a:solidFill>
          <a:ln w="9525">
            <a:solidFill>
              <a:srgbClr val="DCE1EA"/>
            </a:solidFill>
            <a:prstDash val="solid"/>
          </a:ln>
        </p:spPr>
        <p:txBody>
          <a:bodyPr/>
          <a:lstStyle/>
          <a:p>
            <a:endParaRPr lang="en-US" sz="1600"/>
          </a:p>
        </p:txBody>
      </p:sp>
      <p:sp>
        <p:nvSpPr>
          <p:cNvPr id="21" name="Text 19"/>
          <p:cNvSpPr/>
          <p:nvPr/>
        </p:nvSpPr>
        <p:spPr>
          <a:xfrm>
            <a:off x="8686800" y="1645920"/>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Free with Google accounts; paid editions add features</a:t>
            </a:r>
            <a:endParaRPr lang="en-US" sz="1600" dirty="0"/>
          </a:p>
        </p:txBody>
      </p:sp>
      <p:sp>
        <p:nvSpPr>
          <p:cNvPr id="22" name="Shape 20"/>
          <p:cNvSpPr/>
          <p:nvPr/>
        </p:nvSpPr>
        <p:spPr>
          <a:xfrm>
            <a:off x="548640" y="2267712"/>
            <a:ext cx="2011680" cy="621792"/>
          </a:xfrm>
          <a:prstGeom prst="rect">
            <a:avLst/>
          </a:prstGeom>
          <a:solidFill>
            <a:srgbClr val="F4F6FA"/>
          </a:solidFill>
          <a:ln w="9525">
            <a:solidFill>
              <a:srgbClr val="DCE1EA"/>
            </a:solidFill>
            <a:prstDash val="solid"/>
          </a:ln>
        </p:spPr>
        <p:txBody>
          <a:bodyPr/>
          <a:lstStyle/>
          <a:p>
            <a:endParaRPr lang="en-US" sz="1600"/>
          </a:p>
        </p:txBody>
      </p:sp>
      <p:sp>
        <p:nvSpPr>
          <p:cNvPr id="23" name="Text 21"/>
          <p:cNvSpPr/>
          <p:nvPr/>
        </p:nvSpPr>
        <p:spPr>
          <a:xfrm>
            <a:off x="640080" y="2267712"/>
            <a:ext cx="1828800" cy="62179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Setup &amp; hosting</a:t>
            </a:r>
            <a:endParaRPr lang="en-US" sz="1600" dirty="0"/>
          </a:p>
        </p:txBody>
      </p:sp>
      <p:sp>
        <p:nvSpPr>
          <p:cNvPr id="24" name="Shape 22"/>
          <p:cNvSpPr/>
          <p:nvPr/>
        </p:nvSpPr>
        <p:spPr>
          <a:xfrm>
            <a:off x="2560320" y="2267712"/>
            <a:ext cx="3017520" cy="621792"/>
          </a:xfrm>
          <a:prstGeom prst="rect">
            <a:avLst/>
          </a:prstGeom>
          <a:solidFill>
            <a:srgbClr val="F4F6FA"/>
          </a:solidFill>
          <a:ln w="9525">
            <a:solidFill>
              <a:srgbClr val="DCE1EA"/>
            </a:solidFill>
            <a:prstDash val="solid"/>
          </a:ln>
        </p:spPr>
        <p:txBody>
          <a:bodyPr/>
          <a:lstStyle/>
          <a:p>
            <a:endParaRPr lang="en-US" sz="1600"/>
          </a:p>
        </p:txBody>
      </p:sp>
      <p:sp>
        <p:nvSpPr>
          <p:cNvPr id="25" name="Text 23"/>
          <p:cNvSpPr/>
          <p:nvPr/>
        </p:nvSpPr>
        <p:spPr>
          <a:xfrm>
            <a:off x="2651760" y="2267712"/>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Needs a server and administrator (or paid cloud host)</a:t>
            </a:r>
            <a:endParaRPr lang="en-US" sz="1600" dirty="0"/>
          </a:p>
        </p:txBody>
      </p:sp>
      <p:sp>
        <p:nvSpPr>
          <p:cNvPr id="26" name="Shape 24"/>
          <p:cNvSpPr/>
          <p:nvPr/>
        </p:nvSpPr>
        <p:spPr>
          <a:xfrm>
            <a:off x="5577840" y="2267712"/>
            <a:ext cx="3017520" cy="621792"/>
          </a:xfrm>
          <a:prstGeom prst="rect">
            <a:avLst/>
          </a:prstGeom>
          <a:solidFill>
            <a:srgbClr val="F4F6FA"/>
          </a:solidFill>
          <a:ln w="9525">
            <a:solidFill>
              <a:srgbClr val="DCE1EA"/>
            </a:solidFill>
            <a:prstDash val="solid"/>
          </a:ln>
        </p:spPr>
        <p:txBody>
          <a:bodyPr/>
          <a:lstStyle/>
          <a:p>
            <a:endParaRPr lang="en-US" sz="1600"/>
          </a:p>
        </p:txBody>
      </p:sp>
      <p:sp>
        <p:nvSpPr>
          <p:cNvPr id="27" name="Text 25"/>
          <p:cNvSpPr/>
          <p:nvPr/>
        </p:nvSpPr>
        <p:spPr>
          <a:xfrm>
            <a:off x="5669280" y="2267712"/>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Vendor hosts, updates, and secures it</a:t>
            </a:r>
            <a:endParaRPr lang="en-US" sz="1600" dirty="0"/>
          </a:p>
        </p:txBody>
      </p:sp>
      <p:sp>
        <p:nvSpPr>
          <p:cNvPr id="28" name="Shape 26"/>
          <p:cNvSpPr/>
          <p:nvPr/>
        </p:nvSpPr>
        <p:spPr>
          <a:xfrm>
            <a:off x="8595360" y="2267712"/>
            <a:ext cx="3017520" cy="621792"/>
          </a:xfrm>
          <a:prstGeom prst="rect">
            <a:avLst/>
          </a:prstGeom>
          <a:solidFill>
            <a:srgbClr val="F4F6FA"/>
          </a:solidFill>
          <a:ln w="9525">
            <a:solidFill>
              <a:srgbClr val="DCE1EA"/>
            </a:solidFill>
            <a:prstDash val="solid"/>
          </a:ln>
        </p:spPr>
        <p:txBody>
          <a:bodyPr/>
          <a:lstStyle/>
          <a:p>
            <a:endParaRPr lang="en-US" sz="1600"/>
          </a:p>
        </p:txBody>
      </p:sp>
      <p:sp>
        <p:nvSpPr>
          <p:cNvPr id="29" name="Text 27"/>
          <p:cNvSpPr/>
          <p:nvPr/>
        </p:nvSpPr>
        <p:spPr>
          <a:xfrm>
            <a:off x="8686800" y="2267712"/>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Minutes: create a class, share the code</a:t>
            </a:r>
            <a:endParaRPr lang="en-US" sz="1600" dirty="0"/>
          </a:p>
        </p:txBody>
      </p:sp>
      <p:sp>
        <p:nvSpPr>
          <p:cNvPr id="30" name="Shape 28"/>
          <p:cNvSpPr/>
          <p:nvPr/>
        </p:nvSpPr>
        <p:spPr>
          <a:xfrm>
            <a:off x="548640" y="2889504"/>
            <a:ext cx="2011680" cy="621792"/>
          </a:xfrm>
          <a:prstGeom prst="rect">
            <a:avLst/>
          </a:prstGeom>
          <a:solidFill>
            <a:srgbClr val="FFFFFF"/>
          </a:solidFill>
          <a:ln w="9525">
            <a:solidFill>
              <a:srgbClr val="DCE1EA"/>
            </a:solidFill>
            <a:prstDash val="solid"/>
          </a:ln>
        </p:spPr>
        <p:txBody>
          <a:bodyPr/>
          <a:lstStyle/>
          <a:p>
            <a:endParaRPr lang="en-US" sz="1600"/>
          </a:p>
        </p:txBody>
      </p:sp>
      <p:sp>
        <p:nvSpPr>
          <p:cNvPr id="31" name="Text 29"/>
          <p:cNvSpPr/>
          <p:nvPr/>
        </p:nvSpPr>
        <p:spPr>
          <a:xfrm>
            <a:off x="640080" y="2889504"/>
            <a:ext cx="1828800" cy="62179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Ease of use</a:t>
            </a:r>
            <a:endParaRPr lang="en-US" sz="1600" dirty="0"/>
          </a:p>
        </p:txBody>
      </p:sp>
      <p:sp>
        <p:nvSpPr>
          <p:cNvPr id="32" name="Shape 30"/>
          <p:cNvSpPr/>
          <p:nvPr/>
        </p:nvSpPr>
        <p:spPr>
          <a:xfrm>
            <a:off x="2560320" y="2889504"/>
            <a:ext cx="3017520" cy="621792"/>
          </a:xfrm>
          <a:prstGeom prst="rect">
            <a:avLst/>
          </a:prstGeom>
          <a:solidFill>
            <a:srgbClr val="FFFFFF"/>
          </a:solidFill>
          <a:ln w="9525">
            <a:solidFill>
              <a:srgbClr val="DCE1EA"/>
            </a:solidFill>
            <a:prstDash val="solid"/>
          </a:ln>
        </p:spPr>
        <p:txBody>
          <a:bodyPr/>
          <a:lstStyle/>
          <a:p>
            <a:endParaRPr lang="en-US" sz="1600"/>
          </a:p>
        </p:txBody>
      </p:sp>
      <p:sp>
        <p:nvSpPr>
          <p:cNvPr id="33" name="Text 31"/>
          <p:cNvSpPr/>
          <p:nvPr/>
        </p:nvSpPr>
        <p:spPr>
          <a:xfrm>
            <a:off x="2651760" y="2889504"/>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Moderate — powerful but dense</a:t>
            </a:r>
            <a:endParaRPr lang="en-US" sz="1600" dirty="0"/>
          </a:p>
        </p:txBody>
      </p:sp>
      <p:sp>
        <p:nvSpPr>
          <p:cNvPr id="34" name="Shape 32"/>
          <p:cNvSpPr/>
          <p:nvPr/>
        </p:nvSpPr>
        <p:spPr>
          <a:xfrm>
            <a:off x="5577840" y="2889504"/>
            <a:ext cx="3017520" cy="621792"/>
          </a:xfrm>
          <a:prstGeom prst="rect">
            <a:avLst/>
          </a:prstGeom>
          <a:solidFill>
            <a:srgbClr val="FFFFFF"/>
          </a:solidFill>
          <a:ln w="9525">
            <a:solidFill>
              <a:srgbClr val="DCE1EA"/>
            </a:solidFill>
            <a:prstDash val="solid"/>
          </a:ln>
        </p:spPr>
        <p:txBody>
          <a:bodyPr/>
          <a:lstStyle/>
          <a:p>
            <a:endParaRPr lang="en-US" sz="1600"/>
          </a:p>
        </p:txBody>
      </p:sp>
      <p:sp>
        <p:nvSpPr>
          <p:cNvPr id="35" name="Text 33"/>
          <p:cNvSpPr/>
          <p:nvPr/>
        </p:nvSpPr>
        <p:spPr>
          <a:xfrm>
            <a:off x="5669280" y="2889504"/>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Easy — clean and consistent</a:t>
            </a:r>
            <a:endParaRPr lang="en-US" sz="1600" dirty="0"/>
          </a:p>
        </p:txBody>
      </p:sp>
      <p:sp>
        <p:nvSpPr>
          <p:cNvPr id="36" name="Shape 34"/>
          <p:cNvSpPr/>
          <p:nvPr/>
        </p:nvSpPr>
        <p:spPr>
          <a:xfrm>
            <a:off x="8595360" y="2889504"/>
            <a:ext cx="3017520" cy="621792"/>
          </a:xfrm>
          <a:prstGeom prst="rect">
            <a:avLst/>
          </a:prstGeom>
          <a:solidFill>
            <a:srgbClr val="FFFFFF"/>
          </a:solidFill>
          <a:ln w="9525">
            <a:solidFill>
              <a:srgbClr val="DCE1EA"/>
            </a:solidFill>
            <a:prstDash val="solid"/>
          </a:ln>
        </p:spPr>
        <p:txBody>
          <a:bodyPr/>
          <a:lstStyle/>
          <a:p>
            <a:endParaRPr lang="en-US" sz="1600"/>
          </a:p>
        </p:txBody>
      </p:sp>
      <p:sp>
        <p:nvSpPr>
          <p:cNvPr id="37" name="Text 35"/>
          <p:cNvSpPr/>
          <p:nvPr/>
        </p:nvSpPr>
        <p:spPr>
          <a:xfrm>
            <a:off x="8686800" y="2889504"/>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Easiest — very minimal interface</a:t>
            </a:r>
            <a:endParaRPr lang="en-US" sz="1600" dirty="0"/>
          </a:p>
        </p:txBody>
      </p:sp>
      <p:sp>
        <p:nvSpPr>
          <p:cNvPr id="38" name="Shape 36"/>
          <p:cNvSpPr/>
          <p:nvPr/>
        </p:nvSpPr>
        <p:spPr>
          <a:xfrm>
            <a:off x="548640" y="3511296"/>
            <a:ext cx="2011680" cy="621792"/>
          </a:xfrm>
          <a:prstGeom prst="rect">
            <a:avLst/>
          </a:prstGeom>
          <a:solidFill>
            <a:srgbClr val="F4F6FA"/>
          </a:solidFill>
          <a:ln w="9525">
            <a:solidFill>
              <a:srgbClr val="DCE1EA"/>
            </a:solidFill>
            <a:prstDash val="solid"/>
          </a:ln>
        </p:spPr>
        <p:txBody>
          <a:bodyPr/>
          <a:lstStyle/>
          <a:p>
            <a:endParaRPr lang="en-US" sz="1600"/>
          </a:p>
        </p:txBody>
      </p:sp>
      <p:sp>
        <p:nvSpPr>
          <p:cNvPr id="39" name="Text 37"/>
          <p:cNvSpPr/>
          <p:nvPr/>
        </p:nvSpPr>
        <p:spPr>
          <a:xfrm>
            <a:off x="640080" y="3511296"/>
            <a:ext cx="1828800" cy="62179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Signature strength</a:t>
            </a:r>
            <a:endParaRPr lang="en-US" sz="1600" dirty="0"/>
          </a:p>
        </p:txBody>
      </p:sp>
      <p:sp>
        <p:nvSpPr>
          <p:cNvPr id="40" name="Shape 38"/>
          <p:cNvSpPr/>
          <p:nvPr/>
        </p:nvSpPr>
        <p:spPr>
          <a:xfrm>
            <a:off x="2560320" y="3511296"/>
            <a:ext cx="3017520" cy="621792"/>
          </a:xfrm>
          <a:prstGeom prst="rect">
            <a:avLst/>
          </a:prstGeom>
          <a:solidFill>
            <a:srgbClr val="F4F6FA"/>
          </a:solidFill>
          <a:ln w="9525">
            <a:solidFill>
              <a:srgbClr val="DCE1EA"/>
            </a:solidFill>
            <a:prstDash val="solid"/>
          </a:ln>
        </p:spPr>
        <p:txBody>
          <a:bodyPr/>
          <a:lstStyle/>
          <a:p>
            <a:endParaRPr lang="en-US" sz="1600"/>
          </a:p>
        </p:txBody>
      </p:sp>
      <p:sp>
        <p:nvSpPr>
          <p:cNvPr id="41" name="Text 39"/>
          <p:cNvSpPr/>
          <p:nvPr/>
        </p:nvSpPr>
        <p:spPr>
          <a:xfrm>
            <a:off x="2651760" y="3511296"/>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Customization, plugins, and question bank</a:t>
            </a:r>
            <a:endParaRPr lang="en-US" sz="1600" dirty="0"/>
          </a:p>
        </p:txBody>
      </p:sp>
      <p:sp>
        <p:nvSpPr>
          <p:cNvPr id="42" name="Shape 40"/>
          <p:cNvSpPr/>
          <p:nvPr/>
        </p:nvSpPr>
        <p:spPr>
          <a:xfrm>
            <a:off x="5577840" y="3511296"/>
            <a:ext cx="3017520" cy="621792"/>
          </a:xfrm>
          <a:prstGeom prst="rect">
            <a:avLst/>
          </a:prstGeom>
          <a:solidFill>
            <a:srgbClr val="F4F6FA"/>
          </a:solidFill>
          <a:ln w="9525">
            <a:solidFill>
              <a:srgbClr val="DCE1EA"/>
            </a:solidFill>
            <a:prstDash val="solid"/>
          </a:ln>
        </p:spPr>
        <p:txBody>
          <a:bodyPr/>
          <a:lstStyle/>
          <a:p>
            <a:endParaRPr lang="en-US" sz="1600"/>
          </a:p>
        </p:txBody>
      </p:sp>
      <p:sp>
        <p:nvSpPr>
          <p:cNvPr id="43" name="Text 41"/>
          <p:cNvSpPr/>
          <p:nvPr/>
        </p:nvSpPr>
        <p:spPr>
          <a:xfrm>
            <a:off x="5669280" y="3511296"/>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Modules, SpeedGrader, and integrations</a:t>
            </a:r>
            <a:endParaRPr lang="en-US" sz="1600" dirty="0"/>
          </a:p>
        </p:txBody>
      </p:sp>
      <p:sp>
        <p:nvSpPr>
          <p:cNvPr id="44" name="Shape 42"/>
          <p:cNvSpPr/>
          <p:nvPr/>
        </p:nvSpPr>
        <p:spPr>
          <a:xfrm>
            <a:off x="8595360" y="3511296"/>
            <a:ext cx="3017520" cy="621792"/>
          </a:xfrm>
          <a:prstGeom prst="rect">
            <a:avLst/>
          </a:prstGeom>
          <a:solidFill>
            <a:srgbClr val="F4F6FA"/>
          </a:solidFill>
          <a:ln w="9525">
            <a:solidFill>
              <a:srgbClr val="DCE1EA"/>
            </a:solidFill>
            <a:prstDash val="solid"/>
          </a:ln>
        </p:spPr>
        <p:txBody>
          <a:bodyPr/>
          <a:lstStyle/>
          <a:p>
            <a:endParaRPr lang="en-US" sz="1600"/>
          </a:p>
        </p:txBody>
      </p:sp>
      <p:sp>
        <p:nvSpPr>
          <p:cNvPr id="45" name="Text 43"/>
          <p:cNvSpPr/>
          <p:nvPr/>
        </p:nvSpPr>
        <p:spPr>
          <a:xfrm>
            <a:off x="8686800" y="3511296"/>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Google Docs, Forms, Meet, and Drive</a:t>
            </a:r>
            <a:endParaRPr lang="en-US" sz="1600" dirty="0"/>
          </a:p>
        </p:txBody>
      </p:sp>
      <p:sp>
        <p:nvSpPr>
          <p:cNvPr id="46" name="Shape 44"/>
          <p:cNvSpPr/>
          <p:nvPr/>
        </p:nvSpPr>
        <p:spPr>
          <a:xfrm>
            <a:off x="548640" y="4133088"/>
            <a:ext cx="2011680" cy="621792"/>
          </a:xfrm>
          <a:prstGeom prst="rect">
            <a:avLst/>
          </a:prstGeom>
          <a:solidFill>
            <a:srgbClr val="FFFFFF"/>
          </a:solidFill>
          <a:ln w="9525">
            <a:solidFill>
              <a:srgbClr val="DCE1EA"/>
            </a:solidFill>
            <a:prstDash val="solid"/>
          </a:ln>
        </p:spPr>
        <p:txBody>
          <a:bodyPr/>
          <a:lstStyle/>
          <a:p>
            <a:endParaRPr lang="en-US" sz="1600"/>
          </a:p>
        </p:txBody>
      </p:sp>
      <p:sp>
        <p:nvSpPr>
          <p:cNvPr id="47" name="Text 45"/>
          <p:cNvSpPr/>
          <p:nvPr/>
        </p:nvSpPr>
        <p:spPr>
          <a:xfrm>
            <a:off x="640080" y="4133088"/>
            <a:ext cx="1828800" cy="62179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Assessment &amp; grading</a:t>
            </a:r>
            <a:endParaRPr lang="en-US" sz="1600" dirty="0"/>
          </a:p>
        </p:txBody>
      </p:sp>
      <p:sp>
        <p:nvSpPr>
          <p:cNvPr id="48" name="Shape 46"/>
          <p:cNvSpPr/>
          <p:nvPr/>
        </p:nvSpPr>
        <p:spPr>
          <a:xfrm>
            <a:off x="2560320" y="4133088"/>
            <a:ext cx="3017520" cy="621792"/>
          </a:xfrm>
          <a:prstGeom prst="rect">
            <a:avLst/>
          </a:prstGeom>
          <a:solidFill>
            <a:srgbClr val="FFFFFF"/>
          </a:solidFill>
          <a:ln w="9525">
            <a:solidFill>
              <a:srgbClr val="DCE1EA"/>
            </a:solidFill>
            <a:prstDash val="solid"/>
          </a:ln>
        </p:spPr>
        <p:txBody>
          <a:bodyPr/>
          <a:lstStyle/>
          <a:p>
            <a:endParaRPr lang="en-US" sz="1600"/>
          </a:p>
        </p:txBody>
      </p:sp>
      <p:sp>
        <p:nvSpPr>
          <p:cNvPr id="49" name="Text 47"/>
          <p:cNvSpPr/>
          <p:nvPr/>
        </p:nvSpPr>
        <p:spPr>
          <a:xfrm>
            <a:off x="2651760" y="4133088"/>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Advanced quizzes, workshops, outcomes</a:t>
            </a:r>
            <a:endParaRPr lang="en-US" sz="1600" dirty="0"/>
          </a:p>
        </p:txBody>
      </p:sp>
      <p:sp>
        <p:nvSpPr>
          <p:cNvPr id="50" name="Shape 48"/>
          <p:cNvSpPr/>
          <p:nvPr/>
        </p:nvSpPr>
        <p:spPr>
          <a:xfrm>
            <a:off x="5577840" y="4133088"/>
            <a:ext cx="3017520" cy="621792"/>
          </a:xfrm>
          <a:prstGeom prst="rect">
            <a:avLst/>
          </a:prstGeom>
          <a:solidFill>
            <a:srgbClr val="FFFFFF"/>
          </a:solidFill>
          <a:ln w="9525">
            <a:solidFill>
              <a:srgbClr val="DCE1EA"/>
            </a:solidFill>
            <a:prstDash val="solid"/>
          </a:ln>
        </p:spPr>
        <p:txBody>
          <a:bodyPr/>
          <a:lstStyle/>
          <a:p>
            <a:endParaRPr lang="en-US" sz="1600"/>
          </a:p>
        </p:txBody>
      </p:sp>
      <p:sp>
        <p:nvSpPr>
          <p:cNvPr id="51" name="Text 49"/>
          <p:cNvSpPr/>
          <p:nvPr/>
        </p:nvSpPr>
        <p:spPr>
          <a:xfrm>
            <a:off x="5669280" y="4133088"/>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Rubrics, SpeedGrader, quiz tools</a:t>
            </a:r>
            <a:endParaRPr lang="en-US" sz="1600" dirty="0"/>
          </a:p>
        </p:txBody>
      </p:sp>
      <p:sp>
        <p:nvSpPr>
          <p:cNvPr id="52" name="Shape 50"/>
          <p:cNvSpPr/>
          <p:nvPr/>
        </p:nvSpPr>
        <p:spPr>
          <a:xfrm>
            <a:off x="8595360" y="4133088"/>
            <a:ext cx="3017520" cy="621792"/>
          </a:xfrm>
          <a:prstGeom prst="rect">
            <a:avLst/>
          </a:prstGeom>
          <a:solidFill>
            <a:srgbClr val="FFFFFF"/>
          </a:solidFill>
          <a:ln w="9525">
            <a:solidFill>
              <a:srgbClr val="DCE1EA"/>
            </a:solidFill>
            <a:prstDash val="solid"/>
          </a:ln>
        </p:spPr>
        <p:txBody>
          <a:bodyPr/>
          <a:lstStyle/>
          <a:p>
            <a:endParaRPr lang="en-US" sz="1600"/>
          </a:p>
        </p:txBody>
      </p:sp>
      <p:sp>
        <p:nvSpPr>
          <p:cNvPr id="53" name="Text 51"/>
          <p:cNvSpPr/>
          <p:nvPr/>
        </p:nvSpPr>
        <p:spPr>
          <a:xfrm>
            <a:off x="8686800" y="4133088"/>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Forms quizzes, simple rubrics, grade list</a:t>
            </a:r>
            <a:endParaRPr lang="en-US" sz="1600" dirty="0"/>
          </a:p>
        </p:txBody>
      </p:sp>
      <p:sp>
        <p:nvSpPr>
          <p:cNvPr id="54" name="Shape 52"/>
          <p:cNvSpPr/>
          <p:nvPr/>
        </p:nvSpPr>
        <p:spPr>
          <a:xfrm>
            <a:off x="548640" y="4754880"/>
            <a:ext cx="2011680" cy="621792"/>
          </a:xfrm>
          <a:prstGeom prst="rect">
            <a:avLst/>
          </a:prstGeom>
          <a:solidFill>
            <a:srgbClr val="F4F6FA"/>
          </a:solidFill>
          <a:ln w="9525">
            <a:solidFill>
              <a:srgbClr val="DCE1EA"/>
            </a:solidFill>
            <a:prstDash val="solid"/>
          </a:ln>
        </p:spPr>
        <p:txBody>
          <a:bodyPr/>
          <a:lstStyle/>
          <a:p>
            <a:endParaRPr lang="en-US" sz="1600"/>
          </a:p>
        </p:txBody>
      </p:sp>
      <p:sp>
        <p:nvSpPr>
          <p:cNvPr id="55" name="Text 53"/>
          <p:cNvSpPr/>
          <p:nvPr/>
        </p:nvSpPr>
        <p:spPr>
          <a:xfrm>
            <a:off x="640080" y="4754880"/>
            <a:ext cx="1828800" cy="62179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Main limitation</a:t>
            </a:r>
            <a:endParaRPr lang="en-US" sz="1600" dirty="0"/>
          </a:p>
        </p:txBody>
      </p:sp>
      <p:sp>
        <p:nvSpPr>
          <p:cNvPr id="56" name="Shape 54"/>
          <p:cNvSpPr/>
          <p:nvPr/>
        </p:nvSpPr>
        <p:spPr>
          <a:xfrm>
            <a:off x="2560320" y="4754880"/>
            <a:ext cx="3017520" cy="621792"/>
          </a:xfrm>
          <a:prstGeom prst="rect">
            <a:avLst/>
          </a:prstGeom>
          <a:solidFill>
            <a:srgbClr val="F4F6FA"/>
          </a:solidFill>
          <a:ln w="9525">
            <a:solidFill>
              <a:srgbClr val="DCE1EA"/>
            </a:solidFill>
            <a:prstDash val="solid"/>
          </a:ln>
        </p:spPr>
        <p:txBody>
          <a:bodyPr/>
          <a:lstStyle/>
          <a:p>
            <a:endParaRPr lang="en-US" sz="1600"/>
          </a:p>
        </p:txBody>
      </p:sp>
      <p:sp>
        <p:nvSpPr>
          <p:cNvPr id="57" name="Text 55"/>
          <p:cNvSpPr/>
          <p:nvPr/>
        </p:nvSpPr>
        <p:spPr>
          <a:xfrm>
            <a:off x="2651760" y="4754880"/>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Setup and maintenance effort</a:t>
            </a:r>
            <a:endParaRPr lang="en-US" sz="1600" dirty="0"/>
          </a:p>
        </p:txBody>
      </p:sp>
      <p:sp>
        <p:nvSpPr>
          <p:cNvPr id="58" name="Shape 56"/>
          <p:cNvSpPr/>
          <p:nvPr/>
        </p:nvSpPr>
        <p:spPr>
          <a:xfrm>
            <a:off x="5577840" y="4754880"/>
            <a:ext cx="3017520" cy="621792"/>
          </a:xfrm>
          <a:prstGeom prst="rect">
            <a:avLst/>
          </a:prstGeom>
          <a:solidFill>
            <a:srgbClr val="F4F6FA"/>
          </a:solidFill>
          <a:ln w="9525">
            <a:solidFill>
              <a:srgbClr val="DCE1EA"/>
            </a:solidFill>
            <a:prstDash val="solid"/>
          </a:ln>
        </p:spPr>
        <p:txBody>
          <a:bodyPr/>
          <a:lstStyle/>
          <a:p>
            <a:endParaRPr lang="en-US" sz="1600"/>
          </a:p>
        </p:txBody>
      </p:sp>
      <p:sp>
        <p:nvSpPr>
          <p:cNvPr id="59" name="Text 57"/>
          <p:cNvSpPr/>
          <p:nvPr/>
        </p:nvSpPr>
        <p:spPr>
          <a:xfrm>
            <a:off x="5669280" y="4754880"/>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Subscription cost; less code-level control</a:t>
            </a:r>
            <a:endParaRPr lang="en-US" sz="1600" dirty="0"/>
          </a:p>
        </p:txBody>
      </p:sp>
      <p:sp>
        <p:nvSpPr>
          <p:cNvPr id="60" name="Shape 58"/>
          <p:cNvSpPr/>
          <p:nvPr/>
        </p:nvSpPr>
        <p:spPr>
          <a:xfrm>
            <a:off x="8595360" y="4754880"/>
            <a:ext cx="3017520" cy="621792"/>
          </a:xfrm>
          <a:prstGeom prst="rect">
            <a:avLst/>
          </a:prstGeom>
          <a:solidFill>
            <a:srgbClr val="F4F6FA"/>
          </a:solidFill>
          <a:ln w="9525">
            <a:solidFill>
              <a:srgbClr val="DCE1EA"/>
            </a:solidFill>
            <a:prstDash val="solid"/>
          </a:ln>
        </p:spPr>
        <p:txBody>
          <a:bodyPr/>
          <a:lstStyle/>
          <a:p>
            <a:endParaRPr lang="en-US" sz="1600"/>
          </a:p>
        </p:txBody>
      </p:sp>
      <p:sp>
        <p:nvSpPr>
          <p:cNvPr id="61" name="Text 59"/>
          <p:cNvSpPr/>
          <p:nvPr/>
        </p:nvSpPr>
        <p:spPr>
          <a:xfrm>
            <a:off x="8686800" y="4754880"/>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Fewer deep course-design and analytics tools</a:t>
            </a:r>
            <a:endParaRPr lang="en-US" sz="1600" dirty="0"/>
          </a:p>
        </p:txBody>
      </p:sp>
      <p:sp>
        <p:nvSpPr>
          <p:cNvPr id="62" name="Shape 60"/>
          <p:cNvSpPr/>
          <p:nvPr/>
        </p:nvSpPr>
        <p:spPr>
          <a:xfrm>
            <a:off x="548640" y="5376672"/>
            <a:ext cx="2011680" cy="621792"/>
          </a:xfrm>
          <a:prstGeom prst="rect">
            <a:avLst/>
          </a:prstGeom>
          <a:solidFill>
            <a:srgbClr val="FFFFFF"/>
          </a:solidFill>
          <a:ln w="9525">
            <a:solidFill>
              <a:srgbClr val="DCE1EA"/>
            </a:solidFill>
            <a:prstDash val="solid"/>
          </a:ln>
        </p:spPr>
        <p:txBody>
          <a:bodyPr/>
          <a:lstStyle/>
          <a:p>
            <a:endParaRPr lang="en-US" sz="1600"/>
          </a:p>
        </p:txBody>
      </p:sp>
      <p:sp>
        <p:nvSpPr>
          <p:cNvPr id="63" name="Text 61"/>
          <p:cNvSpPr/>
          <p:nvPr/>
        </p:nvSpPr>
        <p:spPr>
          <a:xfrm>
            <a:off x="640080" y="5376672"/>
            <a:ext cx="1828800" cy="62179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Best fit</a:t>
            </a:r>
            <a:endParaRPr lang="en-US" sz="1600" dirty="0"/>
          </a:p>
        </p:txBody>
      </p:sp>
      <p:sp>
        <p:nvSpPr>
          <p:cNvPr id="64" name="Shape 62"/>
          <p:cNvSpPr/>
          <p:nvPr/>
        </p:nvSpPr>
        <p:spPr>
          <a:xfrm>
            <a:off x="2560320" y="5376672"/>
            <a:ext cx="3017520" cy="621792"/>
          </a:xfrm>
          <a:prstGeom prst="rect">
            <a:avLst/>
          </a:prstGeom>
          <a:solidFill>
            <a:srgbClr val="FFFFFF"/>
          </a:solidFill>
          <a:ln w="9525">
            <a:solidFill>
              <a:srgbClr val="DCE1EA"/>
            </a:solidFill>
            <a:prstDash val="solid"/>
          </a:ln>
        </p:spPr>
        <p:txBody>
          <a:bodyPr/>
          <a:lstStyle/>
          <a:p>
            <a:endParaRPr lang="en-US" sz="1600"/>
          </a:p>
        </p:txBody>
      </p:sp>
      <p:sp>
        <p:nvSpPr>
          <p:cNvPr id="65" name="Text 63"/>
          <p:cNvSpPr/>
          <p:nvPr/>
        </p:nvSpPr>
        <p:spPr>
          <a:xfrm>
            <a:off x="2651760" y="5376672"/>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Universities wanting control of data and features</a:t>
            </a:r>
            <a:endParaRPr lang="en-US" sz="1600" dirty="0"/>
          </a:p>
        </p:txBody>
      </p:sp>
      <p:sp>
        <p:nvSpPr>
          <p:cNvPr id="66" name="Shape 64"/>
          <p:cNvSpPr/>
          <p:nvPr/>
        </p:nvSpPr>
        <p:spPr>
          <a:xfrm>
            <a:off x="5577840" y="5376672"/>
            <a:ext cx="3017520" cy="621792"/>
          </a:xfrm>
          <a:prstGeom prst="rect">
            <a:avLst/>
          </a:prstGeom>
          <a:solidFill>
            <a:srgbClr val="FFFFFF"/>
          </a:solidFill>
          <a:ln w="9525">
            <a:solidFill>
              <a:srgbClr val="DCE1EA"/>
            </a:solidFill>
            <a:prstDash val="solid"/>
          </a:ln>
        </p:spPr>
        <p:txBody>
          <a:bodyPr/>
          <a:lstStyle/>
          <a:p>
            <a:endParaRPr lang="en-US" sz="1600"/>
          </a:p>
        </p:txBody>
      </p:sp>
      <p:sp>
        <p:nvSpPr>
          <p:cNvPr id="67" name="Text 65"/>
          <p:cNvSpPr/>
          <p:nvPr/>
        </p:nvSpPr>
        <p:spPr>
          <a:xfrm>
            <a:off x="5669280" y="5376672"/>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Large institutions wanting a polished experience</a:t>
            </a:r>
            <a:endParaRPr lang="en-US" sz="1600" dirty="0"/>
          </a:p>
        </p:txBody>
      </p:sp>
      <p:sp>
        <p:nvSpPr>
          <p:cNvPr id="68" name="Shape 66"/>
          <p:cNvSpPr/>
          <p:nvPr/>
        </p:nvSpPr>
        <p:spPr>
          <a:xfrm>
            <a:off x="8595360" y="5376672"/>
            <a:ext cx="3017520" cy="621792"/>
          </a:xfrm>
          <a:prstGeom prst="rect">
            <a:avLst/>
          </a:prstGeom>
          <a:solidFill>
            <a:srgbClr val="FFFFFF"/>
          </a:solidFill>
          <a:ln w="9525">
            <a:solidFill>
              <a:srgbClr val="DCE1EA"/>
            </a:solidFill>
            <a:prstDash val="solid"/>
          </a:ln>
        </p:spPr>
        <p:txBody>
          <a:bodyPr/>
          <a:lstStyle/>
          <a:p>
            <a:endParaRPr lang="en-US" sz="1600"/>
          </a:p>
        </p:txBody>
      </p:sp>
      <p:sp>
        <p:nvSpPr>
          <p:cNvPr id="69" name="Text 67"/>
          <p:cNvSpPr/>
          <p:nvPr/>
        </p:nvSpPr>
        <p:spPr>
          <a:xfrm>
            <a:off x="8686800" y="5376672"/>
            <a:ext cx="2834640" cy="62179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Schools and small classes needing a quick start</a:t>
            </a:r>
            <a:endParaRPr lang="en-US" sz="1600" dirty="0"/>
          </a:p>
        </p:txBody>
      </p:sp>
      <p:sp>
        <p:nvSpPr>
          <p:cNvPr id="70" name="Text 68"/>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71" name="Text 69"/>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WHY IT MATTERS BEYOND THE CLASSROOM</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Benefits of LMS in Society</a:t>
            </a:r>
            <a:endParaRPr lang="en-US" sz="2400" dirty="0"/>
          </a:p>
        </p:txBody>
      </p:sp>
      <p:sp>
        <p:nvSpPr>
          <p:cNvPr id="6" name="Shape 4"/>
          <p:cNvSpPr/>
          <p:nvPr/>
        </p:nvSpPr>
        <p:spPr>
          <a:xfrm>
            <a:off x="548640" y="1143000"/>
            <a:ext cx="5394960" cy="1600200"/>
          </a:xfrm>
          <a:prstGeom prst="roundRect">
            <a:avLst>
              <a:gd name="adj" fmla="val 4571"/>
            </a:avLst>
          </a:prstGeom>
          <a:solidFill>
            <a:srgbClr val="EAF6EC"/>
          </a:solidFill>
          <a:ln w="12700">
            <a:solidFill>
              <a:srgbClr val="DCE1EA"/>
            </a:solidFill>
            <a:prstDash val="solid"/>
          </a:ln>
        </p:spPr>
        <p:txBody>
          <a:bodyPr/>
          <a:lstStyle/>
          <a:p>
            <a:endParaRPr lang="en-US"/>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Access to Education Anywhere</a:t>
            </a:r>
            <a:endParaRPr lang="en-US"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Learners in remote areas, working students, and people with mobility challenges can study without relocating or commuting.</a:t>
            </a:r>
            <a:endParaRPr lang="en-US" sz="1600" dirty="0"/>
          </a:p>
        </p:txBody>
      </p:sp>
      <p:sp>
        <p:nvSpPr>
          <p:cNvPr id="9" name="Shape 7"/>
          <p:cNvSpPr/>
          <p:nvPr/>
        </p:nvSpPr>
        <p:spPr>
          <a:xfrm>
            <a:off x="617220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Lower Cost &amp; Paperless Learning</a:t>
            </a:r>
            <a:endParaRPr lang="en-US"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Digital handouts, online submission, and automatic marking save printing, travel, and teacher time.</a:t>
            </a:r>
            <a:endParaRPr lang="en-US" sz="1600" dirty="0"/>
          </a:p>
        </p:txBody>
      </p:sp>
      <p:sp>
        <p:nvSpPr>
          <p:cNvPr id="12" name="Shape 10"/>
          <p:cNvSpPr/>
          <p:nvPr/>
        </p:nvSpPr>
        <p:spPr>
          <a:xfrm>
            <a:off x="548640" y="288036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Equity &amp; Inclusion</a:t>
            </a:r>
            <a:endParaRPr lang="en-US"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Self-paced content, captions, mobile access, and screen-reader friendly design give more learners a fair chance to participate.</a:t>
            </a:r>
            <a:endParaRPr lang="en-US" sz="1600" dirty="0"/>
          </a:p>
        </p:txBody>
      </p:sp>
      <p:sp>
        <p:nvSpPr>
          <p:cNvPr id="15" name="Shape 13"/>
          <p:cNvSpPr/>
          <p:nvPr/>
        </p:nvSpPr>
        <p:spPr>
          <a:xfrm>
            <a:off x="617220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Transparency &amp; Accountability</a:t>
            </a:r>
            <a:endParaRPr lang="en-US"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Deadlines, marks, and feedback are recorded and visible, reducing disputes and helping fair assessment.</a:t>
            </a:r>
            <a:endParaRPr lang="en-US" sz="1600" dirty="0"/>
          </a:p>
        </p:txBody>
      </p:sp>
      <p:sp>
        <p:nvSpPr>
          <p:cNvPr id="18" name="Shape 16"/>
          <p:cNvSpPr/>
          <p:nvPr/>
        </p:nvSpPr>
        <p:spPr>
          <a:xfrm>
            <a:off x="548640" y="461772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Continuity in Crises</a:t>
            </a:r>
            <a:endParaRPr lang="en-US"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During COVID-19 closures, LMS platforms and video meetings kept millions of students learning when buildings were shut.</a:t>
            </a:r>
            <a:endParaRPr lang="en-US" sz="1600" dirty="0"/>
          </a:p>
        </p:txBody>
      </p:sp>
      <p:sp>
        <p:nvSpPr>
          <p:cNvPr id="21" name="Shape 19"/>
          <p:cNvSpPr/>
          <p:nvPr/>
        </p:nvSpPr>
        <p:spPr>
          <a:xfrm>
            <a:off x="617220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Workforce &amp; Lifelong Learning</a:t>
            </a:r>
            <a:endParaRPr lang="en-US"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Companies and governments use LMS platforms for training, compliance, certificates, and upskilling throughout a career.</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PROFESSIONAL USE &amp; DIGITAL ETIQUETTE</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Working Responsibly in an LMS — Student Best Practices</a:t>
            </a:r>
            <a:endParaRPr lang="en-US" sz="2400" dirty="0"/>
          </a:p>
        </p:txBody>
      </p:sp>
      <p:sp>
        <p:nvSpPr>
          <p:cNvPr id="6" name="Shape 4"/>
          <p:cNvSpPr/>
          <p:nvPr/>
        </p:nvSpPr>
        <p:spPr>
          <a:xfrm>
            <a:off x="548640" y="114300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Check It Daily</a:t>
            </a:r>
            <a:endParaRPr lang="en-US"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Open the dashboard, to-do list, and announcements every day so a deadline or room change never surprises you.</a:t>
            </a:r>
            <a:endParaRPr lang="en-US" sz="1600" dirty="0"/>
          </a:p>
        </p:txBody>
      </p:sp>
      <p:sp>
        <p:nvSpPr>
          <p:cNvPr id="9" name="Shape 7"/>
          <p:cNvSpPr/>
          <p:nvPr/>
        </p:nvSpPr>
        <p:spPr>
          <a:xfrm>
            <a:off x="617220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Submit Early &amp; Confirm</a:t>
            </a:r>
            <a:endParaRPr lang="en-US"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Do not wait for the last minute; after uploading, check that the submission shows as received or “turned in.”</a:t>
            </a:r>
            <a:endParaRPr lang="en-US" sz="1600" dirty="0"/>
          </a:p>
        </p:txBody>
      </p:sp>
      <p:sp>
        <p:nvSpPr>
          <p:cNvPr id="12" name="Shape 10"/>
          <p:cNvSpPr/>
          <p:nvPr/>
        </p:nvSpPr>
        <p:spPr>
          <a:xfrm>
            <a:off x="548640" y="288036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Communicate Professionally</a:t>
            </a:r>
            <a:endParaRPr lang="en-US"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Use clear subject lines, polite wording, and the right channel (forum, message, or email) — the same etiquette from Week 4.</a:t>
            </a:r>
            <a:endParaRPr lang="en-US" sz="1600" dirty="0"/>
          </a:p>
        </p:txBody>
      </p:sp>
      <p:sp>
        <p:nvSpPr>
          <p:cNvPr id="15" name="Shape 13"/>
          <p:cNvSpPr/>
          <p:nvPr/>
        </p:nvSpPr>
        <p:spPr>
          <a:xfrm>
            <a:off x="617220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Protect Academic Integrity</a:t>
            </a:r>
            <a:endParaRPr lang="en-US"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Submit your own work, cite sources, and remember that plagiarism checkers and timestamps are part of the LMS.</a:t>
            </a:r>
            <a:endParaRPr lang="en-US" sz="1600" dirty="0"/>
          </a:p>
        </p:txBody>
      </p:sp>
      <p:sp>
        <p:nvSpPr>
          <p:cNvPr id="18" name="Shape 16"/>
          <p:cNvSpPr/>
          <p:nvPr/>
        </p:nvSpPr>
        <p:spPr>
          <a:xfrm>
            <a:off x="548640" y="461772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Protect Your Account</a:t>
            </a:r>
            <a:endParaRPr lang="en-US"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Use a strong password, never share your login, and sign out on shared computers to protect your grades and privacy.</a:t>
            </a:r>
            <a:endParaRPr lang="en-US" sz="1600" dirty="0"/>
          </a:p>
        </p:txBody>
      </p:sp>
      <p:sp>
        <p:nvSpPr>
          <p:cNvPr id="21" name="Shape 19"/>
          <p:cNvSpPr/>
          <p:nvPr/>
        </p:nvSpPr>
        <p:spPr>
          <a:xfrm>
            <a:off x="617220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Use Notifications &amp; Calendar</a:t>
            </a:r>
            <a:endParaRPr lang="en-US"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64"/>
              </a:lnSpc>
              <a:buNone/>
            </a:pPr>
            <a:r>
              <a:rPr lang="en-US" sz="1600" dirty="0">
                <a:solidFill>
                  <a:srgbClr val="333333"/>
                </a:solidFill>
                <a:latin typeface="Calibri" pitchFamily="34" charset="0"/>
                <a:ea typeface="Calibri" pitchFamily="34" charset="-122"/>
                <a:cs typeface="Calibri" pitchFamily="34" charset="-120"/>
              </a:rPr>
              <a:t>Turn on mobile notifications and sync deadlines to your phone calendar so reminders find you.</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APPLYING WHAT YOU LEARNED</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Which LMS Fits Which Situation?</a:t>
            </a:r>
            <a:endParaRPr lang="en-US" sz="2400" dirty="0"/>
          </a:p>
        </p:txBody>
      </p:sp>
      <p:sp>
        <p:nvSpPr>
          <p:cNvPr id="6" name="Shape 4"/>
          <p:cNvSpPr/>
          <p:nvPr/>
        </p:nvSpPr>
        <p:spPr>
          <a:xfrm>
            <a:off x="548640" y="1188720"/>
            <a:ext cx="4572000" cy="457200"/>
          </a:xfrm>
          <a:prstGeom prst="rect">
            <a:avLst/>
          </a:prstGeom>
          <a:solidFill>
            <a:srgbClr val="1F3864"/>
          </a:solidFill>
          <a:ln/>
        </p:spPr>
        <p:txBody>
          <a:bodyPr/>
          <a:lstStyle/>
          <a:p>
            <a:endParaRPr lang="en-US" sz="1600"/>
          </a:p>
        </p:txBody>
      </p:sp>
      <p:sp>
        <p:nvSpPr>
          <p:cNvPr id="7" name="Text 5"/>
          <p:cNvSpPr/>
          <p:nvPr/>
        </p:nvSpPr>
        <p:spPr>
          <a:xfrm>
            <a:off x="548640" y="1188720"/>
            <a:ext cx="45720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Scenario</a:t>
            </a:r>
            <a:endParaRPr lang="en-US" sz="1600" dirty="0"/>
          </a:p>
        </p:txBody>
      </p:sp>
      <p:sp>
        <p:nvSpPr>
          <p:cNvPr id="8" name="Shape 6"/>
          <p:cNvSpPr/>
          <p:nvPr/>
        </p:nvSpPr>
        <p:spPr>
          <a:xfrm>
            <a:off x="5120640" y="1188720"/>
            <a:ext cx="2103120" cy="457200"/>
          </a:xfrm>
          <a:prstGeom prst="rect">
            <a:avLst/>
          </a:prstGeom>
          <a:solidFill>
            <a:srgbClr val="B8860B"/>
          </a:solidFill>
          <a:ln/>
        </p:spPr>
        <p:txBody>
          <a:bodyPr/>
          <a:lstStyle/>
          <a:p>
            <a:endParaRPr lang="en-US" sz="1600"/>
          </a:p>
        </p:txBody>
      </p:sp>
      <p:sp>
        <p:nvSpPr>
          <p:cNvPr id="9" name="Text 7"/>
          <p:cNvSpPr/>
          <p:nvPr/>
        </p:nvSpPr>
        <p:spPr>
          <a:xfrm>
            <a:off x="5120640" y="1188720"/>
            <a:ext cx="210312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Better fit</a:t>
            </a:r>
            <a:endParaRPr lang="en-US" sz="1600" dirty="0"/>
          </a:p>
        </p:txBody>
      </p:sp>
      <p:sp>
        <p:nvSpPr>
          <p:cNvPr id="10" name="Shape 8"/>
          <p:cNvSpPr/>
          <p:nvPr/>
        </p:nvSpPr>
        <p:spPr>
          <a:xfrm>
            <a:off x="7223760" y="1188720"/>
            <a:ext cx="4389120" cy="457200"/>
          </a:xfrm>
          <a:prstGeom prst="rect">
            <a:avLst/>
          </a:prstGeom>
          <a:solidFill>
            <a:srgbClr val="1F3864"/>
          </a:solidFill>
          <a:ln/>
        </p:spPr>
        <p:txBody>
          <a:bodyPr/>
          <a:lstStyle/>
          <a:p>
            <a:endParaRPr lang="en-US" sz="1600"/>
          </a:p>
        </p:txBody>
      </p:sp>
      <p:sp>
        <p:nvSpPr>
          <p:cNvPr id="11" name="Text 9"/>
          <p:cNvSpPr/>
          <p:nvPr/>
        </p:nvSpPr>
        <p:spPr>
          <a:xfrm>
            <a:off x="7223760" y="1188720"/>
            <a:ext cx="438912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Why</a:t>
            </a:r>
            <a:endParaRPr lang="en-US" sz="1600" dirty="0"/>
          </a:p>
        </p:txBody>
      </p:sp>
      <p:sp>
        <p:nvSpPr>
          <p:cNvPr id="12" name="Shape 10"/>
          <p:cNvSpPr/>
          <p:nvPr/>
        </p:nvSpPr>
        <p:spPr>
          <a:xfrm>
            <a:off x="548640" y="1645920"/>
            <a:ext cx="4572000" cy="777240"/>
          </a:xfrm>
          <a:prstGeom prst="rect">
            <a:avLst/>
          </a:prstGeom>
          <a:solidFill>
            <a:srgbClr val="FFFFFF"/>
          </a:solidFill>
          <a:ln w="9525">
            <a:solidFill>
              <a:srgbClr val="DCE1EA"/>
            </a:solidFill>
            <a:prstDash val="solid"/>
          </a:ln>
        </p:spPr>
        <p:txBody>
          <a:bodyPr/>
          <a:lstStyle/>
          <a:p>
            <a:endParaRPr lang="en-US" sz="1600"/>
          </a:p>
        </p:txBody>
      </p:sp>
      <p:sp>
        <p:nvSpPr>
          <p:cNvPr id="13" name="Text 11"/>
          <p:cNvSpPr/>
          <p:nvPr/>
        </p:nvSpPr>
        <p:spPr>
          <a:xfrm>
            <a:off x="640080" y="1645920"/>
            <a:ext cx="4389120" cy="77724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A school teacher needs to start online classes tomorrow with a free tool</a:t>
            </a:r>
            <a:endParaRPr lang="en-US" sz="1600" dirty="0"/>
          </a:p>
        </p:txBody>
      </p:sp>
      <p:sp>
        <p:nvSpPr>
          <p:cNvPr id="14" name="Shape 12"/>
          <p:cNvSpPr/>
          <p:nvPr/>
        </p:nvSpPr>
        <p:spPr>
          <a:xfrm>
            <a:off x="5120640" y="1645920"/>
            <a:ext cx="2103120" cy="777240"/>
          </a:xfrm>
          <a:prstGeom prst="rect">
            <a:avLst/>
          </a:prstGeom>
          <a:solidFill>
            <a:srgbClr val="FFFFFF"/>
          </a:solidFill>
          <a:ln w="9525">
            <a:solidFill>
              <a:srgbClr val="DCE1EA"/>
            </a:solidFill>
            <a:prstDash val="solid"/>
          </a:ln>
        </p:spPr>
        <p:txBody>
          <a:bodyPr/>
          <a:lstStyle/>
          <a:p>
            <a:endParaRPr lang="en-US" sz="1600"/>
          </a:p>
        </p:txBody>
      </p:sp>
      <p:sp>
        <p:nvSpPr>
          <p:cNvPr id="15" name="Text 13"/>
          <p:cNvSpPr/>
          <p:nvPr/>
        </p:nvSpPr>
        <p:spPr>
          <a:xfrm>
            <a:off x="5212080" y="1645920"/>
            <a:ext cx="192024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Google Classroom</a:t>
            </a:r>
            <a:endParaRPr lang="en-US" sz="1600" dirty="0"/>
          </a:p>
        </p:txBody>
      </p:sp>
      <p:sp>
        <p:nvSpPr>
          <p:cNvPr id="16" name="Shape 14"/>
          <p:cNvSpPr/>
          <p:nvPr/>
        </p:nvSpPr>
        <p:spPr>
          <a:xfrm>
            <a:off x="7223760" y="1645920"/>
            <a:ext cx="4389120" cy="777240"/>
          </a:xfrm>
          <a:prstGeom prst="rect">
            <a:avLst/>
          </a:prstGeom>
          <a:solidFill>
            <a:srgbClr val="FFFFFF"/>
          </a:solidFill>
          <a:ln w="9525">
            <a:solidFill>
              <a:srgbClr val="DCE1EA"/>
            </a:solidFill>
            <a:prstDash val="solid"/>
          </a:ln>
        </p:spPr>
        <p:txBody>
          <a:bodyPr/>
          <a:lstStyle/>
          <a:p>
            <a:endParaRPr lang="en-US" sz="1600"/>
          </a:p>
        </p:txBody>
      </p:sp>
      <p:sp>
        <p:nvSpPr>
          <p:cNvPr id="17" name="Text 15"/>
          <p:cNvSpPr/>
          <p:nvPr/>
        </p:nvSpPr>
        <p:spPr>
          <a:xfrm>
            <a:off x="7315200" y="1645920"/>
            <a:ext cx="420624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Free, ready in minutes, works with Meet, Docs, and Forms</a:t>
            </a:r>
            <a:endParaRPr lang="en-US" sz="1600" dirty="0"/>
          </a:p>
        </p:txBody>
      </p:sp>
      <p:sp>
        <p:nvSpPr>
          <p:cNvPr id="18" name="Shape 16"/>
          <p:cNvSpPr/>
          <p:nvPr/>
        </p:nvSpPr>
        <p:spPr>
          <a:xfrm>
            <a:off x="548640" y="2423160"/>
            <a:ext cx="4572000" cy="777240"/>
          </a:xfrm>
          <a:prstGeom prst="rect">
            <a:avLst/>
          </a:prstGeom>
          <a:solidFill>
            <a:srgbClr val="F4F6FA"/>
          </a:solidFill>
          <a:ln w="9525">
            <a:solidFill>
              <a:srgbClr val="DCE1EA"/>
            </a:solidFill>
            <a:prstDash val="solid"/>
          </a:ln>
        </p:spPr>
        <p:txBody>
          <a:bodyPr/>
          <a:lstStyle/>
          <a:p>
            <a:endParaRPr lang="en-US" sz="1600"/>
          </a:p>
        </p:txBody>
      </p:sp>
      <p:sp>
        <p:nvSpPr>
          <p:cNvPr id="19" name="Text 17"/>
          <p:cNvSpPr/>
          <p:nvPr/>
        </p:nvSpPr>
        <p:spPr>
          <a:xfrm>
            <a:off x="640080" y="2423160"/>
            <a:ext cx="4389120" cy="77724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A university wants full control of its data and custom features</a:t>
            </a:r>
            <a:endParaRPr lang="en-US" sz="1600" dirty="0"/>
          </a:p>
        </p:txBody>
      </p:sp>
      <p:sp>
        <p:nvSpPr>
          <p:cNvPr id="20" name="Shape 18"/>
          <p:cNvSpPr/>
          <p:nvPr/>
        </p:nvSpPr>
        <p:spPr>
          <a:xfrm>
            <a:off x="5120640" y="2423160"/>
            <a:ext cx="2103120" cy="777240"/>
          </a:xfrm>
          <a:prstGeom prst="rect">
            <a:avLst/>
          </a:prstGeom>
          <a:solidFill>
            <a:srgbClr val="F4F6FA"/>
          </a:solidFill>
          <a:ln w="9525">
            <a:solidFill>
              <a:srgbClr val="DCE1EA"/>
            </a:solidFill>
            <a:prstDash val="solid"/>
          </a:ln>
        </p:spPr>
        <p:txBody>
          <a:bodyPr/>
          <a:lstStyle/>
          <a:p>
            <a:endParaRPr lang="en-US" sz="1600"/>
          </a:p>
        </p:txBody>
      </p:sp>
      <p:sp>
        <p:nvSpPr>
          <p:cNvPr id="21" name="Text 19"/>
          <p:cNvSpPr/>
          <p:nvPr/>
        </p:nvSpPr>
        <p:spPr>
          <a:xfrm>
            <a:off x="5212080" y="2423160"/>
            <a:ext cx="192024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Moodle</a:t>
            </a:r>
            <a:endParaRPr lang="en-US" sz="1600" dirty="0"/>
          </a:p>
        </p:txBody>
      </p:sp>
      <p:sp>
        <p:nvSpPr>
          <p:cNvPr id="22" name="Shape 20"/>
          <p:cNvSpPr/>
          <p:nvPr/>
        </p:nvSpPr>
        <p:spPr>
          <a:xfrm>
            <a:off x="7223760" y="2423160"/>
            <a:ext cx="4389120" cy="777240"/>
          </a:xfrm>
          <a:prstGeom prst="rect">
            <a:avLst/>
          </a:prstGeom>
          <a:solidFill>
            <a:srgbClr val="F4F6FA"/>
          </a:solidFill>
          <a:ln w="9525">
            <a:solidFill>
              <a:srgbClr val="DCE1EA"/>
            </a:solidFill>
            <a:prstDash val="solid"/>
          </a:ln>
        </p:spPr>
        <p:txBody>
          <a:bodyPr/>
          <a:lstStyle/>
          <a:p>
            <a:endParaRPr lang="en-US" sz="1600"/>
          </a:p>
        </p:txBody>
      </p:sp>
      <p:sp>
        <p:nvSpPr>
          <p:cNvPr id="23" name="Text 21"/>
          <p:cNvSpPr/>
          <p:nvPr/>
        </p:nvSpPr>
        <p:spPr>
          <a:xfrm>
            <a:off x="7315200" y="2423160"/>
            <a:ext cx="420624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Open-source, self-hosted, and highly customizable with plugins</a:t>
            </a:r>
            <a:endParaRPr lang="en-US" sz="1600" dirty="0"/>
          </a:p>
        </p:txBody>
      </p:sp>
      <p:sp>
        <p:nvSpPr>
          <p:cNvPr id="24" name="Shape 22"/>
          <p:cNvSpPr/>
          <p:nvPr/>
        </p:nvSpPr>
        <p:spPr>
          <a:xfrm>
            <a:off x="548640" y="3200400"/>
            <a:ext cx="4572000" cy="777240"/>
          </a:xfrm>
          <a:prstGeom prst="rect">
            <a:avLst/>
          </a:prstGeom>
          <a:solidFill>
            <a:srgbClr val="FFFFFF"/>
          </a:solidFill>
          <a:ln w="9525">
            <a:solidFill>
              <a:srgbClr val="DCE1EA"/>
            </a:solidFill>
            <a:prstDash val="solid"/>
          </a:ln>
        </p:spPr>
        <p:txBody>
          <a:bodyPr/>
          <a:lstStyle/>
          <a:p>
            <a:endParaRPr lang="en-US" sz="1600"/>
          </a:p>
        </p:txBody>
      </p:sp>
      <p:sp>
        <p:nvSpPr>
          <p:cNvPr id="25" name="Text 23"/>
          <p:cNvSpPr/>
          <p:nvPr/>
        </p:nvSpPr>
        <p:spPr>
          <a:xfrm>
            <a:off x="640080" y="3200400"/>
            <a:ext cx="4389120" cy="77724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A large institution wants a polished, low-maintenance experience</a:t>
            </a:r>
            <a:endParaRPr lang="en-US" sz="1600" dirty="0"/>
          </a:p>
        </p:txBody>
      </p:sp>
      <p:sp>
        <p:nvSpPr>
          <p:cNvPr id="26" name="Shape 24"/>
          <p:cNvSpPr/>
          <p:nvPr/>
        </p:nvSpPr>
        <p:spPr>
          <a:xfrm>
            <a:off x="5120640" y="3200400"/>
            <a:ext cx="2103120" cy="777240"/>
          </a:xfrm>
          <a:prstGeom prst="rect">
            <a:avLst/>
          </a:prstGeom>
          <a:solidFill>
            <a:srgbClr val="FFFFFF"/>
          </a:solidFill>
          <a:ln w="9525">
            <a:solidFill>
              <a:srgbClr val="DCE1EA"/>
            </a:solidFill>
            <a:prstDash val="solid"/>
          </a:ln>
        </p:spPr>
        <p:txBody>
          <a:bodyPr/>
          <a:lstStyle/>
          <a:p>
            <a:endParaRPr lang="en-US" sz="1600"/>
          </a:p>
        </p:txBody>
      </p:sp>
      <p:sp>
        <p:nvSpPr>
          <p:cNvPr id="27" name="Text 25"/>
          <p:cNvSpPr/>
          <p:nvPr/>
        </p:nvSpPr>
        <p:spPr>
          <a:xfrm>
            <a:off x="5212080" y="3200400"/>
            <a:ext cx="192024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Canvas</a:t>
            </a:r>
            <a:endParaRPr lang="en-US" sz="1600" dirty="0"/>
          </a:p>
        </p:txBody>
      </p:sp>
      <p:sp>
        <p:nvSpPr>
          <p:cNvPr id="28" name="Shape 26"/>
          <p:cNvSpPr/>
          <p:nvPr/>
        </p:nvSpPr>
        <p:spPr>
          <a:xfrm>
            <a:off x="7223760" y="3200400"/>
            <a:ext cx="4389120" cy="777240"/>
          </a:xfrm>
          <a:prstGeom prst="rect">
            <a:avLst/>
          </a:prstGeom>
          <a:solidFill>
            <a:srgbClr val="FFFFFF"/>
          </a:solidFill>
          <a:ln w="9525">
            <a:solidFill>
              <a:srgbClr val="DCE1EA"/>
            </a:solidFill>
            <a:prstDash val="solid"/>
          </a:ln>
        </p:spPr>
        <p:txBody>
          <a:bodyPr/>
          <a:lstStyle/>
          <a:p>
            <a:endParaRPr lang="en-US" sz="1600"/>
          </a:p>
        </p:txBody>
      </p:sp>
      <p:sp>
        <p:nvSpPr>
          <p:cNvPr id="29" name="Text 27"/>
          <p:cNvSpPr/>
          <p:nvPr/>
        </p:nvSpPr>
        <p:spPr>
          <a:xfrm>
            <a:off x="7315200" y="3200400"/>
            <a:ext cx="420624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Vendor-hosted, intuitive, strong integrations and SpeedGrader</a:t>
            </a:r>
            <a:endParaRPr lang="en-US" sz="1600" dirty="0"/>
          </a:p>
        </p:txBody>
      </p:sp>
      <p:sp>
        <p:nvSpPr>
          <p:cNvPr id="30" name="Shape 28"/>
          <p:cNvSpPr/>
          <p:nvPr/>
        </p:nvSpPr>
        <p:spPr>
          <a:xfrm>
            <a:off x="548640" y="3977640"/>
            <a:ext cx="4572000" cy="777240"/>
          </a:xfrm>
          <a:prstGeom prst="rect">
            <a:avLst/>
          </a:prstGeom>
          <a:solidFill>
            <a:srgbClr val="F4F6FA"/>
          </a:solidFill>
          <a:ln w="9525">
            <a:solidFill>
              <a:srgbClr val="DCE1EA"/>
            </a:solidFill>
            <a:prstDash val="solid"/>
          </a:ln>
        </p:spPr>
        <p:txBody>
          <a:bodyPr/>
          <a:lstStyle/>
          <a:p>
            <a:endParaRPr lang="en-US" sz="1600"/>
          </a:p>
        </p:txBody>
      </p:sp>
      <p:sp>
        <p:nvSpPr>
          <p:cNvPr id="31" name="Text 29"/>
          <p:cNvSpPr/>
          <p:nvPr/>
        </p:nvSpPr>
        <p:spPr>
          <a:xfrm>
            <a:off x="640080" y="3977640"/>
            <a:ext cx="4389120" cy="77724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A teacher who already uses Gmail, Drive, and Docs every day</a:t>
            </a:r>
            <a:endParaRPr lang="en-US" sz="1600" dirty="0"/>
          </a:p>
        </p:txBody>
      </p:sp>
      <p:sp>
        <p:nvSpPr>
          <p:cNvPr id="32" name="Shape 30"/>
          <p:cNvSpPr/>
          <p:nvPr/>
        </p:nvSpPr>
        <p:spPr>
          <a:xfrm>
            <a:off x="5120640" y="3977640"/>
            <a:ext cx="2103120" cy="777240"/>
          </a:xfrm>
          <a:prstGeom prst="rect">
            <a:avLst/>
          </a:prstGeom>
          <a:solidFill>
            <a:srgbClr val="F4F6FA"/>
          </a:solidFill>
          <a:ln w="9525">
            <a:solidFill>
              <a:srgbClr val="DCE1EA"/>
            </a:solidFill>
            <a:prstDash val="solid"/>
          </a:ln>
        </p:spPr>
        <p:txBody>
          <a:bodyPr/>
          <a:lstStyle/>
          <a:p>
            <a:endParaRPr lang="en-US" sz="1600"/>
          </a:p>
        </p:txBody>
      </p:sp>
      <p:sp>
        <p:nvSpPr>
          <p:cNvPr id="33" name="Text 31"/>
          <p:cNvSpPr/>
          <p:nvPr/>
        </p:nvSpPr>
        <p:spPr>
          <a:xfrm>
            <a:off x="5212080" y="3977640"/>
            <a:ext cx="192024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Google Classroom</a:t>
            </a:r>
            <a:endParaRPr lang="en-US" sz="1600" dirty="0"/>
          </a:p>
        </p:txBody>
      </p:sp>
      <p:sp>
        <p:nvSpPr>
          <p:cNvPr id="34" name="Shape 32"/>
          <p:cNvSpPr/>
          <p:nvPr/>
        </p:nvSpPr>
        <p:spPr>
          <a:xfrm>
            <a:off x="7223760" y="3977640"/>
            <a:ext cx="4389120" cy="777240"/>
          </a:xfrm>
          <a:prstGeom prst="rect">
            <a:avLst/>
          </a:prstGeom>
          <a:solidFill>
            <a:srgbClr val="F4F6FA"/>
          </a:solidFill>
          <a:ln w="9525">
            <a:solidFill>
              <a:srgbClr val="DCE1EA"/>
            </a:solidFill>
            <a:prstDash val="solid"/>
          </a:ln>
        </p:spPr>
        <p:txBody>
          <a:bodyPr/>
          <a:lstStyle/>
          <a:p>
            <a:endParaRPr lang="en-US" sz="1600"/>
          </a:p>
        </p:txBody>
      </p:sp>
      <p:sp>
        <p:nvSpPr>
          <p:cNvPr id="35" name="Text 33"/>
          <p:cNvSpPr/>
          <p:nvPr/>
        </p:nvSpPr>
        <p:spPr>
          <a:xfrm>
            <a:off x="7315200" y="3977640"/>
            <a:ext cx="420624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Native integration with the Google tools already in use</a:t>
            </a:r>
            <a:endParaRPr lang="en-US" sz="1600" dirty="0"/>
          </a:p>
        </p:txBody>
      </p:sp>
      <p:sp>
        <p:nvSpPr>
          <p:cNvPr id="36" name="Shape 34"/>
          <p:cNvSpPr/>
          <p:nvPr/>
        </p:nvSpPr>
        <p:spPr>
          <a:xfrm>
            <a:off x="548640" y="4754880"/>
            <a:ext cx="4572000" cy="777240"/>
          </a:xfrm>
          <a:prstGeom prst="rect">
            <a:avLst/>
          </a:prstGeom>
          <a:solidFill>
            <a:srgbClr val="FFFFFF"/>
          </a:solidFill>
          <a:ln w="9525">
            <a:solidFill>
              <a:srgbClr val="DCE1EA"/>
            </a:solidFill>
            <a:prstDash val="solid"/>
          </a:ln>
        </p:spPr>
        <p:txBody>
          <a:bodyPr/>
          <a:lstStyle/>
          <a:p>
            <a:endParaRPr lang="en-US" sz="1600"/>
          </a:p>
        </p:txBody>
      </p:sp>
      <p:sp>
        <p:nvSpPr>
          <p:cNvPr id="37" name="Text 35"/>
          <p:cNvSpPr/>
          <p:nvPr/>
        </p:nvSpPr>
        <p:spPr>
          <a:xfrm>
            <a:off x="640080" y="4754880"/>
            <a:ext cx="4389120" cy="77724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A company must track training completion and issue certificates</a:t>
            </a:r>
            <a:endParaRPr lang="en-US" sz="1600" dirty="0"/>
          </a:p>
        </p:txBody>
      </p:sp>
      <p:sp>
        <p:nvSpPr>
          <p:cNvPr id="38" name="Shape 36"/>
          <p:cNvSpPr/>
          <p:nvPr/>
        </p:nvSpPr>
        <p:spPr>
          <a:xfrm>
            <a:off x="5120640" y="4754880"/>
            <a:ext cx="2103120" cy="777240"/>
          </a:xfrm>
          <a:prstGeom prst="rect">
            <a:avLst/>
          </a:prstGeom>
          <a:solidFill>
            <a:srgbClr val="FFFFFF"/>
          </a:solidFill>
          <a:ln w="9525">
            <a:solidFill>
              <a:srgbClr val="DCE1EA"/>
            </a:solidFill>
            <a:prstDash val="solid"/>
          </a:ln>
        </p:spPr>
        <p:txBody>
          <a:bodyPr/>
          <a:lstStyle/>
          <a:p>
            <a:endParaRPr lang="en-US" sz="1600"/>
          </a:p>
        </p:txBody>
      </p:sp>
      <p:sp>
        <p:nvSpPr>
          <p:cNvPr id="39" name="Text 37"/>
          <p:cNvSpPr/>
          <p:nvPr/>
        </p:nvSpPr>
        <p:spPr>
          <a:xfrm>
            <a:off x="5212080" y="4754880"/>
            <a:ext cx="192024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Moodle or Canvas</a:t>
            </a:r>
            <a:endParaRPr lang="en-US" sz="1600" dirty="0"/>
          </a:p>
        </p:txBody>
      </p:sp>
      <p:sp>
        <p:nvSpPr>
          <p:cNvPr id="40" name="Shape 38"/>
          <p:cNvSpPr/>
          <p:nvPr/>
        </p:nvSpPr>
        <p:spPr>
          <a:xfrm>
            <a:off x="7223760" y="4754880"/>
            <a:ext cx="4389120" cy="777240"/>
          </a:xfrm>
          <a:prstGeom prst="rect">
            <a:avLst/>
          </a:prstGeom>
          <a:solidFill>
            <a:srgbClr val="FFFFFF"/>
          </a:solidFill>
          <a:ln w="9525">
            <a:solidFill>
              <a:srgbClr val="DCE1EA"/>
            </a:solidFill>
            <a:prstDash val="solid"/>
          </a:ln>
        </p:spPr>
        <p:txBody>
          <a:bodyPr/>
          <a:lstStyle/>
          <a:p>
            <a:endParaRPr lang="en-US" sz="1600"/>
          </a:p>
        </p:txBody>
      </p:sp>
      <p:sp>
        <p:nvSpPr>
          <p:cNvPr id="41" name="Text 39"/>
          <p:cNvSpPr/>
          <p:nvPr/>
        </p:nvSpPr>
        <p:spPr>
          <a:xfrm>
            <a:off x="7315200" y="4754880"/>
            <a:ext cx="4206240" cy="77724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Completion tracking, restricted access, and certificates or badges</a:t>
            </a:r>
            <a:endParaRPr lang="en-US" sz="1600" dirty="0"/>
          </a:p>
        </p:txBody>
      </p:sp>
      <p:sp>
        <p:nvSpPr>
          <p:cNvPr id="42" name="Text 40"/>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43" name="Text 41"/>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62B4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pic>
        <p:nvPicPr>
          <p:cNvPr id="3" name="Image 0" descr="logos/gmeet_icon.png"/>
          <p:cNvPicPr>
            <a:picLocks noChangeAspect="1"/>
          </p:cNvPicPr>
          <p:nvPr/>
        </p:nvPicPr>
        <p:blipFill>
          <a:blip r:embed="rId3"/>
          <a:stretch>
            <a:fillRect/>
          </a:stretch>
        </p:blipFill>
        <p:spPr>
          <a:xfrm>
            <a:off x="4568800" y="1417320"/>
            <a:ext cx="914400" cy="914400"/>
          </a:xfrm>
          <a:prstGeom prst="rect">
            <a:avLst/>
          </a:prstGeom>
        </p:spPr>
      </p:pic>
      <p:pic>
        <p:nvPicPr>
          <p:cNvPr id="4" name="Image 1" descr="mockups/teams_badge.png"/>
          <p:cNvPicPr>
            <a:picLocks noChangeAspect="1"/>
          </p:cNvPicPr>
          <p:nvPr/>
        </p:nvPicPr>
        <p:blipFill>
          <a:blip r:embed="rId4"/>
          <a:stretch>
            <a:fillRect/>
          </a:stretch>
        </p:blipFill>
        <p:spPr>
          <a:xfrm>
            <a:off x="5638648" y="1417320"/>
            <a:ext cx="914400" cy="914400"/>
          </a:xfrm>
          <a:prstGeom prst="rect">
            <a:avLst/>
          </a:prstGeom>
        </p:spPr>
      </p:pic>
      <p:pic>
        <p:nvPicPr>
          <p:cNvPr id="5" name="Image 2" descr="logos/zoom_icon.png"/>
          <p:cNvPicPr>
            <a:picLocks noChangeAspect="1"/>
          </p:cNvPicPr>
          <p:nvPr/>
        </p:nvPicPr>
        <p:blipFill>
          <a:blip r:embed="rId5"/>
          <a:stretch>
            <a:fillRect/>
          </a:stretch>
        </p:blipFill>
        <p:spPr>
          <a:xfrm>
            <a:off x="6708496" y="1417320"/>
            <a:ext cx="914400" cy="914400"/>
          </a:xfrm>
          <a:prstGeom prst="rect">
            <a:avLst/>
          </a:prstGeom>
        </p:spPr>
      </p:pic>
      <p:sp>
        <p:nvSpPr>
          <p:cNvPr id="6" name="Text 1"/>
          <p:cNvSpPr/>
          <p:nvPr/>
        </p:nvSpPr>
        <p:spPr>
          <a:xfrm>
            <a:off x="822960" y="2697480"/>
            <a:ext cx="10515600" cy="457200"/>
          </a:xfrm>
          <a:prstGeom prst="rect">
            <a:avLst/>
          </a:prstGeom>
          <a:noFill/>
          <a:ln/>
        </p:spPr>
        <p:txBody>
          <a:bodyPr wrap="square" rtlCol="0" anchor="ctr"/>
          <a:lstStyle/>
          <a:p>
            <a:pPr marL="0" indent="0" algn="ctr">
              <a:buNone/>
            </a:pPr>
            <a:r>
              <a:rPr lang="en-US" sz="1600" b="1" kern="0" spc="300" dirty="0">
                <a:solidFill>
                  <a:srgbClr val="D8B84A"/>
                </a:solidFill>
                <a:latin typeface="Calibri" pitchFamily="34" charset="0"/>
                <a:ea typeface="Calibri" pitchFamily="34" charset="-122"/>
                <a:cs typeface="Calibri" pitchFamily="34" charset="-120"/>
              </a:rPr>
              <a:t>WEEK 6 RECAP — PART A: VIDEO CONFERENCING</a:t>
            </a:r>
            <a:endParaRPr lang="en-US" sz="1600" dirty="0"/>
          </a:p>
        </p:txBody>
      </p:sp>
      <p:sp>
        <p:nvSpPr>
          <p:cNvPr id="7" name="Text 2"/>
          <p:cNvSpPr/>
          <p:nvPr/>
        </p:nvSpPr>
        <p:spPr>
          <a:xfrm>
            <a:off x="822960" y="3154680"/>
            <a:ext cx="10515600" cy="73152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Google Meet, Microsoft Teams &amp; Zoom</a:t>
            </a:r>
            <a:endParaRPr lang="en-US" sz="3000" dirty="0"/>
          </a:p>
        </p:txBody>
      </p:sp>
      <p:sp>
        <p:nvSpPr>
          <p:cNvPr id="8" name="Text 3"/>
          <p:cNvSpPr/>
          <p:nvPr/>
        </p:nvSpPr>
        <p:spPr>
          <a:xfrm>
            <a:off x="822960" y="3886200"/>
            <a:ext cx="10515600" cy="457200"/>
          </a:xfrm>
          <a:prstGeom prst="rect">
            <a:avLst/>
          </a:prstGeom>
          <a:noFill/>
          <a:ln/>
        </p:spPr>
        <p:txBody>
          <a:bodyPr wrap="square" rtlCol="0" anchor="ctr"/>
          <a:lstStyle/>
          <a:p>
            <a:pPr marL="0" indent="0" algn="ctr">
              <a:buNone/>
            </a:pPr>
            <a:r>
              <a:rPr lang="en-US" sz="1600" i="1" dirty="0">
                <a:solidFill>
                  <a:srgbClr val="C7D0E0"/>
                </a:solidFill>
                <a:latin typeface="Calibri" pitchFamily="34" charset="0"/>
                <a:ea typeface="Calibri" pitchFamily="34" charset="-122"/>
                <a:cs typeface="Calibri" pitchFamily="34" charset="-120"/>
              </a:rPr>
              <a:t>Purpose, how they work, key facilities, and how they differ</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6 RECAP — VIDEO CONFERENCING</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Is Video Conferencing &amp; How Does It Work?</a:t>
            </a:r>
            <a:endParaRPr lang="en-US" sz="2400" dirty="0"/>
          </a:p>
        </p:txBody>
      </p:sp>
      <p:sp>
        <p:nvSpPr>
          <p:cNvPr id="6" name="Shape 4"/>
          <p:cNvSpPr/>
          <p:nvPr/>
        </p:nvSpPr>
        <p:spPr>
          <a:xfrm>
            <a:off x="548640" y="1234440"/>
            <a:ext cx="1817827" cy="2834640"/>
          </a:xfrm>
          <a:prstGeom prst="roundRect">
            <a:avLst>
              <a:gd name="adj" fmla="val 4024"/>
            </a:avLst>
          </a:prstGeom>
          <a:solidFill>
            <a:srgbClr val="E8EEF9"/>
          </a:solidFill>
          <a:ln w="12700">
            <a:solidFill>
              <a:srgbClr val="DCE1EA"/>
            </a:solidFill>
            <a:prstDash val="solid"/>
          </a:ln>
        </p:spPr>
        <p:txBody>
          <a:bodyPr/>
          <a:lstStyle/>
          <a:p>
            <a:endParaRPr lang="en-US" sz="1600"/>
          </a:p>
        </p:txBody>
      </p:sp>
      <p:sp>
        <p:nvSpPr>
          <p:cNvPr id="7" name="Shape 5"/>
          <p:cNvSpPr/>
          <p:nvPr/>
        </p:nvSpPr>
        <p:spPr>
          <a:xfrm>
            <a:off x="685800" y="1371600"/>
            <a:ext cx="411480" cy="411480"/>
          </a:xfrm>
          <a:prstGeom prst="ellipse">
            <a:avLst/>
          </a:prstGeom>
          <a:solidFill>
            <a:srgbClr val="1F3864"/>
          </a:solidFill>
          <a:ln/>
        </p:spPr>
        <p:txBody>
          <a:bodyPr/>
          <a:lstStyle/>
          <a:p>
            <a:endParaRPr lang="en-US" sz="1600"/>
          </a:p>
        </p:txBody>
      </p:sp>
      <p:sp>
        <p:nvSpPr>
          <p:cNvPr id="8" name="Text 6"/>
          <p:cNvSpPr/>
          <p:nvPr/>
        </p:nvSpPr>
        <p:spPr>
          <a:xfrm>
            <a:off x="685800"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658368" y="1874520"/>
            <a:ext cx="1598371"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Capture</a:t>
            </a:r>
            <a:endParaRPr lang="en-US" sz="1600" dirty="0"/>
          </a:p>
        </p:txBody>
      </p:sp>
      <p:sp>
        <p:nvSpPr>
          <p:cNvPr id="10" name="Text 8"/>
          <p:cNvSpPr/>
          <p:nvPr/>
        </p:nvSpPr>
        <p:spPr>
          <a:xfrm>
            <a:off x="658368" y="2423160"/>
            <a:ext cx="1598371" cy="155448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Your camera and microphone record you as digital video and audio.</a:t>
            </a:r>
            <a:endParaRPr lang="en-US" sz="1600" dirty="0"/>
          </a:p>
        </p:txBody>
      </p:sp>
      <p:sp>
        <p:nvSpPr>
          <p:cNvPr id="11" name="Shape 9"/>
          <p:cNvSpPr/>
          <p:nvPr/>
        </p:nvSpPr>
        <p:spPr>
          <a:xfrm>
            <a:off x="2476195" y="2514600"/>
            <a:ext cx="274320" cy="274320"/>
          </a:xfrm>
          <a:prstGeom prst="rightArrow">
            <a:avLst/>
          </a:prstGeom>
          <a:solidFill>
            <a:srgbClr val="B8860B"/>
          </a:solidFill>
          <a:ln/>
        </p:spPr>
        <p:txBody>
          <a:bodyPr/>
          <a:lstStyle/>
          <a:p>
            <a:endParaRPr lang="en-US" sz="1600"/>
          </a:p>
        </p:txBody>
      </p:sp>
      <p:sp>
        <p:nvSpPr>
          <p:cNvPr id="12" name="Shape 10"/>
          <p:cNvSpPr/>
          <p:nvPr/>
        </p:nvSpPr>
        <p:spPr>
          <a:xfrm>
            <a:off x="2860243" y="1234440"/>
            <a:ext cx="1817827" cy="2834640"/>
          </a:xfrm>
          <a:prstGeom prst="roundRect">
            <a:avLst>
              <a:gd name="adj" fmla="val 4024"/>
            </a:avLst>
          </a:prstGeom>
          <a:solidFill>
            <a:srgbClr val="EAF6EC"/>
          </a:solidFill>
          <a:ln w="12700">
            <a:solidFill>
              <a:srgbClr val="DCE1EA"/>
            </a:solidFill>
            <a:prstDash val="solid"/>
          </a:ln>
        </p:spPr>
        <p:txBody>
          <a:bodyPr/>
          <a:lstStyle/>
          <a:p>
            <a:endParaRPr lang="en-US" sz="1600"/>
          </a:p>
        </p:txBody>
      </p:sp>
      <p:sp>
        <p:nvSpPr>
          <p:cNvPr id="13" name="Shape 11"/>
          <p:cNvSpPr/>
          <p:nvPr/>
        </p:nvSpPr>
        <p:spPr>
          <a:xfrm>
            <a:off x="2997403" y="1371600"/>
            <a:ext cx="411480" cy="411480"/>
          </a:xfrm>
          <a:prstGeom prst="ellipse">
            <a:avLst/>
          </a:prstGeom>
          <a:solidFill>
            <a:srgbClr val="1F3864"/>
          </a:solidFill>
          <a:ln/>
        </p:spPr>
        <p:txBody>
          <a:bodyPr/>
          <a:lstStyle/>
          <a:p>
            <a:endParaRPr lang="en-US" sz="1600"/>
          </a:p>
        </p:txBody>
      </p:sp>
      <p:sp>
        <p:nvSpPr>
          <p:cNvPr id="14" name="Text 12"/>
          <p:cNvSpPr/>
          <p:nvPr/>
        </p:nvSpPr>
        <p:spPr>
          <a:xfrm>
            <a:off x="2997403"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2969971" y="1874520"/>
            <a:ext cx="1598371"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Compress</a:t>
            </a:r>
            <a:endParaRPr lang="en-US" sz="1600" dirty="0"/>
          </a:p>
        </p:txBody>
      </p:sp>
      <p:sp>
        <p:nvSpPr>
          <p:cNvPr id="16" name="Text 14"/>
          <p:cNvSpPr/>
          <p:nvPr/>
        </p:nvSpPr>
        <p:spPr>
          <a:xfrm>
            <a:off x="2969971" y="2423160"/>
            <a:ext cx="1598371" cy="155448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A codec shrinks the data so it can travel over normal internet connections.</a:t>
            </a:r>
            <a:endParaRPr lang="en-US" sz="1600" dirty="0"/>
          </a:p>
        </p:txBody>
      </p:sp>
      <p:sp>
        <p:nvSpPr>
          <p:cNvPr id="17" name="Shape 15"/>
          <p:cNvSpPr/>
          <p:nvPr/>
        </p:nvSpPr>
        <p:spPr>
          <a:xfrm>
            <a:off x="4787798" y="2514600"/>
            <a:ext cx="274320" cy="274320"/>
          </a:xfrm>
          <a:prstGeom prst="rightArrow">
            <a:avLst/>
          </a:prstGeom>
          <a:solidFill>
            <a:srgbClr val="B8860B"/>
          </a:solidFill>
          <a:ln/>
        </p:spPr>
        <p:txBody>
          <a:bodyPr/>
          <a:lstStyle/>
          <a:p>
            <a:endParaRPr lang="en-US" sz="1600"/>
          </a:p>
        </p:txBody>
      </p:sp>
      <p:sp>
        <p:nvSpPr>
          <p:cNvPr id="18" name="Shape 16"/>
          <p:cNvSpPr/>
          <p:nvPr/>
        </p:nvSpPr>
        <p:spPr>
          <a:xfrm>
            <a:off x="5171846" y="1234440"/>
            <a:ext cx="1817827" cy="2834640"/>
          </a:xfrm>
          <a:prstGeom prst="roundRect">
            <a:avLst>
              <a:gd name="adj" fmla="val 4024"/>
            </a:avLst>
          </a:prstGeom>
          <a:solidFill>
            <a:srgbClr val="E8EEF9"/>
          </a:solidFill>
          <a:ln w="12700">
            <a:solidFill>
              <a:srgbClr val="DCE1EA"/>
            </a:solidFill>
            <a:prstDash val="solid"/>
          </a:ln>
        </p:spPr>
        <p:txBody>
          <a:bodyPr/>
          <a:lstStyle/>
          <a:p>
            <a:endParaRPr lang="en-US" sz="1600"/>
          </a:p>
        </p:txBody>
      </p:sp>
      <p:sp>
        <p:nvSpPr>
          <p:cNvPr id="19" name="Shape 17"/>
          <p:cNvSpPr/>
          <p:nvPr/>
        </p:nvSpPr>
        <p:spPr>
          <a:xfrm>
            <a:off x="5309006" y="1371600"/>
            <a:ext cx="411480" cy="411480"/>
          </a:xfrm>
          <a:prstGeom prst="ellipse">
            <a:avLst/>
          </a:prstGeom>
          <a:solidFill>
            <a:srgbClr val="1F3864"/>
          </a:solidFill>
          <a:ln/>
        </p:spPr>
        <p:txBody>
          <a:bodyPr/>
          <a:lstStyle/>
          <a:p>
            <a:endParaRPr lang="en-US" sz="1600"/>
          </a:p>
        </p:txBody>
      </p:sp>
      <p:sp>
        <p:nvSpPr>
          <p:cNvPr id="20" name="Text 18"/>
          <p:cNvSpPr/>
          <p:nvPr/>
        </p:nvSpPr>
        <p:spPr>
          <a:xfrm>
            <a:off x="5309006"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5281574" y="1874520"/>
            <a:ext cx="1598371"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Transmit</a:t>
            </a:r>
            <a:endParaRPr lang="en-US" sz="1600" dirty="0"/>
          </a:p>
        </p:txBody>
      </p:sp>
      <p:sp>
        <p:nvSpPr>
          <p:cNvPr id="22" name="Text 20"/>
          <p:cNvSpPr/>
          <p:nvPr/>
        </p:nvSpPr>
        <p:spPr>
          <a:xfrm>
            <a:off x="5281574" y="2423160"/>
            <a:ext cx="1598371" cy="155448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Data is sent as small packets over the internet, often using real-time protocols such as WebRTC.</a:t>
            </a:r>
            <a:endParaRPr lang="en-US" sz="1600" dirty="0"/>
          </a:p>
        </p:txBody>
      </p:sp>
      <p:sp>
        <p:nvSpPr>
          <p:cNvPr id="23" name="Shape 21"/>
          <p:cNvSpPr/>
          <p:nvPr/>
        </p:nvSpPr>
        <p:spPr>
          <a:xfrm>
            <a:off x="7099402" y="2514600"/>
            <a:ext cx="274320" cy="274320"/>
          </a:xfrm>
          <a:prstGeom prst="rightArrow">
            <a:avLst/>
          </a:prstGeom>
          <a:solidFill>
            <a:srgbClr val="B8860B"/>
          </a:solidFill>
          <a:ln/>
        </p:spPr>
        <p:txBody>
          <a:bodyPr/>
          <a:lstStyle/>
          <a:p>
            <a:endParaRPr lang="en-US" sz="1600"/>
          </a:p>
        </p:txBody>
      </p:sp>
      <p:sp>
        <p:nvSpPr>
          <p:cNvPr id="24" name="Shape 22"/>
          <p:cNvSpPr/>
          <p:nvPr/>
        </p:nvSpPr>
        <p:spPr>
          <a:xfrm>
            <a:off x="7483450" y="1234440"/>
            <a:ext cx="1817827" cy="2834640"/>
          </a:xfrm>
          <a:prstGeom prst="roundRect">
            <a:avLst>
              <a:gd name="adj" fmla="val 4024"/>
            </a:avLst>
          </a:prstGeom>
          <a:solidFill>
            <a:srgbClr val="EAF6EC"/>
          </a:solidFill>
          <a:ln w="12700">
            <a:solidFill>
              <a:srgbClr val="DCE1EA"/>
            </a:solidFill>
            <a:prstDash val="solid"/>
          </a:ln>
        </p:spPr>
        <p:txBody>
          <a:bodyPr/>
          <a:lstStyle/>
          <a:p>
            <a:endParaRPr lang="en-US" sz="1600"/>
          </a:p>
        </p:txBody>
      </p:sp>
      <p:sp>
        <p:nvSpPr>
          <p:cNvPr id="25" name="Shape 23"/>
          <p:cNvSpPr/>
          <p:nvPr/>
        </p:nvSpPr>
        <p:spPr>
          <a:xfrm>
            <a:off x="7620610" y="1371600"/>
            <a:ext cx="411480" cy="411480"/>
          </a:xfrm>
          <a:prstGeom prst="ellipse">
            <a:avLst/>
          </a:prstGeom>
          <a:solidFill>
            <a:srgbClr val="1F3864"/>
          </a:solidFill>
          <a:ln/>
        </p:spPr>
        <p:txBody>
          <a:bodyPr/>
          <a:lstStyle/>
          <a:p>
            <a:endParaRPr lang="en-US" sz="1600"/>
          </a:p>
        </p:txBody>
      </p:sp>
      <p:sp>
        <p:nvSpPr>
          <p:cNvPr id="26" name="Text 24"/>
          <p:cNvSpPr/>
          <p:nvPr/>
        </p:nvSpPr>
        <p:spPr>
          <a:xfrm>
            <a:off x="7620610"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7593178" y="1874520"/>
            <a:ext cx="1598371"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Relay</a:t>
            </a:r>
            <a:endParaRPr lang="en-US" sz="1600" dirty="0"/>
          </a:p>
        </p:txBody>
      </p:sp>
      <p:sp>
        <p:nvSpPr>
          <p:cNvPr id="28" name="Text 26"/>
          <p:cNvSpPr/>
          <p:nvPr/>
        </p:nvSpPr>
        <p:spPr>
          <a:xfrm>
            <a:off x="7593178" y="2423160"/>
            <a:ext cx="1598371" cy="155448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A meeting server receives each stream and forwards it to every participant.</a:t>
            </a:r>
            <a:endParaRPr lang="en-US" sz="1600" dirty="0"/>
          </a:p>
        </p:txBody>
      </p:sp>
      <p:sp>
        <p:nvSpPr>
          <p:cNvPr id="29" name="Shape 27"/>
          <p:cNvSpPr/>
          <p:nvPr/>
        </p:nvSpPr>
        <p:spPr>
          <a:xfrm>
            <a:off x="9411005" y="2514600"/>
            <a:ext cx="274320" cy="274320"/>
          </a:xfrm>
          <a:prstGeom prst="rightArrow">
            <a:avLst/>
          </a:prstGeom>
          <a:solidFill>
            <a:srgbClr val="B8860B"/>
          </a:solidFill>
          <a:ln/>
        </p:spPr>
        <p:txBody>
          <a:bodyPr/>
          <a:lstStyle/>
          <a:p>
            <a:endParaRPr lang="en-US" sz="1600"/>
          </a:p>
        </p:txBody>
      </p:sp>
      <p:sp>
        <p:nvSpPr>
          <p:cNvPr id="30" name="Shape 28"/>
          <p:cNvSpPr/>
          <p:nvPr/>
        </p:nvSpPr>
        <p:spPr>
          <a:xfrm>
            <a:off x="9795053" y="1234440"/>
            <a:ext cx="1817827" cy="2834640"/>
          </a:xfrm>
          <a:prstGeom prst="roundRect">
            <a:avLst>
              <a:gd name="adj" fmla="val 4024"/>
            </a:avLst>
          </a:prstGeom>
          <a:solidFill>
            <a:srgbClr val="E8EEF9"/>
          </a:solidFill>
          <a:ln w="12700">
            <a:solidFill>
              <a:srgbClr val="DCE1EA"/>
            </a:solidFill>
            <a:prstDash val="solid"/>
          </a:ln>
        </p:spPr>
        <p:txBody>
          <a:bodyPr/>
          <a:lstStyle/>
          <a:p>
            <a:endParaRPr lang="en-US" sz="1600"/>
          </a:p>
        </p:txBody>
      </p:sp>
      <p:sp>
        <p:nvSpPr>
          <p:cNvPr id="31" name="Shape 29"/>
          <p:cNvSpPr/>
          <p:nvPr/>
        </p:nvSpPr>
        <p:spPr>
          <a:xfrm>
            <a:off x="9932213" y="1371600"/>
            <a:ext cx="411480" cy="411480"/>
          </a:xfrm>
          <a:prstGeom prst="ellipse">
            <a:avLst/>
          </a:prstGeom>
          <a:solidFill>
            <a:srgbClr val="1F3864"/>
          </a:solidFill>
          <a:ln/>
        </p:spPr>
        <p:txBody>
          <a:bodyPr/>
          <a:lstStyle/>
          <a:p>
            <a:endParaRPr lang="en-US" sz="1600"/>
          </a:p>
        </p:txBody>
      </p:sp>
      <p:sp>
        <p:nvSpPr>
          <p:cNvPr id="32" name="Text 30"/>
          <p:cNvSpPr/>
          <p:nvPr/>
        </p:nvSpPr>
        <p:spPr>
          <a:xfrm>
            <a:off x="9932213"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3" name="Text 31"/>
          <p:cNvSpPr/>
          <p:nvPr/>
        </p:nvSpPr>
        <p:spPr>
          <a:xfrm>
            <a:off x="9904781" y="1874520"/>
            <a:ext cx="1598371"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Display</a:t>
            </a:r>
            <a:endParaRPr lang="en-US" sz="1600" dirty="0"/>
          </a:p>
        </p:txBody>
      </p:sp>
      <p:sp>
        <p:nvSpPr>
          <p:cNvPr id="34" name="Text 32"/>
          <p:cNvSpPr/>
          <p:nvPr/>
        </p:nvSpPr>
        <p:spPr>
          <a:xfrm>
            <a:off x="9904781" y="2423160"/>
            <a:ext cx="1598371" cy="155448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Each device decodes the data and shows video while playing the audio.</a:t>
            </a:r>
            <a:endParaRPr lang="en-US" sz="1600" dirty="0"/>
          </a:p>
        </p:txBody>
      </p:sp>
      <p:sp>
        <p:nvSpPr>
          <p:cNvPr id="35" name="Shape 33"/>
          <p:cNvSpPr/>
          <p:nvPr/>
        </p:nvSpPr>
        <p:spPr>
          <a:xfrm>
            <a:off x="548640" y="4343400"/>
            <a:ext cx="3566160" cy="1325880"/>
          </a:xfrm>
          <a:prstGeom prst="roundRect">
            <a:avLst>
              <a:gd name="adj" fmla="val 5517"/>
            </a:avLst>
          </a:prstGeom>
          <a:solidFill>
            <a:srgbClr val="E8EEF9"/>
          </a:solidFill>
          <a:ln w="12700">
            <a:solidFill>
              <a:srgbClr val="DCE1EA"/>
            </a:solidFill>
            <a:prstDash val="solid"/>
          </a:ln>
        </p:spPr>
        <p:txBody>
          <a:bodyPr/>
          <a:lstStyle/>
          <a:p>
            <a:endParaRPr lang="en-US" sz="1600"/>
          </a:p>
        </p:txBody>
      </p:sp>
      <p:sp>
        <p:nvSpPr>
          <p:cNvPr id="36" name="Text 34"/>
          <p:cNvSpPr/>
          <p:nvPr/>
        </p:nvSpPr>
        <p:spPr>
          <a:xfrm>
            <a:off x="731520" y="445312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Purpose</a:t>
            </a:r>
            <a:endParaRPr lang="en-US" sz="1600" dirty="0"/>
          </a:p>
        </p:txBody>
      </p:sp>
      <p:sp>
        <p:nvSpPr>
          <p:cNvPr id="37" name="Text 35"/>
          <p:cNvSpPr/>
          <p:nvPr/>
        </p:nvSpPr>
        <p:spPr>
          <a:xfrm>
            <a:off x="731520" y="478231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Real-time, face-to-face communication across distance: classes, meetings, interviews, webinars, and consultations.</a:t>
            </a:r>
            <a:endParaRPr lang="en-US" sz="1600" dirty="0"/>
          </a:p>
        </p:txBody>
      </p:sp>
      <p:sp>
        <p:nvSpPr>
          <p:cNvPr id="38" name="Shape 36"/>
          <p:cNvSpPr/>
          <p:nvPr/>
        </p:nvSpPr>
        <p:spPr>
          <a:xfrm>
            <a:off x="4297680" y="4343400"/>
            <a:ext cx="3566160" cy="1325880"/>
          </a:xfrm>
          <a:prstGeom prst="roundRect">
            <a:avLst>
              <a:gd name="adj" fmla="val 5517"/>
            </a:avLst>
          </a:prstGeom>
          <a:solidFill>
            <a:srgbClr val="FDF3E3"/>
          </a:solidFill>
          <a:ln w="12700">
            <a:solidFill>
              <a:srgbClr val="DCE1EA"/>
            </a:solidFill>
            <a:prstDash val="solid"/>
          </a:ln>
        </p:spPr>
        <p:txBody>
          <a:bodyPr/>
          <a:lstStyle/>
          <a:p>
            <a:endParaRPr lang="en-US" sz="1600"/>
          </a:p>
        </p:txBody>
      </p:sp>
      <p:sp>
        <p:nvSpPr>
          <p:cNvPr id="39" name="Text 37"/>
          <p:cNvSpPr/>
          <p:nvPr/>
        </p:nvSpPr>
        <p:spPr>
          <a:xfrm>
            <a:off x="4480560" y="445312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What you need</a:t>
            </a:r>
            <a:endParaRPr lang="en-US" sz="1600" dirty="0"/>
          </a:p>
        </p:txBody>
      </p:sp>
      <p:sp>
        <p:nvSpPr>
          <p:cNvPr id="40" name="Text 38"/>
          <p:cNvSpPr/>
          <p:nvPr/>
        </p:nvSpPr>
        <p:spPr>
          <a:xfrm>
            <a:off x="4480560" y="478231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A device with a camera and microphone, a stable internet connection, and a free or institutional account.</a:t>
            </a:r>
            <a:endParaRPr lang="en-US" sz="1600" dirty="0"/>
          </a:p>
        </p:txBody>
      </p:sp>
      <p:sp>
        <p:nvSpPr>
          <p:cNvPr id="41" name="Shape 39"/>
          <p:cNvSpPr/>
          <p:nvPr/>
        </p:nvSpPr>
        <p:spPr>
          <a:xfrm>
            <a:off x="8046720" y="4343400"/>
            <a:ext cx="3566160" cy="1325880"/>
          </a:xfrm>
          <a:prstGeom prst="roundRect">
            <a:avLst>
              <a:gd name="adj" fmla="val 5517"/>
            </a:avLst>
          </a:prstGeom>
          <a:solidFill>
            <a:srgbClr val="E8EEF9"/>
          </a:solidFill>
          <a:ln w="12700">
            <a:solidFill>
              <a:srgbClr val="DCE1EA"/>
            </a:solidFill>
            <a:prstDash val="solid"/>
          </a:ln>
        </p:spPr>
        <p:txBody>
          <a:bodyPr/>
          <a:lstStyle/>
          <a:p>
            <a:endParaRPr lang="en-US" sz="1600"/>
          </a:p>
        </p:txBody>
      </p:sp>
      <p:sp>
        <p:nvSpPr>
          <p:cNvPr id="42" name="Text 40"/>
          <p:cNvSpPr/>
          <p:nvPr/>
        </p:nvSpPr>
        <p:spPr>
          <a:xfrm>
            <a:off x="8229600" y="445312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Quality depends on</a:t>
            </a:r>
            <a:endParaRPr lang="en-US" sz="1600" dirty="0"/>
          </a:p>
        </p:txBody>
      </p:sp>
      <p:sp>
        <p:nvSpPr>
          <p:cNvPr id="43" name="Text 41"/>
          <p:cNvSpPr/>
          <p:nvPr/>
        </p:nvSpPr>
        <p:spPr>
          <a:xfrm>
            <a:off x="8229600" y="478231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Bandwidth (speed), latency (delay), and device power — which is why a wired or strong Wi-Fi link gives a better call.</a:t>
            </a:r>
            <a:endParaRPr lang="en-US" sz="1600" dirty="0"/>
          </a:p>
        </p:txBody>
      </p:sp>
      <p:sp>
        <p:nvSpPr>
          <p:cNvPr id="44" name="Text 4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45" name="Text 4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6 RECAP — GOOGLE MEET</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Google Meet — Inside a Live Meeting</a:t>
            </a:r>
            <a:endParaRPr lang="en-US" sz="2400" dirty="0"/>
          </a:p>
        </p:txBody>
      </p:sp>
      <p:pic>
        <p:nvPicPr>
          <p:cNvPr id="6" name="Image 0" descr="mockups/gmeet_interface.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PURPOSE</a:t>
            </a:r>
            <a:endParaRPr lang="en-US"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Quick, lightweight video meetings from the browser, tightly linked to Google Calendar, Gmail, and Workspace files.</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HOW IT WORKS</a:t>
            </a:r>
            <a:endParaRPr lang="en-US" dirty="0"/>
          </a:p>
        </p:txBody>
      </p:sp>
      <p:sp>
        <p:nvSpPr>
          <p:cNvPr id="13" name="Text 10"/>
          <p:cNvSpPr/>
          <p:nvPr/>
        </p:nvSpPr>
        <p:spPr>
          <a:xfrm>
            <a:off x="8138160" y="2676144"/>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Start from a Calendar invite or a meet.google.com link — no software install is needed on a computer.</a:t>
            </a:r>
            <a:endParaRPr lang="en-US" sz="1600" dirty="0"/>
          </a:p>
        </p:txBody>
      </p:sp>
      <p:sp>
        <p:nvSpPr>
          <p:cNvPr id="14" name="Text 11"/>
          <p:cNvSpPr/>
          <p:nvPr/>
        </p:nvSpPr>
        <p:spPr>
          <a:xfrm>
            <a:off x="8138160" y="3505200"/>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ON-SCREEN CONTROLS</a:t>
            </a:r>
            <a:endParaRPr lang="en-US" dirty="0"/>
          </a:p>
        </p:txBody>
      </p:sp>
      <p:sp>
        <p:nvSpPr>
          <p:cNvPr id="15" name="Text 12"/>
          <p:cNvSpPr/>
          <p:nvPr/>
        </p:nvSpPr>
        <p:spPr>
          <a:xfrm>
            <a:off x="8138160" y="3797808"/>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Mic and camera toggles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Live captions (speech-to-text)</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Present now — share screen or tab</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Reactions and in-call chat</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6 RECAP — GOOGLE MEET</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Google Meet — Facilities &amp; Positive Uses</a:t>
            </a:r>
            <a:endParaRPr lang="en-US" sz="2400" dirty="0"/>
          </a:p>
        </p:txBody>
      </p:sp>
      <p:sp>
        <p:nvSpPr>
          <p:cNvPr id="6" name="Shape 4"/>
          <p:cNvSpPr/>
          <p:nvPr/>
        </p:nvSpPr>
        <p:spPr>
          <a:xfrm>
            <a:off x="54864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Deep Google Workspace Integration</a:t>
            </a:r>
            <a:endParaRPr lang="en-US"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Joins directly from Calendar, Gmail, and Docs/Sheets/Slides — meeting links generate automatically.</a:t>
            </a:r>
            <a:endParaRPr lang="en-US" sz="1600" dirty="0"/>
          </a:p>
        </p:txBody>
      </p:sp>
      <p:sp>
        <p:nvSpPr>
          <p:cNvPr id="9" name="Shape 7"/>
          <p:cNvSpPr/>
          <p:nvPr/>
        </p:nvSpPr>
        <p:spPr>
          <a:xfrm>
            <a:off x="6172200" y="114300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Live Captions &amp; Translation</a:t>
            </a:r>
            <a:endParaRPr lang="en-US"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Real-time AI captions support students who are hard of hearing or learning in a second language.</a:t>
            </a:r>
            <a:endParaRPr lang="en-US" sz="1600" dirty="0"/>
          </a:p>
        </p:txBody>
      </p:sp>
      <p:sp>
        <p:nvSpPr>
          <p:cNvPr id="12" name="Shape 10"/>
          <p:cNvSpPr/>
          <p:nvPr/>
        </p:nvSpPr>
        <p:spPr>
          <a:xfrm>
            <a:off x="54864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Breakout Rooms</a:t>
            </a:r>
            <a:endParaRPr lang="en-US"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Hosts split large classes into small discussion groups, then bring everyone back together.</a:t>
            </a:r>
            <a:endParaRPr lang="en-US" sz="1600" dirty="0"/>
          </a:p>
        </p:txBody>
      </p:sp>
      <p:sp>
        <p:nvSpPr>
          <p:cNvPr id="15" name="Shape 13"/>
          <p:cNvSpPr/>
          <p:nvPr/>
        </p:nvSpPr>
        <p:spPr>
          <a:xfrm>
            <a:off x="6172200" y="288036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Noise Cancellation &amp; Low-Light Mode</a:t>
            </a:r>
            <a:endParaRPr lang="en-US"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AI filters background noise and brightens video in poor lighting — useful for students joining from busy homes.</a:t>
            </a:r>
            <a:endParaRPr lang="en-US" sz="1600" dirty="0"/>
          </a:p>
        </p:txBody>
      </p:sp>
      <p:sp>
        <p:nvSpPr>
          <p:cNvPr id="18" name="Shape 16"/>
          <p:cNvSpPr/>
          <p:nvPr/>
        </p:nvSpPr>
        <p:spPr>
          <a:xfrm>
            <a:off x="54864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Browser-Based Access</a:t>
            </a:r>
            <a:endParaRPr lang="en-US"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No installation needed on shared or low-spec computers; works from almost any device.</a:t>
            </a:r>
            <a:endParaRPr lang="en-US" sz="1600" dirty="0"/>
          </a:p>
        </p:txBody>
      </p:sp>
      <p:sp>
        <p:nvSpPr>
          <p:cNvPr id="21" name="Shape 19"/>
          <p:cNvSpPr/>
          <p:nvPr/>
        </p:nvSpPr>
        <p:spPr>
          <a:xfrm>
            <a:off x="6172200" y="461772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Positive Use in Education</a:t>
            </a:r>
            <a:endParaRPr lang="en-US"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Common for guest lectures, office hours, and viva or defense sessions; free plans include time limits on group meetings.</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6 RECAP — MICROSOFT TEAMS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Microsoft Teams — Inside a Live Meeting</a:t>
            </a:r>
            <a:endParaRPr lang="en-US" sz="2400" dirty="0"/>
          </a:p>
        </p:txBody>
      </p:sp>
      <p:pic>
        <p:nvPicPr>
          <p:cNvPr id="6" name="Image 0" descr="mockups/teams_interface.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PURPOSE</a:t>
            </a:r>
            <a:endParaRPr lang="en-US"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 complete collaboration hub for institutions and companies: meetings, chat, channels, and shared files in one app.</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HOW IT WORKS</a:t>
            </a:r>
            <a:endParaRPr lang="en-US" dirty="0"/>
          </a:p>
        </p:txBody>
      </p:sp>
      <p:sp>
        <p:nvSpPr>
          <p:cNvPr id="13" name="Text 10"/>
          <p:cNvSpPr/>
          <p:nvPr/>
        </p:nvSpPr>
        <p:spPr>
          <a:xfrm>
            <a:off x="8138160" y="2676144"/>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Built into Microsoft 365. Meetings are scheduled in Outlook Calendar and opened from the Teams desktop or web app.</a:t>
            </a:r>
            <a:endParaRPr lang="en-US" sz="1600" dirty="0"/>
          </a:p>
        </p:txBody>
      </p:sp>
      <p:sp>
        <p:nvSpPr>
          <p:cNvPr id="14" name="Text 11"/>
          <p:cNvSpPr/>
          <p:nvPr/>
        </p:nvSpPr>
        <p:spPr>
          <a:xfrm>
            <a:off x="8138160" y="3505200"/>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LEFT NAVIGATION</a:t>
            </a:r>
            <a:endParaRPr lang="en-US" dirty="0"/>
          </a:p>
        </p:txBody>
      </p:sp>
      <p:sp>
        <p:nvSpPr>
          <p:cNvPr id="15" name="Text 12"/>
          <p:cNvSpPr/>
          <p:nvPr/>
        </p:nvSpPr>
        <p:spPr>
          <a:xfrm>
            <a:off x="8138160" y="3797808"/>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Activity — mentions and notifications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Chat — one-to-one and group messages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Teams — channels per class or project</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Calendar, Calls, and Files</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6 RECAP — MICROSOFT TEAMS</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Microsoft Teams — Facilities &amp; Positive Uses</a:t>
            </a:r>
            <a:endParaRPr lang="en-US" sz="2400" dirty="0"/>
          </a:p>
        </p:txBody>
      </p:sp>
      <p:sp>
        <p:nvSpPr>
          <p:cNvPr id="6" name="Shape 4"/>
          <p:cNvSpPr/>
          <p:nvPr/>
        </p:nvSpPr>
        <p:spPr>
          <a:xfrm>
            <a:off x="548640" y="114300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Together Mode</a:t>
            </a:r>
            <a:endParaRPr lang="en-US"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Places everyone in one shared virtual setting (such as a lecture hall) to reduce “video-grid fatigue.”</a:t>
            </a:r>
            <a:endParaRPr lang="en-US" sz="1600" dirty="0"/>
          </a:p>
        </p:txBody>
      </p:sp>
      <p:sp>
        <p:nvSpPr>
          <p:cNvPr id="9" name="Shape 7"/>
          <p:cNvSpPr/>
          <p:nvPr/>
        </p:nvSpPr>
        <p:spPr>
          <a:xfrm>
            <a:off x="6172200" y="114300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Channels &amp; Persistent Chat</a:t>
            </a:r>
            <a:endParaRPr lang="en-US"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Each class or project has channels where recordings, files, and chat history stay organized after the call.</a:t>
            </a:r>
            <a:endParaRPr lang="en-US" sz="1600" dirty="0"/>
          </a:p>
        </p:txBody>
      </p:sp>
      <p:sp>
        <p:nvSpPr>
          <p:cNvPr id="12" name="Shape 10"/>
          <p:cNvSpPr/>
          <p:nvPr/>
        </p:nvSpPr>
        <p:spPr>
          <a:xfrm>
            <a:off x="548640" y="288036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Office App Integration</a:t>
            </a:r>
            <a:endParaRPr lang="en-US"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Open and co-edit Word, Excel, and PowerPoint files during a meeting — ideal for group assignment reviews.</a:t>
            </a:r>
            <a:endParaRPr lang="en-US" sz="1600" dirty="0"/>
          </a:p>
        </p:txBody>
      </p:sp>
      <p:sp>
        <p:nvSpPr>
          <p:cNvPr id="15" name="Shape 13"/>
          <p:cNvSpPr/>
          <p:nvPr/>
        </p:nvSpPr>
        <p:spPr>
          <a:xfrm>
            <a:off x="6172200" y="288036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Recording &amp; Transcripts</a:t>
            </a:r>
            <a:endParaRPr lang="en-US"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Meetings can be recorded with searchable transcripts, so absent students can catch up.</a:t>
            </a:r>
            <a:endParaRPr lang="en-US" sz="1600" dirty="0"/>
          </a:p>
        </p:txBody>
      </p:sp>
      <p:sp>
        <p:nvSpPr>
          <p:cNvPr id="18" name="Shape 16"/>
          <p:cNvSpPr/>
          <p:nvPr/>
        </p:nvSpPr>
        <p:spPr>
          <a:xfrm>
            <a:off x="548640" y="4617720"/>
            <a:ext cx="5394960" cy="1600200"/>
          </a:xfrm>
          <a:prstGeom prst="roundRect">
            <a:avLst>
              <a:gd name="adj" fmla="val 4571"/>
            </a:avLst>
          </a:prstGeom>
          <a:solidFill>
            <a:srgbClr val="E8EEF9"/>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Breakout Rooms</a:t>
            </a:r>
            <a:endParaRPr lang="en-US"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Hosts create small-group rooms for case studies and can send announcements to all rooms.</a:t>
            </a:r>
            <a:endParaRPr lang="en-US" sz="1600" dirty="0"/>
          </a:p>
        </p:txBody>
      </p:sp>
      <p:sp>
        <p:nvSpPr>
          <p:cNvPr id="21" name="Shape 19"/>
          <p:cNvSpPr/>
          <p:nvPr/>
        </p:nvSpPr>
        <p:spPr>
          <a:xfrm>
            <a:off x="6172200" y="461772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Positive Use in Education</a:t>
            </a:r>
            <a:endParaRPr lang="en-US"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Fits naturally where a university already uses Microsoft 365 accounts for official classes and meetings.</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6 RECAP — ZOOM</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Zoom — Inside a Live Meeting</a:t>
            </a:r>
            <a:endParaRPr lang="en-US" sz="2400" dirty="0"/>
          </a:p>
        </p:txBody>
      </p:sp>
      <p:pic>
        <p:nvPicPr>
          <p:cNvPr id="6" name="Image 0" descr="mockups/zoom_interface.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PURPOSE</a:t>
            </a:r>
            <a:endParaRPr lang="en-US"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Reliable video meetings and large webinars for any organization, whichever email or office system they use.</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HOW IT WORKS</a:t>
            </a:r>
            <a:endParaRPr lang="en-US" dirty="0"/>
          </a:p>
        </p:txBody>
      </p:sp>
      <p:sp>
        <p:nvSpPr>
          <p:cNvPr id="13" name="Text 10"/>
          <p:cNvSpPr/>
          <p:nvPr/>
        </p:nvSpPr>
        <p:spPr>
          <a:xfrm>
            <a:off x="8138160" y="2676144"/>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Join through the Zoom app (or browser) using a Meeting ID and passcode. Known for stable quality on weaker connections.</a:t>
            </a:r>
            <a:endParaRPr lang="en-US" sz="1600" dirty="0"/>
          </a:p>
        </p:txBody>
      </p:sp>
      <p:sp>
        <p:nvSpPr>
          <p:cNvPr id="14" name="Text 11"/>
          <p:cNvSpPr/>
          <p:nvPr/>
        </p:nvSpPr>
        <p:spPr>
          <a:xfrm>
            <a:off x="8138160" y="3505200"/>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ON-SCREEN CONTROLS</a:t>
            </a:r>
            <a:endParaRPr lang="en-US" dirty="0"/>
          </a:p>
        </p:txBody>
      </p:sp>
      <p:sp>
        <p:nvSpPr>
          <p:cNvPr id="15" name="Text 12"/>
          <p:cNvSpPr/>
          <p:nvPr/>
        </p:nvSpPr>
        <p:spPr>
          <a:xfrm>
            <a:off x="8138160" y="3797808"/>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Security — lock meeting, waiting room</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Gallery view of many participants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Share Screen with annotation</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Breakout Rooms and Record</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6 RECAP — ZOOM</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Zoom — Facilities &amp; Positive Uses</a:t>
            </a:r>
            <a:endParaRPr lang="en-US" sz="2400" dirty="0"/>
          </a:p>
        </p:txBody>
      </p:sp>
      <p:sp>
        <p:nvSpPr>
          <p:cNvPr id="6" name="Shape 4"/>
          <p:cNvSpPr/>
          <p:nvPr/>
        </p:nvSpPr>
        <p:spPr>
          <a:xfrm>
            <a:off x="548640" y="1143000"/>
            <a:ext cx="5394960" cy="1600200"/>
          </a:xfrm>
          <a:prstGeom prst="roundRect">
            <a:avLst>
              <a:gd name="adj" fmla="val 4571"/>
            </a:avLst>
          </a:prstGeom>
          <a:solidFill>
            <a:srgbClr val="FBEAEA"/>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Dedicated Security Panel</a:t>
            </a:r>
            <a:endParaRPr lang="en-US"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One “Security” button lets a host lock the meeting, enable a waiting room, or limit sharing and chat — a defense against “Zoom-bombing.”</a:t>
            </a:r>
            <a:endParaRPr lang="en-US" sz="1600" dirty="0"/>
          </a:p>
        </p:txBody>
      </p:sp>
      <p:sp>
        <p:nvSpPr>
          <p:cNvPr id="9" name="Shape 7"/>
          <p:cNvSpPr/>
          <p:nvPr/>
        </p:nvSpPr>
        <p:spPr>
          <a:xfrm>
            <a:off x="6172200" y="114300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Breakout Rooms</a:t>
            </a:r>
            <a:endParaRPr lang="en-US"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Mature tools to assign participants to many small rooms, broadcast messages, and set timers to return.</a:t>
            </a:r>
            <a:endParaRPr lang="en-US" sz="1600" dirty="0"/>
          </a:p>
        </p:txBody>
      </p:sp>
      <p:sp>
        <p:nvSpPr>
          <p:cNvPr id="12" name="Shape 10"/>
          <p:cNvSpPr/>
          <p:nvPr/>
        </p:nvSpPr>
        <p:spPr>
          <a:xfrm>
            <a:off x="548640" y="2880360"/>
            <a:ext cx="5394960" cy="1600200"/>
          </a:xfrm>
          <a:prstGeom prst="roundRect">
            <a:avLst>
              <a:gd name="adj" fmla="val 4571"/>
            </a:avLst>
          </a:prstGeom>
          <a:solidFill>
            <a:srgbClr val="FBEAEA"/>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Webinar Mode</a:t>
            </a:r>
            <a:endParaRPr lang="en-US"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Supports very large audiences who only watch, with Q&amp;A and polling — used for seminars and public lectures.</a:t>
            </a:r>
            <a:endParaRPr lang="en-US" sz="1600" dirty="0"/>
          </a:p>
        </p:txBody>
      </p:sp>
      <p:sp>
        <p:nvSpPr>
          <p:cNvPr id="15" name="Shape 13"/>
          <p:cNvSpPr/>
          <p:nvPr/>
        </p:nvSpPr>
        <p:spPr>
          <a:xfrm>
            <a:off x="6172200" y="288036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Virtual Backgrounds &amp; Filters</a:t>
            </a:r>
            <a:endParaRPr lang="en-US"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Backgrounds and touch-up options help presenters look professional without a studio.</a:t>
            </a:r>
            <a:endParaRPr lang="en-US" sz="1600" dirty="0"/>
          </a:p>
        </p:txBody>
      </p:sp>
      <p:sp>
        <p:nvSpPr>
          <p:cNvPr id="18" name="Shape 16"/>
          <p:cNvSpPr/>
          <p:nvPr/>
        </p:nvSpPr>
        <p:spPr>
          <a:xfrm>
            <a:off x="548640" y="4617720"/>
            <a:ext cx="5394960" cy="1600200"/>
          </a:xfrm>
          <a:prstGeom prst="roundRect">
            <a:avLst>
              <a:gd name="adj" fmla="val 4571"/>
            </a:avLst>
          </a:prstGeom>
          <a:solidFill>
            <a:srgbClr val="FBEAEA"/>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Cloud Recording &amp; Transcripts</a:t>
            </a:r>
            <a:endParaRPr lang="en-US"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Paid plans can store recordings and generate transcripts that become revision material.</a:t>
            </a:r>
            <a:endParaRPr lang="en-US" sz="1600" dirty="0"/>
          </a:p>
        </p:txBody>
      </p:sp>
      <p:sp>
        <p:nvSpPr>
          <p:cNvPr id="21" name="Shape 19"/>
          <p:cNvSpPr/>
          <p:nvPr/>
        </p:nvSpPr>
        <p:spPr>
          <a:xfrm>
            <a:off x="6172200" y="461772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Positive Use in Education</a:t>
            </a:r>
            <a:endParaRPr lang="en-US"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Often chosen for guest speakers and for students joining from areas with weaker internet.</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6 RECAP — COMPARISON</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Google Meet vs Microsoft Teams vs Zoom</a:t>
            </a:r>
            <a:endParaRPr lang="en-US" sz="2400" dirty="0"/>
          </a:p>
        </p:txBody>
      </p:sp>
      <p:sp>
        <p:nvSpPr>
          <p:cNvPr id="6" name="Shape 4"/>
          <p:cNvSpPr/>
          <p:nvPr/>
        </p:nvSpPr>
        <p:spPr>
          <a:xfrm>
            <a:off x="548640" y="1188720"/>
            <a:ext cx="2286000" cy="457200"/>
          </a:xfrm>
          <a:prstGeom prst="rect">
            <a:avLst/>
          </a:prstGeom>
          <a:solidFill>
            <a:srgbClr val="1F3864"/>
          </a:solidFill>
          <a:ln/>
        </p:spPr>
        <p:txBody>
          <a:bodyPr/>
          <a:lstStyle/>
          <a:p>
            <a:endParaRPr lang="en-US" sz="1600"/>
          </a:p>
        </p:txBody>
      </p:sp>
      <p:sp>
        <p:nvSpPr>
          <p:cNvPr id="7" name="Text 5"/>
          <p:cNvSpPr/>
          <p:nvPr/>
        </p:nvSpPr>
        <p:spPr>
          <a:xfrm>
            <a:off x="548640" y="1188720"/>
            <a:ext cx="22860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Facility</a:t>
            </a:r>
            <a:endParaRPr lang="en-US" sz="1600" dirty="0"/>
          </a:p>
        </p:txBody>
      </p:sp>
      <p:sp>
        <p:nvSpPr>
          <p:cNvPr id="8" name="Shape 6"/>
          <p:cNvSpPr/>
          <p:nvPr/>
        </p:nvSpPr>
        <p:spPr>
          <a:xfrm>
            <a:off x="2834640" y="1188720"/>
            <a:ext cx="2926080" cy="457200"/>
          </a:xfrm>
          <a:prstGeom prst="rect">
            <a:avLst/>
          </a:prstGeom>
          <a:solidFill>
            <a:srgbClr val="00897B"/>
          </a:solidFill>
          <a:ln/>
        </p:spPr>
        <p:txBody>
          <a:bodyPr/>
          <a:lstStyle/>
          <a:p>
            <a:endParaRPr lang="en-US" sz="1600"/>
          </a:p>
        </p:txBody>
      </p:sp>
      <p:sp>
        <p:nvSpPr>
          <p:cNvPr id="9" name="Text 7"/>
          <p:cNvSpPr/>
          <p:nvPr/>
        </p:nvSpPr>
        <p:spPr>
          <a:xfrm>
            <a:off x="2834640" y="1188720"/>
            <a:ext cx="292608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Google Meet</a:t>
            </a:r>
            <a:endParaRPr lang="en-US" sz="1600" dirty="0"/>
          </a:p>
        </p:txBody>
      </p:sp>
      <p:sp>
        <p:nvSpPr>
          <p:cNvPr id="10" name="Shape 8"/>
          <p:cNvSpPr/>
          <p:nvPr/>
        </p:nvSpPr>
        <p:spPr>
          <a:xfrm>
            <a:off x="5760720" y="1188720"/>
            <a:ext cx="2926080" cy="457200"/>
          </a:xfrm>
          <a:prstGeom prst="rect">
            <a:avLst/>
          </a:prstGeom>
          <a:solidFill>
            <a:srgbClr val="6264A7"/>
          </a:solidFill>
          <a:ln/>
        </p:spPr>
        <p:txBody>
          <a:bodyPr/>
          <a:lstStyle/>
          <a:p>
            <a:endParaRPr lang="en-US" sz="1600"/>
          </a:p>
        </p:txBody>
      </p:sp>
      <p:sp>
        <p:nvSpPr>
          <p:cNvPr id="11" name="Text 9"/>
          <p:cNvSpPr/>
          <p:nvPr/>
        </p:nvSpPr>
        <p:spPr>
          <a:xfrm>
            <a:off x="5760720" y="1188720"/>
            <a:ext cx="292608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Microsoft Teams</a:t>
            </a:r>
            <a:endParaRPr lang="en-US" sz="1600" dirty="0"/>
          </a:p>
        </p:txBody>
      </p:sp>
      <p:sp>
        <p:nvSpPr>
          <p:cNvPr id="12" name="Shape 10"/>
          <p:cNvSpPr/>
          <p:nvPr/>
        </p:nvSpPr>
        <p:spPr>
          <a:xfrm>
            <a:off x="8686800" y="1188720"/>
            <a:ext cx="2926080" cy="457200"/>
          </a:xfrm>
          <a:prstGeom prst="rect">
            <a:avLst/>
          </a:prstGeom>
          <a:solidFill>
            <a:srgbClr val="2D8CFF"/>
          </a:solidFill>
          <a:ln/>
        </p:spPr>
        <p:txBody>
          <a:bodyPr/>
          <a:lstStyle/>
          <a:p>
            <a:endParaRPr lang="en-US" sz="1600"/>
          </a:p>
        </p:txBody>
      </p:sp>
      <p:sp>
        <p:nvSpPr>
          <p:cNvPr id="13" name="Text 11"/>
          <p:cNvSpPr/>
          <p:nvPr/>
        </p:nvSpPr>
        <p:spPr>
          <a:xfrm>
            <a:off x="8686800" y="1188720"/>
            <a:ext cx="292608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Zoom</a:t>
            </a:r>
            <a:endParaRPr lang="en-US" sz="1600" dirty="0"/>
          </a:p>
        </p:txBody>
      </p:sp>
      <p:sp>
        <p:nvSpPr>
          <p:cNvPr id="14" name="Shape 12"/>
          <p:cNvSpPr/>
          <p:nvPr/>
        </p:nvSpPr>
        <p:spPr>
          <a:xfrm>
            <a:off x="548640" y="1645920"/>
            <a:ext cx="2286000" cy="685800"/>
          </a:xfrm>
          <a:prstGeom prst="rect">
            <a:avLst/>
          </a:prstGeom>
          <a:solidFill>
            <a:srgbClr val="FFFFFF"/>
          </a:solidFill>
          <a:ln w="9525">
            <a:solidFill>
              <a:srgbClr val="DCE1EA"/>
            </a:solidFill>
            <a:prstDash val="solid"/>
          </a:ln>
        </p:spPr>
        <p:txBody>
          <a:bodyPr/>
          <a:lstStyle/>
          <a:p>
            <a:endParaRPr lang="en-US" sz="1600"/>
          </a:p>
        </p:txBody>
      </p:sp>
      <p:sp>
        <p:nvSpPr>
          <p:cNvPr id="15" name="Text 13"/>
          <p:cNvSpPr/>
          <p:nvPr/>
        </p:nvSpPr>
        <p:spPr>
          <a:xfrm>
            <a:off x="640080" y="1645920"/>
            <a:ext cx="2103120" cy="68580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Access model</a:t>
            </a:r>
            <a:endParaRPr lang="en-US" sz="1600" dirty="0"/>
          </a:p>
        </p:txBody>
      </p:sp>
      <p:sp>
        <p:nvSpPr>
          <p:cNvPr id="16" name="Shape 14"/>
          <p:cNvSpPr/>
          <p:nvPr/>
        </p:nvSpPr>
        <p:spPr>
          <a:xfrm>
            <a:off x="2834640" y="16459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17" name="Text 15"/>
          <p:cNvSpPr/>
          <p:nvPr/>
        </p:nvSpPr>
        <p:spPr>
          <a:xfrm>
            <a:off x="2926080" y="16459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Browser-first, Google account</a:t>
            </a:r>
            <a:endParaRPr lang="en-US" sz="1600" dirty="0"/>
          </a:p>
        </p:txBody>
      </p:sp>
      <p:sp>
        <p:nvSpPr>
          <p:cNvPr id="18" name="Shape 16"/>
          <p:cNvSpPr/>
          <p:nvPr/>
        </p:nvSpPr>
        <p:spPr>
          <a:xfrm>
            <a:off x="5760720" y="16459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19" name="Text 17"/>
          <p:cNvSpPr/>
          <p:nvPr/>
        </p:nvSpPr>
        <p:spPr>
          <a:xfrm>
            <a:off x="5852160" y="16459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Microsoft 365 account</a:t>
            </a:r>
            <a:endParaRPr lang="en-US" sz="1600" dirty="0"/>
          </a:p>
        </p:txBody>
      </p:sp>
      <p:sp>
        <p:nvSpPr>
          <p:cNvPr id="20" name="Shape 18"/>
          <p:cNvSpPr/>
          <p:nvPr/>
        </p:nvSpPr>
        <p:spPr>
          <a:xfrm>
            <a:off x="8686800" y="16459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21" name="Text 19"/>
          <p:cNvSpPr/>
          <p:nvPr/>
        </p:nvSpPr>
        <p:spPr>
          <a:xfrm>
            <a:off x="8778240" y="16459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Dedicated app, Meeting ID</a:t>
            </a:r>
            <a:endParaRPr lang="en-US" sz="1600" dirty="0"/>
          </a:p>
        </p:txBody>
      </p:sp>
      <p:sp>
        <p:nvSpPr>
          <p:cNvPr id="22" name="Shape 20"/>
          <p:cNvSpPr/>
          <p:nvPr/>
        </p:nvSpPr>
        <p:spPr>
          <a:xfrm>
            <a:off x="548640" y="2331720"/>
            <a:ext cx="2286000" cy="685800"/>
          </a:xfrm>
          <a:prstGeom prst="rect">
            <a:avLst/>
          </a:prstGeom>
          <a:solidFill>
            <a:srgbClr val="F4F6FA"/>
          </a:solidFill>
          <a:ln w="9525">
            <a:solidFill>
              <a:srgbClr val="DCE1EA"/>
            </a:solidFill>
            <a:prstDash val="solid"/>
          </a:ln>
        </p:spPr>
        <p:txBody>
          <a:bodyPr/>
          <a:lstStyle/>
          <a:p>
            <a:endParaRPr lang="en-US" sz="1600"/>
          </a:p>
        </p:txBody>
      </p:sp>
      <p:sp>
        <p:nvSpPr>
          <p:cNvPr id="23" name="Text 21"/>
          <p:cNvSpPr/>
          <p:nvPr/>
        </p:nvSpPr>
        <p:spPr>
          <a:xfrm>
            <a:off x="640080" y="2331720"/>
            <a:ext cx="2103120" cy="68580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Best integration</a:t>
            </a:r>
            <a:endParaRPr lang="en-US" sz="1600" dirty="0"/>
          </a:p>
        </p:txBody>
      </p:sp>
      <p:sp>
        <p:nvSpPr>
          <p:cNvPr id="24" name="Shape 22"/>
          <p:cNvSpPr/>
          <p:nvPr/>
        </p:nvSpPr>
        <p:spPr>
          <a:xfrm>
            <a:off x="2834640" y="23317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25" name="Text 23"/>
          <p:cNvSpPr/>
          <p:nvPr/>
        </p:nvSpPr>
        <p:spPr>
          <a:xfrm>
            <a:off x="2926080" y="23317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Gmail, Calendar, Docs</a:t>
            </a:r>
            <a:endParaRPr lang="en-US" sz="1600" dirty="0"/>
          </a:p>
        </p:txBody>
      </p:sp>
      <p:sp>
        <p:nvSpPr>
          <p:cNvPr id="26" name="Shape 24"/>
          <p:cNvSpPr/>
          <p:nvPr/>
        </p:nvSpPr>
        <p:spPr>
          <a:xfrm>
            <a:off x="5760720" y="23317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27" name="Text 25"/>
          <p:cNvSpPr/>
          <p:nvPr/>
        </p:nvSpPr>
        <p:spPr>
          <a:xfrm>
            <a:off x="5852160" y="23317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Outlook, Office apps, Channels</a:t>
            </a:r>
            <a:endParaRPr lang="en-US" sz="1600" dirty="0"/>
          </a:p>
        </p:txBody>
      </p:sp>
      <p:sp>
        <p:nvSpPr>
          <p:cNvPr id="28" name="Shape 26"/>
          <p:cNvSpPr/>
          <p:nvPr/>
        </p:nvSpPr>
        <p:spPr>
          <a:xfrm>
            <a:off x="8686800" y="23317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29" name="Text 27"/>
          <p:cNvSpPr/>
          <p:nvPr/>
        </p:nvSpPr>
        <p:spPr>
          <a:xfrm>
            <a:off x="8778240" y="23317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Works with any ecosystem</a:t>
            </a:r>
            <a:endParaRPr lang="en-US" sz="1600" dirty="0"/>
          </a:p>
        </p:txBody>
      </p:sp>
      <p:sp>
        <p:nvSpPr>
          <p:cNvPr id="30" name="Shape 28"/>
          <p:cNvSpPr/>
          <p:nvPr/>
        </p:nvSpPr>
        <p:spPr>
          <a:xfrm>
            <a:off x="548640" y="3017520"/>
            <a:ext cx="2286000" cy="685800"/>
          </a:xfrm>
          <a:prstGeom prst="rect">
            <a:avLst/>
          </a:prstGeom>
          <a:solidFill>
            <a:srgbClr val="FFFFFF"/>
          </a:solidFill>
          <a:ln w="9525">
            <a:solidFill>
              <a:srgbClr val="DCE1EA"/>
            </a:solidFill>
            <a:prstDash val="solid"/>
          </a:ln>
        </p:spPr>
        <p:txBody>
          <a:bodyPr/>
          <a:lstStyle/>
          <a:p>
            <a:endParaRPr lang="en-US" sz="1600"/>
          </a:p>
        </p:txBody>
      </p:sp>
      <p:sp>
        <p:nvSpPr>
          <p:cNvPr id="31" name="Text 29"/>
          <p:cNvSpPr/>
          <p:nvPr/>
        </p:nvSpPr>
        <p:spPr>
          <a:xfrm>
            <a:off x="640080" y="3017520"/>
            <a:ext cx="2103120" cy="68580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Signature feature</a:t>
            </a:r>
            <a:endParaRPr lang="en-US" sz="1600" dirty="0"/>
          </a:p>
        </p:txBody>
      </p:sp>
      <p:sp>
        <p:nvSpPr>
          <p:cNvPr id="32" name="Shape 30"/>
          <p:cNvSpPr/>
          <p:nvPr/>
        </p:nvSpPr>
        <p:spPr>
          <a:xfrm>
            <a:off x="2834640" y="30175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33" name="Text 31"/>
          <p:cNvSpPr/>
          <p:nvPr/>
        </p:nvSpPr>
        <p:spPr>
          <a:xfrm>
            <a:off x="2926080" y="30175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Live captions &amp; translation</a:t>
            </a:r>
            <a:endParaRPr lang="en-US" sz="1600" dirty="0"/>
          </a:p>
        </p:txBody>
      </p:sp>
      <p:sp>
        <p:nvSpPr>
          <p:cNvPr id="34" name="Shape 32"/>
          <p:cNvSpPr/>
          <p:nvPr/>
        </p:nvSpPr>
        <p:spPr>
          <a:xfrm>
            <a:off x="5760720" y="30175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35" name="Text 33"/>
          <p:cNvSpPr/>
          <p:nvPr/>
        </p:nvSpPr>
        <p:spPr>
          <a:xfrm>
            <a:off x="5852160" y="30175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Together Mode &amp; persistent channels</a:t>
            </a:r>
            <a:endParaRPr lang="en-US" sz="1600" dirty="0"/>
          </a:p>
        </p:txBody>
      </p:sp>
      <p:sp>
        <p:nvSpPr>
          <p:cNvPr id="36" name="Shape 34"/>
          <p:cNvSpPr/>
          <p:nvPr/>
        </p:nvSpPr>
        <p:spPr>
          <a:xfrm>
            <a:off x="8686800" y="30175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37" name="Text 35"/>
          <p:cNvSpPr/>
          <p:nvPr/>
        </p:nvSpPr>
        <p:spPr>
          <a:xfrm>
            <a:off x="8778240" y="30175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Security panel &amp; Webinars</a:t>
            </a:r>
            <a:endParaRPr lang="en-US" sz="1600" dirty="0"/>
          </a:p>
        </p:txBody>
      </p:sp>
      <p:sp>
        <p:nvSpPr>
          <p:cNvPr id="38" name="Shape 36"/>
          <p:cNvSpPr/>
          <p:nvPr/>
        </p:nvSpPr>
        <p:spPr>
          <a:xfrm>
            <a:off x="548640" y="3703320"/>
            <a:ext cx="2286000" cy="685800"/>
          </a:xfrm>
          <a:prstGeom prst="rect">
            <a:avLst/>
          </a:prstGeom>
          <a:solidFill>
            <a:srgbClr val="F4F6FA"/>
          </a:solidFill>
          <a:ln w="9525">
            <a:solidFill>
              <a:srgbClr val="DCE1EA"/>
            </a:solidFill>
            <a:prstDash val="solid"/>
          </a:ln>
        </p:spPr>
        <p:txBody>
          <a:bodyPr/>
          <a:lstStyle/>
          <a:p>
            <a:endParaRPr lang="en-US" sz="1600"/>
          </a:p>
        </p:txBody>
      </p:sp>
      <p:sp>
        <p:nvSpPr>
          <p:cNvPr id="39" name="Text 37"/>
          <p:cNvSpPr/>
          <p:nvPr/>
        </p:nvSpPr>
        <p:spPr>
          <a:xfrm>
            <a:off x="640080" y="3703320"/>
            <a:ext cx="2103120" cy="68580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Breakout rooms</a:t>
            </a:r>
            <a:endParaRPr lang="en-US" sz="1600" dirty="0"/>
          </a:p>
        </p:txBody>
      </p:sp>
      <p:sp>
        <p:nvSpPr>
          <p:cNvPr id="40" name="Shape 38"/>
          <p:cNvSpPr/>
          <p:nvPr/>
        </p:nvSpPr>
        <p:spPr>
          <a:xfrm>
            <a:off x="2834640" y="37033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41" name="Text 39"/>
          <p:cNvSpPr/>
          <p:nvPr/>
        </p:nvSpPr>
        <p:spPr>
          <a:xfrm>
            <a:off x="2926080" y="37033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Yes (basic)</a:t>
            </a:r>
            <a:endParaRPr lang="en-US" sz="1600" dirty="0"/>
          </a:p>
        </p:txBody>
      </p:sp>
      <p:sp>
        <p:nvSpPr>
          <p:cNvPr id="42" name="Shape 40"/>
          <p:cNvSpPr/>
          <p:nvPr/>
        </p:nvSpPr>
        <p:spPr>
          <a:xfrm>
            <a:off x="5760720" y="37033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43" name="Text 41"/>
          <p:cNvSpPr/>
          <p:nvPr/>
        </p:nvSpPr>
        <p:spPr>
          <a:xfrm>
            <a:off x="5852160" y="37033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Yes (with broadcast message)</a:t>
            </a:r>
            <a:endParaRPr lang="en-US" sz="1600" dirty="0"/>
          </a:p>
        </p:txBody>
      </p:sp>
      <p:sp>
        <p:nvSpPr>
          <p:cNvPr id="44" name="Shape 42"/>
          <p:cNvSpPr/>
          <p:nvPr/>
        </p:nvSpPr>
        <p:spPr>
          <a:xfrm>
            <a:off x="8686800" y="37033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45" name="Text 43"/>
          <p:cNvSpPr/>
          <p:nvPr/>
        </p:nvSpPr>
        <p:spPr>
          <a:xfrm>
            <a:off x="8778240" y="37033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Yes (most mature)</a:t>
            </a:r>
            <a:endParaRPr lang="en-US" sz="1600" dirty="0"/>
          </a:p>
        </p:txBody>
      </p:sp>
      <p:sp>
        <p:nvSpPr>
          <p:cNvPr id="46" name="Shape 44"/>
          <p:cNvSpPr/>
          <p:nvPr/>
        </p:nvSpPr>
        <p:spPr>
          <a:xfrm>
            <a:off x="548640" y="4389120"/>
            <a:ext cx="2286000" cy="685800"/>
          </a:xfrm>
          <a:prstGeom prst="rect">
            <a:avLst/>
          </a:prstGeom>
          <a:solidFill>
            <a:srgbClr val="FFFFFF"/>
          </a:solidFill>
          <a:ln w="9525">
            <a:solidFill>
              <a:srgbClr val="DCE1EA"/>
            </a:solidFill>
            <a:prstDash val="solid"/>
          </a:ln>
        </p:spPr>
        <p:txBody>
          <a:bodyPr/>
          <a:lstStyle/>
          <a:p>
            <a:endParaRPr lang="en-US" sz="1600"/>
          </a:p>
        </p:txBody>
      </p:sp>
      <p:sp>
        <p:nvSpPr>
          <p:cNvPr id="47" name="Text 45"/>
          <p:cNvSpPr/>
          <p:nvPr/>
        </p:nvSpPr>
        <p:spPr>
          <a:xfrm>
            <a:off x="640080" y="4389120"/>
            <a:ext cx="2103120" cy="68580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Chat &amp; files after the call</a:t>
            </a:r>
            <a:endParaRPr lang="en-US" sz="1600" dirty="0"/>
          </a:p>
        </p:txBody>
      </p:sp>
      <p:sp>
        <p:nvSpPr>
          <p:cNvPr id="48" name="Shape 46"/>
          <p:cNvSpPr/>
          <p:nvPr/>
        </p:nvSpPr>
        <p:spPr>
          <a:xfrm>
            <a:off x="2834640" y="43891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49" name="Text 47"/>
          <p:cNvSpPr/>
          <p:nvPr/>
        </p:nvSpPr>
        <p:spPr>
          <a:xfrm>
            <a:off x="2926080" y="43891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Basic in-meeting chat</a:t>
            </a:r>
            <a:endParaRPr lang="en-US" sz="1600" dirty="0"/>
          </a:p>
        </p:txBody>
      </p:sp>
      <p:sp>
        <p:nvSpPr>
          <p:cNvPr id="50" name="Shape 48"/>
          <p:cNvSpPr/>
          <p:nvPr/>
        </p:nvSpPr>
        <p:spPr>
          <a:xfrm>
            <a:off x="5760720" y="43891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51" name="Text 49"/>
          <p:cNvSpPr/>
          <p:nvPr/>
        </p:nvSpPr>
        <p:spPr>
          <a:xfrm>
            <a:off x="5852160" y="43891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Channels keep chat and files</a:t>
            </a:r>
            <a:endParaRPr lang="en-US" sz="1600" dirty="0"/>
          </a:p>
        </p:txBody>
      </p:sp>
      <p:sp>
        <p:nvSpPr>
          <p:cNvPr id="52" name="Shape 50"/>
          <p:cNvSpPr/>
          <p:nvPr/>
        </p:nvSpPr>
        <p:spPr>
          <a:xfrm>
            <a:off x="8686800" y="43891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53" name="Text 51"/>
          <p:cNvSpPr/>
          <p:nvPr/>
        </p:nvSpPr>
        <p:spPr>
          <a:xfrm>
            <a:off x="8778240" y="43891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In-meeting chat; limited team workspace</a:t>
            </a:r>
            <a:endParaRPr lang="en-US" sz="1600" dirty="0"/>
          </a:p>
        </p:txBody>
      </p:sp>
      <p:sp>
        <p:nvSpPr>
          <p:cNvPr id="54" name="Shape 52"/>
          <p:cNvSpPr/>
          <p:nvPr/>
        </p:nvSpPr>
        <p:spPr>
          <a:xfrm>
            <a:off x="548640" y="5074920"/>
            <a:ext cx="2286000" cy="685800"/>
          </a:xfrm>
          <a:prstGeom prst="rect">
            <a:avLst/>
          </a:prstGeom>
          <a:solidFill>
            <a:srgbClr val="F4F6FA"/>
          </a:solidFill>
          <a:ln w="9525">
            <a:solidFill>
              <a:srgbClr val="DCE1EA"/>
            </a:solidFill>
            <a:prstDash val="solid"/>
          </a:ln>
        </p:spPr>
        <p:txBody>
          <a:bodyPr/>
          <a:lstStyle/>
          <a:p>
            <a:endParaRPr lang="en-US" sz="1600"/>
          </a:p>
        </p:txBody>
      </p:sp>
      <p:sp>
        <p:nvSpPr>
          <p:cNvPr id="55" name="Text 53"/>
          <p:cNvSpPr/>
          <p:nvPr/>
        </p:nvSpPr>
        <p:spPr>
          <a:xfrm>
            <a:off x="640080" y="5074920"/>
            <a:ext cx="2103120" cy="68580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Best fit</a:t>
            </a:r>
            <a:endParaRPr lang="en-US" sz="1600" dirty="0"/>
          </a:p>
        </p:txBody>
      </p:sp>
      <p:sp>
        <p:nvSpPr>
          <p:cNvPr id="56" name="Shape 54"/>
          <p:cNvSpPr/>
          <p:nvPr/>
        </p:nvSpPr>
        <p:spPr>
          <a:xfrm>
            <a:off x="2834640" y="50749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57" name="Text 55"/>
          <p:cNvSpPr/>
          <p:nvPr/>
        </p:nvSpPr>
        <p:spPr>
          <a:xfrm>
            <a:off x="2926080" y="50749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Quick, lightweight, cross-platform calls</a:t>
            </a:r>
            <a:endParaRPr lang="en-US" sz="1600" dirty="0"/>
          </a:p>
        </p:txBody>
      </p:sp>
      <p:sp>
        <p:nvSpPr>
          <p:cNvPr id="58" name="Shape 56"/>
          <p:cNvSpPr/>
          <p:nvPr/>
        </p:nvSpPr>
        <p:spPr>
          <a:xfrm>
            <a:off x="5760720" y="50749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59" name="Text 57"/>
          <p:cNvSpPr/>
          <p:nvPr/>
        </p:nvSpPr>
        <p:spPr>
          <a:xfrm>
            <a:off x="5852160" y="50749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Microsoft-based institutions and teams</a:t>
            </a:r>
            <a:endParaRPr lang="en-US" sz="1600" dirty="0"/>
          </a:p>
        </p:txBody>
      </p:sp>
      <p:sp>
        <p:nvSpPr>
          <p:cNvPr id="60" name="Shape 58"/>
          <p:cNvSpPr/>
          <p:nvPr/>
        </p:nvSpPr>
        <p:spPr>
          <a:xfrm>
            <a:off x="8686800" y="50749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61" name="Text 59"/>
          <p:cNvSpPr/>
          <p:nvPr/>
        </p:nvSpPr>
        <p:spPr>
          <a:xfrm>
            <a:off x="8778240" y="50749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Large seminars, weaker connections</a:t>
            </a:r>
            <a:endParaRPr lang="en-US" sz="1600" dirty="0"/>
          </a:p>
        </p:txBody>
      </p:sp>
      <p:sp>
        <p:nvSpPr>
          <p:cNvPr id="62" name="Text 60"/>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63" name="Text 61"/>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6 RECAP — VIDEO CONFERENCING</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Positive Uses &amp; Video-Meeting Netiquette</a:t>
            </a:r>
            <a:endParaRPr lang="en-US" sz="2400" dirty="0"/>
          </a:p>
        </p:txBody>
      </p:sp>
      <p:sp>
        <p:nvSpPr>
          <p:cNvPr id="6" name="Shape 4"/>
          <p:cNvSpPr/>
          <p:nvPr/>
        </p:nvSpPr>
        <p:spPr>
          <a:xfrm>
            <a:off x="548640" y="114300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Positive Use: Access &amp; Collaboration</a:t>
            </a:r>
            <a:endParaRPr lang="en-US"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Remote students attend lectures and consult supervisors; research teams and guest speakers connect across time zones at near-zero cost.</a:t>
            </a:r>
            <a:endParaRPr lang="en-US" sz="1600" dirty="0"/>
          </a:p>
        </p:txBody>
      </p:sp>
      <p:sp>
        <p:nvSpPr>
          <p:cNvPr id="9" name="Shape 7"/>
          <p:cNvSpPr/>
          <p:nvPr/>
        </p:nvSpPr>
        <p:spPr>
          <a:xfrm>
            <a:off x="6172200" y="114300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Positive Use: Flexible Learning</a:t>
            </a:r>
            <a:endParaRPr lang="en-US"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Recordings and transcripts let students revisit lectures; telemedicine and professional consultations also rely on the same technology.</a:t>
            </a:r>
            <a:endParaRPr lang="en-US" sz="1600" dirty="0"/>
          </a:p>
        </p:txBody>
      </p:sp>
      <p:sp>
        <p:nvSpPr>
          <p:cNvPr id="12" name="Shape 10"/>
          <p:cNvSpPr/>
          <p:nvPr/>
        </p:nvSpPr>
        <p:spPr>
          <a:xfrm>
            <a:off x="548640" y="288036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Netiquette: Audio &amp; Video</a:t>
            </a:r>
            <a:endParaRPr lang="en-US"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Join early to test your microphone and camera; mute when not speaking; use a tidy, neutral background.</a:t>
            </a:r>
            <a:endParaRPr lang="en-US" sz="1600" dirty="0"/>
          </a:p>
        </p:txBody>
      </p:sp>
      <p:sp>
        <p:nvSpPr>
          <p:cNvPr id="15" name="Shape 13"/>
          <p:cNvSpPr/>
          <p:nvPr/>
        </p:nvSpPr>
        <p:spPr>
          <a:xfrm>
            <a:off x="6172200" y="288036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Netiquette: Participation</a:t>
            </a:r>
            <a:endParaRPr lang="en-US"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Raise your hand or use chat, avoid talking over others, and keep side conversations out of the main chat.</a:t>
            </a:r>
            <a:endParaRPr lang="en-US" sz="1600" dirty="0"/>
          </a:p>
        </p:txBody>
      </p:sp>
      <p:sp>
        <p:nvSpPr>
          <p:cNvPr id="18" name="Shape 16"/>
          <p:cNvSpPr/>
          <p:nvPr/>
        </p:nvSpPr>
        <p:spPr>
          <a:xfrm>
            <a:off x="548640" y="461772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Netiquette: Professionalism</a:t>
            </a:r>
            <a:endParaRPr lang="en-US"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Dress and behave as you would in a classroom, and keep your name clearly visible so the host can identify you.</a:t>
            </a:r>
            <a:endParaRPr lang="en-US" sz="1600" dirty="0"/>
          </a:p>
        </p:txBody>
      </p:sp>
      <p:sp>
        <p:nvSpPr>
          <p:cNvPr id="21" name="Shape 19"/>
          <p:cNvSpPr/>
          <p:nvPr/>
        </p:nvSpPr>
        <p:spPr>
          <a:xfrm>
            <a:off x="6172200" y="4617720"/>
            <a:ext cx="5394960" cy="1600200"/>
          </a:xfrm>
          <a:prstGeom prst="roundRect">
            <a:avLst>
              <a:gd name="adj" fmla="val 4571"/>
            </a:avLst>
          </a:prstGeom>
          <a:solidFill>
            <a:srgbClr val="FDF3E3"/>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Netiquette: Privacy</a:t>
            </a:r>
            <a:endParaRPr lang="en-US"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Do not record, screenshot, or share a meeting without permission, and never post meeting links publicly.</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62B4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sp>
        <p:nvSpPr>
          <p:cNvPr id="3" name="Text 1"/>
          <p:cNvSpPr/>
          <p:nvPr/>
        </p:nvSpPr>
        <p:spPr>
          <a:xfrm>
            <a:off x="0" y="1463040"/>
            <a:ext cx="12191695" cy="1188720"/>
          </a:xfrm>
          <a:prstGeom prst="rect">
            <a:avLst/>
          </a:prstGeom>
          <a:noFill/>
          <a:ln/>
        </p:spPr>
        <p:txBody>
          <a:bodyPr wrap="square" rtlCol="0" anchor="ctr"/>
          <a:lstStyle/>
          <a:p>
            <a:pPr marL="0" indent="0" algn="ctr">
              <a:buNone/>
            </a:pPr>
            <a:r>
              <a:rPr lang="en-US" sz="6000" dirty="0">
                <a:solidFill>
                  <a:srgbClr val="000000"/>
                </a:solidFill>
                <a:latin typeface="Calibri" pitchFamily="34" charset="0"/>
                <a:ea typeface="Calibri" pitchFamily="34" charset="-122"/>
                <a:cs typeface="Calibri" pitchFamily="34" charset="-120"/>
              </a:rPr>
              <a:t>☕</a:t>
            </a:r>
            <a:endParaRPr lang="en-US" sz="6000" dirty="0"/>
          </a:p>
        </p:txBody>
      </p:sp>
      <p:sp>
        <p:nvSpPr>
          <p:cNvPr id="4" name="Text 2"/>
          <p:cNvSpPr/>
          <p:nvPr/>
        </p:nvSpPr>
        <p:spPr>
          <a:xfrm>
            <a:off x="0" y="2743200"/>
            <a:ext cx="12191695" cy="548640"/>
          </a:xfrm>
          <a:prstGeom prst="rect">
            <a:avLst/>
          </a:prstGeom>
          <a:noFill/>
          <a:ln/>
        </p:spPr>
        <p:txBody>
          <a:bodyPr wrap="square" rtlCol="0" anchor="ctr"/>
          <a:lstStyle/>
          <a:p>
            <a:pPr marL="0" indent="0" algn="ctr">
              <a:buNone/>
            </a:pPr>
            <a:r>
              <a:rPr lang="en-US" sz="2000" b="1" kern="0" spc="400" dirty="0">
                <a:solidFill>
                  <a:srgbClr val="D8B84A"/>
                </a:solidFill>
                <a:latin typeface="Calibri" pitchFamily="34" charset="0"/>
                <a:ea typeface="Calibri" pitchFamily="34" charset="-122"/>
                <a:cs typeface="Calibri" pitchFamily="34" charset="-120"/>
              </a:rPr>
              <a:t>BREAK 2</a:t>
            </a:r>
            <a:endParaRPr lang="en-US" sz="2000" dirty="0"/>
          </a:p>
        </p:txBody>
      </p:sp>
      <p:sp>
        <p:nvSpPr>
          <p:cNvPr id="5" name="Text 3"/>
          <p:cNvSpPr/>
          <p:nvPr/>
        </p:nvSpPr>
        <p:spPr>
          <a:xfrm>
            <a:off x="0" y="3291840"/>
            <a:ext cx="12191695" cy="73152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10 Minutes</a:t>
            </a:r>
            <a:endParaRPr lang="en-US" sz="3600" dirty="0"/>
          </a:p>
        </p:txBody>
      </p:sp>
      <p:sp>
        <p:nvSpPr>
          <p:cNvPr id="6" name="Text 4"/>
          <p:cNvSpPr/>
          <p:nvPr/>
        </p:nvSpPr>
        <p:spPr>
          <a:xfrm>
            <a:off x="0" y="4114800"/>
            <a:ext cx="12191695" cy="457200"/>
          </a:xfrm>
          <a:prstGeom prst="rect">
            <a:avLst/>
          </a:prstGeom>
          <a:noFill/>
          <a:ln/>
        </p:spPr>
        <p:txBody>
          <a:bodyPr wrap="square" rtlCol="0" anchor="ctr"/>
          <a:lstStyle/>
          <a:p>
            <a:pPr marL="0" indent="0" algn="ctr">
              <a:buNone/>
            </a:pPr>
            <a:r>
              <a:rPr lang="en-US" sz="1600" i="1" dirty="0">
                <a:solidFill>
                  <a:srgbClr val="C7D0E0"/>
                </a:solidFill>
                <a:latin typeface="Calibri" pitchFamily="34" charset="0"/>
                <a:ea typeface="Calibri" pitchFamily="34" charset="-122"/>
                <a:cs typeface="Calibri" pitchFamily="34" charset="-120"/>
              </a:rPr>
              <a:t>Back at it: social media applications — then hands-on practice and wrap-up</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62B4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pic>
        <p:nvPicPr>
          <p:cNvPr id="3" name="Image 0" descr="mockups/linkedin_badge.png"/>
          <p:cNvPicPr>
            <a:picLocks noChangeAspect="1"/>
          </p:cNvPicPr>
          <p:nvPr/>
        </p:nvPicPr>
        <p:blipFill>
          <a:blip r:embed="rId3"/>
          <a:stretch>
            <a:fillRect/>
          </a:stretch>
        </p:blipFill>
        <p:spPr>
          <a:xfrm>
            <a:off x="4568800" y="1417320"/>
            <a:ext cx="914400" cy="914400"/>
          </a:xfrm>
          <a:prstGeom prst="rect">
            <a:avLst/>
          </a:prstGeom>
        </p:spPr>
      </p:pic>
      <p:pic>
        <p:nvPicPr>
          <p:cNvPr id="4" name="Image 1" descr="logos/facebook_icon.png"/>
          <p:cNvPicPr>
            <a:picLocks noChangeAspect="1"/>
          </p:cNvPicPr>
          <p:nvPr/>
        </p:nvPicPr>
        <p:blipFill>
          <a:blip r:embed="rId4"/>
          <a:stretch>
            <a:fillRect/>
          </a:stretch>
        </p:blipFill>
        <p:spPr>
          <a:xfrm>
            <a:off x="5638648" y="1417320"/>
            <a:ext cx="914400" cy="914400"/>
          </a:xfrm>
          <a:prstGeom prst="rect">
            <a:avLst/>
          </a:prstGeom>
        </p:spPr>
      </p:pic>
      <p:pic>
        <p:nvPicPr>
          <p:cNvPr id="5" name="Image 2" descr="logos/instagram_icon.png"/>
          <p:cNvPicPr>
            <a:picLocks noChangeAspect="1"/>
          </p:cNvPicPr>
          <p:nvPr/>
        </p:nvPicPr>
        <p:blipFill>
          <a:blip r:embed="rId5"/>
          <a:stretch>
            <a:fillRect/>
          </a:stretch>
        </p:blipFill>
        <p:spPr>
          <a:xfrm>
            <a:off x="6708496" y="1417320"/>
            <a:ext cx="914400" cy="914400"/>
          </a:xfrm>
          <a:prstGeom prst="rect">
            <a:avLst/>
          </a:prstGeom>
        </p:spPr>
      </p:pic>
      <p:sp>
        <p:nvSpPr>
          <p:cNvPr id="6" name="Text 1"/>
          <p:cNvSpPr/>
          <p:nvPr/>
        </p:nvSpPr>
        <p:spPr>
          <a:xfrm>
            <a:off x="822960" y="2697480"/>
            <a:ext cx="10515600" cy="457200"/>
          </a:xfrm>
          <a:prstGeom prst="rect">
            <a:avLst/>
          </a:prstGeom>
          <a:noFill/>
          <a:ln/>
        </p:spPr>
        <p:txBody>
          <a:bodyPr wrap="square" rtlCol="0" anchor="ctr"/>
          <a:lstStyle/>
          <a:p>
            <a:pPr marL="0" indent="0" algn="ctr">
              <a:buNone/>
            </a:pPr>
            <a:r>
              <a:rPr lang="en-US" sz="1600" b="1" kern="0" spc="300" dirty="0">
                <a:solidFill>
                  <a:srgbClr val="D8B84A"/>
                </a:solidFill>
                <a:latin typeface="Calibri" pitchFamily="34" charset="0"/>
                <a:ea typeface="Calibri" pitchFamily="34" charset="-122"/>
                <a:cs typeface="Calibri" pitchFamily="34" charset="-120"/>
              </a:rPr>
              <a:t>WEEK 6 RECAP — PART B: SOCIAL MEDIA APPLICATIONS</a:t>
            </a:r>
            <a:endParaRPr lang="en-US" sz="1600" dirty="0"/>
          </a:p>
        </p:txBody>
      </p:sp>
      <p:sp>
        <p:nvSpPr>
          <p:cNvPr id="7" name="Text 2"/>
          <p:cNvSpPr/>
          <p:nvPr/>
        </p:nvSpPr>
        <p:spPr>
          <a:xfrm>
            <a:off x="822960" y="3154680"/>
            <a:ext cx="10515600" cy="73152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LinkedIn, Facebook &amp; Instagram</a:t>
            </a:r>
            <a:endParaRPr lang="en-US" sz="3000" dirty="0"/>
          </a:p>
        </p:txBody>
      </p:sp>
      <p:sp>
        <p:nvSpPr>
          <p:cNvPr id="8" name="Text 3"/>
          <p:cNvSpPr/>
          <p:nvPr/>
        </p:nvSpPr>
        <p:spPr>
          <a:xfrm>
            <a:off x="822960" y="3886200"/>
            <a:ext cx="10515600" cy="457200"/>
          </a:xfrm>
          <a:prstGeom prst="rect">
            <a:avLst/>
          </a:prstGeom>
          <a:noFill/>
          <a:ln/>
        </p:spPr>
        <p:txBody>
          <a:bodyPr wrap="square" rtlCol="0" anchor="ctr"/>
          <a:lstStyle/>
          <a:p>
            <a:pPr marL="0" indent="0" algn="ctr">
              <a:buNone/>
            </a:pPr>
            <a:r>
              <a:rPr lang="en-US" sz="1500" i="1" dirty="0">
                <a:solidFill>
                  <a:srgbClr val="C7D0E0"/>
                </a:solidFill>
                <a:latin typeface="Calibri" pitchFamily="34" charset="0"/>
                <a:ea typeface="Calibri" pitchFamily="34" charset="-122"/>
                <a:cs typeface="Calibri" pitchFamily="34" charset="-120"/>
              </a:rPr>
              <a:t>Purpose, how they work, and positive impact on education, jobs, and marketing</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6 RECAP — SOCIAL MEDIA</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What Are Social Media Applications &amp; How Do They Work?</a:t>
            </a:r>
            <a:endParaRPr lang="en-US" sz="2400" dirty="0"/>
          </a:p>
        </p:txBody>
      </p:sp>
      <p:sp>
        <p:nvSpPr>
          <p:cNvPr id="6" name="Shape 4"/>
          <p:cNvSpPr/>
          <p:nvPr/>
        </p:nvSpPr>
        <p:spPr>
          <a:xfrm>
            <a:off x="548640" y="1234440"/>
            <a:ext cx="1432560" cy="2926080"/>
          </a:xfrm>
          <a:prstGeom prst="roundRect">
            <a:avLst>
              <a:gd name="adj" fmla="val 5106"/>
            </a:avLst>
          </a:prstGeom>
          <a:solidFill>
            <a:srgbClr val="E8EEF9"/>
          </a:solidFill>
          <a:ln w="12700">
            <a:solidFill>
              <a:srgbClr val="DCE1EA"/>
            </a:solidFill>
            <a:prstDash val="solid"/>
          </a:ln>
        </p:spPr>
        <p:txBody>
          <a:bodyPr/>
          <a:lstStyle/>
          <a:p>
            <a:endParaRPr lang="en-US" sz="1600"/>
          </a:p>
        </p:txBody>
      </p:sp>
      <p:sp>
        <p:nvSpPr>
          <p:cNvPr id="7" name="Shape 5"/>
          <p:cNvSpPr/>
          <p:nvPr/>
        </p:nvSpPr>
        <p:spPr>
          <a:xfrm>
            <a:off x="685800" y="1371600"/>
            <a:ext cx="411480" cy="411480"/>
          </a:xfrm>
          <a:prstGeom prst="ellipse">
            <a:avLst/>
          </a:prstGeom>
          <a:solidFill>
            <a:srgbClr val="1F3864"/>
          </a:solidFill>
          <a:ln/>
        </p:spPr>
        <p:txBody>
          <a:bodyPr/>
          <a:lstStyle/>
          <a:p>
            <a:endParaRPr lang="en-US" sz="1600"/>
          </a:p>
        </p:txBody>
      </p:sp>
      <p:sp>
        <p:nvSpPr>
          <p:cNvPr id="8" name="Text 6"/>
          <p:cNvSpPr/>
          <p:nvPr/>
        </p:nvSpPr>
        <p:spPr>
          <a:xfrm>
            <a:off x="685800"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p:nvPr/>
        </p:nvSpPr>
        <p:spPr>
          <a:xfrm>
            <a:off x="658368"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Create a Profile</a:t>
            </a:r>
            <a:endParaRPr lang="en-US" sz="1600" dirty="0"/>
          </a:p>
        </p:txBody>
      </p:sp>
      <p:sp>
        <p:nvSpPr>
          <p:cNvPr id="10" name="Text 8"/>
          <p:cNvSpPr/>
          <p:nvPr/>
        </p:nvSpPr>
        <p:spPr>
          <a:xfrm>
            <a:off x="658368"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Sign up and build an identity: name, photo, interests, education, or business details.</a:t>
            </a:r>
            <a:endParaRPr lang="en-US" sz="1600" dirty="0"/>
          </a:p>
        </p:txBody>
      </p:sp>
      <p:sp>
        <p:nvSpPr>
          <p:cNvPr id="11" name="Shape 9"/>
          <p:cNvSpPr/>
          <p:nvPr/>
        </p:nvSpPr>
        <p:spPr>
          <a:xfrm>
            <a:off x="2090928" y="2560320"/>
            <a:ext cx="274320" cy="274320"/>
          </a:xfrm>
          <a:prstGeom prst="rightArrow">
            <a:avLst/>
          </a:prstGeom>
          <a:solidFill>
            <a:srgbClr val="B8860B"/>
          </a:solidFill>
          <a:ln/>
        </p:spPr>
        <p:txBody>
          <a:bodyPr/>
          <a:lstStyle/>
          <a:p>
            <a:endParaRPr lang="en-US" sz="1600"/>
          </a:p>
        </p:txBody>
      </p:sp>
      <p:sp>
        <p:nvSpPr>
          <p:cNvPr id="12" name="Shape 10"/>
          <p:cNvSpPr/>
          <p:nvPr/>
        </p:nvSpPr>
        <p:spPr>
          <a:xfrm>
            <a:off x="2474976" y="1234440"/>
            <a:ext cx="1432560" cy="2926080"/>
          </a:xfrm>
          <a:prstGeom prst="roundRect">
            <a:avLst>
              <a:gd name="adj" fmla="val 5106"/>
            </a:avLst>
          </a:prstGeom>
          <a:solidFill>
            <a:srgbClr val="FDF3E3"/>
          </a:solidFill>
          <a:ln w="12700">
            <a:solidFill>
              <a:srgbClr val="DCE1EA"/>
            </a:solidFill>
            <a:prstDash val="solid"/>
          </a:ln>
        </p:spPr>
        <p:txBody>
          <a:bodyPr/>
          <a:lstStyle/>
          <a:p>
            <a:endParaRPr lang="en-US" sz="1600"/>
          </a:p>
        </p:txBody>
      </p:sp>
      <p:sp>
        <p:nvSpPr>
          <p:cNvPr id="13" name="Shape 11"/>
          <p:cNvSpPr/>
          <p:nvPr/>
        </p:nvSpPr>
        <p:spPr>
          <a:xfrm>
            <a:off x="2612136" y="1371600"/>
            <a:ext cx="411480" cy="411480"/>
          </a:xfrm>
          <a:prstGeom prst="ellipse">
            <a:avLst/>
          </a:prstGeom>
          <a:solidFill>
            <a:srgbClr val="1F3864"/>
          </a:solidFill>
          <a:ln/>
        </p:spPr>
        <p:txBody>
          <a:bodyPr/>
          <a:lstStyle/>
          <a:p>
            <a:endParaRPr lang="en-US" sz="1600"/>
          </a:p>
        </p:txBody>
      </p:sp>
      <p:sp>
        <p:nvSpPr>
          <p:cNvPr id="14" name="Text 12"/>
          <p:cNvSpPr/>
          <p:nvPr/>
        </p:nvSpPr>
        <p:spPr>
          <a:xfrm>
            <a:off x="2612136"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5" name="Text 13"/>
          <p:cNvSpPr/>
          <p:nvPr/>
        </p:nvSpPr>
        <p:spPr>
          <a:xfrm>
            <a:off x="2584704"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Connect</a:t>
            </a:r>
            <a:endParaRPr lang="en-US" sz="1600" dirty="0"/>
          </a:p>
        </p:txBody>
      </p:sp>
      <p:sp>
        <p:nvSpPr>
          <p:cNvPr id="16" name="Text 14"/>
          <p:cNvSpPr/>
          <p:nvPr/>
        </p:nvSpPr>
        <p:spPr>
          <a:xfrm>
            <a:off x="2584704"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Add friends, follow accounts, join groups, or connect with professionals.</a:t>
            </a:r>
            <a:endParaRPr lang="en-US" sz="1600" dirty="0"/>
          </a:p>
        </p:txBody>
      </p:sp>
      <p:sp>
        <p:nvSpPr>
          <p:cNvPr id="17" name="Shape 15"/>
          <p:cNvSpPr/>
          <p:nvPr/>
        </p:nvSpPr>
        <p:spPr>
          <a:xfrm>
            <a:off x="4017264" y="2560320"/>
            <a:ext cx="274320" cy="274320"/>
          </a:xfrm>
          <a:prstGeom prst="rightArrow">
            <a:avLst/>
          </a:prstGeom>
          <a:solidFill>
            <a:srgbClr val="B8860B"/>
          </a:solidFill>
          <a:ln/>
        </p:spPr>
        <p:txBody>
          <a:bodyPr/>
          <a:lstStyle/>
          <a:p>
            <a:endParaRPr lang="en-US" sz="1600"/>
          </a:p>
        </p:txBody>
      </p:sp>
      <p:sp>
        <p:nvSpPr>
          <p:cNvPr id="18" name="Shape 16"/>
          <p:cNvSpPr/>
          <p:nvPr/>
        </p:nvSpPr>
        <p:spPr>
          <a:xfrm>
            <a:off x="4401312" y="1234440"/>
            <a:ext cx="1432560" cy="2926080"/>
          </a:xfrm>
          <a:prstGeom prst="roundRect">
            <a:avLst>
              <a:gd name="adj" fmla="val 5106"/>
            </a:avLst>
          </a:prstGeom>
          <a:solidFill>
            <a:srgbClr val="E8EEF9"/>
          </a:solidFill>
          <a:ln w="12700">
            <a:solidFill>
              <a:srgbClr val="DCE1EA"/>
            </a:solidFill>
            <a:prstDash val="solid"/>
          </a:ln>
        </p:spPr>
        <p:txBody>
          <a:bodyPr/>
          <a:lstStyle/>
          <a:p>
            <a:endParaRPr lang="en-US" sz="1600"/>
          </a:p>
        </p:txBody>
      </p:sp>
      <p:sp>
        <p:nvSpPr>
          <p:cNvPr id="19" name="Shape 17"/>
          <p:cNvSpPr/>
          <p:nvPr/>
        </p:nvSpPr>
        <p:spPr>
          <a:xfrm>
            <a:off x="4538472" y="1371600"/>
            <a:ext cx="411480" cy="411480"/>
          </a:xfrm>
          <a:prstGeom prst="ellipse">
            <a:avLst/>
          </a:prstGeom>
          <a:solidFill>
            <a:srgbClr val="1F3864"/>
          </a:solidFill>
          <a:ln/>
        </p:spPr>
        <p:txBody>
          <a:bodyPr/>
          <a:lstStyle/>
          <a:p>
            <a:endParaRPr lang="en-US" sz="1600"/>
          </a:p>
        </p:txBody>
      </p:sp>
      <p:sp>
        <p:nvSpPr>
          <p:cNvPr id="20" name="Text 18"/>
          <p:cNvSpPr/>
          <p:nvPr/>
        </p:nvSpPr>
        <p:spPr>
          <a:xfrm>
            <a:off x="4538472"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p:nvPr/>
        </p:nvSpPr>
        <p:spPr>
          <a:xfrm>
            <a:off x="4511040"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Create Content</a:t>
            </a:r>
            <a:endParaRPr lang="en-US" sz="1600" dirty="0"/>
          </a:p>
        </p:txBody>
      </p:sp>
      <p:sp>
        <p:nvSpPr>
          <p:cNvPr id="22" name="Text 20"/>
          <p:cNvSpPr/>
          <p:nvPr/>
        </p:nvSpPr>
        <p:spPr>
          <a:xfrm>
            <a:off x="4511040"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Post text, photos, videos, reels, articles, or stories for your audience.</a:t>
            </a:r>
            <a:endParaRPr lang="en-US" sz="1600" dirty="0"/>
          </a:p>
        </p:txBody>
      </p:sp>
      <p:sp>
        <p:nvSpPr>
          <p:cNvPr id="23" name="Shape 21"/>
          <p:cNvSpPr/>
          <p:nvPr/>
        </p:nvSpPr>
        <p:spPr>
          <a:xfrm>
            <a:off x="5943600" y="2560320"/>
            <a:ext cx="274320" cy="274320"/>
          </a:xfrm>
          <a:prstGeom prst="rightArrow">
            <a:avLst/>
          </a:prstGeom>
          <a:solidFill>
            <a:srgbClr val="B8860B"/>
          </a:solidFill>
          <a:ln/>
        </p:spPr>
        <p:txBody>
          <a:bodyPr/>
          <a:lstStyle/>
          <a:p>
            <a:endParaRPr lang="en-US" sz="1600"/>
          </a:p>
        </p:txBody>
      </p:sp>
      <p:sp>
        <p:nvSpPr>
          <p:cNvPr id="24" name="Shape 22"/>
          <p:cNvSpPr/>
          <p:nvPr/>
        </p:nvSpPr>
        <p:spPr>
          <a:xfrm>
            <a:off x="6327648" y="1234440"/>
            <a:ext cx="1432560" cy="2926080"/>
          </a:xfrm>
          <a:prstGeom prst="roundRect">
            <a:avLst>
              <a:gd name="adj" fmla="val 5106"/>
            </a:avLst>
          </a:prstGeom>
          <a:solidFill>
            <a:srgbClr val="FDF3E3"/>
          </a:solidFill>
          <a:ln w="12700">
            <a:solidFill>
              <a:srgbClr val="DCE1EA"/>
            </a:solidFill>
            <a:prstDash val="solid"/>
          </a:ln>
        </p:spPr>
        <p:txBody>
          <a:bodyPr/>
          <a:lstStyle/>
          <a:p>
            <a:endParaRPr lang="en-US" sz="1600"/>
          </a:p>
        </p:txBody>
      </p:sp>
      <p:sp>
        <p:nvSpPr>
          <p:cNvPr id="25" name="Shape 23"/>
          <p:cNvSpPr/>
          <p:nvPr/>
        </p:nvSpPr>
        <p:spPr>
          <a:xfrm>
            <a:off x="6464808" y="1371600"/>
            <a:ext cx="411480" cy="411480"/>
          </a:xfrm>
          <a:prstGeom prst="ellipse">
            <a:avLst/>
          </a:prstGeom>
          <a:solidFill>
            <a:srgbClr val="1F3864"/>
          </a:solidFill>
          <a:ln/>
        </p:spPr>
        <p:txBody>
          <a:bodyPr/>
          <a:lstStyle/>
          <a:p>
            <a:endParaRPr lang="en-US" sz="1600"/>
          </a:p>
        </p:txBody>
      </p:sp>
      <p:sp>
        <p:nvSpPr>
          <p:cNvPr id="26" name="Text 24"/>
          <p:cNvSpPr/>
          <p:nvPr/>
        </p:nvSpPr>
        <p:spPr>
          <a:xfrm>
            <a:off x="6464808"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7" name="Text 25"/>
          <p:cNvSpPr/>
          <p:nvPr/>
        </p:nvSpPr>
        <p:spPr>
          <a:xfrm>
            <a:off x="6437376"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Feed Algorithm</a:t>
            </a:r>
            <a:endParaRPr lang="en-US" sz="1600" dirty="0"/>
          </a:p>
        </p:txBody>
      </p:sp>
      <p:sp>
        <p:nvSpPr>
          <p:cNvPr id="28" name="Text 26"/>
          <p:cNvSpPr/>
          <p:nvPr/>
        </p:nvSpPr>
        <p:spPr>
          <a:xfrm>
            <a:off x="6437376"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The platform ranks posts and decides what each person sees, based on interests and past activity.</a:t>
            </a:r>
            <a:endParaRPr lang="en-US" sz="1600" dirty="0"/>
          </a:p>
        </p:txBody>
      </p:sp>
      <p:sp>
        <p:nvSpPr>
          <p:cNvPr id="29" name="Shape 27"/>
          <p:cNvSpPr/>
          <p:nvPr/>
        </p:nvSpPr>
        <p:spPr>
          <a:xfrm>
            <a:off x="7869936" y="2560320"/>
            <a:ext cx="274320" cy="274320"/>
          </a:xfrm>
          <a:prstGeom prst="rightArrow">
            <a:avLst/>
          </a:prstGeom>
          <a:solidFill>
            <a:srgbClr val="B8860B"/>
          </a:solidFill>
          <a:ln/>
        </p:spPr>
        <p:txBody>
          <a:bodyPr/>
          <a:lstStyle/>
          <a:p>
            <a:endParaRPr lang="en-US" sz="1600"/>
          </a:p>
        </p:txBody>
      </p:sp>
      <p:sp>
        <p:nvSpPr>
          <p:cNvPr id="30" name="Shape 28"/>
          <p:cNvSpPr/>
          <p:nvPr/>
        </p:nvSpPr>
        <p:spPr>
          <a:xfrm>
            <a:off x="8253984" y="1234440"/>
            <a:ext cx="1432560" cy="2926080"/>
          </a:xfrm>
          <a:prstGeom prst="roundRect">
            <a:avLst>
              <a:gd name="adj" fmla="val 5106"/>
            </a:avLst>
          </a:prstGeom>
          <a:solidFill>
            <a:srgbClr val="E8EEF9"/>
          </a:solidFill>
          <a:ln w="12700">
            <a:solidFill>
              <a:srgbClr val="DCE1EA"/>
            </a:solidFill>
            <a:prstDash val="solid"/>
          </a:ln>
        </p:spPr>
        <p:txBody>
          <a:bodyPr/>
          <a:lstStyle/>
          <a:p>
            <a:endParaRPr lang="en-US" sz="1600"/>
          </a:p>
        </p:txBody>
      </p:sp>
      <p:sp>
        <p:nvSpPr>
          <p:cNvPr id="31" name="Shape 29"/>
          <p:cNvSpPr/>
          <p:nvPr/>
        </p:nvSpPr>
        <p:spPr>
          <a:xfrm>
            <a:off x="8391144" y="1371600"/>
            <a:ext cx="411480" cy="411480"/>
          </a:xfrm>
          <a:prstGeom prst="ellipse">
            <a:avLst/>
          </a:prstGeom>
          <a:solidFill>
            <a:srgbClr val="1F3864"/>
          </a:solidFill>
          <a:ln/>
        </p:spPr>
        <p:txBody>
          <a:bodyPr/>
          <a:lstStyle/>
          <a:p>
            <a:endParaRPr lang="en-US" sz="1600"/>
          </a:p>
        </p:txBody>
      </p:sp>
      <p:sp>
        <p:nvSpPr>
          <p:cNvPr id="32" name="Text 30"/>
          <p:cNvSpPr/>
          <p:nvPr/>
        </p:nvSpPr>
        <p:spPr>
          <a:xfrm>
            <a:off x="8391144"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3" name="Text 31"/>
          <p:cNvSpPr/>
          <p:nvPr/>
        </p:nvSpPr>
        <p:spPr>
          <a:xfrm>
            <a:off x="8363712"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Engage</a:t>
            </a:r>
            <a:endParaRPr lang="en-US" sz="1600" dirty="0"/>
          </a:p>
        </p:txBody>
      </p:sp>
      <p:sp>
        <p:nvSpPr>
          <p:cNvPr id="34" name="Text 32"/>
          <p:cNvSpPr/>
          <p:nvPr/>
        </p:nvSpPr>
        <p:spPr>
          <a:xfrm>
            <a:off x="8363712"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Users like, comment, share, and message — which feeds back into the ranking.</a:t>
            </a:r>
            <a:endParaRPr lang="en-US" sz="1600" dirty="0"/>
          </a:p>
        </p:txBody>
      </p:sp>
      <p:sp>
        <p:nvSpPr>
          <p:cNvPr id="35" name="Shape 33"/>
          <p:cNvSpPr/>
          <p:nvPr/>
        </p:nvSpPr>
        <p:spPr>
          <a:xfrm>
            <a:off x="9796272" y="2560320"/>
            <a:ext cx="274320" cy="274320"/>
          </a:xfrm>
          <a:prstGeom prst="rightArrow">
            <a:avLst/>
          </a:prstGeom>
          <a:solidFill>
            <a:srgbClr val="B8860B"/>
          </a:solidFill>
          <a:ln/>
        </p:spPr>
        <p:txBody>
          <a:bodyPr/>
          <a:lstStyle/>
          <a:p>
            <a:endParaRPr lang="en-US" sz="1600"/>
          </a:p>
        </p:txBody>
      </p:sp>
      <p:sp>
        <p:nvSpPr>
          <p:cNvPr id="36" name="Shape 34"/>
          <p:cNvSpPr/>
          <p:nvPr/>
        </p:nvSpPr>
        <p:spPr>
          <a:xfrm>
            <a:off x="10180320" y="1234440"/>
            <a:ext cx="1432560" cy="2926080"/>
          </a:xfrm>
          <a:prstGeom prst="roundRect">
            <a:avLst>
              <a:gd name="adj" fmla="val 5106"/>
            </a:avLst>
          </a:prstGeom>
          <a:solidFill>
            <a:srgbClr val="FDF3E3"/>
          </a:solidFill>
          <a:ln w="12700">
            <a:solidFill>
              <a:srgbClr val="DCE1EA"/>
            </a:solidFill>
            <a:prstDash val="solid"/>
          </a:ln>
        </p:spPr>
        <p:txBody>
          <a:bodyPr/>
          <a:lstStyle/>
          <a:p>
            <a:endParaRPr lang="en-US" sz="1600"/>
          </a:p>
        </p:txBody>
      </p:sp>
      <p:sp>
        <p:nvSpPr>
          <p:cNvPr id="37" name="Shape 35"/>
          <p:cNvSpPr/>
          <p:nvPr/>
        </p:nvSpPr>
        <p:spPr>
          <a:xfrm>
            <a:off x="10317480" y="1371600"/>
            <a:ext cx="411480" cy="411480"/>
          </a:xfrm>
          <a:prstGeom prst="ellipse">
            <a:avLst/>
          </a:prstGeom>
          <a:solidFill>
            <a:srgbClr val="1F3864"/>
          </a:solidFill>
          <a:ln/>
        </p:spPr>
        <p:txBody>
          <a:bodyPr/>
          <a:lstStyle/>
          <a:p>
            <a:endParaRPr lang="en-US" sz="1600"/>
          </a:p>
        </p:txBody>
      </p:sp>
      <p:sp>
        <p:nvSpPr>
          <p:cNvPr id="38" name="Text 36"/>
          <p:cNvSpPr/>
          <p:nvPr/>
        </p:nvSpPr>
        <p:spPr>
          <a:xfrm>
            <a:off x="10317480" y="13716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9" name="Text 37"/>
          <p:cNvSpPr/>
          <p:nvPr/>
        </p:nvSpPr>
        <p:spPr>
          <a:xfrm>
            <a:off x="10290048" y="1874520"/>
            <a:ext cx="1213104" cy="548640"/>
          </a:xfrm>
          <a:prstGeom prst="rect">
            <a:avLst/>
          </a:prstGeom>
          <a:noFill/>
          <a:ln/>
        </p:spPr>
        <p:txBody>
          <a:bodyPr wrap="square" rtlCol="0" anchor="t"/>
          <a:lstStyle/>
          <a:p>
            <a:pPr marL="0" indent="0">
              <a:buNone/>
            </a:pPr>
            <a:r>
              <a:rPr lang="en-US" sz="1600" b="1" dirty="0">
                <a:solidFill>
                  <a:srgbClr val="1F3864"/>
                </a:solidFill>
                <a:latin typeface="Calibri" pitchFamily="34" charset="0"/>
                <a:ea typeface="Calibri" pitchFamily="34" charset="-122"/>
                <a:cs typeface="Calibri" pitchFamily="34" charset="-120"/>
              </a:rPr>
              <a:t>Data &amp; Advertising</a:t>
            </a:r>
            <a:endParaRPr lang="en-US" sz="1600" dirty="0"/>
          </a:p>
        </p:txBody>
      </p:sp>
      <p:sp>
        <p:nvSpPr>
          <p:cNvPr id="40" name="Text 38"/>
          <p:cNvSpPr/>
          <p:nvPr/>
        </p:nvSpPr>
        <p:spPr>
          <a:xfrm>
            <a:off x="10290048" y="2423160"/>
            <a:ext cx="1213104" cy="1645920"/>
          </a:xfrm>
          <a:prstGeom prst="rect">
            <a:avLst/>
          </a:prstGeom>
          <a:noFill/>
          <a:ln/>
        </p:spPr>
        <p:txBody>
          <a:bodyPr wrap="square" rtlCol="0" anchor="t"/>
          <a:lstStyle/>
          <a:p>
            <a:pPr marL="0" indent="0">
              <a:lnSpc>
                <a:spcPts val="1536"/>
              </a:lnSpc>
              <a:buNone/>
            </a:pPr>
            <a:r>
              <a:rPr lang="en-US" sz="1600" dirty="0">
                <a:solidFill>
                  <a:srgbClr val="333333"/>
                </a:solidFill>
                <a:latin typeface="Calibri" pitchFamily="34" charset="0"/>
                <a:ea typeface="Calibri" pitchFamily="34" charset="-122"/>
                <a:cs typeface="Calibri" pitchFamily="34" charset="-120"/>
              </a:rPr>
              <a:t>The platform learns audience interests; businesses pay to reach targeted groups.</a:t>
            </a:r>
            <a:endParaRPr lang="en-US" sz="1600" dirty="0"/>
          </a:p>
        </p:txBody>
      </p:sp>
      <p:sp>
        <p:nvSpPr>
          <p:cNvPr id="41" name="Shape 39"/>
          <p:cNvSpPr/>
          <p:nvPr/>
        </p:nvSpPr>
        <p:spPr>
          <a:xfrm>
            <a:off x="548640" y="4434840"/>
            <a:ext cx="3566160" cy="1325880"/>
          </a:xfrm>
          <a:prstGeom prst="roundRect">
            <a:avLst>
              <a:gd name="adj" fmla="val 5517"/>
            </a:avLst>
          </a:prstGeom>
          <a:solidFill>
            <a:srgbClr val="E8EEF9"/>
          </a:solidFill>
          <a:ln w="12700">
            <a:solidFill>
              <a:srgbClr val="DCE1EA"/>
            </a:solidFill>
            <a:prstDash val="solid"/>
          </a:ln>
        </p:spPr>
        <p:txBody>
          <a:bodyPr/>
          <a:lstStyle/>
          <a:p>
            <a:endParaRPr lang="en-US" sz="1600"/>
          </a:p>
        </p:txBody>
      </p:sp>
      <p:sp>
        <p:nvSpPr>
          <p:cNvPr id="42" name="Text 40"/>
          <p:cNvSpPr/>
          <p:nvPr/>
        </p:nvSpPr>
        <p:spPr>
          <a:xfrm>
            <a:off x="731520" y="454456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Purpose</a:t>
            </a:r>
            <a:endParaRPr lang="en-US" sz="1600" dirty="0"/>
          </a:p>
        </p:txBody>
      </p:sp>
      <p:sp>
        <p:nvSpPr>
          <p:cNvPr id="43" name="Text 41"/>
          <p:cNvSpPr/>
          <p:nvPr/>
        </p:nvSpPr>
        <p:spPr>
          <a:xfrm>
            <a:off x="731520" y="487375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Share information, build communities, and communicate with large audiences — personally, professionally, and commercially.</a:t>
            </a:r>
            <a:endParaRPr lang="en-US" sz="1600" dirty="0"/>
          </a:p>
        </p:txBody>
      </p:sp>
      <p:sp>
        <p:nvSpPr>
          <p:cNvPr id="44" name="Shape 42"/>
          <p:cNvSpPr/>
          <p:nvPr/>
        </p:nvSpPr>
        <p:spPr>
          <a:xfrm>
            <a:off x="4297680" y="4434840"/>
            <a:ext cx="3566160" cy="1325880"/>
          </a:xfrm>
          <a:prstGeom prst="roundRect">
            <a:avLst>
              <a:gd name="adj" fmla="val 5517"/>
            </a:avLst>
          </a:prstGeom>
          <a:solidFill>
            <a:srgbClr val="FDF3E3"/>
          </a:solidFill>
          <a:ln w="12700">
            <a:solidFill>
              <a:srgbClr val="DCE1EA"/>
            </a:solidFill>
            <a:prstDash val="solid"/>
          </a:ln>
        </p:spPr>
        <p:txBody>
          <a:bodyPr/>
          <a:lstStyle/>
          <a:p>
            <a:endParaRPr lang="en-US" sz="1600"/>
          </a:p>
        </p:txBody>
      </p:sp>
      <p:sp>
        <p:nvSpPr>
          <p:cNvPr id="45" name="Text 43"/>
          <p:cNvSpPr/>
          <p:nvPr/>
        </p:nvSpPr>
        <p:spPr>
          <a:xfrm>
            <a:off x="4480560" y="454456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Why they are “free”</a:t>
            </a:r>
            <a:endParaRPr lang="en-US" sz="1600" dirty="0"/>
          </a:p>
        </p:txBody>
      </p:sp>
      <p:sp>
        <p:nvSpPr>
          <p:cNvPr id="46" name="Text 44"/>
          <p:cNvSpPr/>
          <p:nvPr/>
        </p:nvSpPr>
        <p:spPr>
          <a:xfrm>
            <a:off x="4480560" y="487375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Most platforms earn money through advertising and data about audience interests, so features are built to keep users engaged.</a:t>
            </a:r>
            <a:endParaRPr lang="en-US" sz="1600" dirty="0"/>
          </a:p>
        </p:txBody>
      </p:sp>
      <p:sp>
        <p:nvSpPr>
          <p:cNvPr id="47" name="Shape 45"/>
          <p:cNvSpPr/>
          <p:nvPr/>
        </p:nvSpPr>
        <p:spPr>
          <a:xfrm>
            <a:off x="8046720" y="4434840"/>
            <a:ext cx="3566160" cy="1325880"/>
          </a:xfrm>
          <a:prstGeom prst="roundRect">
            <a:avLst>
              <a:gd name="adj" fmla="val 5517"/>
            </a:avLst>
          </a:prstGeom>
          <a:solidFill>
            <a:srgbClr val="E8EEF9"/>
          </a:solidFill>
          <a:ln w="12700">
            <a:solidFill>
              <a:srgbClr val="DCE1EA"/>
            </a:solidFill>
            <a:prstDash val="solid"/>
          </a:ln>
        </p:spPr>
        <p:txBody>
          <a:bodyPr/>
          <a:lstStyle/>
          <a:p>
            <a:endParaRPr lang="en-US" sz="1600"/>
          </a:p>
        </p:txBody>
      </p:sp>
      <p:sp>
        <p:nvSpPr>
          <p:cNvPr id="48" name="Text 46"/>
          <p:cNvSpPr/>
          <p:nvPr/>
        </p:nvSpPr>
        <p:spPr>
          <a:xfrm>
            <a:off x="8229600" y="4544568"/>
            <a:ext cx="320040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Why it matters for ICT</a:t>
            </a:r>
            <a:endParaRPr lang="en-US" sz="1600" dirty="0"/>
          </a:p>
        </p:txBody>
      </p:sp>
      <p:sp>
        <p:nvSpPr>
          <p:cNvPr id="49" name="Text 47"/>
          <p:cNvSpPr/>
          <p:nvPr/>
        </p:nvSpPr>
        <p:spPr>
          <a:xfrm>
            <a:off x="8229600" y="4873752"/>
            <a:ext cx="3200400" cy="822960"/>
          </a:xfrm>
          <a:prstGeom prst="rect">
            <a:avLst/>
          </a:prstGeom>
          <a:noFill/>
          <a:ln/>
        </p:spPr>
        <p:txBody>
          <a:bodyPr wrap="square" rtlCol="0" anchor="t"/>
          <a:lstStyle/>
          <a:p>
            <a:pPr marL="0" indent="0">
              <a:lnSpc>
                <a:spcPts val="1500"/>
              </a:lnSpc>
              <a:buNone/>
            </a:pPr>
            <a:r>
              <a:rPr lang="en-US" sz="1600" dirty="0">
                <a:solidFill>
                  <a:srgbClr val="333333"/>
                </a:solidFill>
                <a:latin typeface="Calibri" pitchFamily="34" charset="0"/>
                <a:ea typeface="Calibri" pitchFamily="34" charset="-122"/>
                <a:cs typeface="Calibri" pitchFamily="34" charset="-120"/>
              </a:rPr>
              <a:t>The same tools that connect classmates and employers can also spread misinformation, so responsible use is a core ICT skill.</a:t>
            </a:r>
            <a:endParaRPr lang="en-US" sz="1600" dirty="0"/>
          </a:p>
        </p:txBody>
      </p:sp>
      <p:sp>
        <p:nvSpPr>
          <p:cNvPr id="50" name="Text 48"/>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51" name="Text 49"/>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6 RECAP — LINKEDIN</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LinkedIn — Profile, Jobs &amp; Learning</a:t>
            </a:r>
            <a:endParaRPr lang="en-US" sz="2400" dirty="0"/>
          </a:p>
        </p:txBody>
      </p:sp>
      <p:pic>
        <p:nvPicPr>
          <p:cNvPr id="6" name="Image 0" descr="mockups/linkedin_profile.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PURPOSE</a:t>
            </a:r>
            <a:endParaRPr lang="en-US" dirty="0"/>
          </a:p>
        </p:txBody>
      </p:sp>
      <p:sp>
        <p:nvSpPr>
          <p:cNvPr id="11" name="Text 8"/>
          <p:cNvSpPr/>
          <p:nvPr/>
        </p:nvSpPr>
        <p:spPr>
          <a:xfrm>
            <a:off x="8138160" y="1554480"/>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 professional networking platform built around a resume-style profile, company pages, and a feed of industry content.</a:t>
            </a:r>
            <a:endParaRPr lang="en-US" sz="1600" dirty="0"/>
          </a:p>
        </p:txBody>
      </p:sp>
      <p:sp>
        <p:nvSpPr>
          <p:cNvPr id="12" name="Text 9"/>
          <p:cNvSpPr/>
          <p:nvPr/>
        </p:nvSpPr>
        <p:spPr>
          <a:xfrm>
            <a:off x="8138160" y="2383536"/>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HOW IT WORKS</a:t>
            </a:r>
            <a:endParaRPr lang="en-US" dirty="0"/>
          </a:p>
        </p:txBody>
      </p:sp>
      <p:sp>
        <p:nvSpPr>
          <p:cNvPr id="13" name="Text 10"/>
          <p:cNvSpPr/>
          <p:nvPr/>
        </p:nvSpPr>
        <p:spPr>
          <a:xfrm>
            <a:off x="8138160" y="2676144"/>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You build a profile, connect with colleagues and recruiters, follow companies, and apply to jobs with “Easy Apply.”</a:t>
            </a:r>
            <a:endParaRPr lang="en-US" sz="1600" dirty="0"/>
          </a:p>
        </p:txBody>
      </p:sp>
      <p:sp>
        <p:nvSpPr>
          <p:cNvPr id="14" name="Text 11"/>
          <p:cNvSpPr/>
          <p:nvPr/>
        </p:nvSpPr>
        <p:spPr>
          <a:xfrm>
            <a:off x="8138160" y="3505200"/>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KEY SECTIONS SHOWN</a:t>
            </a:r>
            <a:endParaRPr lang="en-US" dirty="0"/>
          </a:p>
        </p:txBody>
      </p:sp>
      <p:sp>
        <p:nvSpPr>
          <p:cNvPr id="15" name="Text 12"/>
          <p:cNvSpPr/>
          <p:nvPr/>
        </p:nvSpPr>
        <p:spPr>
          <a:xfrm>
            <a:off x="8138160" y="3797808"/>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Profile — education, experience, skills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“Jobs for You” — matched openings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LinkedIn Learning — short courses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Connect / Message networking</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EDUCATION · PROFESSIONAL/JOBS · MARKETING</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LinkedIn — Positive Impact</a:t>
            </a:r>
            <a:endParaRPr lang="en-US" sz="2400" dirty="0"/>
          </a:p>
        </p:txBody>
      </p:sp>
      <p:sp>
        <p:nvSpPr>
          <p:cNvPr id="6" name="Shape 4"/>
          <p:cNvSpPr/>
          <p:nvPr/>
        </p:nvSpPr>
        <p:spPr>
          <a:xfrm>
            <a:off x="548640" y="1188720"/>
            <a:ext cx="5394960" cy="1920240"/>
          </a:xfrm>
          <a:prstGeom prst="roundRect">
            <a:avLst>
              <a:gd name="adj" fmla="val 3810"/>
            </a:avLst>
          </a:prstGeom>
          <a:solidFill>
            <a:srgbClr val="E8EEF9"/>
          </a:solidFill>
          <a:ln w="12700">
            <a:solidFill>
              <a:srgbClr val="DCE1EA"/>
            </a:solidFill>
            <a:prstDash val="solid"/>
          </a:ln>
        </p:spPr>
        <p:txBody>
          <a:bodyPr/>
          <a:lstStyle/>
          <a:p>
            <a:endParaRPr lang="en-US" sz="1600"/>
          </a:p>
        </p:txBody>
      </p:sp>
      <p:sp>
        <p:nvSpPr>
          <p:cNvPr id="7" name="Text 5"/>
          <p:cNvSpPr/>
          <p:nvPr/>
        </p:nvSpPr>
        <p:spPr>
          <a:xfrm>
            <a:off x="777240" y="1325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Education</a:t>
            </a:r>
            <a:endParaRPr lang="en-US" dirty="0"/>
          </a:p>
        </p:txBody>
      </p:sp>
      <p:sp>
        <p:nvSpPr>
          <p:cNvPr id="8" name="Text 6"/>
          <p:cNvSpPr/>
          <p:nvPr/>
        </p:nvSpPr>
        <p:spPr>
          <a:xfrm>
            <a:off x="777240" y="16916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LinkedIn Learning offers short courses with certificates that can be added to a profile — turning scrolling time into verifiable upskilling.</a:t>
            </a:r>
            <a:endParaRPr lang="en-US" sz="1600" dirty="0"/>
          </a:p>
        </p:txBody>
      </p:sp>
      <p:sp>
        <p:nvSpPr>
          <p:cNvPr id="9" name="Shape 7"/>
          <p:cNvSpPr/>
          <p:nvPr/>
        </p:nvSpPr>
        <p:spPr>
          <a:xfrm>
            <a:off x="6172200" y="1188720"/>
            <a:ext cx="5394960" cy="1920240"/>
          </a:xfrm>
          <a:prstGeom prst="roundRect">
            <a:avLst>
              <a:gd name="adj" fmla="val 3810"/>
            </a:avLst>
          </a:prstGeom>
          <a:solidFill>
            <a:srgbClr val="FDF3E3"/>
          </a:solidFill>
          <a:ln w="12700">
            <a:solidFill>
              <a:srgbClr val="DCE1EA"/>
            </a:solidFill>
            <a:prstDash val="solid"/>
          </a:ln>
        </p:spPr>
        <p:txBody>
          <a:bodyPr/>
          <a:lstStyle/>
          <a:p>
            <a:endParaRPr lang="en-US" sz="1600"/>
          </a:p>
        </p:txBody>
      </p:sp>
      <p:sp>
        <p:nvSpPr>
          <p:cNvPr id="10" name="Text 8"/>
          <p:cNvSpPr/>
          <p:nvPr/>
        </p:nvSpPr>
        <p:spPr>
          <a:xfrm>
            <a:off x="6400800" y="1325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Professional / Jobs</a:t>
            </a:r>
            <a:endParaRPr lang="en-US" dirty="0"/>
          </a:p>
        </p:txBody>
      </p:sp>
      <p:sp>
        <p:nvSpPr>
          <p:cNvPr id="11" name="Text 9"/>
          <p:cNvSpPr/>
          <p:nvPr/>
        </p:nvSpPr>
        <p:spPr>
          <a:xfrm>
            <a:off x="6400800" y="16916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AI-matched job recommendations and “Easy Apply” connect students with internships and entry-level roles; recommendations act as digital references.</a:t>
            </a:r>
            <a:endParaRPr lang="en-US" sz="1600" dirty="0"/>
          </a:p>
        </p:txBody>
      </p:sp>
      <p:sp>
        <p:nvSpPr>
          <p:cNvPr id="12" name="Shape 10"/>
          <p:cNvSpPr/>
          <p:nvPr/>
        </p:nvSpPr>
        <p:spPr>
          <a:xfrm>
            <a:off x="548640" y="3246120"/>
            <a:ext cx="5394960" cy="1920240"/>
          </a:xfrm>
          <a:prstGeom prst="roundRect">
            <a:avLst>
              <a:gd name="adj" fmla="val 3810"/>
            </a:avLst>
          </a:prstGeom>
          <a:solidFill>
            <a:srgbClr val="E8EEF9"/>
          </a:solidFill>
          <a:ln w="12700">
            <a:solidFill>
              <a:srgbClr val="DCE1EA"/>
            </a:solidFill>
            <a:prstDash val="solid"/>
          </a:ln>
        </p:spPr>
        <p:txBody>
          <a:bodyPr/>
          <a:lstStyle/>
          <a:p>
            <a:endParaRPr lang="en-US" sz="1600"/>
          </a:p>
        </p:txBody>
      </p:sp>
      <p:sp>
        <p:nvSpPr>
          <p:cNvPr id="13" name="Text 11"/>
          <p:cNvSpPr/>
          <p:nvPr/>
        </p:nvSpPr>
        <p:spPr>
          <a:xfrm>
            <a:off x="777240" y="33832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Marketing</a:t>
            </a:r>
            <a:endParaRPr lang="en-US" dirty="0"/>
          </a:p>
        </p:txBody>
      </p:sp>
      <p:sp>
        <p:nvSpPr>
          <p:cNvPr id="14" name="Text 12"/>
          <p:cNvSpPr/>
          <p:nvPr/>
        </p:nvSpPr>
        <p:spPr>
          <a:xfrm>
            <a:off x="777240" y="37490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Businesses and freelancers publish expert posts and case studies; ads can target by job title and industry, not just age or location.</a:t>
            </a:r>
            <a:endParaRPr lang="en-US" sz="1600" dirty="0"/>
          </a:p>
        </p:txBody>
      </p:sp>
      <p:sp>
        <p:nvSpPr>
          <p:cNvPr id="15" name="Shape 13"/>
          <p:cNvSpPr/>
          <p:nvPr/>
        </p:nvSpPr>
        <p:spPr>
          <a:xfrm>
            <a:off x="6172200" y="3246120"/>
            <a:ext cx="5394960" cy="1920240"/>
          </a:xfrm>
          <a:prstGeom prst="roundRect">
            <a:avLst>
              <a:gd name="adj" fmla="val 3810"/>
            </a:avLst>
          </a:prstGeom>
          <a:solidFill>
            <a:srgbClr val="FDF3E3"/>
          </a:solidFill>
          <a:ln w="12700">
            <a:solidFill>
              <a:srgbClr val="DCE1EA"/>
            </a:solidFill>
            <a:prstDash val="solid"/>
          </a:ln>
        </p:spPr>
        <p:txBody>
          <a:bodyPr/>
          <a:lstStyle/>
          <a:p>
            <a:endParaRPr lang="en-US" sz="1600"/>
          </a:p>
        </p:txBody>
      </p:sp>
      <p:sp>
        <p:nvSpPr>
          <p:cNvPr id="16" name="Text 14"/>
          <p:cNvSpPr/>
          <p:nvPr/>
        </p:nvSpPr>
        <p:spPr>
          <a:xfrm>
            <a:off x="6400800" y="33832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Why It Works for Students</a:t>
            </a:r>
            <a:endParaRPr lang="en-US" dirty="0"/>
          </a:p>
        </p:txBody>
      </p:sp>
      <p:sp>
        <p:nvSpPr>
          <p:cNvPr id="17" name="Text 15"/>
          <p:cNvSpPr/>
          <p:nvPr/>
        </p:nvSpPr>
        <p:spPr>
          <a:xfrm>
            <a:off x="6400800" y="37490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A well-built profile is a living CV that teachers, peers, and recruiters can all check in one public place.</a:t>
            </a:r>
            <a:endParaRPr lang="en-US" sz="1600" dirty="0"/>
          </a:p>
        </p:txBody>
      </p:sp>
      <p:sp>
        <p:nvSpPr>
          <p:cNvPr id="18" name="Text 16"/>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9" name="Text 17"/>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6 RECAP — FACEBOOK</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Facebook — Groups, Pages &amp; Community</a:t>
            </a:r>
            <a:endParaRPr lang="en-US" sz="2400" dirty="0"/>
          </a:p>
        </p:txBody>
      </p:sp>
      <p:pic>
        <p:nvPicPr>
          <p:cNvPr id="6" name="Image 0" descr="mockups/facebook_groups.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PURPOSE</a:t>
            </a:r>
            <a:endParaRPr lang="en-US" dirty="0"/>
          </a:p>
        </p:txBody>
      </p:sp>
      <p:sp>
        <p:nvSpPr>
          <p:cNvPr id="11" name="Text 8"/>
          <p:cNvSpPr/>
          <p:nvPr/>
        </p:nvSpPr>
        <p:spPr>
          <a:xfrm>
            <a:off x="8138160" y="1554480"/>
            <a:ext cx="3337560" cy="8493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 community-centered platform built around Groups (shared-interest communities) and Pages (public profiles for businesses and organizations).</a:t>
            </a:r>
            <a:endParaRPr lang="en-US" sz="1600" dirty="0"/>
          </a:p>
        </p:txBody>
      </p:sp>
      <p:sp>
        <p:nvSpPr>
          <p:cNvPr id="12" name="Text 9"/>
          <p:cNvSpPr/>
          <p:nvPr/>
        </p:nvSpPr>
        <p:spPr>
          <a:xfrm>
            <a:off x="8138160" y="2586736"/>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HOW IT WORKS</a:t>
            </a:r>
            <a:endParaRPr lang="en-US" dirty="0"/>
          </a:p>
        </p:txBody>
      </p:sp>
      <p:sp>
        <p:nvSpPr>
          <p:cNvPr id="13" name="Text 10"/>
          <p:cNvSpPr/>
          <p:nvPr/>
        </p:nvSpPr>
        <p:spPr>
          <a:xfrm>
            <a:off x="8138160" y="2879344"/>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Members join groups, post and comment; page owners publish updates, view insights, and can pay to promote posts.</a:t>
            </a:r>
            <a:endParaRPr lang="en-US" sz="1600" dirty="0"/>
          </a:p>
        </p:txBody>
      </p:sp>
      <p:sp>
        <p:nvSpPr>
          <p:cNvPr id="14" name="Text 11"/>
          <p:cNvSpPr/>
          <p:nvPr/>
        </p:nvSpPr>
        <p:spPr>
          <a:xfrm>
            <a:off x="8138160" y="3708400"/>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KEY ELEMENTS SHOWN</a:t>
            </a:r>
            <a:endParaRPr lang="en-US" dirty="0"/>
          </a:p>
        </p:txBody>
      </p:sp>
      <p:sp>
        <p:nvSpPr>
          <p:cNvPr id="15" name="Text 12"/>
          <p:cNvSpPr/>
          <p:nvPr/>
        </p:nvSpPr>
        <p:spPr>
          <a:xfrm>
            <a:off x="8138160" y="4001008"/>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Study group for notes and queries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Admin posts — official reminders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Business page — reach, likes, ad spend</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Sponsored post with a call to action</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EDUCATION · PROFESSIONAL/JOBS · MARKETING</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Facebook — Positive Impact</a:t>
            </a:r>
            <a:endParaRPr lang="en-US" sz="2400" dirty="0"/>
          </a:p>
        </p:txBody>
      </p:sp>
      <p:sp>
        <p:nvSpPr>
          <p:cNvPr id="6" name="Shape 4"/>
          <p:cNvSpPr/>
          <p:nvPr/>
        </p:nvSpPr>
        <p:spPr>
          <a:xfrm>
            <a:off x="548640" y="1188720"/>
            <a:ext cx="5394960" cy="1920240"/>
          </a:xfrm>
          <a:prstGeom prst="roundRect">
            <a:avLst>
              <a:gd name="adj" fmla="val 3810"/>
            </a:avLst>
          </a:prstGeom>
          <a:solidFill>
            <a:srgbClr val="EAF6EC"/>
          </a:solidFill>
          <a:ln w="12700">
            <a:solidFill>
              <a:srgbClr val="DCE1EA"/>
            </a:solidFill>
            <a:prstDash val="solid"/>
          </a:ln>
        </p:spPr>
        <p:txBody>
          <a:bodyPr/>
          <a:lstStyle/>
          <a:p>
            <a:endParaRPr lang="en-US" sz="1600"/>
          </a:p>
        </p:txBody>
      </p:sp>
      <p:sp>
        <p:nvSpPr>
          <p:cNvPr id="7" name="Text 5"/>
          <p:cNvSpPr/>
          <p:nvPr/>
        </p:nvSpPr>
        <p:spPr>
          <a:xfrm>
            <a:off x="777240" y="1325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Education</a:t>
            </a:r>
            <a:endParaRPr lang="en-US" dirty="0"/>
          </a:p>
        </p:txBody>
      </p:sp>
      <p:sp>
        <p:nvSpPr>
          <p:cNvPr id="8" name="Text 6"/>
          <p:cNvSpPr/>
          <p:nvPr/>
        </p:nvSpPr>
        <p:spPr>
          <a:xfrm>
            <a:off x="777240" y="16916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Class and university Groups become informal study communities where students share notes, ask questions, and get reminders outside class hours.</a:t>
            </a:r>
            <a:endParaRPr lang="en-US" sz="1600" dirty="0"/>
          </a:p>
        </p:txBody>
      </p:sp>
      <p:sp>
        <p:nvSpPr>
          <p:cNvPr id="9" name="Shape 7"/>
          <p:cNvSpPr/>
          <p:nvPr/>
        </p:nvSpPr>
        <p:spPr>
          <a:xfrm>
            <a:off x="6172200" y="1188720"/>
            <a:ext cx="5394960" cy="1920240"/>
          </a:xfrm>
          <a:prstGeom prst="roundRect">
            <a:avLst>
              <a:gd name="adj" fmla="val 3810"/>
            </a:avLst>
          </a:prstGeom>
          <a:solidFill>
            <a:srgbClr val="FBEAEA"/>
          </a:solidFill>
          <a:ln w="12700">
            <a:solidFill>
              <a:srgbClr val="DCE1EA"/>
            </a:solidFill>
            <a:prstDash val="solid"/>
          </a:ln>
        </p:spPr>
        <p:txBody>
          <a:bodyPr/>
          <a:lstStyle/>
          <a:p>
            <a:endParaRPr lang="en-US" sz="1600"/>
          </a:p>
        </p:txBody>
      </p:sp>
      <p:sp>
        <p:nvSpPr>
          <p:cNvPr id="10" name="Text 8"/>
          <p:cNvSpPr/>
          <p:nvPr/>
        </p:nvSpPr>
        <p:spPr>
          <a:xfrm>
            <a:off x="6400800" y="1325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Professional / Jobs</a:t>
            </a:r>
            <a:endParaRPr lang="en-US" dirty="0"/>
          </a:p>
        </p:txBody>
      </p:sp>
      <p:sp>
        <p:nvSpPr>
          <p:cNvPr id="11" name="Text 9"/>
          <p:cNvSpPr/>
          <p:nvPr/>
        </p:nvSpPr>
        <p:spPr>
          <a:xfrm>
            <a:off x="6400800" y="16916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Community job-posting groups and Pages connect small businesses with local candidates; alumni groups share internships and openings.</a:t>
            </a:r>
            <a:endParaRPr lang="en-US" sz="1600" dirty="0"/>
          </a:p>
        </p:txBody>
      </p:sp>
      <p:sp>
        <p:nvSpPr>
          <p:cNvPr id="12" name="Shape 10"/>
          <p:cNvSpPr/>
          <p:nvPr/>
        </p:nvSpPr>
        <p:spPr>
          <a:xfrm>
            <a:off x="548640" y="3246120"/>
            <a:ext cx="5394960" cy="1920240"/>
          </a:xfrm>
          <a:prstGeom prst="roundRect">
            <a:avLst>
              <a:gd name="adj" fmla="val 3810"/>
            </a:avLst>
          </a:prstGeom>
          <a:solidFill>
            <a:srgbClr val="EAF6EC"/>
          </a:solidFill>
          <a:ln w="12700">
            <a:solidFill>
              <a:srgbClr val="DCE1EA"/>
            </a:solidFill>
            <a:prstDash val="solid"/>
          </a:ln>
        </p:spPr>
        <p:txBody>
          <a:bodyPr/>
          <a:lstStyle/>
          <a:p>
            <a:endParaRPr lang="en-US" sz="1600"/>
          </a:p>
        </p:txBody>
      </p:sp>
      <p:sp>
        <p:nvSpPr>
          <p:cNvPr id="13" name="Text 11"/>
          <p:cNvSpPr/>
          <p:nvPr/>
        </p:nvSpPr>
        <p:spPr>
          <a:xfrm>
            <a:off x="777240" y="33832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Marketing</a:t>
            </a:r>
            <a:endParaRPr lang="en-US" dirty="0"/>
          </a:p>
        </p:txBody>
      </p:sp>
      <p:sp>
        <p:nvSpPr>
          <p:cNvPr id="14" name="Text 12"/>
          <p:cNvSpPr/>
          <p:nvPr/>
        </p:nvSpPr>
        <p:spPr>
          <a:xfrm>
            <a:off x="777240" y="37490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Business Pages give even very small businesses insight into reach, engagement, and ad spend — professional marketing at low cost.</a:t>
            </a:r>
            <a:endParaRPr lang="en-US" sz="1600" dirty="0"/>
          </a:p>
        </p:txBody>
      </p:sp>
      <p:sp>
        <p:nvSpPr>
          <p:cNvPr id="15" name="Shape 13"/>
          <p:cNvSpPr/>
          <p:nvPr/>
        </p:nvSpPr>
        <p:spPr>
          <a:xfrm>
            <a:off x="6172200" y="3246120"/>
            <a:ext cx="5394960" cy="1920240"/>
          </a:xfrm>
          <a:prstGeom prst="roundRect">
            <a:avLst>
              <a:gd name="adj" fmla="val 3810"/>
            </a:avLst>
          </a:prstGeom>
          <a:solidFill>
            <a:srgbClr val="FBEAEA"/>
          </a:solidFill>
          <a:ln w="12700">
            <a:solidFill>
              <a:srgbClr val="DCE1EA"/>
            </a:solidFill>
            <a:prstDash val="solid"/>
          </a:ln>
        </p:spPr>
        <p:txBody>
          <a:bodyPr/>
          <a:lstStyle/>
          <a:p>
            <a:endParaRPr lang="en-US" sz="1600"/>
          </a:p>
        </p:txBody>
      </p:sp>
      <p:sp>
        <p:nvSpPr>
          <p:cNvPr id="16" name="Text 14"/>
          <p:cNvSpPr/>
          <p:nvPr/>
        </p:nvSpPr>
        <p:spPr>
          <a:xfrm>
            <a:off x="6400800" y="33832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Why It Works at Scale</a:t>
            </a:r>
            <a:endParaRPr lang="en-US" dirty="0"/>
          </a:p>
        </p:txBody>
      </p:sp>
      <p:sp>
        <p:nvSpPr>
          <p:cNvPr id="17" name="Text 15"/>
          <p:cNvSpPr/>
          <p:nvPr/>
        </p:nvSpPr>
        <p:spPr>
          <a:xfrm>
            <a:off x="6400800" y="37490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Ads can target by location, age, and interest, making Facebook a cost-effective tool for local and student-run businesses.</a:t>
            </a:r>
            <a:endParaRPr lang="en-US" sz="1600" dirty="0"/>
          </a:p>
        </p:txBody>
      </p:sp>
      <p:sp>
        <p:nvSpPr>
          <p:cNvPr id="18" name="Text 16"/>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9" name="Text 17"/>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6 RECAP — INSTAGRAM</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Instagram — Business Profile &amp; Insights</a:t>
            </a:r>
            <a:endParaRPr lang="en-US" sz="2400" dirty="0"/>
          </a:p>
        </p:txBody>
      </p:sp>
      <p:pic>
        <p:nvPicPr>
          <p:cNvPr id="6" name="Image 0" descr="mockups/instagram_business.png"/>
          <p:cNvPicPr>
            <a:picLocks noChangeAspect="1"/>
          </p:cNvPicPr>
          <p:nvPr/>
        </p:nvPicPr>
        <p:blipFill>
          <a:blip r:embed="rId3"/>
          <a:stretch>
            <a:fillRect/>
          </a:stretch>
        </p:blipFill>
        <p:spPr>
          <a:xfrm>
            <a:off x="457200" y="1097280"/>
            <a:ext cx="7223760" cy="4540649"/>
          </a:xfrm>
          <a:prstGeom prst="rect">
            <a:avLst/>
          </a:prstGeom>
        </p:spPr>
      </p:pic>
      <p:sp>
        <p:nvSpPr>
          <p:cNvPr id="7" name="Shape 4"/>
          <p:cNvSpPr/>
          <p:nvPr/>
        </p:nvSpPr>
        <p:spPr>
          <a:xfrm>
            <a:off x="457200" y="1097280"/>
            <a:ext cx="7223760" cy="4540649"/>
          </a:xfrm>
          <a:prstGeom prst="rect">
            <a:avLst/>
          </a:prstGeom>
          <a:ln w="12700">
            <a:solidFill>
              <a:srgbClr val="C9D0DC"/>
            </a:solidFill>
            <a:prstDash val="solid"/>
          </a:ln>
        </p:spPr>
        <p:txBody>
          <a:bodyPr/>
          <a:lstStyle/>
          <a:p>
            <a:endParaRPr lang="en-US"/>
          </a:p>
        </p:txBody>
      </p:sp>
      <p:sp>
        <p:nvSpPr>
          <p:cNvPr id="8" name="Text 5"/>
          <p:cNvSpPr/>
          <p:nvPr/>
        </p:nvSpPr>
        <p:spPr>
          <a:xfrm>
            <a:off x="457200" y="5729369"/>
            <a:ext cx="7223760" cy="457200"/>
          </a:xfrm>
          <a:prstGeom prst="rect">
            <a:avLst/>
          </a:prstGeom>
          <a:noFill/>
          <a:ln/>
        </p:spPr>
        <p:txBody>
          <a:bodyPr wrap="square" rtlCol="0" anchor="t"/>
          <a:lstStyle/>
          <a:p>
            <a:pPr marL="0" indent="0">
              <a:lnSpc>
                <a:spcPts val="1300"/>
              </a:lnSpc>
              <a:buNone/>
            </a:pPr>
            <a:r>
              <a:rPr lang="en-US" sz="1050" i="1" dirty="0">
                <a:solidFill>
                  <a:srgbClr val="595959"/>
                </a:solidFill>
                <a:latin typeface="Calibri" pitchFamily="34" charset="0"/>
                <a:ea typeface="Calibri" pitchFamily="34" charset="-122"/>
                <a:cs typeface="Calibri" pitchFamily="34" charset="-120"/>
              </a:rPr>
              <a:t>Illustrative interface drawn for teaching — exact layout varies by version and institution.</a:t>
            </a:r>
            <a:endParaRPr lang="en-US" sz="1050" dirty="0"/>
          </a:p>
        </p:txBody>
      </p:sp>
      <p:sp>
        <p:nvSpPr>
          <p:cNvPr id="9" name="Shape 6"/>
          <p:cNvSpPr/>
          <p:nvPr/>
        </p:nvSpPr>
        <p:spPr>
          <a:xfrm>
            <a:off x="7909560" y="1097280"/>
            <a:ext cx="3794760" cy="5212080"/>
          </a:xfrm>
          <a:prstGeom prst="roundRect">
            <a:avLst>
              <a:gd name="adj" fmla="val 192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0" name="Text 7"/>
          <p:cNvSpPr/>
          <p:nvPr/>
        </p:nvSpPr>
        <p:spPr>
          <a:xfrm>
            <a:off x="8138160" y="1261872"/>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PURPOSE</a:t>
            </a:r>
            <a:endParaRPr lang="en-US" dirty="0"/>
          </a:p>
        </p:txBody>
      </p:sp>
      <p:sp>
        <p:nvSpPr>
          <p:cNvPr id="11" name="Text 8"/>
          <p:cNvSpPr/>
          <p:nvPr/>
        </p:nvSpPr>
        <p:spPr>
          <a:xfrm>
            <a:off x="8138160" y="1554480"/>
            <a:ext cx="3337560" cy="8493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 visual-first platform built around Posts, Reels (short video), and Stories, with a Business/Creator mode for analytics and promotion.</a:t>
            </a:r>
            <a:endParaRPr lang="en-US" sz="1600" dirty="0"/>
          </a:p>
        </p:txBody>
      </p:sp>
      <p:sp>
        <p:nvSpPr>
          <p:cNvPr id="12" name="Text 9"/>
          <p:cNvSpPr/>
          <p:nvPr/>
        </p:nvSpPr>
        <p:spPr>
          <a:xfrm>
            <a:off x="8138160" y="2586736"/>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HOW IT WORKS</a:t>
            </a:r>
            <a:endParaRPr lang="en-US" dirty="0"/>
          </a:p>
        </p:txBody>
      </p:sp>
      <p:sp>
        <p:nvSpPr>
          <p:cNvPr id="13" name="Text 10"/>
          <p:cNvSpPr/>
          <p:nvPr/>
        </p:nvSpPr>
        <p:spPr>
          <a:xfrm>
            <a:off x="8138160" y="2879344"/>
            <a:ext cx="3337560" cy="646176"/>
          </a:xfrm>
          <a:prstGeom prst="rect">
            <a:avLst/>
          </a:prstGeom>
          <a:noFill/>
          <a:ln/>
        </p:spPr>
        <p:txBody>
          <a:bodyPr wrap="square" lIns="0" tIns="0" rIns="0" bIns="0"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Accounts post visual content; the Explore and Reels algorithms can show it to people who do not yet follow the account.</a:t>
            </a:r>
            <a:endParaRPr lang="en-US" sz="1600" dirty="0"/>
          </a:p>
        </p:txBody>
      </p:sp>
      <p:sp>
        <p:nvSpPr>
          <p:cNvPr id="14" name="Text 11"/>
          <p:cNvSpPr/>
          <p:nvPr/>
        </p:nvSpPr>
        <p:spPr>
          <a:xfrm>
            <a:off x="8138160" y="3708400"/>
            <a:ext cx="3337560" cy="256032"/>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KEY ELEMENTS SHOWN</a:t>
            </a:r>
            <a:endParaRPr lang="en-US" dirty="0"/>
          </a:p>
        </p:txBody>
      </p:sp>
      <p:sp>
        <p:nvSpPr>
          <p:cNvPr id="15" name="Text 12"/>
          <p:cNvSpPr/>
          <p:nvPr/>
        </p:nvSpPr>
        <p:spPr>
          <a:xfrm>
            <a:off x="8138160" y="4001008"/>
            <a:ext cx="3337560" cy="1052576"/>
          </a:xfrm>
          <a:prstGeom prst="rect">
            <a:avLst/>
          </a:prstGeom>
          <a:noFill/>
          <a:ln/>
        </p:spPr>
        <p:txBody>
          <a:bodyPr wrap="square" lIns="0" tIns="0" rIns="0" bIns="0" rtlCol="0" anchor="t"/>
          <a:lstStyle/>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Content grid of posts and reels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Promote button for paid boosting</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Insights — reach, visits, new followers</a:t>
            </a:r>
            <a:endParaRPr lang="en-US" sz="1600" dirty="0"/>
          </a:p>
          <a:p>
            <a:pPr marL="0" indent="0">
              <a:lnSpc>
                <a:spcPts val="1600"/>
              </a:lnSpc>
              <a:spcAft>
                <a:spcPts val="400"/>
              </a:spcAft>
              <a:buNone/>
            </a:pPr>
            <a:r>
              <a:rPr lang="en-US" sz="1600" dirty="0">
                <a:solidFill>
                  <a:srgbClr val="222222"/>
                </a:solidFill>
                <a:latin typeface="Calibri" pitchFamily="34" charset="0"/>
                <a:ea typeface="Calibri" pitchFamily="34" charset="-122"/>
                <a:cs typeface="Calibri" pitchFamily="34" charset="-120"/>
              </a:rPr>
              <a:t>•  Top-post callout</a:t>
            </a:r>
            <a:endParaRPr lang="en-US" sz="1600" dirty="0"/>
          </a:p>
        </p:txBody>
      </p:sp>
      <p:sp>
        <p:nvSpPr>
          <p:cNvPr id="16" name="Text 1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7" name="Text 14"/>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EDUCATION · PROFESSIONAL/JOBS · MARKETING</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Instagram — Positive Impact</a:t>
            </a:r>
            <a:endParaRPr lang="en-US" sz="2400" dirty="0"/>
          </a:p>
        </p:txBody>
      </p:sp>
      <p:sp>
        <p:nvSpPr>
          <p:cNvPr id="6" name="Shape 4"/>
          <p:cNvSpPr/>
          <p:nvPr/>
        </p:nvSpPr>
        <p:spPr>
          <a:xfrm>
            <a:off x="548640" y="1188720"/>
            <a:ext cx="5394960" cy="1920240"/>
          </a:xfrm>
          <a:prstGeom prst="roundRect">
            <a:avLst>
              <a:gd name="adj" fmla="val 3810"/>
            </a:avLst>
          </a:prstGeom>
          <a:solidFill>
            <a:srgbClr val="FDF3E3"/>
          </a:solidFill>
          <a:ln w="12700">
            <a:solidFill>
              <a:srgbClr val="DCE1EA"/>
            </a:solidFill>
            <a:prstDash val="solid"/>
          </a:ln>
        </p:spPr>
        <p:txBody>
          <a:bodyPr/>
          <a:lstStyle/>
          <a:p>
            <a:endParaRPr lang="en-US" sz="1600"/>
          </a:p>
        </p:txBody>
      </p:sp>
      <p:sp>
        <p:nvSpPr>
          <p:cNvPr id="7" name="Text 5"/>
          <p:cNvSpPr/>
          <p:nvPr/>
        </p:nvSpPr>
        <p:spPr>
          <a:xfrm>
            <a:off x="777240" y="1325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Education</a:t>
            </a:r>
            <a:endParaRPr lang="en-US" dirty="0"/>
          </a:p>
        </p:txBody>
      </p:sp>
      <p:sp>
        <p:nvSpPr>
          <p:cNvPr id="8" name="Text 6"/>
          <p:cNvSpPr/>
          <p:nvPr/>
        </p:nvSpPr>
        <p:spPr>
          <a:xfrm>
            <a:off x="777240" y="16916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Short Reels break complex topics (exam tips, quick tutorials, lab demos) into bite-sized visual lessons that are easy to revise and share.</a:t>
            </a:r>
            <a:endParaRPr lang="en-US" sz="1600" dirty="0"/>
          </a:p>
        </p:txBody>
      </p:sp>
      <p:sp>
        <p:nvSpPr>
          <p:cNvPr id="9" name="Shape 7"/>
          <p:cNvSpPr/>
          <p:nvPr/>
        </p:nvSpPr>
        <p:spPr>
          <a:xfrm>
            <a:off x="6172200" y="1188720"/>
            <a:ext cx="5394960" cy="1920240"/>
          </a:xfrm>
          <a:prstGeom prst="roundRect">
            <a:avLst>
              <a:gd name="adj" fmla="val 3810"/>
            </a:avLst>
          </a:prstGeom>
          <a:solidFill>
            <a:srgbClr val="E8EEF9"/>
          </a:solidFill>
          <a:ln w="12700">
            <a:solidFill>
              <a:srgbClr val="DCE1EA"/>
            </a:solidFill>
            <a:prstDash val="solid"/>
          </a:ln>
        </p:spPr>
        <p:txBody>
          <a:bodyPr/>
          <a:lstStyle/>
          <a:p>
            <a:endParaRPr lang="en-US" sz="1600"/>
          </a:p>
        </p:txBody>
      </p:sp>
      <p:sp>
        <p:nvSpPr>
          <p:cNvPr id="10" name="Text 8"/>
          <p:cNvSpPr/>
          <p:nvPr/>
        </p:nvSpPr>
        <p:spPr>
          <a:xfrm>
            <a:off x="6400800" y="1325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Professional / Jobs</a:t>
            </a:r>
            <a:endParaRPr lang="en-US" dirty="0"/>
          </a:p>
        </p:txBody>
      </p:sp>
      <p:sp>
        <p:nvSpPr>
          <p:cNvPr id="11" name="Text 9"/>
          <p:cNvSpPr/>
          <p:nvPr/>
        </p:nvSpPr>
        <p:spPr>
          <a:xfrm>
            <a:off x="6400800" y="16916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A tidy, well-tagged portfolio of design, photography, or writing works as a visual CV that many creative-industry recruiters check.</a:t>
            </a:r>
            <a:endParaRPr lang="en-US" sz="1600" dirty="0"/>
          </a:p>
        </p:txBody>
      </p:sp>
      <p:sp>
        <p:nvSpPr>
          <p:cNvPr id="12" name="Shape 10"/>
          <p:cNvSpPr/>
          <p:nvPr/>
        </p:nvSpPr>
        <p:spPr>
          <a:xfrm>
            <a:off x="548640" y="3246120"/>
            <a:ext cx="5394960" cy="1920240"/>
          </a:xfrm>
          <a:prstGeom prst="roundRect">
            <a:avLst>
              <a:gd name="adj" fmla="val 3810"/>
            </a:avLst>
          </a:prstGeom>
          <a:solidFill>
            <a:srgbClr val="FDF3E3"/>
          </a:solidFill>
          <a:ln w="12700">
            <a:solidFill>
              <a:srgbClr val="DCE1EA"/>
            </a:solidFill>
            <a:prstDash val="solid"/>
          </a:ln>
        </p:spPr>
        <p:txBody>
          <a:bodyPr/>
          <a:lstStyle/>
          <a:p>
            <a:endParaRPr lang="en-US" sz="1600"/>
          </a:p>
        </p:txBody>
      </p:sp>
      <p:sp>
        <p:nvSpPr>
          <p:cNvPr id="13" name="Text 11"/>
          <p:cNvSpPr/>
          <p:nvPr/>
        </p:nvSpPr>
        <p:spPr>
          <a:xfrm>
            <a:off x="777240" y="33832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Marketing</a:t>
            </a:r>
            <a:endParaRPr lang="en-US" dirty="0"/>
          </a:p>
        </p:txBody>
      </p:sp>
      <p:sp>
        <p:nvSpPr>
          <p:cNvPr id="14" name="Text 12"/>
          <p:cNvSpPr/>
          <p:nvPr/>
        </p:nvSpPr>
        <p:spPr>
          <a:xfrm>
            <a:off x="777240" y="37490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Insights (reach, profile visits, website taps) show a small brand which content drives real traffic and sales.</a:t>
            </a:r>
            <a:endParaRPr lang="en-US" sz="1600" dirty="0"/>
          </a:p>
        </p:txBody>
      </p:sp>
      <p:sp>
        <p:nvSpPr>
          <p:cNvPr id="15" name="Shape 13"/>
          <p:cNvSpPr/>
          <p:nvPr/>
        </p:nvSpPr>
        <p:spPr>
          <a:xfrm>
            <a:off x="6172200" y="3246120"/>
            <a:ext cx="5394960" cy="1920240"/>
          </a:xfrm>
          <a:prstGeom prst="roundRect">
            <a:avLst>
              <a:gd name="adj" fmla="val 3810"/>
            </a:avLst>
          </a:prstGeom>
          <a:solidFill>
            <a:srgbClr val="E8EEF9"/>
          </a:solidFill>
          <a:ln w="12700">
            <a:solidFill>
              <a:srgbClr val="DCE1EA"/>
            </a:solidFill>
            <a:prstDash val="solid"/>
          </a:ln>
        </p:spPr>
        <p:txBody>
          <a:bodyPr/>
          <a:lstStyle/>
          <a:p>
            <a:endParaRPr lang="en-US" sz="1600"/>
          </a:p>
        </p:txBody>
      </p:sp>
      <p:sp>
        <p:nvSpPr>
          <p:cNvPr id="16" name="Text 14"/>
          <p:cNvSpPr/>
          <p:nvPr/>
        </p:nvSpPr>
        <p:spPr>
          <a:xfrm>
            <a:off x="6400800" y="33832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Why It Works for Reach</a:t>
            </a:r>
            <a:endParaRPr lang="en-US" dirty="0"/>
          </a:p>
        </p:txBody>
      </p:sp>
      <p:sp>
        <p:nvSpPr>
          <p:cNvPr id="17" name="Text 15"/>
          <p:cNvSpPr/>
          <p:nvPr/>
        </p:nvSpPr>
        <p:spPr>
          <a:xfrm>
            <a:off x="6400800" y="3749040"/>
            <a:ext cx="4937760" cy="1325880"/>
          </a:xfrm>
          <a:prstGeom prst="rect">
            <a:avLst/>
          </a:prstGeom>
          <a:noFill/>
          <a:ln/>
        </p:spPr>
        <p:txBody>
          <a:bodyPr wrap="square" rtlCol="0" anchor="t"/>
          <a:lstStyle/>
          <a:p>
            <a:pPr marL="0" indent="0">
              <a:lnSpc>
                <a:spcPts val="1792"/>
              </a:lnSpc>
              <a:buNone/>
            </a:pPr>
            <a:r>
              <a:rPr lang="en-US" sz="1600" dirty="0">
                <a:solidFill>
                  <a:srgbClr val="333333"/>
                </a:solidFill>
                <a:latin typeface="Calibri" pitchFamily="34" charset="0"/>
                <a:ea typeface="Calibri" pitchFamily="34" charset="-122"/>
                <a:cs typeface="Calibri" pitchFamily="34" charset="-120"/>
              </a:rPr>
              <a:t>Explore and Reels can show content to non-followers, giving small accounts a chance to grow without ad spend.</a:t>
            </a:r>
            <a:endParaRPr lang="en-US" sz="1600" dirty="0"/>
          </a:p>
        </p:txBody>
      </p:sp>
      <p:sp>
        <p:nvSpPr>
          <p:cNvPr id="18" name="Text 16"/>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9" name="Text 17"/>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6 RECAP — COMPARISON</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LinkedIn vs Facebook vs Instagram</a:t>
            </a:r>
            <a:endParaRPr lang="en-US" sz="2400" dirty="0"/>
          </a:p>
        </p:txBody>
      </p:sp>
      <p:sp>
        <p:nvSpPr>
          <p:cNvPr id="6" name="Shape 4"/>
          <p:cNvSpPr/>
          <p:nvPr/>
        </p:nvSpPr>
        <p:spPr>
          <a:xfrm>
            <a:off x="548640" y="1188720"/>
            <a:ext cx="2286000" cy="457200"/>
          </a:xfrm>
          <a:prstGeom prst="rect">
            <a:avLst/>
          </a:prstGeom>
          <a:solidFill>
            <a:srgbClr val="1F3864"/>
          </a:solidFill>
          <a:ln/>
        </p:spPr>
        <p:txBody>
          <a:bodyPr/>
          <a:lstStyle/>
          <a:p>
            <a:endParaRPr lang="en-US" sz="1600"/>
          </a:p>
        </p:txBody>
      </p:sp>
      <p:sp>
        <p:nvSpPr>
          <p:cNvPr id="7" name="Text 5"/>
          <p:cNvSpPr/>
          <p:nvPr/>
        </p:nvSpPr>
        <p:spPr>
          <a:xfrm>
            <a:off x="548640" y="1188720"/>
            <a:ext cx="22860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Aspect</a:t>
            </a:r>
            <a:endParaRPr lang="en-US" sz="1600" dirty="0"/>
          </a:p>
        </p:txBody>
      </p:sp>
      <p:sp>
        <p:nvSpPr>
          <p:cNvPr id="8" name="Shape 6"/>
          <p:cNvSpPr/>
          <p:nvPr/>
        </p:nvSpPr>
        <p:spPr>
          <a:xfrm>
            <a:off x="2834640" y="1188720"/>
            <a:ext cx="2926080" cy="457200"/>
          </a:xfrm>
          <a:prstGeom prst="rect">
            <a:avLst/>
          </a:prstGeom>
          <a:solidFill>
            <a:srgbClr val="0A66C2"/>
          </a:solidFill>
          <a:ln/>
        </p:spPr>
        <p:txBody>
          <a:bodyPr/>
          <a:lstStyle/>
          <a:p>
            <a:endParaRPr lang="en-US" sz="1600"/>
          </a:p>
        </p:txBody>
      </p:sp>
      <p:sp>
        <p:nvSpPr>
          <p:cNvPr id="9" name="Text 7"/>
          <p:cNvSpPr/>
          <p:nvPr/>
        </p:nvSpPr>
        <p:spPr>
          <a:xfrm>
            <a:off x="2834640" y="1188720"/>
            <a:ext cx="292608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LinkedIn</a:t>
            </a:r>
            <a:endParaRPr lang="en-US" sz="1600" dirty="0"/>
          </a:p>
        </p:txBody>
      </p:sp>
      <p:sp>
        <p:nvSpPr>
          <p:cNvPr id="10" name="Shape 8"/>
          <p:cNvSpPr/>
          <p:nvPr/>
        </p:nvSpPr>
        <p:spPr>
          <a:xfrm>
            <a:off x="5760720" y="1188720"/>
            <a:ext cx="2926080" cy="457200"/>
          </a:xfrm>
          <a:prstGeom prst="rect">
            <a:avLst/>
          </a:prstGeom>
          <a:solidFill>
            <a:srgbClr val="0866FF"/>
          </a:solidFill>
          <a:ln/>
        </p:spPr>
        <p:txBody>
          <a:bodyPr/>
          <a:lstStyle/>
          <a:p>
            <a:endParaRPr lang="en-US" sz="1600"/>
          </a:p>
        </p:txBody>
      </p:sp>
      <p:sp>
        <p:nvSpPr>
          <p:cNvPr id="11" name="Text 9"/>
          <p:cNvSpPr/>
          <p:nvPr/>
        </p:nvSpPr>
        <p:spPr>
          <a:xfrm>
            <a:off x="5760720" y="1188720"/>
            <a:ext cx="292608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Facebook</a:t>
            </a:r>
            <a:endParaRPr lang="en-US" sz="1600" dirty="0"/>
          </a:p>
        </p:txBody>
      </p:sp>
      <p:sp>
        <p:nvSpPr>
          <p:cNvPr id="12" name="Shape 10"/>
          <p:cNvSpPr/>
          <p:nvPr/>
        </p:nvSpPr>
        <p:spPr>
          <a:xfrm>
            <a:off x="8686800" y="1188720"/>
            <a:ext cx="2926080" cy="457200"/>
          </a:xfrm>
          <a:prstGeom prst="rect">
            <a:avLst/>
          </a:prstGeom>
          <a:solidFill>
            <a:srgbClr val="E4405F"/>
          </a:solidFill>
          <a:ln/>
        </p:spPr>
        <p:txBody>
          <a:bodyPr/>
          <a:lstStyle/>
          <a:p>
            <a:endParaRPr lang="en-US" sz="1600"/>
          </a:p>
        </p:txBody>
      </p:sp>
      <p:sp>
        <p:nvSpPr>
          <p:cNvPr id="13" name="Text 11"/>
          <p:cNvSpPr/>
          <p:nvPr/>
        </p:nvSpPr>
        <p:spPr>
          <a:xfrm>
            <a:off x="8686800" y="1188720"/>
            <a:ext cx="292608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Instagram</a:t>
            </a:r>
            <a:endParaRPr lang="en-US" sz="1600" dirty="0"/>
          </a:p>
        </p:txBody>
      </p:sp>
      <p:sp>
        <p:nvSpPr>
          <p:cNvPr id="14" name="Shape 12"/>
          <p:cNvSpPr/>
          <p:nvPr/>
        </p:nvSpPr>
        <p:spPr>
          <a:xfrm>
            <a:off x="548640" y="1645920"/>
            <a:ext cx="2286000" cy="685800"/>
          </a:xfrm>
          <a:prstGeom prst="rect">
            <a:avLst/>
          </a:prstGeom>
          <a:solidFill>
            <a:srgbClr val="FFFFFF"/>
          </a:solidFill>
          <a:ln w="9525">
            <a:solidFill>
              <a:srgbClr val="DCE1EA"/>
            </a:solidFill>
            <a:prstDash val="solid"/>
          </a:ln>
        </p:spPr>
        <p:txBody>
          <a:bodyPr/>
          <a:lstStyle/>
          <a:p>
            <a:endParaRPr lang="en-US" sz="1600"/>
          </a:p>
        </p:txBody>
      </p:sp>
      <p:sp>
        <p:nvSpPr>
          <p:cNvPr id="15" name="Text 13"/>
          <p:cNvSpPr/>
          <p:nvPr/>
        </p:nvSpPr>
        <p:spPr>
          <a:xfrm>
            <a:off x="640080" y="1645920"/>
            <a:ext cx="2103120" cy="68580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Core format</a:t>
            </a:r>
            <a:endParaRPr lang="en-US" sz="1600" dirty="0"/>
          </a:p>
        </p:txBody>
      </p:sp>
      <p:sp>
        <p:nvSpPr>
          <p:cNvPr id="16" name="Shape 14"/>
          <p:cNvSpPr/>
          <p:nvPr/>
        </p:nvSpPr>
        <p:spPr>
          <a:xfrm>
            <a:off x="2834640" y="16459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17" name="Text 15"/>
          <p:cNvSpPr/>
          <p:nvPr/>
        </p:nvSpPr>
        <p:spPr>
          <a:xfrm>
            <a:off x="2926080" y="16459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Professional profile &amp; articles</a:t>
            </a:r>
            <a:endParaRPr lang="en-US" sz="1600" dirty="0"/>
          </a:p>
        </p:txBody>
      </p:sp>
      <p:sp>
        <p:nvSpPr>
          <p:cNvPr id="18" name="Shape 16"/>
          <p:cNvSpPr/>
          <p:nvPr/>
        </p:nvSpPr>
        <p:spPr>
          <a:xfrm>
            <a:off x="5760720" y="16459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19" name="Text 17"/>
          <p:cNvSpPr/>
          <p:nvPr/>
        </p:nvSpPr>
        <p:spPr>
          <a:xfrm>
            <a:off x="5852160" y="16459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Groups, Pages &amp; long-form posts</a:t>
            </a:r>
            <a:endParaRPr lang="en-US" sz="1600" dirty="0"/>
          </a:p>
        </p:txBody>
      </p:sp>
      <p:sp>
        <p:nvSpPr>
          <p:cNvPr id="20" name="Shape 18"/>
          <p:cNvSpPr/>
          <p:nvPr/>
        </p:nvSpPr>
        <p:spPr>
          <a:xfrm>
            <a:off x="8686800" y="16459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21" name="Text 19"/>
          <p:cNvSpPr/>
          <p:nvPr/>
        </p:nvSpPr>
        <p:spPr>
          <a:xfrm>
            <a:off x="8778240" y="16459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Visual posts, Reels &amp; Stories</a:t>
            </a:r>
            <a:endParaRPr lang="en-US" sz="1600" dirty="0"/>
          </a:p>
        </p:txBody>
      </p:sp>
      <p:sp>
        <p:nvSpPr>
          <p:cNvPr id="22" name="Shape 20"/>
          <p:cNvSpPr/>
          <p:nvPr/>
        </p:nvSpPr>
        <p:spPr>
          <a:xfrm>
            <a:off x="548640" y="2331720"/>
            <a:ext cx="2286000" cy="685800"/>
          </a:xfrm>
          <a:prstGeom prst="rect">
            <a:avLst/>
          </a:prstGeom>
          <a:solidFill>
            <a:srgbClr val="F4F6FA"/>
          </a:solidFill>
          <a:ln w="9525">
            <a:solidFill>
              <a:srgbClr val="DCE1EA"/>
            </a:solidFill>
            <a:prstDash val="solid"/>
          </a:ln>
        </p:spPr>
        <p:txBody>
          <a:bodyPr/>
          <a:lstStyle/>
          <a:p>
            <a:endParaRPr lang="en-US" sz="1600"/>
          </a:p>
        </p:txBody>
      </p:sp>
      <p:sp>
        <p:nvSpPr>
          <p:cNvPr id="23" name="Text 21"/>
          <p:cNvSpPr/>
          <p:nvPr/>
        </p:nvSpPr>
        <p:spPr>
          <a:xfrm>
            <a:off x="640080" y="2331720"/>
            <a:ext cx="2103120" cy="68580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Best for education</a:t>
            </a:r>
            <a:endParaRPr lang="en-US" sz="1600" dirty="0"/>
          </a:p>
        </p:txBody>
      </p:sp>
      <p:sp>
        <p:nvSpPr>
          <p:cNvPr id="24" name="Shape 22"/>
          <p:cNvSpPr/>
          <p:nvPr/>
        </p:nvSpPr>
        <p:spPr>
          <a:xfrm>
            <a:off x="2834640" y="23317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25" name="Text 23"/>
          <p:cNvSpPr/>
          <p:nvPr/>
        </p:nvSpPr>
        <p:spPr>
          <a:xfrm>
            <a:off x="2926080" y="23317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Verified courses &amp; certificates</a:t>
            </a:r>
            <a:endParaRPr lang="en-US" sz="1600" dirty="0"/>
          </a:p>
        </p:txBody>
      </p:sp>
      <p:sp>
        <p:nvSpPr>
          <p:cNvPr id="26" name="Shape 24"/>
          <p:cNvSpPr/>
          <p:nvPr/>
        </p:nvSpPr>
        <p:spPr>
          <a:xfrm>
            <a:off x="5760720" y="23317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27" name="Text 25"/>
          <p:cNvSpPr/>
          <p:nvPr/>
        </p:nvSpPr>
        <p:spPr>
          <a:xfrm>
            <a:off x="5852160" y="23317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Class and study groups</a:t>
            </a:r>
            <a:endParaRPr lang="en-US" sz="1600" dirty="0"/>
          </a:p>
        </p:txBody>
      </p:sp>
      <p:sp>
        <p:nvSpPr>
          <p:cNvPr id="28" name="Shape 26"/>
          <p:cNvSpPr/>
          <p:nvPr/>
        </p:nvSpPr>
        <p:spPr>
          <a:xfrm>
            <a:off x="8686800" y="23317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29" name="Text 27"/>
          <p:cNvSpPr/>
          <p:nvPr/>
        </p:nvSpPr>
        <p:spPr>
          <a:xfrm>
            <a:off x="8778240" y="23317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Bite-sized visual tutorials</a:t>
            </a:r>
            <a:endParaRPr lang="en-US" sz="1600" dirty="0"/>
          </a:p>
        </p:txBody>
      </p:sp>
      <p:sp>
        <p:nvSpPr>
          <p:cNvPr id="30" name="Shape 28"/>
          <p:cNvSpPr/>
          <p:nvPr/>
        </p:nvSpPr>
        <p:spPr>
          <a:xfrm>
            <a:off x="548640" y="3017520"/>
            <a:ext cx="2286000" cy="685800"/>
          </a:xfrm>
          <a:prstGeom prst="rect">
            <a:avLst/>
          </a:prstGeom>
          <a:solidFill>
            <a:srgbClr val="FFFFFF"/>
          </a:solidFill>
          <a:ln w="9525">
            <a:solidFill>
              <a:srgbClr val="DCE1EA"/>
            </a:solidFill>
            <a:prstDash val="solid"/>
          </a:ln>
        </p:spPr>
        <p:txBody>
          <a:bodyPr/>
          <a:lstStyle/>
          <a:p>
            <a:endParaRPr lang="en-US" sz="1600"/>
          </a:p>
        </p:txBody>
      </p:sp>
      <p:sp>
        <p:nvSpPr>
          <p:cNvPr id="31" name="Text 29"/>
          <p:cNvSpPr/>
          <p:nvPr/>
        </p:nvSpPr>
        <p:spPr>
          <a:xfrm>
            <a:off x="640080" y="3017520"/>
            <a:ext cx="2103120" cy="68580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Best for jobs</a:t>
            </a:r>
            <a:endParaRPr lang="en-US" sz="1600" dirty="0"/>
          </a:p>
        </p:txBody>
      </p:sp>
      <p:sp>
        <p:nvSpPr>
          <p:cNvPr id="32" name="Shape 30"/>
          <p:cNvSpPr/>
          <p:nvPr/>
        </p:nvSpPr>
        <p:spPr>
          <a:xfrm>
            <a:off x="2834640" y="30175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33" name="Text 31"/>
          <p:cNvSpPr/>
          <p:nvPr/>
        </p:nvSpPr>
        <p:spPr>
          <a:xfrm>
            <a:off x="2926080" y="30175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Direct job matching &amp; Easy Apply</a:t>
            </a:r>
            <a:endParaRPr lang="en-US" sz="1600" dirty="0"/>
          </a:p>
        </p:txBody>
      </p:sp>
      <p:sp>
        <p:nvSpPr>
          <p:cNvPr id="34" name="Shape 32"/>
          <p:cNvSpPr/>
          <p:nvPr/>
        </p:nvSpPr>
        <p:spPr>
          <a:xfrm>
            <a:off x="5760720" y="30175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35" name="Text 33"/>
          <p:cNvSpPr/>
          <p:nvPr/>
        </p:nvSpPr>
        <p:spPr>
          <a:xfrm>
            <a:off x="5852160" y="30175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Community job-posting groups</a:t>
            </a:r>
            <a:endParaRPr lang="en-US" sz="1600" dirty="0"/>
          </a:p>
        </p:txBody>
      </p:sp>
      <p:sp>
        <p:nvSpPr>
          <p:cNvPr id="36" name="Shape 34"/>
          <p:cNvSpPr/>
          <p:nvPr/>
        </p:nvSpPr>
        <p:spPr>
          <a:xfrm>
            <a:off x="8686800" y="30175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37" name="Text 35"/>
          <p:cNvSpPr/>
          <p:nvPr/>
        </p:nvSpPr>
        <p:spPr>
          <a:xfrm>
            <a:off x="8778240" y="30175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Visual portfolio &amp; creative CV</a:t>
            </a:r>
            <a:endParaRPr lang="en-US" sz="1600" dirty="0"/>
          </a:p>
        </p:txBody>
      </p:sp>
      <p:sp>
        <p:nvSpPr>
          <p:cNvPr id="38" name="Shape 36"/>
          <p:cNvSpPr/>
          <p:nvPr/>
        </p:nvSpPr>
        <p:spPr>
          <a:xfrm>
            <a:off x="548640" y="3703320"/>
            <a:ext cx="2286000" cy="685800"/>
          </a:xfrm>
          <a:prstGeom prst="rect">
            <a:avLst/>
          </a:prstGeom>
          <a:solidFill>
            <a:srgbClr val="F4F6FA"/>
          </a:solidFill>
          <a:ln w="9525">
            <a:solidFill>
              <a:srgbClr val="DCE1EA"/>
            </a:solidFill>
            <a:prstDash val="solid"/>
          </a:ln>
        </p:spPr>
        <p:txBody>
          <a:bodyPr/>
          <a:lstStyle/>
          <a:p>
            <a:endParaRPr lang="en-US" sz="1600"/>
          </a:p>
        </p:txBody>
      </p:sp>
      <p:sp>
        <p:nvSpPr>
          <p:cNvPr id="39" name="Text 37"/>
          <p:cNvSpPr/>
          <p:nvPr/>
        </p:nvSpPr>
        <p:spPr>
          <a:xfrm>
            <a:off x="640080" y="3703320"/>
            <a:ext cx="2103120" cy="68580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Best for marketing</a:t>
            </a:r>
            <a:endParaRPr lang="en-US" sz="1600" dirty="0"/>
          </a:p>
        </p:txBody>
      </p:sp>
      <p:sp>
        <p:nvSpPr>
          <p:cNvPr id="40" name="Shape 38"/>
          <p:cNvSpPr/>
          <p:nvPr/>
        </p:nvSpPr>
        <p:spPr>
          <a:xfrm>
            <a:off x="2834640" y="37033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41" name="Text 39"/>
          <p:cNvSpPr/>
          <p:nvPr/>
        </p:nvSpPr>
        <p:spPr>
          <a:xfrm>
            <a:off x="2926080" y="37033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B2B and expert authority</a:t>
            </a:r>
            <a:endParaRPr lang="en-US" sz="1600" dirty="0"/>
          </a:p>
        </p:txBody>
      </p:sp>
      <p:sp>
        <p:nvSpPr>
          <p:cNvPr id="42" name="Shape 40"/>
          <p:cNvSpPr/>
          <p:nvPr/>
        </p:nvSpPr>
        <p:spPr>
          <a:xfrm>
            <a:off x="5760720" y="37033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43" name="Text 41"/>
          <p:cNvSpPr/>
          <p:nvPr/>
        </p:nvSpPr>
        <p:spPr>
          <a:xfrm>
            <a:off x="5852160" y="37033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Local business, detailed ad targeting</a:t>
            </a:r>
            <a:endParaRPr lang="en-US" sz="1600" dirty="0"/>
          </a:p>
        </p:txBody>
      </p:sp>
      <p:sp>
        <p:nvSpPr>
          <p:cNvPr id="44" name="Shape 42"/>
          <p:cNvSpPr/>
          <p:nvPr/>
        </p:nvSpPr>
        <p:spPr>
          <a:xfrm>
            <a:off x="8686800" y="37033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45" name="Text 43"/>
          <p:cNvSpPr/>
          <p:nvPr/>
        </p:nvSpPr>
        <p:spPr>
          <a:xfrm>
            <a:off x="8778240" y="37033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Visual branding, high reach</a:t>
            </a:r>
            <a:endParaRPr lang="en-US" sz="1600" dirty="0"/>
          </a:p>
        </p:txBody>
      </p:sp>
      <p:sp>
        <p:nvSpPr>
          <p:cNvPr id="46" name="Shape 44"/>
          <p:cNvSpPr/>
          <p:nvPr/>
        </p:nvSpPr>
        <p:spPr>
          <a:xfrm>
            <a:off x="548640" y="4389120"/>
            <a:ext cx="2286000" cy="685800"/>
          </a:xfrm>
          <a:prstGeom prst="rect">
            <a:avLst/>
          </a:prstGeom>
          <a:solidFill>
            <a:srgbClr val="FFFFFF"/>
          </a:solidFill>
          <a:ln w="9525">
            <a:solidFill>
              <a:srgbClr val="DCE1EA"/>
            </a:solidFill>
            <a:prstDash val="solid"/>
          </a:ln>
        </p:spPr>
        <p:txBody>
          <a:bodyPr/>
          <a:lstStyle/>
          <a:p>
            <a:endParaRPr lang="en-US" sz="1600"/>
          </a:p>
        </p:txBody>
      </p:sp>
      <p:sp>
        <p:nvSpPr>
          <p:cNvPr id="47" name="Text 45"/>
          <p:cNvSpPr/>
          <p:nvPr/>
        </p:nvSpPr>
        <p:spPr>
          <a:xfrm>
            <a:off x="640080" y="4389120"/>
            <a:ext cx="2103120" cy="68580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Primary audience</a:t>
            </a:r>
            <a:endParaRPr lang="en-US" sz="1600" dirty="0"/>
          </a:p>
        </p:txBody>
      </p:sp>
      <p:sp>
        <p:nvSpPr>
          <p:cNvPr id="48" name="Shape 46"/>
          <p:cNvSpPr/>
          <p:nvPr/>
        </p:nvSpPr>
        <p:spPr>
          <a:xfrm>
            <a:off x="2834640" y="43891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49" name="Text 47"/>
          <p:cNvSpPr/>
          <p:nvPr/>
        </p:nvSpPr>
        <p:spPr>
          <a:xfrm>
            <a:off x="2926080" y="43891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Professionals &amp; recruiters</a:t>
            </a:r>
            <a:endParaRPr lang="en-US" sz="1600" dirty="0"/>
          </a:p>
        </p:txBody>
      </p:sp>
      <p:sp>
        <p:nvSpPr>
          <p:cNvPr id="50" name="Shape 48"/>
          <p:cNvSpPr/>
          <p:nvPr/>
        </p:nvSpPr>
        <p:spPr>
          <a:xfrm>
            <a:off x="5760720" y="43891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51" name="Text 49"/>
          <p:cNvSpPr/>
          <p:nvPr/>
        </p:nvSpPr>
        <p:spPr>
          <a:xfrm>
            <a:off x="5852160" y="43891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General public, wide age range</a:t>
            </a:r>
            <a:endParaRPr lang="en-US" sz="1600" dirty="0"/>
          </a:p>
        </p:txBody>
      </p:sp>
      <p:sp>
        <p:nvSpPr>
          <p:cNvPr id="52" name="Shape 50"/>
          <p:cNvSpPr/>
          <p:nvPr/>
        </p:nvSpPr>
        <p:spPr>
          <a:xfrm>
            <a:off x="8686800" y="4389120"/>
            <a:ext cx="2926080" cy="685800"/>
          </a:xfrm>
          <a:prstGeom prst="rect">
            <a:avLst/>
          </a:prstGeom>
          <a:solidFill>
            <a:srgbClr val="FFFFFF"/>
          </a:solidFill>
          <a:ln w="9525">
            <a:solidFill>
              <a:srgbClr val="DCE1EA"/>
            </a:solidFill>
            <a:prstDash val="solid"/>
          </a:ln>
        </p:spPr>
        <p:txBody>
          <a:bodyPr/>
          <a:lstStyle/>
          <a:p>
            <a:endParaRPr lang="en-US" sz="1600"/>
          </a:p>
        </p:txBody>
      </p:sp>
      <p:sp>
        <p:nvSpPr>
          <p:cNvPr id="53" name="Text 51"/>
          <p:cNvSpPr/>
          <p:nvPr/>
        </p:nvSpPr>
        <p:spPr>
          <a:xfrm>
            <a:off x="8778240" y="43891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Younger, visually driven users</a:t>
            </a:r>
            <a:endParaRPr lang="en-US" sz="1600" dirty="0"/>
          </a:p>
        </p:txBody>
      </p:sp>
      <p:sp>
        <p:nvSpPr>
          <p:cNvPr id="54" name="Shape 52"/>
          <p:cNvSpPr/>
          <p:nvPr/>
        </p:nvSpPr>
        <p:spPr>
          <a:xfrm>
            <a:off x="548640" y="5074920"/>
            <a:ext cx="2286000" cy="685800"/>
          </a:xfrm>
          <a:prstGeom prst="rect">
            <a:avLst/>
          </a:prstGeom>
          <a:solidFill>
            <a:srgbClr val="F4F6FA"/>
          </a:solidFill>
          <a:ln w="9525">
            <a:solidFill>
              <a:srgbClr val="DCE1EA"/>
            </a:solidFill>
            <a:prstDash val="solid"/>
          </a:ln>
        </p:spPr>
        <p:txBody>
          <a:bodyPr/>
          <a:lstStyle/>
          <a:p>
            <a:endParaRPr lang="en-US" sz="1600"/>
          </a:p>
        </p:txBody>
      </p:sp>
      <p:sp>
        <p:nvSpPr>
          <p:cNvPr id="55" name="Text 53"/>
          <p:cNvSpPr/>
          <p:nvPr/>
        </p:nvSpPr>
        <p:spPr>
          <a:xfrm>
            <a:off x="640080" y="5074920"/>
            <a:ext cx="2103120" cy="685800"/>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Signature tool</a:t>
            </a:r>
            <a:endParaRPr lang="en-US" sz="1600" dirty="0"/>
          </a:p>
        </p:txBody>
      </p:sp>
      <p:sp>
        <p:nvSpPr>
          <p:cNvPr id="56" name="Shape 54"/>
          <p:cNvSpPr/>
          <p:nvPr/>
        </p:nvSpPr>
        <p:spPr>
          <a:xfrm>
            <a:off x="2834640" y="50749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57" name="Text 55"/>
          <p:cNvSpPr/>
          <p:nvPr/>
        </p:nvSpPr>
        <p:spPr>
          <a:xfrm>
            <a:off x="2926080" y="50749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LinkedIn Learning</a:t>
            </a:r>
            <a:endParaRPr lang="en-US" sz="1600" dirty="0"/>
          </a:p>
        </p:txBody>
      </p:sp>
      <p:sp>
        <p:nvSpPr>
          <p:cNvPr id="58" name="Shape 56"/>
          <p:cNvSpPr/>
          <p:nvPr/>
        </p:nvSpPr>
        <p:spPr>
          <a:xfrm>
            <a:off x="5760720" y="50749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59" name="Text 57"/>
          <p:cNvSpPr/>
          <p:nvPr/>
        </p:nvSpPr>
        <p:spPr>
          <a:xfrm>
            <a:off x="5852160" y="50749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Groups &amp; Page Insights</a:t>
            </a:r>
            <a:endParaRPr lang="en-US" sz="1600" dirty="0"/>
          </a:p>
        </p:txBody>
      </p:sp>
      <p:sp>
        <p:nvSpPr>
          <p:cNvPr id="60" name="Shape 58"/>
          <p:cNvSpPr/>
          <p:nvPr/>
        </p:nvSpPr>
        <p:spPr>
          <a:xfrm>
            <a:off x="8686800" y="5074920"/>
            <a:ext cx="2926080" cy="685800"/>
          </a:xfrm>
          <a:prstGeom prst="rect">
            <a:avLst/>
          </a:prstGeom>
          <a:solidFill>
            <a:srgbClr val="F4F6FA"/>
          </a:solidFill>
          <a:ln w="9525">
            <a:solidFill>
              <a:srgbClr val="DCE1EA"/>
            </a:solidFill>
            <a:prstDash val="solid"/>
          </a:ln>
        </p:spPr>
        <p:txBody>
          <a:bodyPr/>
          <a:lstStyle/>
          <a:p>
            <a:endParaRPr lang="en-US" sz="1600"/>
          </a:p>
        </p:txBody>
      </p:sp>
      <p:sp>
        <p:nvSpPr>
          <p:cNvPr id="61" name="Text 59"/>
          <p:cNvSpPr/>
          <p:nvPr/>
        </p:nvSpPr>
        <p:spPr>
          <a:xfrm>
            <a:off x="8778240" y="5074920"/>
            <a:ext cx="2743200" cy="685800"/>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Reels &amp; Insights</a:t>
            </a:r>
            <a:endParaRPr lang="en-US" sz="1600" dirty="0"/>
          </a:p>
        </p:txBody>
      </p:sp>
      <p:sp>
        <p:nvSpPr>
          <p:cNvPr id="62" name="Text 60"/>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63" name="Text 61"/>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WEEK 6 RECAP — ETHICS &amp; SAFETY</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Using Social Media Responsibly</a:t>
            </a:r>
            <a:endParaRPr lang="en-US" sz="2400" dirty="0"/>
          </a:p>
        </p:txBody>
      </p:sp>
      <p:sp>
        <p:nvSpPr>
          <p:cNvPr id="6" name="Shape 4"/>
          <p:cNvSpPr/>
          <p:nvPr/>
        </p:nvSpPr>
        <p:spPr>
          <a:xfrm>
            <a:off x="548640" y="1143000"/>
            <a:ext cx="5394960" cy="1600200"/>
          </a:xfrm>
          <a:prstGeom prst="roundRect">
            <a:avLst>
              <a:gd name="adj" fmla="val 4571"/>
            </a:avLst>
          </a:prstGeom>
          <a:solidFill>
            <a:srgbClr val="FBEAEA"/>
          </a:solidFill>
          <a:ln w="12700">
            <a:solidFill>
              <a:srgbClr val="DCE1EA"/>
            </a:solidFill>
            <a:prstDash val="solid"/>
          </a:ln>
        </p:spPr>
        <p:txBody>
          <a:bodyPr/>
          <a:lstStyle/>
          <a:p>
            <a:endParaRPr lang="en-US" sz="1600"/>
          </a:p>
        </p:txBody>
      </p:sp>
      <p:sp>
        <p:nvSpPr>
          <p:cNvPr id="7" name="Text 5"/>
          <p:cNvSpPr/>
          <p:nvPr/>
        </p:nvSpPr>
        <p:spPr>
          <a:xfrm>
            <a:off x="77724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Your Digital Footprint</a:t>
            </a:r>
            <a:endParaRPr lang="en-US" dirty="0"/>
          </a:p>
        </p:txBody>
      </p:sp>
      <p:sp>
        <p:nvSpPr>
          <p:cNvPr id="8" name="Text 6"/>
          <p:cNvSpPr/>
          <p:nvPr/>
        </p:nvSpPr>
        <p:spPr>
          <a:xfrm>
            <a:off x="77724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Posts, comments, and photos can stay online for years and may be checked by universities and employers.</a:t>
            </a:r>
            <a:endParaRPr lang="en-US" sz="1600" dirty="0"/>
          </a:p>
        </p:txBody>
      </p:sp>
      <p:sp>
        <p:nvSpPr>
          <p:cNvPr id="9" name="Shape 7"/>
          <p:cNvSpPr/>
          <p:nvPr/>
        </p:nvSpPr>
        <p:spPr>
          <a:xfrm>
            <a:off x="6172200" y="114300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0" name="Text 8"/>
          <p:cNvSpPr/>
          <p:nvPr/>
        </p:nvSpPr>
        <p:spPr>
          <a:xfrm>
            <a:off x="6400800" y="128016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Privacy Settings</a:t>
            </a:r>
            <a:endParaRPr lang="en-US" dirty="0"/>
          </a:p>
        </p:txBody>
      </p:sp>
      <p:sp>
        <p:nvSpPr>
          <p:cNvPr id="11" name="Text 9"/>
          <p:cNvSpPr/>
          <p:nvPr/>
        </p:nvSpPr>
        <p:spPr>
          <a:xfrm>
            <a:off x="6400800" y="164592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Review who can see your profile, tags, and location; share personal details only with people you trust.</a:t>
            </a:r>
            <a:endParaRPr lang="en-US" sz="1600" dirty="0"/>
          </a:p>
        </p:txBody>
      </p:sp>
      <p:sp>
        <p:nvSpPr>
          <p:cNvPr id="12" name="Shape 10"/>
          <p:cNvSpPr/>
          <p:nvPr/>
        </p:nvSpPr>
        <p:spPr>
          <a:xfrm>
            <a:off x="548640" y="2880360"/>
            <a:ext cx="5394960" cy="1600200"/>
          </a:xfrm>
          <a:prstGeom prst="roundRect">
            <a:avLst>
              <a:gd name="adj" fmla="val 4571"/>
            </a:avLst>
          </a:prstGeom>
          <a:solidFill>
            <a:srgbClr val="FBEAEA"/>
          </a:solidFill>
          <a:ln w="12700">
            <a:solidFill>
              <a:srgbClr val="DCE1EA"/>
            </a:solidFill>
            <a:prstDash val="solid"/>
          </a:ln>
        </p:spPr>
        <p:txBody>
          <a:bodyPr/>
          <a:lstStyle/>
          <a:p>
            <a:endParaRPr lang="en-US" sz="1600"/>
          </a:p>
        </p:txBody>
      </p:sp>
      <p:sp>
        <p:nvSpPr>
          <p:cNvPr id="13" name="Text 11"/>
          <p:cNvSpPr/>
          <p:nvPr/>
        </p:nvSpPr>
        <p:spPr>
          <a:xfrm>
            <a:off x="77724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Check Before You Share</a:t>
            </a:r>
            <a:endParaRPr lang="en-US" dirty="0"/>
          </a:p>
        </p:txBody>
      </p:sp>
      <p:sp>
        <p:nvSpPr>
          <p:cNvPr id="14" name="Text 12"/>
          <p:cNvSpPr/>
          <p:nvPr/>
        </p:nvSpPr>
        <p:spPr>
          <a:xfrm>
            <a:off x="77724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Verify news and claims with trusted sources before reposting — misinformation spreads faster than corrections.</a:t>
            </a:r>
            <a:endParaRPr lang="en-US" sz="1600" dirty="0"/>
          </a:p>
        </p:txBody>
      </p:sp>
      <p:sp>
        <p:nvSpPr>
          <p:cNvPr id="15" name="Shape 13"/>
          <p:cNvSpPr/>
          <p:nvPr/>
        </p:nvSpPr>
        <p:spPr>
          <a:xfrm>
            <a:off x="6172200" y="288036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16" name="Text 14"/>
          <p:cNvSpPr/>
          <p:nvPr/>
        </p:nvSpPr>
        <p:spPr>
          <a:xfrm>
            <a:off x="6400800" y="301752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Respectful Conduct</a:t>
            </a:r>
            <a:endParaRPr lang="en-US" dirty="0"/>
          </a:p>
        </p:txBody>
      </p:sp>
      <p:sp>
        <p:nvSpPr>
          <p:cNvPr id="17" name="Text 15"/>
          <p:cNvSpPr/>
          <p:nvPr/>
        </p:nvSpPr>
        <p:spPr>
          <a:xfrm>
            <a:off x="6400800" y="338328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Avoid harassment and cyberbullying; disagree politely and report abusive content.</a:t>
            </a:r>
            <a:endParaRPr lang="en-US" sz="1600" dirty="0"/>
          </a:p>
        </p:txBody>
      </p:sp>
      <p:sp>
        <p:nvSpPr>
          <p:cNvPr id="18" name="Shape 16"/>
          <p:cNvSpPr/>
          <p:nvPr/>
        </p:nvSpPr>
        <p:spPr>
          <a:xfrm>
            <a:off x="548640" y="4617720"/>
            <a:ext cx="5394960" cy="1600200"/>
          </a:xfrm>
          <a:prstGeom prst="roundRect">
            <a:avLst>
              <a:gd name="adj" fmla="val 4571"/>
            </a:avLst>
          </a:prstGeom>
          <a:solidFill>
            <a:srgbClr val="FBEAEA"/>
          </a:solidFill>
          <a:ln w="12700">
            <a:solidFill>
              <a:srgbClr val="DCE1EA"/>
            </a:solidFill>
            <a:prstDash val="solid"/>
          </a:ln>
        </p:spPr>
        <p:txBody>
          <a:bodyPr/>
          <a:lstStyle/>
          <a:p>
            <a:endParaRPr lang="en-US" sz="1600"/>
          </a:p>
        </p:txBody>
      </p:sp>
      <p:sp>
        <p:nvSpPr>
          <p:cNvPr id="19" name="Text 17"/>
          <p:cNvSpPr/>
          <p:nvPr/>
        </p:nvSpPr>
        <p:spPr>
          <a:xfrm>
            <a:off x="77724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Scams &amp; Phishing</a:t>
            </a:r>
            <a:endParaRPr lang="en-US" dirty="0"/>
          </a:p>
        </p:txBody>
      </p:sp>
      <p:sp>
        <p:nvSpPr>
          <p:cNvPr id="20" name="Text 18"/>
          <p:cNvSpPr/>
          <p:nvPr/>
        </p:nvSpPr>
        <p:spPr>
          <a:xfrm>
            <a:off x="77724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Be careful with unknown links, fake job offers, and requests for money or passwords — even from “friends.”</a:t>
            </a:r>
            <a:endParaRPr lang="en-US" sz="1600" dirty="0"/>
          </a:p>
        </p:txBody>
      </p:sp>
      <p:sp>
        <p:nvSpPr>
          <p:cNvPr id="21" name="Shape 19"/>
          <p:cNvSpPr/>
          <p:nvPr/>
        </p:nvSpPr>
        <p:spPr>
          <a:xfrm>
            <a:off x="6172200" y="4617720"/>
            <a:ext cx="5394960" cy="1600200"/>
          </a:xfrm>
          <a:prstGeom prst="roundRect">
            <a:avLst>
              <a:gd name="adj" fmla="val 4571"/>
            </a:avLst>
          </a:prstGeom>
          <a:solidFill>
            <a:srgbClr val="EAF6EC"/>
          </a:solidFill>
          <a:ln w="12700">
            <a:solidFill>
              <a:srgbClr val="DCE1EA"/>
            </a:solidFill>
            <a:prstDash val="solid"/>
          </a:ln>
        </p:spPr>
        <p:txBody>
          <a:bodyPr/>
          <a:lstStyle/>
          <a:p>
            <a:endParaRPr lang="en-US" sz="1600"/>
          </a:p>
        </p:txBody>
      </p:sp>
      <p:sp>
        <p:nvSpPr>
          <p:cNvPr id="22" name="Text 20"/>
          <p:cNvSpPr/>
          <p:nvPr/>
        </p:nvSpPr>
        <p:spPr>
          <a:xfrm>
            <a:off x="6400800" y="4754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Time &amp; Wellbeing</a:t>
            </a:r>
            <a:endParaRPr lang="en-US" dirty="0"/>
          </a:p>
        </p:txBody>
      </p:sp>
      <p:sp>
        <p:nvSpPr>
          <p:cNvPr id="23" name="Text 21"/>
          <p:cNvSpPr/>
          <p:nvPr/>
        </p:nvSpPr>
        <p:spPr>
          <a:xfrm>
            <a:off x="6400800" y="5120640"/>
            <a:ext cx="4937760" cy="1005840"/>
          </a:xfrm>
          <a:prstGeom prst="rect">
            <a:avLst/>
          </a:prstGeom>
          <a:noFill/>
          <a:ln/>
        </p:spPr>
        <p:txBody>
          <a:bodyPr wrap="square" rtlCol="0" anchor="t"/>
          <a:lstStyle/>
          <a:p>
            <a:pPr marL="0" indent="0">
              <a:lnSpc>
                <a:spcPts val="1600"/>
              </a:lnSpc>
              <a:buNone/>
            </a:pPr>
            <a:r>
              <a:rPr lang="en-US" sz="1600" dirty="0">
                <a:solidFill>
                  <a:srgbClr val="333333"/>
                </a:solidFill>
                <a:latin typeface="Calibri" pitchFamily="34" charset="0"/>
                <a:ea typeface="Calibri" pitchFamily="34" charset="-122"/>
                <a:cs typeface="Calibri" pitchFamily="34" charset="-120"/>
              </a:rPr>
              <a:t>Endless scrolling and constant comparison can affect attention and mood; set limits and take regular breaks.</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APPLY WHAT YOU LEARNED</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Hands-On Activity</a:t>
            </a:r>
            <a:endParaRPr lang="en-US" sz="2400" dirty="0"/>
          </a:p>
        </p:txBody>
      </p:sp>
      <p:sp>
        <p:nvSpPr>
          <p:cNvPr id="6" name="Shape 4"/>
          <p:cNvSpPr/>
          <p:nvPr/>
        </p:nvSpPr>
        <p:spPr>
          <a:xfrm>
            <a:off x="10561320" y="137160"/>
            <a:ext cx="1417320" cy="320040"/>
          </a:xfrm>
          <a:prstGeom prst="roundRect">
            <a:avLst>
              <a:gd name="adj" fmla="val 48571"/>
            </a:avLst>
          </a:prstGeom>
          <a:solidFill>
            <a:srgbClr val="FFFFFF"/>
          </a:solidFill>
          <a:ln/>
        </p:spPr>
        <p:txBody>
          <a:bodyPr/>
          <a:lstStyle/>
          <a:p>
            <a:endParaRPr lang="en-US"/>
          </a:p>
        </p:txBody>
      </p:sp>
      <p:sp>
        <p:nvSpPr>
          <p:cNvPr id="7" name="Text 5"/>
          <p:cNvSpPr/>
          <p:nvPr/>
        </p:nvSpPr>
        <p:spPr>
          <a:xfrm>
            <a:off x="10561320" y="137160"/>
            <a:ext cx="1417320" cy="320040"/>
          </a:xfrm>
          <a:prstGeom prst="rect">
            <a:avLst/>
          </a:prstGeom>
          <a:noFill/>
          <a:ln/>
        </p:spPr>
        <p:txBody>
          <a:bodyPr wrap="square" rtlCol="0" anchor="ctr"/>
          <a:lstStyle/>
          <a:p>
            <a:pPr marL="0" indent="0" algn="ctr">
              <a:buNone/>
            </a:pPr>
            <a:r>
              <a:rPr lang="en-US" sz="1100" b="1" dirty="0">
                <a:solidFill>
                  <a:srgbClr val="1F3864"/>
                </a:solidFill>
                <a:latin typeface="Calibri" pitchFamily="34" charset="0"/>
                <a:ea typeface="Calibri" pitchFamily="34" charset="-122"/>
                <a:cs typeface="Calibri" pitchFamily="34" charset="-120"/>
              </a:rPr>
              <a:t>10 MIN</a:t>
            </a:r>
            <a:endParaRPr lang="en-US" sz="1100" dirty="0"/>
          </a:p>
        </p:txBody>
      </p:sp>
      <p:sp>
        <p:nvSpPr>
          <p:cNvPr id="8" name="Shape 6"/>
          <p:cNvSpPr/>
          <p:nvPr/>
        </p:nvSpPr>
        <p:spPr>
          <a:xfrm>
            <a:off x="640080" y="1234440"/>
            <a:ext cx="10881360" cy="2331720"/>
          </a:xfrm>
          <a:prstGeom prst="roundRect">
            <a:avLst>
              <a:gd name="adj" fmla="val 3137"/>
            </a:avLst>
          </a:prstGeom>
          <a:solidFill>
            <a:srgbClr val="FFFFFF"/>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9" name="Text 7"/>
          <p:cNvSpPr/>
          <p:nvPr/>
        </p:nvSpPr>
        <p:spPr>
          <a:xfrm>
            <a:off x="914400" y="1417320"/>
            <a:ext cx="8229600" cy="320040"/>
          </a:xfrm>
          <a:prstGeom prst="rect">
            <a:avLst/>
          </a:prstGeom>
          <a:noFill/>
          <a:ln/>
        </p:spPr>
        <p:txBody>
          <a:bodyPr wrap="square" rtlCol="0" anchor="ctr"/>
          <a:lstStyle/>
          <a:p>
            <a:pPr marL="0" indent="0">
              <a:buNone/>
            </a:pPr>
            <a:r>
              <a:rPr lang="en-US" b="1" dirty="0">
                <a:solidFill>
                  <a:srgbClr val="F98012"/>
                </a:solidFill>
                <a:latin typeface="Calibri" pitchFamily="34" charset="0"/>
                <a:ea typeface="Calibri" pitchFamily="34" charset="-122"/>
                <a:cs typeface="Calibri" pitchFamily="34" charset="-120"/>
              </a:rPr>
              <a:t>TASK 1 — Learning Management Systems</a:t>
            </a:r>
            <a:endParaRPr lang="en-US" dirty="0"/>
          </a:p>
        </p:txBody>
      </p:sp>
      <p:sp>
        <p:nvSpPr>
          <p:cNvPr id="10" name="Text 8"/>
          <p:cNvSpPr/>
          <p:nvPr/>
        </p:nvSpPr>
        <p:spPr>
          <a:xfrm>
            <a:off x="914400" y="1783080"/>
            <a:ext cx="10332720" cy="1645920"/>
          </a:xfrm>
          <a:prstGeom prst="rect">
            <a:avLst/>
          </a:prstGeom>
          <a:noFill/>
          <a:ln/>
        </p:spPr>
        <p:txBody>
          <a:bodyPr wrap="square" rtlCol="0" anchor="t"/>
          <a:lstStyle/>
          <a:p>
            <a:pPr marL="0" indent="0">
              <a:lnSpc>
                <a:spcPts val="2200"/>
              </a:lnSpc>
              <a:buNone/>
            </a:pPr>
            <a:r>
              <a:rPr lang="en-US" sz="1600" dirty="0">
                <a:solidFill>
                  <a:srgbClr val="333333"/>
                </a:solidFill>
                <a:latin typeface="Calibri" pitchFamily="34" charset="0"/>
                <a:ea typeface="Calibri" pitchFamily="34" charset="-122"/>
                <a:cs typeface="Calibri" pitchFamily="34" charset="-120"/>
              </a:rPr>
              <a:t>Open the LMS your university provides (or a free Google Classroom class). Find: (1) where deadlines appear, (2) how to submit an assignment, (3) where grades and feedback are shown. Then write ONE benefit and ONE limitation of the system compared with sending files by email.</a:t>
            </a:r>
            <a:endParaRPr lang="en-US" sz="1600" dirty="0"/>
          </a:p>
        </p:txBody>
      </p:sp>
      <p:sp>
        <p:nvSpPr>
          <p:cNvPr id="11" name="Shape 9"/>
          <p:cNvSpPr/>
          <p:nvPr/>
        </p:nvSpPr>
        <p:spPr>
          <a:xfrm>
            <a:off x="640080" y="3749040"/>
            <a:ext cx="10881360" cy="2468880"/>
          </a:xfrm>
          <a:prstGeom prst="roundRect">
            <a:avLst>
              <a:gd name="adj" fmla="val 2963"/>
            </a:avLst>
          </a:prstGeom>
          <a:solidFill>
            <a:srgbClr val="FFFFFF"/>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2" name="Text 10"/>
          <p:cNvSpPr/>
          <p:nvPr/>
        </p:nvSpPr>
        <p:spPr>
          <a:xfrm>
            <a:off x="914400" y="3931920"/>
            <a:ext cx="8229600" cy="320040"/>
          </a:xfrm>
          <a:prstGeom prst="rect">
            <a:avLst/>
          </a:prstGeom>
          <a:noFill/>
          <a:ln/>
        </p:spPr>
        <p:txBody>
          <a:bodyPr wrap="square" rtlCol="0" anchor="ctr"/>
          <a:lstStyle/>
          <a:p>
            <a:pPr marL="0" indent="0">
              <a:buNone/>
            </a:pPr>
            <a:r>
              <a:rPr lang="en-US" b="1" dirty="0">
                <a:solidFill>
                  <a:srgbClr val="0A66C2"/>
                </a:solidFill>
                <a:latin typeface="Calibri" pitchFamily="34" charset="0"/>
                <a:ea typeface="Calibri" pitchFamily="34" charset="-122"/>
                <a:cs typeface="Calibri" pitchFamily="34" charset="-120"/>
              </a:rPr>
              <a:t>TASK 2 — Week 6 Recap</a:t>
            </a:r>
            <a:endParaRPr lang="en-US" dirty="0"/>
          </a:p>
        </p:txBody>
      </p:sp>
      <p:sp>
        <p:nvSpPr>
          <p:cNvPr id="13" name="Text 11"/>
          <p:cNvSpPr/>
          <p:nvPr/>
        </p:nvSpPr>
        <p:spPr>
          <a:xfrm>
            <a:off x="914400" y="4297680"/>
            <a:ext cx="10332720" cy="1737360"/>
          </a:xfrm>
          <a:prstGeom prst="rect">
            <a:avLst/>
          </a:prstGeom>
          <a:noFill/>
          <a:ln/>
        </p:spPr>
        <p:txBody>
          <a:bodyPr wrap="square" rtlCol="0" anchor="t"/>
          <a:lstStyle/>
          <a:p>
            <a:pPr marL="0" indent="0">
              <a:lnSpc>
                <a:spcPts val="2200"/>
              </a:lnSpc>
              <a:buNone/>
            </a:pPr>
            <a:r>
              <a:rPr lang="en-US" sz="1600" dirty="0">
                <a:solidFill>
                  <a:srgbClr val="333333"/>
                </a:solidFill>
                <a:latin typeface="Calibri" pitchFamily="34" charset="0"/>
                <a:ea typeface="Calibri" pitchFamily="34" charset="-122"/>
                <a:cs typeface="Calibri" pitchFamily="34" charset="-120"/>
              </a:rPr>
              <a:t>A student society plans an online orientation event. Choose ONE video-conferencing tool to host it and ONE social platform to promote it. In three sentences, explain why you chose each and name one netiquette or privacy rule you would announce to participants.</a:t>
            </a:r>
            <a:endParaRPr lang="en-US" sz="1600" dirty="0"/>
          </a:p>
        </p:txBody>
      </p:sp>
      <p:sp>
        <p:nvSpPr>
          <p:cNvPr id="14" name="Text 1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5" name="Text 1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sp>
        <p:nvSpPr>
          <p:cNvPr id="3" name="Text 1"/>
          <p:cNvSpPr/>
          <p:nvPr/>
        </p:nvSpPr>
        <p:spPr>
          <a:xfrm>
            <a:off x="640080" y="457200"/>
            <a:ext cx="7315200" cy="457200"/>
          </a:xfrm>
          <a:prstGeom prst="rect">
            <a:avLst/>
          </a:prstGeom>
          <a:noFill/>
          <a:ln/>
        </p:spPr>
        <p:txBody>
          <a:bodyPr wrap="square" rtlCol="0" anchor="ctr"/>
          <a:lstStyle/>
          <a:p>
            <a:pPr marL="0" indent="0">
              <a:buNone/>
            </a:pPr>
            <a:r>
              <a:rPr lang="en-US" sz="1400" b="1" kern="0" spc="300" dirty="0">
                <a:solidFill>
                  <a:srgbClr val="D8B84A"/>
                </a:solidFill>
                <a:latin typeface="Calibri" pitchFamily="34" charset="0"/>
                <a:ea typeface="Calibri" pitchFamily="34" charset="-122"/>
                <a:cs typeface="Calibri" pitchFamily="34" charset="-120"/>
              </a:rPr>
              <a:t>KEY TAKEAWAYS</a:t>
            </a:r>
            <a:endParaRPr lang="en-US" sz="1400" dirty="0"/>
          </a:p>
        </p:txBody>
      </p:sp>
      <p:sp>
        <p:nvSpPr>
          <p:cNvPr id="4" name="Text 2"/>
          <p:cNvSpPr/>
          <p:nvPr/>
        </p:nvSpPr>
        <p:spPr>
          <a:xfrm>
            <a:off x="640080" y="822960"/>
            <a:ext cx="1005840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Week 7 and Week 6 in Six Points</a:t>
            </a:r>
            <a:endParaRPr lang="en-US" sz="2600" dirty="0"/>
          </a:p>
        </p:txBody>
      </p:sp>
      <p:sp>
        <p:nvSpPr>
          <p:cNvPr id="5" name="Shape 3"/>
          <p:cNvSpPr/>
          <p:nvPr/>
        </p:nvSpPr>
        <p:spPr>
          <a:xfrm>
            <a:off x="640080" y="1664208"/>
            <a:ext cx="411480" cy="411480"/>
          </a:xfrm>
          <a:prstGeom prst="roundRect">
            <a:avLst>
              <a:gd name="adj" fmla="val 17778"/>
            </a:avLst>
          </a:prstGeom>
          <a:solidFill>
            <a:srgbClr val="D8B84A"/>
          </a:solidFill>
          <a:ln/>
        </p:spPr>
        <p:txBody>
          <a:bodyPr/>
          <a:lstStyle/>
          <a:p>
            <a:endParaRPr lang="en-US" sz="1600"/>
          </a:p>
        </p:txBody>
      </p:sp>
      <p:sp>
        <p:nvSpPr>
          <p:cNvPr id="6" name="Text 4"/>
          <p:cNvSpPr/>
          <p:nvPr/>
        </p:nvSpPr>
        <p:spPr>
          <a:xfrm>
            <a:off x="640080" y="1664208"/>
            <a:ext cx="411480" cy="411480"/>
          </a:xfrm>
          <a:prstGeom prst="rect">
            <a:avLst/>
          </a:prstGeom>
          <a:noFill/>
          <a:ln/>
        </p:spPr>
        <p:txBody>
          <a:bodyPr wrap="square" rtlCol="0" anchor="ctr"/>
          <a:lstStyle/>
          <a:p>
            <a:pPr marL="0" indent="0" algn="ctr">
              <a:buNone/>
            </a:pPr>
            <a:r>
              <a:rPr lang="en-US" sz="1600" b="1" dirty="0">
                <a:solidFill>
                  <a:srgbClr val="162B4D"/>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234440" y="1536192"/>
            <a:ext cx="10332720" cy="731520"/>
          </a:xfrm>
          <a:prstGeom prst="rect">
            <a:avLst/>
          </a:prstGeom>
          <a:noFill/>
          <a:ln/>
        </p:spPr>
        <p:txBody>
          <a:bodyPr wrap="square" rtlCol="0" anchor="ctr"/>
          <a:lstStyle/>
          <a:p>
            <a:pPr marL="0" indent="0">
              <a:lnSpc>
                <a:spcPts val="1900"/>
              </a:lnSpc>
              <a:buNone/>
            </a:pPr>
            <a:r>
              <a:rPr lang="en-US" sz="1600" dirty="0">
                <a:solidFill>
                  <a:srgbClr val="FFFFFF"/>
                </a:solidFill>
                <a:latin typeface="Calibri" pitchFamily="34" charset="0"/>
                <a:ea typeface="Calibri" pitchFamily="34" charset="-122"/>
                <a:cs typeface="Calibri" pitchFamily="34" charset="-120"/>
              </a:rPr>
              <a:t>An LMS centralizes content, assignments, quizzes, grades, and communication — replacing scattered files, emails, and paper records.</a:t>
            </a:r>
            <a:endParaRPr lang="en-US" sz="1600" dirty="0"/>
          </a:p>
        </p:txBody>
      </p:sp>
      <p:sp>
        <p:nvSpPr>
          <p:cNvPr id="8" name="Shape 6"/>
          <p:cNvSpPr/>
          <p:nvPr/>
        </p:nvSpPr>
        <p:spPr>
          <a:xfrm>
            <a:off x="640080" y="2487168"/>
            <a:ext cx="411480" cy="411480"/>
          </a:xfrm>
          <a:prstGeom prst="roundRect">
            <a:avLst>
              <a:gd name="adj" fmla="val 17778"/>
            </a:avLst>
          </a:prstGeom>
          <a:solidFill>
            <a:srgbClr val="D8B84A"/>
          </a:solidFill>
          <a:ln/>
        </p:spPr>
        <p:txBody>
          <a:bodyPr/>
          <a:lstStyle/>
          <a:p>
            <a:endParaRPr lang="en-US" sz="1600"/>
          </a:p>
        </p:txBody>
      </p:sp>
      <p:sp>
        <p:nvSpPr>
          <p:cNvPr id="9" name="Text 7"/>
          <p:cNvSpPr/>
          <p:nvPr/>
        </p:nvSpPr>
        <p:spPr>
          <a:xfrm>
            <a:off x="640080" y="2487168"/>
            <a:ext cx="411480" cy="411480"/>
          </a:xfrm>
          <a:prstGeom prst="rect">
            <a:avLst/>
          </a:prstGeom>
          <a:noFill/>
          <a:ln/>
        </p:spPr>
        <p:txBody>
          <a:bodyPr wrap="square" rtlCol="0" anchor="ctr"/>
          <a:lstStyle/>
          <a:p>
            <a:pPr marL="0" indent="0" algn="ctr">
              <a:buNone/>
            </a:pPr>
            <a:r>
              <a:rPr lang="en-US" sz="1600" b="1" dirty="0">
                <a:solidFill>
                  <a:srgbClr val="162B4D"/>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234440" y="2359152"/>
            <a:ext cx="10332720" cy="731520"/>
          </a:xfrm>
          <a:prstGeom prst="rect">
            <a:avLst/>
          </a:prstGeom>
          <a:noFill/>
          <a:ln/>
        </p:spPr>
        <p:txBody>
          <a:bodyPr wrap="square" rtlCol="0" anchor="ctr"/>
          <a:lstStyle/>
          <a:p>
            <a:pPr marL="0" indent="0">
              <a:lnSpc>
                <a:spcPts val="1900"/>
              </a:lnSpc>
              <a:buNone/>
            </a:pPr>
            <a:r>
              <a:rPr lang="en-US" sz="1600" dirty="0">
                <a:solidFill>
                  <a:srgbClr val="FFFFFF"/>
                </a:solidFill>
                <a:latin typeface="Calibri" pitchFamily="34" charset="0"/>
                <a:ea typeface="Calibri" pitchFamily="34" charset="-122"/>
                <a:cs typeface="Calibri" pitchFamily="34" charset="-120"/>
              </a:rPr>
              <a:t>Moodle (open-source, highly customizable), Canvas (polished, cloud-hosted), and Google Classroom (free and simple) solve the same problem for different needs.</a:t>
            </a:r>
            <a:endParaRPr lang="en-US" sz="1600" dirty="0"/>
          </a:p>
        </p:txBody>
      </p:sp>
      <p:sp>
        <p:nvSpPr>
          <p:cNvPr id="11" name="Shape 9"/>
          <p:cNvSpPr/>
          <p:nvPr/>
        </p:nvSpPr>
        <p:spPr>
          <a:xfrm>
            <a:off x="640080" y="3310128"/>
            <a:ext cx="411480" cy="411480"/>
          </a:xfrm>
          <a:prstGeom prst="roundRect">
            <a:avLst>
              <a:gd name="adj" fmla="val 17778"/>
            </a:avLst>
          </a:prstGeom>
          <a:solidFill>
            <a:srgbClr val="D8B84A"/>
          </a:solidFill>
          <a:ln/>
        </p:spPr>
        <p:txBody>
          <a:bodyPr/>
          <a:lstStyle/>
          <a:p>
            <a:endParaRPr lang="en-US" sz="1600"/>
          </a:p>
        </p:txBody>
      </p:sp>
      <p:sp>
        <p:nvSpPr>
          <p:cNvPr id="12" name="Text 10"/>
          <p:cNvSpPr/>
          <p:nvPr/>
        </p:nvSpPr>
        <p:spPr>
          <a:xfrm>
            <a:off x="640080" y="3310128"/>
            <a:ext cx="411480" cy="411480"/>
          </a:xfrm>
          <a:prstGeom prst="rect">
            <a:avLst/>
          </a:prstGeom>
          <a:noFill/>
          <a:ln/>
        </p:spPr>
        <p:txBody>
          <a:bodyPr wrap="square" rtlCol="0" anchor="ctr"/>
          <a:lstStyle/>
          <a:p>
            <a:pPr marL="0" indent="0" algn="ctr">
              <a:buNone/>
            </a:pPr>
            <a:r>
              <a:rPr lang="en-US" sz="1600" b="1" dirty="0">
                <a:solidFill>
                  <a:srgbClr val="162B4D"/>
                </a:solidFill>
                <a:latin typeface="Calibri" pitchFamily="34" charset="0"/>
                <a:ea typeface="Calibri" pitchFamily="34" charset="-122"/>
                <a:cs typeface="Calibri" pitchFamily="34" charset="-120"/>
              </a:rPr>
              <a:t>3</a:t>
            </a:r>
            <a:endParaRPr lang="en-US" sz="1600" dirty="0"/>
          </a:p>
        </p:txBody>
      </p:sp>
      <p:sp>
        <p:nvSpPr>
          <p:cNvPr id="13" name="Text 11"/>
          <p:cNvSpPr/>
          <p:nvPr/>
        </p:nvSpPr>
        <p:spPr>
          <a:xfrm>
            <a:off x="1234440" y="3182112"/>
            <a:ext cx="10332720" cy="731520"/>
          </a:xfrm>
          <a:prstGeom prst="rect">
            <a:avLst/>
          </a:prstGeom>
          <a:noFill/>
          <a:ln/>
        </p:spPr>
        <p:txBody>
          <a:bodyPr wrap="square" rtlCol="0" anchor="ctr"/>
          <a:lstStyle/>
          <a:p>
            <a:pPr marL="0" indent="0">
              <a:lnSpc>
                <a:spcPts val="1900"/>
              </a:lnSpc>
              <a:buNone/>
            </a:pPr>
            <a:r>
              <a:rPr lang="en-US" sz="1600" dirty="0">
                <a:solidFill>
                  <a:srgbClr val="FFFFFF"/>
                </a:solidFill>
                <a:latin typeface="Calibri" pitchFamily="34" charset="0"/>
                <a:ea typeface="Calibri" pitchFamily="34" charset="-122"/>
                <a:cs typeface="Calibri" pitchFamily="34" charset="-120"/>
              </a:rPr>
              <a:t>Choose an LMS by cost, control, ease of use, integrations, and the skills of the people who will maintain it.</a:t>
            </a:r>
            <a:endParaRPr lang="en-US" sz="1600" dirty="0"/>
          </a:p>
        </p:txBody>
      </p:sp>
      <p:sp>
        <p:nvSpPr>
          <p:cNvPr id="14" name="Shape 12"/>
          <p:cNvSpPr/>
          <p:nvPr/>
        </p:nvSpPr>
        <p:spPr>
          <a:xfrm>
            <a:off x="640080" y="4133088"/>
            <a:ext cx="411480" cy="411480"/>
          </a:xfrm>
          <a:prstGeom prst="roundRect">
            <a:avLst>
              <a:gd name="adj" fmla="val 17778"/>
            </a:avLst>
          </a:prstGeom>
          <a:solidFill>
            <a:srgbClr val="D8B84A"/>
          </a:solidFill>
          <a:ln/>
        </p:spPr>
        <p:txBody>
          <a:bodyPr/>
          <a:lstStyle/>
          <a:p>
            <a:endParaRPr lang="en-US" sz="1600"/>
          </a:p>
        </p:txBody>
      </p:sp>
      <p:sp>
        <p:nvSpPr>
          <p:cNvPr id="15" name="Text 13"/>
          <p:cNvSpPr/>
          <p:nvPr/>
        </p:nvSpPr>
        <p:spPr>
          <a:xfrm>
            <a:off x="640080" y="4133088"/>
            <a:ext cx="411480" cy="411480"/>
          </a:xfrm>
          <a:prstGeom prst="rect">
            <a:avLst/>
          </a:prstGeom>
          <a:noFill/>
          <a:ln/>
        </p:spPr>
        <p:txBody>
          <a:bodyPr wrap="square" rtlCol="0" anchor="ctr"/>
          <a:lstStyle/>
          <a:p>
            <a:pPr marL="0" indent="0" algn="ctr">
              <a:buNone/>
            </a:pPr>
            <a:r>
              <a:rPr lang="en-US" sz="1600" b="1" dirty="0">
                <a:solidFill>
                  <a:srgbClr val="162B4D"/>
                </a:solidFill>
                <a:latin typeface="Calibri" pitchFamily="34" charset="0"/>
                <a:ea typeface="Calibri" pitchFamily="34" charset="-122"/>
                <a:cs typeface="Calibri" pitchFamily="34" charset="-120"/>
              </a:rPr>
              <a:t>4</a:t>
            </a:r>
            <a:endParaRPr lang="en-US" sz="1600" dirty="0"/>
          </a:p>
        </p:txBody>
      </p:sp>
      <p:sp>
        <p:nvSpPr>
          <p:cNvPr id="16" name="Text 14"/>
          <p:cNvSpPr/>
          <p:nvPr/>
        </p:nvSpPr>
        <p:spPr>
          <a:xfrm>
            <a:off x="1234440" y="4005072"/>
            <a:ext cx="10332720" cy="731520"/>
          </a:xfrm>
          <a:prstGeom prst="rect">
            <a:avLst/>
          </a:prstGeom>
          <a:noFill/>
          <a:ln/>
        </p:spPr>
        <p:txBody>
          <a:bodyPr wrap="square" rtlCol="0" anchor="ctr"/>
          <a:lstStyle/>
          <a:p>
            <a:pPr marL="0" indent="0">
              <a:lnSpc>
                <a:spcPts val="1900"/>
              </a:lnSpc>
              <a:buNone/>
            </a:pPr>
            <a:r>
              <a:rPr lang="en-US" sz="1600" dirty="0">
                <a:solidFill>
                  <a:srgbClr val="FFFFFF"/>
                </a:solidFill>
                <a:latin typeface="Calibri" pitchFamily="34" charset="0"/>
                <a:ea typeface="Calibri" pitchFamily="34" charset="-122"/>
                <a:cs typeface="Calibri" pitchFamily="34" charset="-120"/>
              </a:rPr>
              <a:t>Google Meet, Microsoft Teams, and Zoom each win in a different setting: lightweight browser use, Microsoft-based institutions, and large or low-bandwidth sessions.</a:t>
            </a:r>
            <a:endParaRPr lang="en-US" sz="1600" dirty="0"/>
          </a:p>
        </p:txBody>
      </p:sp>
      <p:sp>
        <p:nvSpPr>
          <p:cNvPr id="17" name="Shape 15"/>
          <p:cNvSpPr/>
          <p:nvPr/>
        </p:nvSpPr>
        <p:spPr>
          <a:xfrm>
            <a:off x="640080" y="4956048"/>
            <a:ext cx="411480" cy="411480"/>
          </a:xfrm>
          <a:prstGeom prst="roundRect">
            <a:avLst>
              <a:gd name="adj" fmla="val 17778"/>
            </a:avLst>
          </a:prstGeom>
          <a:solidFill>
            <a:srgbClr val="D8B84A"/>
          </a:solidFill>
          <a:ln/>
        </p:spPr>
        <p:txBody>
          <a:bodyPr/>
          <a:lstStyle/>
          <a:p>
            <a:endParaRPr lang="en-US" sz="1600"/>
          </a:p>
        </p:txBody>
      </p:sp>
      <p:sp>
        <p:nvSpPr>
          <p:cNvPr id="18" name="Text 16"/>
          <p:cNvSpPr/>
          <p:nvPr/>
        </p:nvSpPr>
        <p:spPr>
          <a:xfrm>
            <a:off x="640080" y="4956048"/>
            <a:ext cx="411480" cy="411480"/>
          </a:xfrm>
          <a:prstGeom prst="rect">
            <a:avLst/>
          </a:prstGeom>
          <a:noFill/>
          <a:ln/>
        </p:spPr>
        <p:txBody>
          <a:bodyPr wrap="square" rtlCol="0" anchor="ctr"/>
          <a:lstStyle/>
          <a:p>
            <a:pPr marL="0" indent="0" algn="ctr">
              <a:buNone/>
            </a:pPr>
            <a:r>
              <a:rPr lang="en-US" sz="1600" b="1" dirty="0">
                <a:solidFill>
                  <a:srgbClr val="162B4D"/>
                </a:solidFill>
                <a:latin typeface="Calibri" pitchFamily="34" charset="0"/>
                <a:ea typeface="Calibri" pitchFamily="34" charset="-122"/>
                <a:cs typeface="Calibri" pitchFamily="34" charset="-120"/>
              </a:rPr>
              <a:t>5</a:t>
            </a:r>
            <a:endParaRPr lang="en-US" sz="1600" dirty="0"/>
          </a:p>
        </p:txBody>
      </p:sp>
      <p:sp>
        <p:nvSpPr>
          <p:cNvPr id="19" name="Text 17"/>
          <p:cNvSpPr/>
          <p:nvPr/>
        </p:nvSpPr>
        <p:spPr>
          <a:xfrm>
            <a:off x="1234440" y="4828032"/>
            <a:ext cx="10332720" cy="731520"/>
          </a:xfrm>
          <a:prstGeom prst="rect">
            <a:avLst/>
          </a:prstGeom>
          <a:noFill/>
          <a:ln/>
        </p:spPr>
        <p:txBody>
          <a:bodyPr wrap="square" rtlCol="0" anchor="ctr"/>
          <a:lstStyle/>
          <a:p>
            <a:pPr marL="0" indent="0">
              <a:lnSpc>
                <a:spcPts val="1900"/>
              </a:lnSpc>
              <a:buNone/>
            </a:pPr>
            <a:r>
              <a:rPr lang="en-US" sz="1600" dirty="0">
                <a:solidFill>
                  <a:srgbClr val="FFFFFF"/>
                </a:solidFill>
                <a:latin typeface="Calibri" pitchFamily="34" charset="0"/>
                <a:ea typeface="Calibri" pitchFamily="34" charset="-122"/>
                <a:cs typeface="Calibri" pitchFamily="34" charset="-120"/>
              </a:rPr>
              <a:t>LinkedIn, Facebook, and Instagram can support education, jobs, and marketing — each with a different strength and audience.</a:t>
            </a:r>
            <a:endParaRPr lang="en-US" sz="1600" dirty="0"/>
          </a:p>
        </p:txBody>
      </p:sp>
      <p:sp>
        <p:nvSpPr>
          <p:cNvPr id="20" name="Shape 18"/>
          <p:cNvSpPr/>
          <p:nvPr/>
        </p:nvSpPr>
        <p:spPr>
          <a:xfrm>
            <a:off x="640080" y="5779008"/>
            <a:ext cx="411480" cy="411480"/>
          </a:xfrm>
          <a:prstGeom prst="roundRect">
            <a:avLst>
              <a:gd name="adj" fmla="val 17778"/>
            </a:avLst>
          </a:prstGeom>
          <a:solidFill>
            <a:srgbClr val="D8B84A"/>
          </a:solidFill>
          <a:ln/>
        </p:spPr>
        <p:txBody>
          <a:bodyPr/>
          <a:lstStyle/>
          <a:p>
            <a:endParaRPr lang="en-US" sz="1600"/>
          </a:p>
        </p:txBody>
      </p:sp>
      <p:sp>
        <p:nvSpPr>
          <p:cNvPr id="21" name="Text 19"/>
          <p:cNvSpPr/>
          <p:nvPr/>
        </p:nvSpPr>
        <p:spPr>
          <a:xfrm>
            <a:off x="640080" y="5779008"/>
            <a:ext cx="411480" cy="411480"/>
          </a:xfrm>
          <a:prstGeom prst="rect">
            <a:avLst/>
          </a:prstGeom>
          <a:noFill/>
          <a:ln/>
        </p:spPr>
        <p:txBody>
          <a:bodyPr wrap="square" rtlCol="0" anchor="ctr"/>
          <a:lstStyle/>
          <a:p>
            <a:pPr marL="0" indent="0" algn="ctr">
              <a:buNone/>
            </a:pPr>
            <a:r>
              <a:rPr lang="en-US" sz="1600" b="1" dirty="0">
                <a:solidFill>
                  <a:srgbClr val="162B4D"/>
                </a:solidFill>
                <a:latin typeface="Calibri" pitchFamily="34" charset="0"/>
                <a:ea typeface="Calibri" pitchFamily="34" charset="-122"/>
                <a:cs typeface="Calibri" pitchFamily="34" charset="-120"/>
              </a:rPr>
              <a:t>6</a:t>
            </a:r>
            <a:endParaRPr lang="en-US" sz="1600" dirty="0"/>
          </a:p>
        </p:txBody>
      </p:sp>
      <p:sp>
        <p:nvSpPr>
          <p:cNvPr id="22" name="Text 20"/>
          <p:cNvSpPr/>
          <p:nvPr/>
        </p:nvSpPr>
        <p:spPr>
          <a:xfrm>
            <a:off x="1234440" y="5650992"/>
            <a:ext cx="10332720" cy="731520"/>
          </a:xfrm>
          <a:prstGeom prst="rect">
            <a:avLst/>
          </a:prstGeom>
          <a:noFill/>
          <a:ln/>
        </p:spPr>
        <p:txBody>
          <a:bodyPr wrap="square" rtlCol="0" anchor="ctr"/>
          <a:lstStyle/>
          <a:p>
            <a:pPr marL="0" indent="0">
              <a:lnSpc>
                <a:spcPts val="1900"/>
              </a:lnSpc>
              <a:buNone/>
            </a:pPr>
            <a:r>
              <a:rPr lang="en-US" sz="1600" dirty="0">
                <a:solidFill>
                  <a:srgbClr val="FFFFFF"/>
                </a:solidFill>
                <a:latin typeface="Calibri" pitchFamily="34" charset="0"/>
                <a:ea typeface="Calibri" pitchFamily="34" charset="-122"/>
                <a:cs typeface="Calibri" pitchFamily="34" charset="-120"/>
              </a:rPr>
              <a:t>Whatever the tool, professional etiquette, academic integrity, privacy, and verification of information are the marks of an ICT-literate person.</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9601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BEFORE YOU LEAVE</a:t>
            </a:r>
            <a:endParaRPr lang="en-US" sz="1200" dirty="0"/>
          </a:p>
        </p:txBody>
      </p:sp>
      <p:sp>
        <p:nvSpPr>
          <p:cNvPr id="5" name="Text 3"/>
          <p:cNvSpPr/>
          <p:nvPr/>
        </p:nvSpPr>
        <p:spPr>
          <a:xfrm>
            <a:off x="457200" y="347472"/>
            <a:ext cx="109728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Exit Ticket</a:t>
            </a:r>
            <a:endParaRPr lang="en-US" sz="2400" dirty="0"/>
          </a:p>
        </p:txBody>
      </p:sp>
      <p:sp>
        <p:nvSpPr>
          <p:cNvPr id="6" name="Shape 4"/>
          <p:cNvSpPr/>
          <p:nvPr/>
        </p:nvSpPr>
        <p:spPr>
          <a:xfrm>
            <a:off x="1097280" y="1371600"/>
            <a:ext cx="9966960" cy="4754880"/>
          </a:xfrm>
          <a:prstGeom prst="roundRect">
            <a:avLst>
              <a:gd name="adj" fmla="val 1538"/>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7" name="Text 5"/>
          <p:cNvSpPr/>
          <p:nvPr/>
        </p:nvSpPr>
        <p:spPr>
          <a:xfrm>
            <a:off x="1463040" y="1645920"/>
            <a:ext cx="9144000" cy="365760"/>
          </a:xfrm>
          <a:prstGeom prst="rect">
            <a:avLst/>
          </a:prstGeom>
          <a:noFill/>
          <a:ln/>
        </p:spPr>
        <p:txBody>
          <a:bodyPr wrap="square" rtlCol="0" anchor="ctr"/>
          <a:lstStyle/>
          <a:p>
            <a:pPr marL="0" indent="0">
              <a:buNone/>
            </a:pPr>
            <a:r>
              <a:rPr lang="en-US" sz="1600" i="1" dirty="0">
                <a:solidFill>
                  <a:srgbClr val="595959"/>
                </a:solidFill>
                <a:latin typeface="Calibri" pitchFamily="34" charset="0"/>
                <a:ea typeface="Calibri" pitchFamily="34" charset="-122"/>
                <a:cs typeface="Calibri" pitchFamily="34" charset="-120"/>
              </a:rPr>
              <a:t>On a slip of paper (or the LMS form), answer briefly:</a:t>
            </a:r>
            <a:endParaRPr lang="en-US" sz="1600" dirty="0"/>
          </a:p>
        </p:txBody>
      </p:sp>
      <p:sp>
        <p:nvSpPr>
          <p:cNvPr id="8" name="Shape 6"/>
          <p:cNvSpPr/>
          <p:nvPr/>
        </p:nvSpPr>
        <p:spPr>
          <a:xfrm>
            <a:off x="1463040" y="2194560"/>
            <a:ext cx="411480" cy="411480"/>
          </a:xfrm>
          <a:prstGeom prst="roundRect">
            <a:avLst>
              <a:gd name="adj" fmla="val 17778"/>
            </a:avLst>
          </a:prstGeom>
          <a:solidFill>
            <a:srgbClr val="1F3864"/>
          </a:solidFill>
          <a:ln/>
        </p:spPr>
        <p:txBody>
          <a:bodyPr/>
          <a:lstStyle/>
          <a:p>
            <a:endParaRPr lang="en-US" sz="1600"/>
          </a:p>
        </p:txBody>
      </p:sp>
      <p:sp>
        <p:nvSpPr>
          <p:cNvPr id="9" name="Text 7"/>
          <p:cNvSpPr/>
          <p:nvPr/>
        </p:nvSpPr>
        <p:spPr>
          <a:xfrm>
            <a:off x="1463040" y="219456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2057400" y="2176272"/>
            <a:ext cx="8686800" cy="731520"/>
          </a:xfrm>
          <a:prstGeom prst="rect">
            <a:avLst/>
          </a:prstGeom>
          <a:noFill/>
          <a:ln/>
        </p:spPr>
        <p:txBody>
          <a:bodyPr wrap="square" rtlCol="0" anchor="ctr"/>
          <a:lstStyle/>
          <a:p>
            <a:pPr marL="0" indent="0">
              <a:lnSpc>
                <a:spcPts val="1800"/>
              </a:lnSpc>
              <a:buNone/>
            </a:pPr>
            <a:r>
              <a:rPr lang="en-US" sz="1600" dirty="0">
                <a:solidFill>
                  <a:srgbClr val="222222"/>
                </a:solidFill>
                <a:latin typeface="Calibri" pitchFamily="34" charset="0"/>
                <a:ea typeface="Calibri" pitchFamily="34" charset="-122"/>
                <a:cs typeface="Calibri" pitchFamily="34" charset="-120"/>
              </a:rPr>
              <a:t>Name TWO components of an LMS and explain what each is used for.</a:t>
            </a:r>
            <a:endParaRPr lang="en-US" sz="1600" dirty="0"/>
          </a:p>
        </p:txBody>
      </p:sp>
      <p:sp>
        <p:nvSpPr>
          <p:cNvPr id="11" name="Shape 9"/>
          <p:cNvSpPr/>
          <p:nvPr/>
        </p:nvSpPr>
        <p:spPr>
          <a:xfrm>
            <a:off x="1463040" y="3337560"/>
            <a:ext cx="411480" cy="411480"/>
          </a:xfrm>
          <a:prstGeom prst="roundRect">
            <a:avLst>
              <a:gd name="adj" fmla="val 17778"/>
            </a:avLst>
          </a:prstGeom>
          <a:solidFill>
            <a:srgbClr val="1F3864"/>
          </a:solidFill>
          <a:ln/>
        </p:spPr>
        <p:txBody>
          <a:bodyPr/>
          <a:lstStyle/>
          <a:p>
            <a:endParaRPr lang="en-US" sz="1600"/>
          </a:p>
        </p:txBody>
      </p:sp>
      <p:sp>
        <p:nvSpPr>
          <p:cNvPr id="12" name="Text 10"/>
          <p:cNvSpPr/>
          <p:nvPr/>
        </p:nvSpPr>
        <p:spPr>
          <a:xfrm>
            <a:off x="1463040" y="333756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2057400" y="3319272"/>
            <a:ext cx="8686800" cy="731520"/>
          </a:xfrm>
          <a:prstGeom prst="rect">
            <a:avLst/>
          </a:prstGeom>
          <a:noFill/>
          <a:ln/>
        </p:spPr>
        <p:txBody>
          <a:bodyPr wrap="square" rtlCol="0" anchor="ctr"/>
          <a:lstStyle/>
          <a:p>
            <a:pPr marL="0" indent="0">
              <a:lnSpc>
                <a:spcPts val="1800"/>
              </a:lnSpc>
              <a:buNone/>
            </a:pPr>
            <a:r>
              <a:rPr lang="en-US" sz="1600" dirty="0">
                <a:solidFill>
                  <a:srgbClr val="222222"/>
                </a:solidFill>
                <a:latin typeface="Calibri" pitchFamily="34" charset="0"/>
                <a:ea typeface="Calibri" pitchFamily="34" charset="-122"/>
                <a:cs typeface="Calibri" pitchFamily="34" charset="-120"/>
              </a:rPr>
              <a:t>A school with no IT staff and no budget wants to start online classes this week. Which LMS would you suggest, and why?</a:t>
            </a:r>
            <a:endParaRPr lang="en-US" sz="1600" dirty="0"/>
          </a:p>
        </p:txBody>
      </p:sp>
      <p:sp>
        <p:nvSpPr>
          <p:cNvPr id="14" name="Shape 12"/>
          <p:cNvSpPr/>
          <p:nvPr/>
        </p:nvSpPr>
        <p:spPr>
          <a:xfrm>
            <a:off x="1463040" y="4480560"/>
            <a:ext cx="411480" cy="411480"/>
          </a:xfrm>
          <a:prstGeom prst="roundRect">
            <a:avLst>
              <a:gd name="adj" fmla="val 17778"/>
            </a:avLst>
          </a:prstGeom>
          <a:solidFill>
            <a:srgbClr val="1F3864"/>
          </a:solidFill>
          <a:ln/>
        </p:spPr>
        <p:txBody>
          <a:bodyPr/>
          <a:lstStyle/>
          <a:p>
            <a:endParaRPr lang="en-US" sz="1600"/>
          </a:p>
        </p:txBody>
      </p:sp>
      <p:sp>
        <p:nvSpPr>
          <p:cNvPr id="15" name="Text 13"/>
          <p:cNvSpPr/>
          <p:nvPr/>
        </p:nvSpPr>
        <p:spPr>
          <a:xfrm>
            <a:off x="1463040" y="448056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2057400" y="4462272"/>
            <a:ext cx="8686800" cy="731520"/>
          </a:xfrm>
          <a:prstGeom prst="rect">
            <a:avLst/>
          </a:prstGeom>
          <a:noFill/>
          <a:ln/>
        </p:spPr>
        <p:txBody>
          <a:bodyPr wrap="square" rtlCol="0" anchor="ctr"/>
          <a:lstStyle/>
          <a:p>
            <a:pPr marL="0" indent="0">
              <a:lnSpc>
                <a:spcPts val="1800"/>
              </a:lnSpc>
              <a:buNone/>
            </a:pPr>
            <a:r>
              <a:rPr lang="en-US" sz="1600" dirty="0">
                <a:solidFill>
                  <a:srgbClr val="222222"/>
                </a:solidFill>
                <a:latin typeface="Calibri" pitchFamily="34" charset="0"/>
                <a:ea typeface="Calibri" pitchFamily="34" charset="-122"/>
                <a:cs typeface="Calibri" pitchFamily="34" charset="-120"/>
              </a:rPr>
              <a:t>Give ONE difference between Zoom and Microsoft Teams, and ONE way LinkedIn helps a student find work.</a:t>
            </a:r>
            <a:endParaRPr lang="en-US" sz="1600" dirty="0"/>
          </a:p>
        </p:txBody>
      </p:sp>
      <p:sp>
        <p:nvSpPr>
          <p:cNvPr id="17" name="Text 15"/>
          <p:cNvSpPr/>
          <p:nvPr/>
        </p:nvSpPr>
        <p:spPr>
          <a:xfrm>
            <a:off x="1463040" y="5623560"/>
            <a:ext cx="9144000" cy="365760"/>
          </a:xfrm>
          <a:prstGeom prst="rect">
            <a:avLst/>
          </a:prstGeom>
          <a:noFill/>
          <a:ln/>
        </p:spPr>
        <p:txBody>
          <a:bodyPr wrap="square" rtlCol="0" anchor="ctr"/>
          <a:lstStyle/>
          <a:p>
            <a:pPr marL="0" indent="0">
              <a:buNone/>
            </a:pPr>
            <a:r>
              <a:rPr lang="en-US" sz="1250" i="1" dirty="0">
                <a:solidFill>
                  <a:srgbClr val="B8860B"/>
                </a:solidFill>
                <a:latin typeface="Calibri" pitchFamily="34" charset="0"/>
                <a:ea typeface="Calibri" pitchFamily="34" charset="-122"/>
                <a:cs typeface="Calibri" pitchFamily="34" charset="-120"/>
              </a:rPr>
              <a:t>Next session: see the course outline for Week 8 — details to be shared on the LMS.</a:t>
            </a:r>
            <a:endParaRPr lang="en-US" sz="1250" dirty="0"/>
          </a:p>
        </p:txBody>
      </p:sp>
      <p:sp>
        <p:nvSpPr>
          <p:cNvPr id="18" name="Text 16"/>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7 — Learning Management Systems  +  Week 6 Recap</a:t>
            </a:r>
            <a:endParaRPr lang="en-US" sz="900" dirty="0"/>
          </a:p>
        </p:txBody>
      </p:sp>
      <p:sp>
        <p:nvSpPr>
          <p:cNvPr id="19" name="Text 17"/>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6420</Words>
  <Application>Microsoft Office PowerPoint</Application>
  <PresentationFormat>Widescreen</PresentationFormat>
  <Paragraphs>796</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FAHEEM SHAUKAT</cp:lastModifiedBy>
  <cp:revision>5</cp:revision>
  <dcterms:created xsi:type="dcterms:W3CDTF">2026-10-11T16:24:08Z</dcterms:created>
  <dcterms:modified xsi:type="dcterms:W3CDTF">2026-10-11T21:32:47Z</dcterms:modified>
</cp:coreProperties>
</file>