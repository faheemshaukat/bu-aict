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320" r:id="rId2"/>
    <p:sldId id="258" r:id="rId3"/>
    <p:sldId id="296" r:id="rId4"/>
    <p:sldId id="259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294" r:id="rId14"/>
    <p:sldId id="305" r:id="rId15"/>
    <p:sldId id="306" r:id="rId16"/>
    <p:sldId id="267" r:id="rId17"/>
    <p:sldId id="307" r:id="rId18"/>
    <p:sldId id="318" r:id="rId19"/>
    <p:sldId id="308" r:id="rId20"/>
    <p:sldId id="309" r:id="rId21"/>
    <p:sldId id="319" r:id="rId22"/>
    <p:sldId id="310" r:id="rId23"/>
    <p:sldId id="311" r:id="rId24"/>
    <p:sldId id="312" r:id="rId25"/>
    <p:sldId id="313" r:id="rId26"/>
    <p:sldId id="314" r:id="rId27"/>
    <p:sldId id="315" r:id="rId28"/>
    <p:sldId id="275" r:id="rId29"/>
    <p:sldId id="316" r:id="rId30"/>
    <p:sldId id="317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15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94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3-hour session: Part 1 covers classic + modern search engines, Part 2 covers AI platforms individually with their own prompting styles.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divider — signals the start of Part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a few students actually try this live on their phones. Most will fail to find it fast — perfect motivation for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live on the projector — type each operator into Google and show real results changing.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filetype:pdf "past papers" ICT 201 live — students love seeing instant PDF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Scholar is especially valuable — mention it will help with future research assignments.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is racing to add AI features to stay competitive with ChatGPT/Perplexity.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students have Google Lens on their phone already (in the Google app) without realizing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who has used Bing before? Usually very few.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 cited answers are a great bridge into why Perplexity/AI platforms matter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Perplexity is genuinely one of the best tools for student research — real sources, not hallucinated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no single "best" engine — the right choice depends on your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around checking progress. Reinforces both classic operators and new AI facilities.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share numbers are approximate global averages — mention they shift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break today at the halfway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divider — signals the shift into Part 2, the AI-focused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exact tool being used to build these slides — a fun meta moment to share with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Grok has real-time access to X (Twitter) — a key differentiator worth mentioning.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genuinely valuable career skill now — worth emphasizing its growing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rewrite one weak prompt of their own into a strong one — quick pair exercise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complementary tools. Now we go platform-by-platform to see HOW each one searches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ChatGPT is the most "general purpose" of the four — good at almost everything, master of none specific search niche.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 for students: paste your whole assignment/notes and ask Claude to check, summarize, or explain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mention deep Google Workspace integration — summarizing Gmail/Docs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Grok is the "social pulse" AI — great for what people are saying right now, less great for deep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Reinforce: no single "best" AI — pick based on the specific task at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5 tips apply no matter which of the 4 platforms a student prefers.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internet/AI access is available, let students actually run this on two platforms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tying together both parts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answers verbally or via Mentimeter.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256032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301752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384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5BB8D4"/>
                </a:solidFill>
              </a:rPr>
              <a:t>BAHRIA UNIVERSITY, ISLAMABAD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658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298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BB8D4"/>
                </a:solidFill>
              </a:rPr>
              <a:t>ICT 201  ·  CLASS 3  ·  WEEK 3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627632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Search Engines &amp;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AI Platform Mastery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12724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9E3ED"/>
                </a:solidFill>
              </a:rPr>
              <a:t>🔍 Google &amp; Bing Mastery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9E3ED"/>
                </a:solidFill>
              </a:rPr>
              <a:t>🤖 AI Assistants &amp; Prompting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9E3ED"/>
                </a:solidFill>
              </a:rPr>
              <a:t>PART 1: Google, Bing &amp; Search Facilities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9E3ED"/>
                </a:solidFill>
              </a:rPr>
              <a:t>PART 2: ChatGPT, Claude, Gemini &amp; Grok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09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3-Hour Deep Dive  ·  1 Break (10 min)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532120" y="2011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SESSION ROADMAP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5080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B8D4"/>
                </a:solidFill>
              </a:rPr>
              <a:t>0:00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5080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Hook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532120" y="7620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B8D4"/>
                </a:solidFill>
              </a:rPr>
              <a:t>0:08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035040" y="7620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PART 1: Search Engines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5532120" y="10160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B8D4"/>
                </a:solidFill>
              </a:rPr>
              <a:t>0:08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0" y="10160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Google Tips &amp; Tricks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532120" y="12700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B8D4"/>
                </a:solidFill>
              </a:rPr>
              <a:t>0:32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12700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Google New Facilities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15240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B8D4"/>
                </a:solidFill>
              </a:rPr>
              <a:t>0:40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035040" y="15240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Google Lens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532120" y="17780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B8D4"/>
                </a:solidFill>
              </a:rPr>
              <a:t>0:47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17780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Bing Tips + Copilot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532120" y="20320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B8D4"/>
                </a:solidFill>
              </a:rPr>
              <a:t>1:03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035040" y="20320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Perplexity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22860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B8D4"/>
                </a:solidFill>
              </a:rPr>
              <a:t>1:31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035040" y="22860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Search Engine Landscape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532120" y="25400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B8D4"/>
                </a:solidFill>
              </a:rPr>
              <a:t>1:38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035040" y="25400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C518"/>
                </a:solidFill>
              </a:rPr>
              <a:t>BREAK (10 min)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5532120" y="27940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B8D4"/>
                </a:solidFill>
              </a:rPr>
              <a:t>1:48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035040" y="27940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PART 2: AI Platforms</a:t>
            </a:r>
          </a:p>
        </p:txBody>
      </p:sp>
      <p:sp>
        <p:nvSpPr>
          <p:cNvPr id="37" name="Text 34"/>
          <p:cNvSpPr txBox="1"/>
          <p:nvPr/>
        </p:nvSpPr>
        <p:spPr>
          <a:xfrm>
            <a:off x="5532120" y="30480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B8D4"/>
                </a:solidFill>
              </a:rPr>
              <a:t>1:58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035040" y="30480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Prompt Engineering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5532120" y="33020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B8D4"/>
                </a:solidFill>
              </a:rPr>
              <a:t>2:08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6035040" y="33020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AI Search vs Traditional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5532120" y="35560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B8D4"/>
                </a:solidFill>
              </a:rPr>
              <a:t>2:13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6035040" y="35560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ChatGPT · Claude · Gemini · Grok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5532120" y="38100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B8D4"/>
                </a:solidFill>
              </a:rPr>
              <a:t>2:38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6035040" y="38100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Prompting Workshop</a:t>
            </a:r>
          </a:p>
        </p:txBody>
      </p:sp>
      <p:sp>
        <p:nvSpPr>
          <p:cNvPr id="45" name="Text 42"/>
          <p:cNvSpPr txBox="1"/>
          <p:nvPr/>
        </p:nvSpPr>
        <p:spPr>
          <a:xfrm>
            <a:off x="5532120" y="40640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B8D4"/>
                </a:solidFill>
              </a:rPr>
              <a:t>2:53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035040" y="406400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Takeaways + Exit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15718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-548640"/>
            <a:ext cx="3200400" cy="3200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2743200"/>
            <a:ext cx="2926080" cy="29260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600" dirty="0">
                <a:solidFill>
                  <a:srgbClr val="F5C518"/>
                </a:solidFill>
              </a:rPr>
              <a:t>PART 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Search Engines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5F0EE"/>
                </a:solidFill>
              </a:rPr>
              <a:t>Tips, Tricks, New Facilities &amp; Comparison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7B"/>
                </a:solidFill>
              </a:rPr>
              <a:t>OPENING HOOK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0:00–0:08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54864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dirty="0">
                <a:solidFill>
                  <a:srgbClr val="000000"/>
                </a:solidFill>
              </a:rPr>
              <a:t>🔍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6400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A2E4A"/>
                </a:solidFill>
              </a:rPr>
              <a:t>How good are your Google skills — really?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8412480" cy="118872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Challenge: Find the exact PDF syllabus for "ICT 201" from a Pakistani university website — in under 30 seconds.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2743200" cy="182880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30358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566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Try it now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877056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Most people type plain keywords and scroll for minutes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2926080"/>
            <a:ext cx="2743200" cy="182880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383280" y="30358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566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There's a faster way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877056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Search operators can get you there in one search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2926080"/>
            <a:ext cx="2743200" cy="182880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263640" y="30358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566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Today's goal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877056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Master the tools professionals use to find anything instantly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7539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7B"/>
                </a:solidFill>
              </a:rPr>
              <a:t>GOOGLE — TIPS &amp; TRICKS (1 OF 3)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E4A"/>
                </a:solidFill>
              </a:rPr>
              <a:t>🔎  Google Search Operators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0:08–0:16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80160"/>
            <a:ext cx="5120640" cy="32004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6576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🖼 Mockup: using site: + "exact phrase" together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23560" y="128016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760720" y="1353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</a:rPr>
              <a:t>"exact phrase"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Finds pages with the exact wording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23560" y="214884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760720" y="22219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</a:rPr>
              <a:t>site:domain.com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Search within ONE website only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23560" y="301752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760720" y="30906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</a:rPr>
              <a:t>-word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76072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Excludes a word from results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23560" y="388620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760720" y="39593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</a:rPr>
              <a:t>filetype:pdf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76072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Only shows PDF documents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7B"/>
                </a:solidFill>
              </a:rPr>
              <a:t>GOOGLE SEARCH — TIPS &amp; TRICKS (2 OF 3)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🔎  More Powerful Operators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0:16–0:24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80160"/>
            <a:ext cx="5120640" cy="32004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6576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🖼 Mockup: filetype:pdf narrows results to PDF documents only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23560" y="128016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760720" y="1353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</a:rPr>
              <a:t>filetype:pdf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Only shows PDF documents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23560" y="214884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760720" y="22219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</a:rPr>
              <a:t>define:word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Instant dictionary definition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23560" y="301752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760720" y="30906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</a:rPr>
              <a:t>2020..2024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76072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Searches within a number/date range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23560" y="388620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760720" y="39593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</a:rPr>
              <a:t>related:site.com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76072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Finds sites similar to one you like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5970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7B"/>
                </a:solidFill>
              </a:rPr>
              <a:t>GOOGLE SEARCH — TIPS &amp; TRICKS (3 OF 3)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✨  Hidden Google Features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0:24–0:32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251960" cy="102412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1508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4813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Reverse Image Search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7922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Upload or drag a photo to find its source or similar images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1371600"/>
            <a:ext cx="4251960" cy="102412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937760" y="1508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14813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Built-in Calculator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17922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Type any math expression directly into the search bar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542032"/>
            <a:ext cx="4251960" cy="102412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02920" y="26791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✈️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651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Flight &amp; Time Tools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9626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"flights to Dubai" or "time in London" show instant widgets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2542032"/>
            <a:ext cx="4251960" cy="102412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937760" y="26791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2651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Google Scholar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29626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scholar.google.com — search only academic papers &amp; citations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712464"/>
            <a:ext cx="4251960" cy="102412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02920" y="38496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🌦️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8221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Quick Answers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133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Weather, unit conversions, and currency — right in the results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00600" y="3712464"/>
            <a:ext cx="4251960" cy="102412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937760" y="38496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⏲️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5623560" y="38221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Search by Time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623560" y="4133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Tools → Any time → Past 24 hours for the freshest results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66960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7B3FA0"/>
                </a:solidFill>
              </a:rPr>
              <a:t>GOOGLE — NEWEST FACILITIES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</a:rPr>
              <a:t>🆕  What Google Added Recently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0:32–0:40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80160"/>
            <a:ext cx="5120640" cy="32004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6576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🖼 AI Overview — an AI-generated summary above regular results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23560" y="128016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760720" y="1353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A0"/>
                </a:solidFill>
              </a:rPr>
              <a:t>AI Overviews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AI-written summary answers your question before you click anything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23560" y="214884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760720" y="22219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A0"/>
                </a:solidFill>
              </a:rPr>
              <a:t>Google Lens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Search using your camera — point at any object, text, or homework problem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23560" y="301752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760720" y="30906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A0"/>
                </a:solidFill>
              </a:rPr>
              <a:t>Circle to Search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76072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On Android: circle anything on your screen to search it instantly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23560" y="388620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760720" y="39593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A0"/>
                </a:solidFill>
              </a:rPr>
              <a:t>SGE (Search Generative Experience)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760720" y="43408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Follow-up questions within the search results itself, like a chat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53453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7B3FA0"/>
                </a:solidFill>
              </a:rPr>
              <a:t>MODERN SEARCH — AI IS CHANGING HOW WE SEARCH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E4A"/>
                </a:solidFill>
              </a:rPr>
              <a:t>📸  Google Lens: Search With Your Camera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0:40–0:47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80160"/>
            <a:ext cx="5120640" cy="32004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6576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🖼 Mockup: pointing your camera at an object to search it instantly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23560" y="128016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760720" y="1353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A0"/>
                </a:solidFill>
              </a:rPr>
              <a:t>Identify objects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Point at a plant, product, or landmark to identify it instantly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23560" y="214884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760720" y="22219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A0"/>
                </a:solidFill>
              </a:rPr>
              <a:t>Translate text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Point at a sign or menu in another language for instant translation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23560" y="301752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760720" y="30906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A0"/>
                </a:solidFill>
              </a:rPr>
              <a:t>Solve homework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76072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Point at a math problem to get step-by-step solutions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23560" y="388620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760720" y="39593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A0"/>
                </a:solidFill>
              </a:rPr>
              <a:t>Shop visually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76072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Point at clothes/furniture to find where to buy them online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63253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809D"/>
          </a:solidFill>
          <a:ln w="12700">
            <a:solidFill>
              <a:srgbClr val="0080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0809D"/>
                </a:solidFill>
              </a:rPr>
              <a:t>BING — TIPS &amp; TRICKS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E4A"/>
                </a:solidFill>
              </a:rPr>
              <a:t>🅱️  Bing: Google's Biggest Rival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0:47–0:55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80160"/>
            <a:ext cx="5120640" cy="32004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6576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🖼 Bing results with Copilot AI answer box built in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23560" y="128016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760720" y="1353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09D"/>
                </a:solidFill>
              </a:rPr>
              <a:t>Same operators as Google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site:, filetype:, "exact phrase" all work identically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23560" y="214884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760720" y="22219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09D"/>
                </a:solidFill>
              </a:rPr>
              <a:t>Visual Search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Search using an image instead of typing — great for shopping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23560" y="301752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760720" y="30906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09D"/>
                </a:solidFill>
              </a:rPr>
              <a:t>Rewards Program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76072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Microsoft Rewards gives points for searching, redeemable for gift cards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23560" y="388620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760720" y="39593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09D"/>
                </a:solidFill>
              </a:rPr>
              <a:t>Deep Search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76072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Bing rewrites your query using AI to find more relevant hidden results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14443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7B3FA0"/>
                </a:solidFill>
              </a:rPr>
              <a:t>BING — NEWEST FACILITIES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E4A"/>
                </a:solidFill>
              </a:rPr>
              <a:t>🆕  Copilot: Bing's Biggest Upgrade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0:55–1:03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251960" cy="137160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15361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A0"/>
                </a:solidFill>
              </a:rPr>
              <a:t>Chat Mode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86537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Have a full back-and-forth conversation right inside Bing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1371600"/>
            <a:ext cx="4251960" cy="137160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937760" y="15361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A0"/>
                </a:solidFill>
              </a:rPr>
              <a:t>Image Creator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186537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Generate AI images directly from a text description, free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251960" cy="137160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02920" y="30906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A0"/>
                </a:solidFill>
              </a:rPr>
              <a:t>Compose Feature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1985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Draft emails, posts, or essays in a chosen tone and length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2926080"/>
            <a:ext cx="4251960" cy="137160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937760" y="30906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A0"/>
                </a:solidFill>
              </a:rPr>
              <a:t>Cited Answers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341985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Copilot shows numbered links to sources, unlike plain AI chat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44306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7B3FA0"/>
                </a:solidFill>
              </a:rPr>
              <a:t>MODERN SEARCH — AI IS CHANGING HOW WE SEARCH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</a:rPr>
              <a:t>🌐  Perplexity: Built for the AI Era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1:03–1:11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80160"/>
            <a:ext cx="5120640" cy="32004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6576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🖼 Mockup: Perplexity answers in full sentences WITH numbered source citations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23560" y="128016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760720" y="1353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A0"/>
                </a:solidFill>
              </a:rPr>
              <a:t>It IS a search engine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Unlike ChatGPT, it searches the live web for every answer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23560" y="214884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760720" y="22219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A0"/>
                </a:solidFill>
              </a:rPr>
              <a:t>Shows its sources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Every claim is numbered and linked back to a real website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23560" y="301752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760720" y="30906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A0"/>
                </a:solidFill>
              </a:rPr>
              <a:t>Best for research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76072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Great for assignments — you can verify and cite the sources shown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23560" y="3886200"/>
            <a:ext cx="3154680" cy="74980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760720" y="39593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A0"/>
                </a:solidFill>
              </a:rPr>
              <a:t>Free to use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76072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Works in browser or app — no account needed for basic use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52585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7B"/>
                </a:solidFill>
              </a:rPr>
              <a:t>COMPARING SEARCH ENGINES BY TASK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</a:rPr>
              <a:t>⚖️  Which Engine Wins for Which Job?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1:11–1:19</a:t>
            </a:r>
            <a:endParaRPr lang="en-US" sz="1050" dirty="0"/>
          </a:p>
        </p:txBody>
      </p:sp>
      <p:sp>
        <p:nvSpPr>
          <p:cNvPr id="8" name="Cell"/>
          <p:cNvSpPr/>
          <p:nvPr/>
        </p:nvSpPr>
        <p:spPr>
          <a:xfrm>
            <a:off x="365760" y="1295400"/>
            <a:ext cx="2164080" cy="381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ellText"/>
          <p:cNvSpPr txBox="1"/>
          <p:nvPr/>
        </p:nvSpPr>
        <p:spPr>
          <a:xfrm>
            <a:off x="365760" y="1295400"/>
            <a:ext cx="2164080" cy="381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Task</a:t>
            </a:r>
            <a:endParaRPr lang="en-US" sz="1600" dirty="0"/>
          </a:p>
        </p:txBody>
      </p:sp>
      <p:sp>
        <p:nvSpPr>
          <p:cNvPr id="10" name="Cell"/>
          <p:cNvSpPr/>
          <p:nvPr/>
        </p:nvSpPr>
        <p:spPr>
          <a:xfrm>
            <a:off x="2529840" y="1295400"/>
            <a:ext cx="1562100" cy="381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ellText"/>
          <p:cNvSpPr txBox="1"/>
          <p:nvPr/>
        </p:nvSpPr>
        <p:spPr>
          <a:xfrm>
            <a:off x="2529840" y="129540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Google</a:t>
            </a:r>
            <a:endParaRPr lang="en-US" sz="1600" dirty="0"/>
          </a:p>
        </p:txBody>
      </p:sp>
      <p:sp>
        <p:nvSpPr>
          <p:cNvPr id="12" name="Cell"/>
          <p:cNvSpPr/>
          <p:nvPr/>
        </p:nvSpPr>
        <p:spPr>
          <a:xfrm>
            <a:off x="4091940" y="1295400"/>
            <a:ext cx="1562100" cy="381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ellText"/>
          <p:cNvSpPr txBox="1"/>
          <p:nvPr/>
        </p:nvSpPr>
        <p:spPr>
          <a:xfrm>
            <a:off x="4091940" y="129540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Bing</a:t>
            </a:r>
            <a:endParaRPr lang="en-US" sz="1600" dirty="0"/>
          </a:p>
        </p:txBody>
      </p:sp>
      <p:sp>
        <p:nvSpPr>
          <p:cNvPr id="14" name="Cell"/>
          <p:cNvSpPr/>
          <p:nvPr/>
        </p:nvSpPr>
        <p:spPr>
          <a:xfrm>
            <a:off x="5654040" y="1295400"/>
            <a:ext cx="1562100" cy="381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ellText"/>
          <p:cNvSpPr txBox="1"/>
          <p:nvPr/>
        </p:nvSpPr>
        <p:spPr>
          <a:xfrm>
            <a:off x="5654040" y="129540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DuckDuckGo</a:t>
            </a:r>
            <a:endParaRPr lang="en-US" sz="1600" dirty="0"/>
          </a:p>
        </p:txBody>
      </p:sp>
      <p:sp>
        <p:nvSpPr>
          <p:cNvPr id="16" name="Cell"/>
          <p:cNvSpPr/>
          <p:nvPr/>
        </p:nvSpPr>
        <p:spPr>
          <a:xfrm>
            <a:off x="7216140" y="1295400"/>
            <a:ext cx="1562100" cy="381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ellText"/>
          <p:cNvSpPr txBox="1"/>
          <p:nvPr/>
        </p:nvSpPr>
        <p:spPr>
          <a:xfrm>
            <a:off x="7216140" y="129540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Perplexity</a:t>
            </a:r>
            <a:endParaRPr lang="en-US" sz="1600" dirty="0"/>
          </a:p>
        </p:txBody>
      </p:sp>
      <p:sp>
        <p:nvSpPr>
          <p:cNvPr id="18" name="Cell"/>
          <p:cNvSpPr/>
          <p:nvPr/>
        </p:nvSpPr>
        <p:spPr>
          <a:xfrm>
            <a:off x="365760" y="1676400"/>
            <a:ext cx="216408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ellText"/>
          <p:cNvSpPr txBox="1"/>
          <p:nvPr/>
        </p:nvSpPr>
        <p:spPr>
          <a:xfrm>
            <a:off x="365760" y="1676400"/>
            <a:ext cx="216408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General web search</a:t>
            </a:r>
            <a:endParaRPr lang="en-US" sz="1600" dirty="0"/>
          </a:p>
        </p:txBody>
      </p:sp>
      <p:sp>
        <p:nvSpPr>
          <p:cNvPr id="20" name="Cell"/>
          <p:cNvSpPr/>
          <p:nvPr/>
        </p:nvSpPr>
        <p:spPr>
          <a:xfrm>
            <a:off x="2529840" y="1676400"/>
            <a:ext cx="156210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1" name="CellText"/>
          <p:cNvSpPr txBox="1"/>
          <p:nvPr/>
        </p:nvSpPr>
        <p:spPr>
          <a:xfrm>
            <a:off x="2529840" y="16764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D46"/>
                </a:solidFill>
              </a:rPr>
              <a:t>🏆 Best</a:t>
            </a:r>
            <a:endParaRPr lang="en-US" sz="1400" dirty="0"/>
          </a:p>
        </p:txBody>
      </p:sp>
      <p:sp>
        <p:nvSpPr>
          <p:cNvPr id="22" name="Cell"/>
          <p:cNvSpPr/>
          <p:nvPr/>
        </p:nvSpPr>
        <p:spPr>
          <a:xfrm>
            <a:off x="4091940" y="1676400"/>
            <a:ext cx="156210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3" name="CellText"/>
          <p:cNvSpPr txBox="1"/>
          <p:nvPr/>
        </p:nvSpPr>
        <p:spPr>
          <a:xfrm>
            <a:off x="4091940" y="16764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Good</a:t>
            </a:r>
            <a:endParaRPr lang="en-US" sz="1400" dirty="0"/>
          </a:p>
        </p:txBody>
      </p:sp>
      <p:sp>
        <p:nvSpPr>
          <p:cNvPr id="24" name="Cell"/>
          <p:cNvSpPr/>
          <p:nvPr/>
        </p:nvSpPr>
        <p:spPr>
          <a:xfrm>
            <a:off x="5654040" y="1676400"/>
            <a:ext cx="156210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5" name="CellText"/>
          <p:cNvSpPr txBox="1"/>
          <p:nvPr/>
        </p:nvSpPr>
        <p:spPr>
          <a:xfrm>
            <a:off x="5654040" y="16764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Good</a:t>
            </a:r>
            <a:endParaRPr lang="en-US" sz="1400" dirty="0"/>
          </a:p>
        </p:txBody>
      </p:sp>
      <p:sp>
        <p:nvSpPr>
          <p:cNvPr id="26" name="Cell"/>
          <p:cNvSpPr/>
          <p:nvPr/>
        </p:nvSpPr>
        <p:spPr>
          <a:xfrm>
            <a:off x="7216140" y="1676400"/>
            <a:ext cx="156210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7" name="CellText"/>
          <p:cNvSpPr txBox="1"/>
          <p:nvPr/>
        </p:nvSpPr>
        <p:spPr>
          <a:xfrm>
            <a:off x="7216140" y="16764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Decent</a:t>
            </a:r>
            <a:endParaRPr lang="en-US" sz="1400" dirty="0"/>
          </a:p>
        </p:txBody>
      </p:sp>
      <p:sp>
        <p:nvSpPr>
          <p:cNvPr id="28" name="Cell"/>
          <p:cNvSpPr/>
          <p:nvPr/>
        </p:nvSpPr>
        <p:spPr>
          <a:xfrm>
            <a:off x="365760" y="2133600"/>
            <a:ext cx="21640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CellText"/>
          <p:cNvSpPr txBox="1"/>
          <p:nvPr/>
        </p:nvSpPr>
        <p:spPr>
          <a:xfrm>
            <a:off x="365760" y="2133600"/>
            <a:ext cx="216408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Academic research</a:t>
            </a:r>
            <a:endParaRPr lang="en-US" sz="1600" dirty="0"/>
          </a:p>
        </p:txBody>
      </p:sp>
      <p:sp>
        <p:nvSpPr>
          <p:cNvPr id="30" name="Cell"/>
          <p:cNvSpPr/>
          <p:nvPr/>
        </p:nvSpPr>
        <p:spPr>
          <a:xfrm>
            <a:off x="2529840" y="2133600"/>
            <a:ext cx="15621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1" name="CellText"/>
          <p:cNvSpPr txBox="1"/>
          <p:nvPr/>
        </p:nvSpPr>
        <p:spPr>
          <a:xfrm>
            <a:off x="2529840" y="21336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D46"/>
                </a:solidFill>
              </a:rPr>
              <a:t>🏆 Scholar</a:t>
            </a:r>
            <a:endParaRPr lang="en-US" sz="1400" dirty="0"/>
          </a:p>
        </p:txBody>
      </p:sp>
      <p:sp>
        <p:nvSpPr>
          <p:cNvPr id="32" name="Cell"/>
          <p:cNvSpPr/>
          <p:nvPr/>
        </p:nvSpPr>
        <p:spPr>
          <a:xfrm>
            <a:off x="4091940" y="2133600"/>
            <a:ext cx="15621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3" name="CellText"/>
          <p:cNvSpPr txBox="1"/>
          <p:nvPr/>
        </p:nvSpPr>
        <p:spPr>
          <a:xfrm>
            <a:off x="4091940" y="21336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Decent</a:t>
            </a:r>
            <a:endParaRPr lang="en-US" sz="1400" dirty="0"/>
          </a:p>
        </p:txBody>
      </p:sp>
      <p:sp>
        <p:nvSpPr>
          <p:cNvPr id="34" name="Cell"/>
          <p:cNvSpPr/>
          <p:nvPr/>
        </p:nvSpPr>
        <p:spPr>
          <a:xfrm>
            <a:off x="5654040" y="2133600"/>
            <a:ext cx="15621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5" name="CellText"/>
          <p:cNvSpPr txBox="1"/>
          <p:nvPr/>
        </p:nvSpPr>
        <p:spPr>
          <a:xfrm>
            <a:off x="5654040" y="21336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Basic</a:t>
            </a:r>
            <a:endParaRPr lang="en-US" sz="1400" dirty="0"/>
          </a:p>
        </p:txBody>
      </p:sp>
      <p:sp>
        <p:nvSpPr>
          <p:cNvPr id="36" name="Cell"/>
          <p:cNvSpPr/>
          <p:nvPr/>
        </p:nvSpPr>
        <p:spPr>
          <a:xfrm>
            <a:off x="7216140" y="2133600"/>
            <a:ext cx="15621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7" name="CellText"/>
          <p:cNvSpPr txBox="1"/>
          <p:nvPr/>
        </p:nvSpPr>
        <p:spPr>
          <a:xfrm>
            <a:off x="7216140" y="21336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D46"/>
                </a:solidFill>
              </a:rPr>
              <a:t>🏆 Cited sources</a:t>
            </a:r>
            <a:endParaRPr lang="en-US" sz="1400" dirty="0"/>
          </a:p>
        </p:txBody>
      </p:sp>
      <p:sp>
        <p:nvSpPr>
          <p:cNvPr id="38" name="Cell"/>
          <p:cNvSpPr/>
          <p:nvPr/>
        </p:nvSpPr>
        <p:spPr>
          <a:xfrm>
            <a:off x="365760" y="2590800"/>
            <a:ext cx="216408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ellText"/>
          <p:cNvSpPr txBox="1"/>
          <p:nvPr/>
        </p:nvSpPr>
        <p:spPr>
          <a:xfrm>
            <a:off x="365760" y="2590800"/>
            <a:ext cx="216408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AI answers &amp; citations</a:t>
            </a:r>
            <a:endParaRPr lang="en-US" sz="1600" dirty="0"/>
          </a:p>
        </p:txBody>
      </p:sp>
      <p:sp>
        <p:nvSpPr>
          <p:cNvPr id="40" name="Cell"/>
          <p:cNvSpPr/>
          <p:nvPr/>
        </p:nvSpPr>
        <p:spPr>
          <a:xfrm>
            <a:off x="2529840" y="2590800"/>
            <a:ext cx="156210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1" name="CellText"/>
          <p:cNvSpPr txBox="1"/>
          <p:nvPr/>
        </p:nvSpPr>
        <p:spPr>
          <a:xfrm>
            <a:off x="2529840" y="25908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AI Overview</a:t>
            </a:r>
            <a:endParaRPr lang="en-US" sz="1400" dirty="0"/>
          </a:p>
        </p:txBody>
      </p:sp>
      <p:sp>
        <p:nvSpPr>
          <p:cNvPr id="42" name="Cell"/>
          <p:cNvSpPr/>
          <p:nvPr/>
        </p:nvSpPr>
        <p:spPr>
          <a:xfrm>
            <a:off x="4091940" y="2590800"/>
            <a:ext cx="156210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3" name="CellText"/>
          <p:cNvSpPr txBox="1"/>
          <p:nvPr/>
        </p:nvSpPr>
        <p:spPr>
          <a:xfrm>
            <a:off x="4091940" y="25908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D46"/>
                </a:solidFill>
              </a:rPr>
              <a:t>🏆 Copilot built-in</a:t>
            </a:r>
            <a:endParaRPr lang="en-US" sz="1400" dirty="0"/>
          </a:p>
        </p:txBody>
      </p:sp>
      <p:sp>
        <p:nvSpPr>
          <p:cNvPr id="44" name="Cell"/>
          <p:cNvSpPr/>
          <p:nvPr/>
        </p:nvSpPr>
        <p:spPr>
          <a:xfrm>
            <a:off x="5654040" y="2590800"/>
            <a:ext cx="156210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5" name="CellText"/>
          <p:cNvSpPr txBox="1"/>
          <p:nvPr/>
        </p:nvSpPr>
        <p:spPr>
          <a:xfrm>
            <a:off x="5654040" y="25908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Limited</a:t>
            </a:r>
            <a:endParaRPr lang="en-US" sz="1400" dirty="0"/>
          </a:p>
        </p:txBody>
      </p:sp>
      <p:sp>
        <p:nvSpPr>
          <p:cNvPr id="46" name="Cell"/>
          <p:cNvSpPr/>
          <p:nvPr/>
        </p:nvSpPr>
        <p:spPr>
          <a:xfrm>
            <a:off x="7216140" y="2590800"/>
            <a:ext cx="156210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7" name="CellText"/>
          <p:cNvSpPr txBox="1"/>
          <p:nvPr/>
        </p:nvSpPr>
        <p:spPr>
          <a:xfrm>
            <a:off x="7216140" y="25908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D46"/>
                </a:solidFill>
              </a:rPr>
              <a:t>🏆 Best citations</a:t>
            </a:r>
            <a:endParaRPr lang="en-US" sz="1400" dirty="0"/>
          </a:p>
        </p:txBody>
      </p:sp>
      <p:sp>
        <p:nvSpPr>
          <p:cNvPr id="48" name="Cell"/>
          <p:cNvSpPr/>
          <p:nvPr/>
        </p:nvSpPr>
        <p:spPr>
          <a:xfrm>
            <a:off x="365760" y="3048000"/>
            <a:ext cx="21640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CellText"/>
          <p:cNvSpPr txBox="1"/>
          <p:nvPr/>
        </p:nvSpPr>
        <p:spPr>
          <a:xfrm>
            <a:off x="365760" y="3048000"/>
            <a:ext cx="216408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Avoiding hallucination</a:t>
            </a:r>
            <a:endParaRPr lang="en-US" sz="1600" dirty="0"/>
          </a:p>
        </p:txBody>
      </p:sp>
      <p:sp>
        <p:nvSpPr>
          <p:cNvPr id="50" name="Cell"/>
          <p:cNvSpPr/>
          <p:nvPr/>
        </p:nvSpPr>
        <p:spPr>
          <a:xfrm>
            <a:off x="2529840" y="3048000"/>
            <a:ext cx="15621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1" name="CellText"/>
          <p:cNvSpPr txBox="1"/>
          <p:nvPr/>
        </p:nvSpPr>
        <p:spPr>
          <a:xfrm>
            <a:off x="2529840" y="30480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Medium risk</a:t>
            </a:r>
            <a:endParaRPr lang="en-US" sz="1400" dirty="0"/>
          </a:p>
        </p:txBody>
      </p:sp>
      <p:sp>
        <p:nvSpPr>
          <p:cNvPr id="52" name="Cell"/>
          <p:cNvSpPr/>
          <p:nvPr/>
        </p:nvSpPr>
        <p:spPr>
          <a:xfrm>
            <a:off x="4091940" y="3048000"/>
            <a:ext cx="15621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3" name="CellText"/>
          <p:cNvSpPr txBox="1"/>
          <p:nvPr/>
        </p:nvSpPr>
        <p:spPr>
          <a:xfrm>
            <a:off x="4091940" y="30480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Medium risk</a:t>
            </a:r>
            <a:endParaRPr lang="en-US" sz="1400" dirty="0"/>
          </a:p>
        </p:txBody>
      </p:sp>
      <p:sp>
        <p:nvSpPr>
          <p:cNvPr id="54" name="Cell"/>
          <p:cNvSpPr/>
          <p:nvPr/>
        </p:nvSpPr>
        <p:spPr>
          <a:xfrm>
            <a:off x="5654040" y="3048000"/>
            <a:ext cx="15621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5" name="CellText"/>
          <p:cNvSpPr txBox="1"/>
          <p:nvPr/>
        </p:nvSpPr>
        <p:spPr>
          <a:xfrm>
            <a:off x="5654040" y="30480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No AI answers</a:t>
            </a:r>
            <a:endParaRPr lang="en-US" sz="1400" dirty="0"/>
          </a:p>
        </p:txBody>
      </p:sp>
      <p:sp>
        <p:nvSpPr>
          <p:cNvPr id="56" name="Cell"/>
          <p:cNvSpPr/>
          <p:nvPr/>
        </p:nvSpPr>
        <p:spPr>
          <a:xfrm>
            <a:off x="7216140" y="3048000"/>
            <a:ext cx="15621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7" name="CellText"/>
          <p:cNvSpPr txBox="1"/>
          <p:nvPr/>
        </p:nvSpPr>
        <p:spPr>
          <a:xfrm>
            <a:off x="7216140" y="30480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D46"/>
                </a:solidFill>
              </a:rPr>
              <a:t>🏆 Lowest risk</a:t>
            </a:r>
            <a:endParaRPr lang="en-US" sz="1400" dirty="0"/>
          </a:p>
        </p:txBody>
      </p:sp>
      <p:sp>
        <p:nvSpPr>
          <p:cNvPr id="58" name="Cell"/>
          <p:cNvSpPr/>
          <p:nvPr/>
        </p:nvSpPr>
        <p:spPr>
          <a:xfrm>
            <a:off x="365760" y="3505200"/>
            <a:ext cx="216408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CellText"/>
          <p:cNvSpPr txBox="1"/>
          <p:nvPr/>
        </p:nvSpPr>
        <p:spPr>
          <a:xfrm>
            <a:off x="365760" y="3505200"/>
            <a:ext cx="216408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Privacy protection</a:t>
            </a:r>
            <a:endParaRPr lang="en-US" sz="1600" dirty="0"/>
          </a:p>
        </p:txBody>
      </p:sp>
      <p:sp>
        <p:nvSpPr>
          <p:cNvPr id="60" name="Cell"/>
          <p:cNvSpPr/>
          <p:nvPr/>
        </p:nvSpPr>
        <p:spPr>
          <a:xfrm>
            <a:off x="2529840" y="3505200"/>
            <a:ext cx="156210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61" name="CellText"/>
          <p:cNvSpPr txBox="1"/>
          <p:nvPr/>
        </p:nvSpPr>
        <p:spPr>
          <a:xfrm>
            <a:off x="2529840" y="35052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Tracks you</a:t>
            </a:r>
            <a:endParaRPr lang="en-US" sz="1400" dirty="0"/>
          </a:p>
        </p:txBody>
      </p:sp>
      <p:sp>
        <p:nvSpPr>
          <p:cNvPr id="62" name="Cell"/>
          <p:cNvSpPr/>
          <p:nvPr/>
        </p:nvSpPr>
        <p:spPr>
          <a:xfrm>
            <a:off x="4091940" y="3505200"/>
            <a:ext cx="156210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63" name="CellText"/>
          <p:cNvSpPr txBox="1"/>
          <p:nvPr/>
        </p:nvSpPr>
        <p:spPr>
          <a:xfrm>
            <a:off x="4091940" y="35052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Tracks you</a:t>
            </a:r>
            <a:endParaRPr lang="en-US" sz="1400" dirty="0"/>
          </a:p>
        </p:txBody>
      </p:sp>
      <p:sp>
        <p:nvSpPr>
          <p:cNvPr id="64" name="Cell"/>
          <p:cNvSpPr/>
          <p:nvPr/>
        </p:nvSpPr>
        <p:spPr>
          <a:xfrm>
            <a:off x="5654040" y="3505200"/>
            <a:ext cx="156210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65" name="CellText"/>
          <p:cNvSpPr txBox="1"/>
          <p:nvPr/>
        </p:nvSpPr>
        <p:spPr>
          <a:xfrm>
            <a:off x="5654040" y="35052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D46"/>
                </a:solidFill>
              </a:rPr>
              <a:t>🏆 No tracking</a:t>
            </a:r>
            <a:endParaRPr lang="en-US" sz="1400" dirty="0"/>
          </a:p>
        </p:txBody>
      </p:sp>
      <p:sp>
        <p:nvSpPr>
          <p:cNvPr id="66" name="Cell"/>
          <p:cNvSpPr/>
          <p:nvPr/>
        </p:nvSpPr>
        <p:spPr>
          <a:xfrm>
            <a:off x="7216140" y="3505200"/>
            <a:ext cx="156210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67" name="CellText"/>
          <p:cNvSpPr txBox="1"/>
          <p:nvPr/>
        </p:nvSpPr>
        <p:spPr>
          <a:xfrm>
            <a:off x="7216140" y="35052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Some tracking</a:t>
            </a:r>
            <a:endParaRPr lang="en-US" sz="1400" dirty="0"/>
          </a:p>
        </p:txBody>
      </p:sp>
      <p:sp>
        <p:nvSpPr>
          <p:cNvPr id="68" name="Cell"/>
          <p:cNvSpPr/>
          <p:nvPr/>
        </p:nvSpPr>
        <p:spPr>
          <a:xfrm>
            <a:off x="365760" y="3962400"/>
            <a:ext cx="21640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CellText"/>
          <p:cNvSpPr txBox="1"/>
          <p:nvPr/>
        </p:nvSpPr>
        <p:spPr>
          <a:xfrm>
            <a:off x="365760" y="3962400"/>
            <a:ext cx="216408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Image / visual search</a:t>
            </a:r>
            <a:endParaRPr lang="en-US" sz="1600" dirty="0"/>
          </a:p>
        </p:txBody>
      </p:sp>
      <p:sp>
        <p:nvSpPr>
          <p:cNvPr id="70" name="Cell"/>
          <p:cNvSpPr/>
          <p:nvPr/>
        </p:nvSpPr>
        <p:spPr>
          <a:xfrm>
            <a:off x="2529840" y="3962400"/>
            <a:ext cx="15621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71" name="CellText"/>
          <p:cNvSpPr txBox="1"/>
          <p:nvPr/>
        </p:nvSpPr>
        <p:spPr>
          <a:xfrm>
            <a:off x="2529840" y="39624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D46"/>
                </a:solidFill>
              </a:rPr>
              <a:t>🏆 Lens, largest index</a:t>
            </a:r>
            <a:endParaRPr lang="en-US" sz="1400" dirty="0"/>
          </a:p>
        </p:txBody>
      </p:sp>
      <p:sp>
        <p:nvSpPr>
          <p:cNvPr id="72" name="Cell"/>
          <p:cNvSpPr/>
          <p:nvPr/>
        </p:nvSpPr>
        <p:spPr>
          <a:xfrm>
            <a:off x="4091940" y="3962400"/>
            <a:ext cx="15621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73" name="CellText"/>
          <p:cNvSpPr txBox="1"/>
          <p:nvPr/>
        </p:nvSpPr>
        <p:spPr>
          <a:xfrm>
            <a:off x="4091940" y="39624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Very good</a:t>
            </a:r>
            <a:endParaRPr lang="en-US" sz="1400" dirty="0"/>
          </a:p>
        </p:txBody>
      </p:sp>
      <p:sp>
        <p:nvSpPr>
          <p:cNvPr id="74" name="Cell"/>
          <p:cNvSpPr/>
          <p:nvPr/>
        </p:nvSpPr>
        <p:spPr>
          <a:xfrm>
            <a:off x="5654040" y="3962400"/>
            <a:ext cx="15621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75" name="CellText"/>
          <p:cNvSpPr txBox="1"/>
          <p:nvPr/>
        </p:nvSpPr>
        <p:spPr>
          <a:xfrm>
            <a:off x="5654040" y="39624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Basic</a:t>
            </a:r>
            <a:endParaRPr lang="en-US" sz="1400" dirty="0"/>
          </a:p>
        </p:txBody>
      </p:sp>
      <p:sp>
        <p:nvSpPr>
          <p:cNvPr id="76" name="Cell"/>
          <p:cNvSpPr/>
          <p:nvPr/>
        </p:nvSpPr>
        <p:spPr>
          <a:xfrm>
            <a:off x="7216140" y="3962400"/>
            <a:ext cx="15621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77" name="CellText"/>
          <p:cNvSpPr txBox="1"/>
          <p:nvPr/>
        </p:nvSpPr>
        <p:spPr>
          <a:xfrm>
            <a:off x="7216140" y="39624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Basic</a:t>
            </a:r>
            <a:endParaRPr lang="en-US" sz="1400" dirty="0"/>
          </a:p>
        </p:txBody>
      </p:sp>
      <p:sp>
        <p:nvSpPr>
          <p:cNvPr id="78" name="Cell"/>
          <p:cNvSpPr/>
          <p:nvPr/>
        </p:nvSpPr>
        <p:spPr>
          <a:xfrm>
            <a:off x="365760" y="4419600"/>
            <a:ext cx="216408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CellText"/>
          <p:cNvSpPr txBox="1"/>
          <p:nvPr/>
        </p:nvSpPr>
        <p:spPr>
          <a:xfrm>
            <a:off x="365760" y="4419600"/>
            <a:ext cx="2164080" cy="457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Shopping comparison</a:t>
            </a:r>
            <a:endParaRPr lang="en-US" sz="1600" dirty="0"/>
          </a:p>
        </p:txBody>
      </p:sp>
      <p:sp>
        <p:nvSpPr>
          <p:cNvPr id="80" name="Cell"/>
          <p:cNvSpPr/>
          <p:nvPr/>
        </p:nvSpPr>
        <p:spPr>
          <a:xfrm>
            <a:off x="2529840" y="4419600"/>
            <a:ext cx="156210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1" name="CellText"/>
          <p:cNvSpPr txBox="1"/>
          <p:nvPr/>
        </p:nvSpPr>
        <p:spPr>
          <a:xfrm>
            <a:off x="2529840" y="44196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Good</a:t>
            </a:r>
            <a:endParaRPr lang="en-US" sz="1400" dirty="0"/>
          </a:p>
        </p:txBody>
      </p:sp>
      <p:sp>
        <p:nvSpPr>
          <p:cNvPr id="82" name="Cell"/>
          <p:cNvSpPr/>
          <p:nvPr/>
        </p:nvSpPr>
        <p:spPr>
          <a:xfrm>
            <a:off x="4091940" y="4419600"/>
            <a:ext cx="156210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3" name="CellText"/>
          <p:cNvSpPr txBox="1"/>
          <p:nvPr/>
        </p:nvSpPr>
        <p:spPr>
          <a:xfrm>
            <a:off x="4091940" y="44196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D46"/>
                </a:solidFill>
              </a:rPr>
              <a:t>🏆 Strong integration</a:t>
            </a:r>
            <a:endParaRPr lang="en-US" sz="1400" dirty="0"/>
          </a:p>
        </p:txBody>
      </p:sp>
      <p:sp>
        <p:nvSpPr>
          <p:cNvPr id="84" name="Cell"/>
          <p:cNvSpPr/>
          <p:nvPr/>
        </p:nvSpPr>
        <p:spPr>
          <a:xfrm>
            <a:off x="5654040" y="4419600"/>
            <a:ext cx="156210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5" name="CellText"/>
          <p:cNvSpPr txBox="1"/>
          <p:nvPr/>
        </p:nvSpPr>
        <p:spPr>
          <a:xfrm>
            <a:off x="5654040" y="44196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Basic</a:t>
            </a:r>
            <a:endParaRPr lang="en-US" sz="1400" dirty="0"/>
          </a:p>
        </p:txBody>
      </p:sp>
      <p:sp>
        <p:nvSpPr>
          <p:cNvPr id="86" name="Cell"/>
          <p:cNvSpPr/>
          <p:nvPr/>
        </p:nvSpPr>
        <p:spPr>
          <a:xfrm>
            <a:off x="7216140" y="4419600"/>
            <a:ext cx="1562100" cy="457200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7" name="CellText"/>
          <p:cNvSpPr txBox="1"/>
          <p:nvPr/>
        </p:nvSpPr>
        <p:spPr>
          <a:xfrm>
            <a:off x="7216140" y="4419600"/>
            <a:ext cx="156210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0D1B2A"/>
                </a:solidFill>
              </a:rPr>
              <a:t>Basic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15816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5BB8D4">
              <a:alpha val="15000"/>
            </a:srgbClr>
          </a:solidFill>
          <a:ln w="12700">
            <a:solidFill>
              <a:srgbClr val="5BB8D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19456"/>
            <a:ext cx="2103120" cy="329184"/>
          </a:xfrm>
          <a:prstGeom prst="roundRect">
            <a:avLst>
              <a:gd name="adj" fmla="val 25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194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12 Minutes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B8D4"/>
                </a:solidFill>
              </a:rPr>
              <a:t>HANDS-ON ACTIVITY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93268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The Search Speed Challenge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3ED"/>
                </a:solidFill>
              </a:rPr>
              <a:t>Complete each task as fast as you can, and note which engine you used: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C518"/>
                </a:solidFill>
              </a:rPr>
              <a:t>🏆  First 3 students to finish all 6 tasks get bonus points!</a:t>
            </a:r>
            <a:endParaRPr lang="en-US" sz="1050" dirty="0"/>
          </a:p>
        </p:txBody>
      </p:sp>
      <p:sp>
        <p:nvSpPr>
          <p:cNvPr id="100" name="Card"/>
          <p:cNvSpPr/>
          <p:nvPr/>
        </p:nvSpPr>
        <p:spPr>
          <a:xfrm>
            <a:off x="457200" y="2032000"/>
            <a:ext cx="4038600" cy="584200"/>
          </a:xfrm>
          <a:prstGeom prst="rect">
            <a:avLst/>
          </a:prstGeom>
          <a:solidFill>
            <a:srgbClr val="0D1B2A"/>
          </a:solidFill>
          <a:ln w="635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Num"/>
          <p:cNvSpPr/>
          <p:nvPr/>
        </p:nvSpPr>
        <p:spPr>
          <a:xfrm>
            <a:off x="571500" y="2184400"/>
            <a:ext cx="304800" cy="3048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NumText"/>
          <p:cNvSpPr txBox="1"/>
          <p:nvPr/>
        </p:nvSpPr>
        <p:spPr>
          <a:xfrm>
            <a:off x="571500" y="21844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3" name="TaskText"/>
          <p:cNvSpPr txBox="1"/>
          <p:nvPr/>
        </p:nvSpPr>
        <p:spPr>
          <a:xfrm>
            <a:off x="990600" y="2082800"/>
            <a:ext cx="3352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Search "best laptop 2026" on Google and Bing — which AI summary is better?</a:t>
            </a:r>
            <a:endParaRPr lang="en-US" sz="1400" dirty="0"/>
          </a:p>
        </p:txBody>
      </p:sp>
      <p:sp>
        <p:nvSpPr>
          <p:cNvPr id="104" name="Card"/>
          <p:cNvSpPr/>
          <p:nvPr/>
        </p:nvSpPr>
        <p:spPr>
          <a:xfrm>
            <a:off x="457200" y="2667000"/>
            <a:ext cx="4038600" cy="584200"/>
          </a:xfrm>
          <a:prstGeom prst="rect">
            <a:avLst/>
          </a:prstGeom>
          <a:solidFill>
            <a:srgbClr val="0D1B2A"/>
          </a:solidFill>
          <a:ln w="635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Num"/>
          <p:cNvSpPr/>
          <p:nvPr/>
        </p:nvSpPr>
        <p:spPr>
          <a:xfrm>
            <a:off x="571500" y="2819400"/>
            <a:ext cx="304800" cy="3048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NumText"/>
          <p:cNvSpPr txBox="1"/>
          <p:nvPr/>
        </p:nvSpPr>
        <p:spPr>
          <a:xfrm>
            <a:off x="571500" y="28194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7" name="TaskText"/>
          <p:cNvSpPr txBox="1"/>
          <p:nvPr/>
        </p:nvSpPr>
        <p:spPr>
          <a:xfrm>
            <a:off x="990600" y="2717800"/>
            <a:ext cx="3352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Find Bahria University’s founding year using site:bahria.edu.pk</a:t>
            </a:r>
            <a:endParaRPr lang="en-US" sz="1400" dirty="0"/>
          </a:p>
        </p:txBody>
      </p:sp>
      <p:sp>
        <p:nvSpPr>
          <p:cNvPr id="108" name="Card"/>
          <p:cNvSpPr/>
          <p:nvPr/>
        </p:nvSpPr>
        <p:spPr>
          <a:xfrm>
            <a:off x="457200" y="3302000"/>
            <a:ext cx="4038600" cy="584200"/>
          </a:xfrm>
          <a:prstGeom prst="rect">
            <a:avLst/>
          </a:prstGeom>
          <a:solidFill>
            <a:srgbClr val="0D1B2A"/>
          </a:solidFill>
          <a:ln w="635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Num"/>
          <p:cNvSpPr/>
          <p:nvPr/>
        </p:nvSpPr>
        <p:spPr>
          <a:xfrm>
            <a:off x="571500" y="3454400"/>
            <a:ext cx="304800" cy="3048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NumText"/>
          <p:cNvSpPr txBox="1"/>
          <p:nvPr/>
        </p:nvSpPr>
        <p:spPr>
          <a:xfrm>
            <a:off x="571500" y="34544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1" name="TaskText"/>
          <p:cNvSpPr txBox="1"/>
          <p:nvPr/>
        </p:nvSpPr>
        <p:spPr>
          <a:xfrm>
            <a:off x="990600" y="3352800"/>
            <a:ext cx="3352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Compute 15% of 4,850 with Google’s built-in calculator</a:t>
            </a:r>
            <a:endParaRPr lang="en-US" sz="1400" dirty="0"/>
          </a:p>
        </p:txBody>
      </p:sp>
      <p:sp>
        <p:nvSpPr>
          <p:cNvPr id="112" name="Card"/>
          <p:cNvSpPr/>
          <p:nvPr/>
        </p:nvSpPr>
        <p:spPr>
          <a:xfrm>
            <a:off x="4648200" y="2032000"/>
            <a:ext cx="4038600" cy="584200"/>
          </a:xfrm>
          <a:prstGeom prst="rect">
            <a:avLst/>
          </a:prstGeom>
          <a:solidFill>
            <a:srgbClr val="0D1B2A"/>
          </a:solidFill>
          <a:ln w="635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Num"/>
          <p:cNvSpPr/>
          <p:nvPr/>
        </p:nvSpPr>
        <p:spPr>
          <a:xfrm>
            <a:off x="4762500" y="2184400"/>
            <a:ext cx="304800" cy="3048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NumText"/>
          <p:cNvSpPr txBox="1"/>
          <p:nvPr/>
        </p:nvSpPr>
        <p:spPr>
          <a:xfrm>
            <a:off x="4762500" y="21844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15" name="TaskText"/>
          <p:cNvSpPr txBox="1"/>
          <p:nvPr/>
        </p:nvSpPr>
        <p:spPr>
          <a:xfrm>
            <a:off x="5181600" y="2082800"/>
            <a:ext cx="3352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Find 3 "neural network diagram" images via reverse image search</a:t>
            </a:r>
            <a:endParaRPr lang="en-US" sz="1400" dirty="0"/>
          </a:p>
        </p:txBody>
      </p:sp>
      <p:sp>
        <p:nvSpPr>
          <p:cNvPr id="116" name="Card"/>
          <p:cNvSpPr/>
          <p:nvPr/>
        </p:nvSpPr>
        <p:spPr>
          <a:xfrm>
            <a:off x="4648200" y="2667000"/>
            <a:ext cx="4038600" cy="584200"/>
          </a:xfrm>
          <a:prstGeom prst="rect">
            <a:avLst/>
          </a:prstGeom>
          <a:solidFill>
            <a:srgbClr val="0D1B2A"/>
          </a:solidFill>
          <a:ln w="635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Num"/>
          <p:cNvSpPr/>
          <p:nvPr/>
        </p:nvSpPr>
        <p:spPr>
          <a:xfrm>
            <a:off x="4762500" y="2819400"/>
            <a:ext cx="304800" cy="3048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NumText"/>
          <p:cNvSpPr txBox="1"/>
          <p:nvPr/>
        </p:nvSpPr>
        <p:spPr>
          <a:xfrm>
            <a:off x="4762500" y="28194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19" name="TaskText"/>
          <p:cNvSpPr txBox="1"/>
          <p:nvPr/>
        </p:nvSpPr>
        <p:spPr>
          <a:xfrm>
            <a:off x="5181600" y="2717800"/>
            <a:ext cx="3352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Ask Bing Copilot for a short poem about technology/Phycology </a:t>
            </a:r>
            <a:endParaRPr lang="en-US" sz="1400" dirty="0"/>
          </a:p>
        </p:txBody>
      </p:sp>
      <p:sp>
        <p:nvSpPr>
          <p:cNvPr id="120" name="Card"/>
          <p:cNvSpPr/>
          <p:nvPr/>
        </p:nvSpPr>
        <p:spPr>
          <a:xfrm>
            <a:off x="4648200" y="3302000"/>
            <a:ext cx="4038600" cy="584200"/>
          </a:xfrm>
          <a:prstGeom prst="rect">
            <a:avLst/>
          </a:prstGeom>
          <a:solidFill>
            <a:srgbClr val="0D1B2A"/>
          </a:solidFill>
          <a:ln w="635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Num"/>
          <p:cNvSpPr/>
          <p:nvPr/>
        </p:nvSpPr>
        <p:spPr>
          <a:xfrm>
            <a:off x="4762500" y="3454400"/>
            <a:ext cx="304800" cy="3048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NumText"/>
          <p:cNvSpPr txBox="1"/>
          <p:nvPr/>
        </p:nvSpPr>
        <p:spPr>
          <a:xfrm>
            <a:off x="4762500" y="34544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123" name="TaskText"/>
          <p:cNvSpPr txBox="1"/>
          <p:nvPr/>
        </p:nvSpPr>
        <p:spPr>
          <a:xfrm>
            <a:off x="5181600" y="3352800"/>
            <a:ext cx="3352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Use Google Scholar to find one academic paper on any topic</a:t>
            </a:r>
            <a:endParaRPr lang="en-US" sz="1400" dirty="0"/>
          </a:p>
        </p:txBody>
      </p:sp>
      <p:sp>
        <p:nvSpPr>
          <p:cNvPr id="127" name="TaskText"/>
          <p:cNvSpPr txBox="1"/>
          <p:nvPr/>
        </p:nvSpPr>
        <p:spPr>
          <a:xfrm>
            <a:off x="990600" y="3987800"/>
            <a:ext cx="7543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3531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7B"/>
                </a:solidFill>
              </a:rPr>
              <a:t>THE SEARCH ENGINE LANDSCAPE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🌐  Popular Search Engines Today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1:31–1:38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743200" cy="15361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2743200" cy="4572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75488" y="14264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Google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" y="1901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Market share: ~90%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Global default — largest index, most features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743200" cy="15361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46120" y="1371600"/>
            <a:ext cx="2743200" cy="457200"/>
          </a:xfrm>
          <a:prstGeom prst="rect">
            <a:avLst/>
          </a:prstGeom>
          <a:solidFill>
            <a:srgbClr val="00809D"/>
          </a:solidFill>
          <a:ln w="12700">
            <a:solidFill>
              <a:srgbClr val="0080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355848" y="14264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355848" y="1901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Market share: ~4%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355848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Microsoft-powered, built-in Copilot AI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743200" cy="15361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1371600"/>
            <a:ext cx="2743200" cy="457200"/>
          </a:xfrm>
          <a:prstGeom prst="rect">
            <a:avLst/>
          </a:prstGeom>
          <a:solidFill>
            <a:srgbClr val="6001D2"/>
          </a:solidFill>
          <a:ln w="12700">
            <a:solidFill>
              <a:srgbClr val="6001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236208" y="14264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Yahoo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36208" y="1901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Market share: ~1.5%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36208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Runs on Bing's index under the hood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2743200" cy="15361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2743200" cy="457200"/>
          </a:xfrm>
          <a:prstGeom prst="rect">
            <a:avLst/>
          </a:prstGeom>
          <a:solidFill>
            <a:srgbClr val="DE5833"/>
          </a:solidFill>
          <a:ln w="12700">
            <a:solidFill>
              <a:srgbClr val="DE5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75488" y="31181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DuckDuckGo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" y="3593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Market share: ~0.8%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" y="3886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Privacy-first — does not track your searches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46120" y="3063240"/>
            <a:ext cx="2743200" cy="15361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46120" y="3063240"/>
            <a:ext cx="2743200" cy="457200"/>
          </a:xfrm>
          <a:prstGeom prst="rect">
            <a:avLst/>
          </a:prstGeom>
          <a:solidFill>
            <a:srgbClr val="2932E1"/>
          </a:solidFill>
          <a:ln w="12700">
            <a:solidFill>
              <a:srgbClr val="2932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3355848" y="31181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Baidu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355848" y="3593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Market share: ~0.5%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355848" y="3886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Dominant search engine in China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26480" y="3063240"/>
            <a:ext cx="2743200" cy="15361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26480" y="3063240"/>
            <a:ext cx="2743200" cy="4572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236208" y="31181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Yandex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236208" y="3593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Market share: ~0.4%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236208" y="3886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Most popular in Russia and Central Asia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18823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-548640"/>
            <a:ext cx="2926080" cy="29260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329184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3200400" y="4572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☕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600" dirty="0">
                <a:solidFill>
                  <a:srgbClr val="F5C518"/>
                </a:solidFill>
              </a:rPr>
              <a:t>BREAK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</a:rPr>
              <a:t>10 Minutes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3063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Returning at 1:48 (elapsed time)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Stand up  ·  Stretch  ·  Hydrate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4069080"/>
            <a:ext cx="6766560" cy="914400"/>
          </a:xfrm>
          <a:prstGeom prst="rect">
            <a:avLst/>
          </a:prstGeom>
          <a:solidFill>
            <a:srgbClr val="0C6968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371600" y="4251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Coming up next PART 2: ChatGPT, Claude, Gemini &amp; Grok — one at a time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07230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548640" y="-548640"/>
            <a:ext cx="3200400" cy="3200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2743200"/>
            <a:ext cx="2926080" cy="29260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600" dirty="0">
                <a:solidFill>
                  <a:srgbClr val="F5C518"/>
                </a:solidFill>
              </a:rPr>
              <a:t>PART 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AI Platforms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DE0F5"/>
                </a:solidFill>
              </a:rPr>
              <a:t>Search Capabilities, Comparison &amp; Platform-Specific Prompting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7B3FA0"/>
                </a:solidFill>
              </a:rPr>
              <a:t>BEYOND SEARCH — AI ASSISTANTS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🤖  Meet the AI Chat Assistants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1:48–1:53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80160"/>
            <a:ext cx="4160520" cy="2606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395020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57200" y="39502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ChatGPT — OpenAI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1280160"/>
            <a:ext cx="4160520" cy="2606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09160" y="3950208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4800600" y="39502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Claude — Anthropic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50292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E4A"/>
                </a:solidFill>
              </a:rPr>
              <a:t>💡  Both are "large language models" trained on massive amounts of text to understand and generate human-like responses.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04458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7B3FA0"/>
                </a:solidFill>
              </a:rPr>
              <a:t>BEYOND SEARCH — AI ASSISTANTS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</a:rPr>
              <a:t>🤖  Gemini, Grok &amp; More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1:53–1:58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80160"/>
            <a:ext cx="4160520" cy="2606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3950208"/>
            <a:ext cx="2743200" cy="329184"/>
          </a:xfrm>
          <a:prstGeom prst="roundRect">
            <a:avLst>
              <a:gd name="adj" fmla="val 22222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57200" y="39502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Gemini — Google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1280160"/>
            <a:ext cx="4160520" cy="2606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09160" y="3950208"/>
            <a:ext cx="2743200" cy="329184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4800600" y="39502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Grok — xAI (Elon Musk)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50292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🌍  Others worth knowing: Microsoft Copilot (built into Bing &amp; Office), Meta AI (in WhatsApp/Instagram), DeepSeek, and Perplexity (an AI-powered search engine).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33318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7B3FA0"/>
                </a:solidFill>
              </a:rPr>
              <a:t>PROMPT ENGINEERING — PART 1 OF 2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E4A"/>
                </a:solidFill>
              </a:rPr>
              <a:t>✍️  What is Prompt Engineering?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1:58–2:03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8412480" cy="77724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1371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Prompt Engineering = the skill of writing clear instructions to get the BEST possible response from an AI assistant.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251960" cy="10789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02920" y="2404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3591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Be Specific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791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"Write a 200-word email" beats "write an email"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00600" y="2240280"/>
            <a:ext cx="4251960" cy="10789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937760" y="2404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23591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Give a Role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26791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"Act as a professor grading this essay..." improves tone/quality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4251960" cy="10789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02920" y="3639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5935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Provide Context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9136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Share background info the AI needs to answer well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00600" y="3474720"/>
            <a:ext cx="4251960" cy="1078992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937760" y="3639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35935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Iterate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39136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A8D"/>
                </a:solidFill>
              </a:rPr>
              <a:t>Refine your prompt based on the first response you get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7573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7B3FA0"/>
                </a:solidFill>
              </a:rPr>
              <a:t>PROMPT ENGINEERING — PART 2 OF 2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E4A"/>
                </a:solidFill>
              </a:rPr>
              <a:t>✍️  Weak Prompt vs Strong Prompt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2:03–2:08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4023360" cy="1508760"/>
          </a:xfrm>
          <a:prstGeom prst="rect">
            <a:avLst/>
          </a:prstGeom>
          <a:solidFill>
            <a:srgbClr val="FFF0F0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</a:rPr>
              <a:t>❌ WEAK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6916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0D1B2A"/>
                </a:solidFill>
              </a:rPr>
              <a:t>"help me study"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4023360" cy="1508760"/>
          </a:xfrm>
          <a:prstGeom prst="rect">
            <a:avLst/>
          </a:prstGeom>
          <a:solidFill>
            <a:srgbClr val="F0FBF6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89204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7D46"/>
                </a:solidFill>
              </a:rPr>
              <a:t>✅ STRONG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916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D1B2A"/>
                </a:solidFill>
              </a:rPr>
              <a:t>"Act as a tutor. Quiz me with 5 multiple-choice questions on Chapter 2: Hardware, and explain each answer."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023360" cy="1508760"/>
          </a:xfrm>
          <a:prstGeom prst="rect">
            <a:avLst/>
          </a:prstGeom>
          <a:solidFill>
            <a:srgbClr val="FFF0F0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</a:rPr>
              <a:t>❌ WEAK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383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0D1B2A"/>
                </a:solidFill>
              </a:rPr>
              <a:t>"write an email"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4023360" cy="1508760"/>
          </a:xfrm>
          <a:prstGeom prst="rect">
            <a:avLst/>
          </a:prstGeom>
          <a:solidFill>
            <a:srgbClr val="F0FBF6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892040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7D46"/>
                </a:solidFill>
              </a:rPr>
              <a:t>✅ STRONG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3832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D1B2A"/>
                </a:solidFill>
              </a:rPr>
              <a:t>"Write a formal 100-word email to my professor requesting a 3-day extension on my ICT assignment due to illness."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27587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7B3FA0"/>
                </a:solidFill>
              </a:rPr>
              <a:t>AI PLATFORMS VS TRADITIONAL SEARCH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</a:rPr>
              <a:t>🆚  How AI Search Really Compares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2:08–2:13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B8D4"/>
                </a:solidFill>
              </a:rPr>
              <a:t>🔍  TRADITIONAL SEARCH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783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✅  Shows many independent sources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331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✅  You control which link to trust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880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✅  Great for live prices/news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429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❌  You do the reading &amp; synthesis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977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❌  Takes longer to compare info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80060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A0"/>
                </a:solidFill>
              </a:rPr>
              <a:t>🤖  AI PLATFORM SEARCH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783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D1B2A"/>
                </a:solidFill>
              </a:rPr>
              <a:t>✅  Synthesizes info into ONE answer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331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D1B2A"/>
                </a:solidFill>
              </a:rPr>
              <a:t>✅  Conversational follow-up questions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2880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D1B2A"/>
                </a:solidFill>
              </a:rPr>
              <a:t>✅  Explains reasoning, not just facts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3429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D1B2A"/>
                </a:solidFill>
              </a:rPr>
              <a:t>❌  Can hallucinate false information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3977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D1B2A"/>
                </a:solidFill>
              </a:rPr>
              <a:t>❌  Not all platforms cite sources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52297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13880" y="6223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913880" y="6223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ChatGPT — OpenAI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E4A"/>
                </a:solidFill>
              </a:rPr>
              <a:t>💬  ChatGPT: Style &amp; Tips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12280" y="155448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812280" y="1554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2:13–2:17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80160"/>
            <a:ext cx="5120640" cy="274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23560" y="1280160"/>
            <a:ext cx="315468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760720" y="13335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A37F"/>
                </a:solidFill>
              </a:rPr>
              <a:t>🔎 Search Capability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6642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Has a built-in "Search the web" mode — browses live and shows clickable citations when enabled.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2395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A37F"/>
                </a:solidFill>
              </a:rPr>
              <a:t>✍️ Its Prompting Style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760720" y="275183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Best with conversational, multi-turn prompts. Supports "Custom Instructions" so it remembers your preferences across chats.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3616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0A37F"/>
                </a:solidFill>
              </a:rPr>
              <a:t>💡 Tip: ask it to "browse the web" for anything time-sensitive.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0292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Good vs Traditional Search: excellent for versatile tasks (code, essays, ideas) — but weaker than Google for very recent breaking news unless browsing is manually enabled.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11133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6527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949440" y="6527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Claude — Anthropic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E4A"/>
                </a:solidFill>
              </a:rPr>
              <a:t>📄  Claude: Style &amp; Tips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769100" y="1955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69100" y="1955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2:17–2:21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80160"/>
            <a:ext cx="5120640" cy="274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23560" y="1280160"/>
            <a:ext cx="3154680" cy="288036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760720" y="13081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6442"/>
                </a:solidFill>
              </a:rPr>
              <a:t>🔎 Search Capability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6642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Can search the web when needed, but truly excels at analyzing LONG documents — paste in a 50-page PDF and ask questions.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25049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6442"/>
                </a:solidFill>
              </a:rPr>
              <a:t>✍️ Its Prompting Style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760720" y="282295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Responds well to clearly STRUCTURED prompts — using labeled sections or tags helps it follow complex, multi-part instructions precisely.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37261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6442"/>
                </a:solidFill>
              </a:rPr>
              <a:t>💡 Tip: paste your document/notes for deep analysis.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0292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Good vs Traditional Search: unmatched for research synthesis and careful writing — but less suited than Google for quick live facts like prices or scores.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43020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6527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949440" y="6527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Gemini — Google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E4A"/>
                </a:solidFill>
              </a:rPr>
              <a:t>🌐  Gemini: Style &amp; Tips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774180" y="2209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74180" y="2209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2:21–2:25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80160"/>
            <a:ext cx="5120640" cy="27432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65760" y="40416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🖼 "Grounding": Gemini shows real, clickable web sources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23560" y="1280160"/>
            <a:ext cx="31546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76072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85F4"/>
                </a:solidFill>
              </a:rPr>
              <a:t>🔎 Search Capability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16642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Directly connected to live Google Search ("grounding") — shows real source chips, great for current/factual info.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760720" y="24338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85F4"/>
                </a:solidFill>
              </a:rPr>
              <a:t>✍️ Its Prompting Style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273913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Multimodal by design — upload an image, PDF, or even video and ask questions about it directly.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3505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285F4"/>
                </a:solidFill>
              </a:rPr>
              <a:t>💡 Tip: say "search the web for..." for grounded results.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502920" y="43708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Good vs Traditional Search: best AI option for factual/current questions since it IS built on Google Search — closest AI replacement for a quick Google search.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58804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6273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949440" y="6273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Grok — xAI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E4A"/>
                </a:solidFill>
              </a:rPr>
              <a:t>𝕏  Grok: Style &amp; Tips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786880" y="2336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86880" y="2336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2:25–2:29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80160"/>
            <a:ext cx="5120640" cy="27432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65760" y="40416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🖼 Grok reading live X (Twitter) posts to answer in real time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23560" y="1280160"/>
            <a:ext cx="3154680" cy="274320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760720" y="13335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🔎 Search Capability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16642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Unique real-time access to X (Twitter) posts — knows about trending topics and breaking news as they happen.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760720" y="24592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✍️ Its Prompting Style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280263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Casual, direct prompts work well. Less filtered tone than others, so it can be blunter with opinions and humor.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35433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1B2A"/>
                </a:solidFill>
              </a:rPr>
              <a:t>💡 Tip: ask "what's trending right now?" for live results.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502920" y="43708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Good vs Traditional Search: best AI option for social trends/current public discussion — but not designed for academic or formal research citations.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25820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7B3FA0"/>
                </a:solidFill>
              </a:rPr>
              <a:t>SIDE-BY-SIDE: ALL 4 AI PLATFORMS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E4A"/>
                </a:solidFill>
              </a:rPr>
              <a:t>📊  Which AI Wins for Which Job?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2:29–2:34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210312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65760" y="1298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Best For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68880" y="1298448"/>
            <a:ext cx="155448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468880" y="1298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ChatGPT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23360" y="1298448"/>
            <a:ext cx="155448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023360" y="1298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Claude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77840" y="1298448"/>
            <a:ext cx="155448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577840" y="1298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Gemini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32320" y="1298448"/>
            <a:ext cx="155448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132320" y="1298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Grok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1664208"/>
            <a:ext cx="21031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65760" y="1664208"/>
            <a:ext cx="2103120" cy="420624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Live web citations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468880" y="1664208"/>
            <a:ext cx="15544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2468880" y="16642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✓ (browse mode)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023360" y="1664208"/>
            <a:ext cx="15544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023360" y="16642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✓ (limited)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77840" y="1664208"/>
            <a:ext cx="15544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577840" y="16642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7D46"/>
                </a:solidFill>
              </a:rPr>
              <a:t>🏆 Always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32320" y="1664208"/>
            <a:ext cx="15544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132320" y="16642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✓ (X only)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2084832"/>
            <a:ext cx="2103120" cy="420624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365760" y="2084832"/>
            <a:ext cx="2103120" cy="420624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Long document analysis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468880" y="2084832"/>
            <a:ext cx="1554480" cy="420624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2468880" y="20848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Good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023360" y="2084832"/>
            <a:ext cx="1554480" cy="420624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023360" y="20848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7D46"/>
                </a:solidFill>
              </a:rPr>
              <a:t>🏆 Best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577840" y="2084832"/>
            <a:ext cx="1554480" cy="420624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5577840" y="20848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Good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132320" y="2084832"/>
            <a:ext cx="1554480" cy="420624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132320" y="20848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Basic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2505456"/>
            <a:ext cx="21031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365760" y="2505456"/>
            <a:ext cx="2103120" cy="420624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Real-time trends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468880" y="2505456"/>
            <a:ext cx="15544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2468880" y="250545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0D1B2A"/>
                </a:solidFill>
              </a:rPr>
              <a:t>No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4023360" y="2505456"/>
            <a:ext cx="15544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4023360" y="250545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No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577840" y="2505456"/>
            <a:ext cx="15544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5577840" y="250545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Some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132320" y="2505456"/>
            <a:ext cx="15544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7132320" y="250545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7D46"/>
                </a:solidFill>
              </a:rPr>
              <a:t>🏆 Best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65760" y="2926080"/>
            <a:ext cx="2103120" cy="420624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365760" y="2926080"/>
            <a:ext cx="2103120" cy="420624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Multimodal (image/video)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2468880" y="2926080"/>
            <a:ext cx="1554480" cy="420624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2468880" y="29260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Yes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023360" y="2926080"/>
            <a:ext cx="1554480" cy="420624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4023360" y="29260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Yes (images)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5577840" y="2926080"/>
            <a:ext cx="1554480" cy="420624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5577840" y="29260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7D46"/>
                </a:solidFill>
              </a:rPr>
              <a:t>🏆 Best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7132320" y="2926080"/>
            <a:ext cx="1554480" cy="420624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7132320" y="29260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Yes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65760" y="3346704"/>
            <a:ext cx="21031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365760" y="3346704"/>
            <a:ext cx="2103120" cy="420624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Coding help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2468880" y="3346704"/>
            <a:ext cx="15544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 txBox="1"/>
          <p:nvPr/>
        </p:nvSpPr>
        <p:spPr>
          <a:xfrm>
            <a:off x="2468880" y="334670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7D46"/>
                </a:solidFill>
              </a:rPr>
              <a:t>🏆 Excellent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4023360" y="3346704"/>
            <a:ext cx="15544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 txBox="1"/>
          <p:nvPr/>
        </p:nvSpPr>
        <p:spPr>
          <a:xfrm>
            <a:off x="4023360" y="334670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Excellent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577840" y="3346704"/>
            <a:ext cx="15544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 txBox="1"/>
          <p:nvPr/>
        </p:nvSpPr>
        <p:spPr>
          <a:xfrm>
            <a:off x="5577840" y="334670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Good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7132320" y="3346704"/>
            <a:ext cx="15544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 txBox="1"/>
          <p:nvPr/>
        </p:nvSpPr>
        <p:spPr>
          <a:xfrm>
            <a:off x="7132320" y="334670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Good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365760" y="3767328"/>
            <a:ext cx="2103120" cy="420624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 txBox="1"/>
          <p:nvPr/>
        </p:nvSpPr>
        <p:spPr>
          <a:xfrm>
            <a:off x="365760" y="3767328"/>
            <a:ext cx="2103120" cy="420624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Casual/witty tone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2468880" y="3767328"/>
            <a:ext cx="1554480" cy="420624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 txBox="1"/>
          <p:nvPr/>
        </p:nvSpPr>
        <p:spPr>
          <a:xfrm>
            <a:off x="2468880" y="376732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Adjustable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4023360" y="3767328"/>
            <a:ext cx="1554480" cy="420624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 txBox="1"/>
          <p:nvPr/>
        </p:nvSpPr>
        <p:spPr>
          <a:xfrm>
            <a:off x="4023360" y="376732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Professional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5577840" y="3767328"/>
            <a:ext cx="1554480" cy="420624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 txBox="1"/>
          <p:nvPr/>
        </p:nvSpPr>
        <p:spPr>
          <a:xfrm>
            <a:off x="5577840" y="376732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Adjustable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7132320" y="3767328"/>
            <a:ext cx="1554480" cy="420624"/>
          </a:xfrm>
          <a:prstGeom prst="rect">
            <a:avLst/>
          </a:prstGeom>
          <a:solidFill>
            <a:srgbClr val="F2F7FB"/>
          </a:solidFill>
          <a:ln w="3810">
            <a:solidFill>
              <a:srgbClr val="D9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 txBox="1"/>
          <p:nvPr/>
        </p:nvSpPr>
        <p:spPr>
          <a:xfrm>
            <a:off x="7132320" y="376732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7D46"/>
                </a:solidFill>
              </a:rPr>
              <a:t>🏆 Built-in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92768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7B3FA0"/>
                </a:solidFill>
              </a:rPr>
              <a:t>TIPS THAT WORK ACROSS ALL PLATFORMS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A2E4A"/>
                </a:solidFill>
              </a:rPr>
              <a:t>💡  5 Tips for Better AI Search Results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2:34–2:38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8412480" cy="56692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362456"/>
            <a:ext cx="384048" cy="384048"/>
          </a:xfrm>
          <a:prstGeom prst="ellipse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3350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</a:rPr>
              <a:t>Ask it to cite sources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13350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"...and show me your sources" reduces made-up facts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1956816"/>
            <a:ext cx="8412480" cy="56692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2020824"/>
            <a:ext cx="384048" cy="384048"/>
          </a:xfrm>
          <a:prstGeom prst="ellipse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1993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</a:rPr>
              <a:t>Specify recency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19933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"as of 2026" or "check the latest" nudges it to search fresh info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615184"/>
            <a:ext cx="8412480" cy="56692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2679192"/>
            <a:ext cx="384048" cy="384048"/>
          </a:xfrm>
          <a:prstGeom prst="ellipse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0292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</a:rPr>
              <a:t>Give context/role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2651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"As a psychology student..." tailors depth and vocabulary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8412480" cy="56692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" y="3337560"/>
            <a:ext cx="384048" cy="384048"/>
          </a:xfrm>
          <a:prstGeom prst="ellipse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0292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3310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</a:rPr>
              <a:t>Ask to compare, not just answer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33101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"Compare 3 viewpoints on..." avoids one-sided answers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3931920"/>
            <a:ext cx="8412480" cy="566928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2920" y="3995928"/>
            <a:ext cx="384048" cy="384048"/>
          </a:xfrm>
          <a:prstGeom prst="ellipse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0292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39684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</a:rPr>
              <a:t>Always verify critical facts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39684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Cross-check anything important with Google or Perplexity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45608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5BB8D4">
              <a:alpha val="15000"/>
            </a:srgbClr>
          </a:solidFill>
          <a:ln w="12700">
            <a:solidFill>
              <a:srgbClr val="5BB8D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19456"/>
            <a:ext cx="2103120" cy="329184"/>
          </a:xfrm>
          <a:prstGeom prst="roundRect">
            <a:avLst>
              <a:gd name="adj" fmla="val 25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194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15 Minutes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B8D4"/>
                </a:solidFill>
              </a:rPr>
              <a:t>PROMPTING WORKSHOP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93268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Same Question, Four Platforms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9E3ED"/>
                </a:solidFill>
              </a:rPr>
              <a:t>If you have access, ask this exact question on 2 different AI platforms and compare: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94360" y="2331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C518"/>
                </a:solidFill>
              </a:rPr>
              <a:t>"What are the most in-demand tech skills for 2026, and cite your sources"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0175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☐  Did it cite real sources?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94360" y="3520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☐  Was the answer current/up-to-date?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40233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☐  Which platform's style did you prefer?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C518"/>
                </a:solidFill>
              </a:rPr>
              <a:t>🏆  Share your comparison with the class for bonus points!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7B"/>
                </a:solidFill>
              </a:rPr>
              <a:t>TODAY'S KEY TAKEAWAYS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E4A"/>
                </a:solidFill>
              </a:rPr>
              <a:t>🎯  8 Big Ideas From Today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2:53–2:58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4251960" cy="7772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1353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1325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Google &amp; Bing keep evolving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159105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AI Overviews, Lens, Copilot — search is not static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1280160"/>
            <a:ext cx="4251960" cy="7772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92040" y="1353312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92040" y="1353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1325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Compare by facility, not brand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159105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Pick the tool with the specific feature you need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176272"/>
            <a:ext cx="4251960" cy="7772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249424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57200" y="2249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2221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ChatGPT = versatile generalist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248716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Great all-rounder, browse mode for live info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2176272"/>
            <a:ext cx="4251960" cy="7772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92040" y="2249424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892040" y="2249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2221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Claude = document &amp; writing expert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248716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Best for long text analysis and structured prompts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3072384"/>
            <a:ext cx="4251960" cy="7772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3145536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57200" y="3145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3118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Gemini = closest to real Google Search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33832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Grounded in live web results with real citations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00600" y="3072384"/>
            <a:ext cx="4251960" cy="7772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92040" y="3145536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892040" y="3145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303520" y="3118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Grok = real-time social pulse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5303520" y="33832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Unmatched for live X/Twitter trends and news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3968496"/>
            <a:ext cx="4251960" cy="7772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7200" y="4041648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457200" y="4041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68680" y="40142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5 universal tips work everywhere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68680" y="427939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Ask for sources, recency, context, comparison, verify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800600" y="3968496"/>
            <a:ext cx="4251960" cy="777240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892040" y="4041648"/>
            <a:ext cx="320040" cy="320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4892040" y="4041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303520" y="40142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A"/>
                </a:solidFill>
              </a:rPr>
              <a:t>Use search AND AI together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5303520" y="427939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D"/>
                </a:solidFill>
              </a:rPr>
              <a:t>They are complementary, not competing tools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34097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E7C7B"/>
                </a:solidFill>
              </a:rPr>
              <a:t>EXIT TICKET — BEFORE YOU LEAVE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A2E4A"/>
                </a:solidFill>
              </a:rPr>
              <a:t>Answer These 3 Questions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75120" y="182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⏱ 2:58–3:00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8412480" cy="1042416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135331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E3ED"/>
                </a:solidFill>
              </a:rPr>
              <a:t>01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37160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2E4A"/>
                </a:solidFill>
              </a:rPr>
              <a:t>Name ONE new facility you learned about today (Google or Bing).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874520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e.g. AI Overviews, Google Lens, Copilot Image Creator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8412480" cy="1042416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02920" y="25603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E3ED"/>
                </a:solidFill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57860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2E4A"/>
                </a:solidFill>
              </a:rPr>
              <a:t>Which AI platform (ChatGPT/Claude/Gemini/Grok) fits your needs best, and why?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08152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Reference its specific search style or strength.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694176"/>
            <a:ext cx="8412480" cy="1042416"/>
          </a:xfrm>
          <a:prstGeom prst="rect">
            <a:avLst/>
          </a:prstGeom>
          <a:solidFill>
            <a:srgbClr val="F2F7FB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02920" y="376732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E3ED"/>
                </a:solidFill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785616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2E4A"/>
                </a:solidFill>
              </a:rPr>
              <a:t>What is ONE question you still have about search engines or AI platforms?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288536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</a:rPr>
              <a:t>I will answer it at the start of next class.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solidFill>
            <a:srgbClr val="1A2E4A"/>
          </a:solidFill>
          <a:ln w="6350">
            <a:solidFill>
              <a:srgbClr val="D9E3ED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0292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📅  Next Class (Week 4): Gmail, Outlook, Yahoo Mail &amp; Professional Email Etiquette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298331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A29A41C-29A0-4739-8A81-A095E7FB0B54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93b0ce6e-bfda-41c1-873e-e024cb4646b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3017</Words>
  <Application>Microsoft Office PowerPoint</Application>
  <PresentationFormat>On-screen Show (16:9)</PresentationFormat>
  <Paragraphs>512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FAHEEM SHAUKAT</cp:lastModifiedBy>
  <cp:revision>9</cp:revision>
  <dcterms:created xsi:type="dcterms:W3CDTF">2026-09-13T13:30:50Z</dcterms:created>
  <dcterms:modified xsi:type="dcterms:W3CDTF">2026-09-13T20:10:21Z</dcterms:modified>
</cp:coreProperties>
</file>