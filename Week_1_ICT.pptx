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80" r:id="rId6"/>
    <p:sldId id="261" r:id="rId7"/>
    <p:sldId id="27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12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to Bahria University. Introduce the course and yourself briefly before diving into details on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warmly. Emphasize that email is best contact method since you are visiting faculty without fixed office hours. Encourage students to ask questions during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no prerequisite means everyone starts fresh. Point out GitHub repo and LMS as the two places to always check for materials. Mention email as primary contact given no office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75% attendance rule firmly — this is university policy, not optional. Walk through the weightage bar chart. Final exam carries the most weight, so remind students to prepare consistently throughout, not just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pie chart first — visual breakdown of where marks come from. Then the grade table — explain that this is indicative and relative grading may adjust based on class performance, which is standard university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person touches 8-12 devices before 9am. Write numbers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keyboard image — real INPUT device. Ask: "Is a book ICT?" No. "Is WhatsApp?"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"Which of these 6 will YOU use most in your psychology career?"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image. Students can SEE real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already own a complete computer. Every hardware category fits in their pocket.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 to think, then call on 4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shows real OS logos. System software = nervous system. Application software =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by one. Students call out System/Application.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 the break!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image. The road analogy lands well in Pakistani 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University portal login = Intranet. External journal link =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image — this is what the cloud actually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answer for thesis storage: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hands: who uses Google Drive? OneDrive? Dropbox?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minutes to fill, 3 minutes for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Smartphone row is the aha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 students per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200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457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B8D4"/>
                </a:solidFill>
              </a:rPr>
              <a:t>BAHRIA UNIVERSITY, ISLAMABAD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731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B8D4"/>
                </a:solidFill>
              </a:rPr>
              <a:t>ICT 201  ·  CLASS 1  ·  WEEK 1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64792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Welcome to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the Digital World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291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3ED"/>
                </a:solidFill>
              </a:rPr>
              <a:t>Applications of Information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3ED"/>
                </a:solidFill>
              </a:rPr>
              <a:t>and Communication Technologies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Instructor: Dr. Faheem Shaukat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274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SESSION ROADMAP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576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—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576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9555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—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9555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Course Info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13350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—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1335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Policy &amp; Grading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17145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0:00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17145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Hook — Devices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20939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0:15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20939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What is ICT?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577840" y="24734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0:45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6126480" y="24734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Hardware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28529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1:20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28529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Software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577840" y="32324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C518"/>
                </a:solidFill>
              </a:rPr>
              <a:t>1:45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6126480" y="32324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518"/>
                </a:solidFill>
              </a:rPr>
              <a:t>BREAK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577840" y="36118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1:55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6126480" y="3611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Networks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577840" y="39913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2:20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6126480" y="39913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Cloud Storage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577840" y="43708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2:40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6126480" y="4370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Activity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577840" y="47503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B8D4"/>
                </a:solidFill>
              </a:rPr>
              <a:t>2:55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6126480" y="47503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Exit Ticket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256032"/>
            <a:ext cx="548640" cy="548640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55280" y="3017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ABOUT YOUR INSTRUCTOR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Meet Your Instructor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743200" cy="356616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51560" y="1600200"/>
            <a:ext cx="1554480" cy="1554480"/>
          </a:xfrm>
          <a:prstGeom prst="ellipse">
            <a:avLst/>
          </a:prstGeom>
          <a:solidFill>
            <a:srgbClr val="0E7C7B"/>
          </a:solidFill>
          <a:ln w="25400">
            <a:solidFill>
              <a:srgbClr val="5B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51560" y="16002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/>
              <a:t>FS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54864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Dr. Faheem Shaukat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B8D4"/>
                </a:solidFill>
              </a:rPr>
              <a:t>Visiting Faculty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411480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📧 faheemshaukat3@gmail.com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1280160"/>
            <a:ext cx="530352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52044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023360" y="1344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Role at Bahria University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6276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Visiting Faculty — Dept. of Software Engineering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83280" y="2176272"/>
            <a:ext cx="530352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3520440" y="22677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Best way to reach me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023360" y="252374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Email is the most reliable way to contact me for questions or clarifications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383280" y="3072384"/>
            <a:ext cx="530352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3520440" y="31638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023360" y="3136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Availability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023360" y="34198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As a visiting faculty member, I do not hold regular office hours — but I am happy to discuss during class breaks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383280" y="3968496"/>
            <a:ext cx="530352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3520440" y="40599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4023360" y="4032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Open door policy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023360" y="43159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Any confusion about content, deadlines, or grading — please reach out. No question is too small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COURSE INFORMATION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Everything You Need to Know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206240" cy="19659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📌  Pre-requisite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727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None (N/A) — assumes no prior ICT background. Everyone starts equal.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3931920" cy="13716"/>
          </a:xfrm>
          <a:prstGeom prst="rect">
            <a:avLst/>
          </a:prstGeom>
          <a:solidFill>
            <a:srgbClr val="D9E3ED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066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📚  Recommended Textbooks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3317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2A"/>
                </a:solidFill>
              </a:rPr>
              <a:t>• Discovering Computers — Vermaat, Shaffer &amp; Freund</a:t>
            </a:r>
            <a:endParaRPr lang="en-US" sz="78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5008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2A"/>
                </a:solidFill>
              </a:rPr>
              <a:t>• GO! with Microsoft Office — Gaskin, Vargas, McLellan</a:t>
            </a:r>
            <a:endParaRPr lang="en-US" sz="78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6700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2A"/>
                </a:solidFill>
              </a:rPr>
              <a:t>• Exploring Microsoft Office — Grauer &amp; Poatsy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83921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2A"/>
                </a:solidFill>
              </a:rPr>
              <a:t>• Computing Essentials — Morley &amp; Parker</a:t>
            </a:r>
            <a:endParaRPr lang="en-US" sz="78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00837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2A"/>
                </a:solidFill>
              </a:rPr>
              <a:t>• Technology in Action — Evans, Martin &amp; Poatsy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709160" y="1207008"/>
            <a:ext cx="4069080" cy="196596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846320" y="13167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8D4"/>
                </a:solidFill>
              </a:rPr>
              <a:t>🆘  Need Help or Clarification?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627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Email me anytime: faheemshaukat3@gmail.com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9202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9E3ED"/>
                </a:solidFill>
              </a:rPr>
              <a:t>I am visiting faculty, so I do not have fixed office hours. During class breaks is a great time to discuss questions in person.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7614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B8D4"/>
                </a:solidFill>
              </a:rPr>
              <a:t>Any point of clearance — reach out, don't hesitate!</a:t>
            </a:r>
            <a:endParaRPr lang="en-US" sz="9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3364992"/>
            <a:ext cx="5120640" cy="157276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623560" y="3364992"/>
            <a:ext cx="3154680" cy="1572768"/>
          </a:xfrm>
          <a:prstGeom prst="rect">
            <a:avLst/>
          </a:prstGeom>
          <a:solidFill>
            <a:srgbClr val="0E7C7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760720" y="3456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📂  Where to Find Course Content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886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✅  LMS (official platform)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760720" y="41422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✅  github.com/faheemshaukat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5F0EE"/>
                </a:solidFill>
              </a:rPr>
              <a:t>Check both regularly for updates!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392B"/>
                </a:solidFill>
              </a:rPr>
              <a:t>COURSE POLICY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Attendance &amp; Grading Weightage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C0392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⚠️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25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75% Attendance is MANDATORY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288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E5E0"/>
                </a:solidFill>
              </a:rPr>
              <a:t>Falling below 75% may result in you being barred from sitting the final exam — per university policy.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450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Assessment Weightage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Quizzes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889504"/>
            <a:ext cx="5486400" cy="274320"/>
          </a:xfrm>
          <a:prstGeom prst="rect">
            <a:avLst/>
          </a:prstGeom>
          <a:solidFill>
            <a:srgbClr val="D9E3ED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2889504"/>
            <a:ext cx="2057400" cy="27432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86384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B8D4"/>
                </a:solidFill>
              </a:rPr>
              <a:t>15%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Assignments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3346704"/>
            <a:ext cx="5486400" cy="274320"/>
          </a:xfrm>
          <a:prstGeom prst="rect">
            <a:avLst/>
          </a:prstGeom>
          <a:solidFill>
            <a:srgbClr val="D9E3ED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0" y="3346704"/>
            <a:ext cx="274870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86384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20%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Mid-Term Exam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3803904"/>
            <a:ext cx="5486400" cy="274320"/>
          </a:xfrm>
          <a:prstGeom prst="rect">
            <a:avLst/>
          </a:prstGeom>
          <a:solidFill>
            <a:srgbClr val="D9E3ED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3803904"/>
            <a:ext cx="356616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86384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25%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Final-Term Exam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4261104"/>
            <a:ext cx="5486400" cy="274320"/>
          </a:xfrm>
          <a:prstGeom prst="rect">
            <a:avLst/>
          </a:prstGeom>
          <a:solidFill>
            <a:srgbClr val="D9E3ED"/>
          </a:solidFill>
          <a:ln w="1270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0" y="4261104"/>
            <a:ext cx="5486400" cy="27432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86384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3FA0"/>
                </a:solidFill>
              </a:rPr>
              <a:t>40%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Total: 15% Quizzes + 15% Assignments + 30% Mid-Term + 40% Final-Term = 100%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GRADING SCHEME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How Your Final Grade is Calculated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70432"/>
            <a:ext cx="420624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170432"/>
            <a:ext cx="777240" cy="2468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754880" y="117043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Grade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532120" y="1170432"/>
            <a:ext cx="777240" cy="2468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532120" y="117043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GP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309360" y="1170432"/>
            <a:ext cx="914400" cy="2468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309360" y="11704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LL 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223760" y="1170432"/>
            <a:ext cx="914400" cy="2468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223760" y="117043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UL %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54880" y="1417320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754880" y="1417320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46"/>
                </a:solidFill>
              </a:rPr>
              <a:t>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32120" y="1417320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532120" y="1417320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4.00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309360" y="1417320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309360" y="1417320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85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223760" y="1417320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223760" y="1417320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-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754880" y="1653235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754880" y="1653235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46"/>
                </a:solidFill>
              </a:rPr>
              <a:t>A-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32120" y="1653235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532120" y="1653235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3.67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309360" y="1653235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309360" y="1653235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80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223760" y="1653235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223760" y="1653235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85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754880" y="1889150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754880" y="1889150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7B"/>
                </a:solidFill>
              </a:rPr>
              <a:t>B+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532120" y="1889150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532120" y="1889150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3.33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309360" y="1889150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6309360" y="1889150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75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223760" y="1889150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7223760" y="1889150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80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754880" y="2125066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4754880" y="2125066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7B"/>
                </a:solidFill>
              </a:rPr>
              <a:t>B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532120" y="2125066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5532120" y="2125066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3.00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309360" y="2125066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6309360" y="2125066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71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223760" y="2125066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 txBox="1"/>
          <p:nvPr/>
        </p:nvSpPr>
        <p:spPr>
          <a:xfrm>
            <a:off x="7223760" y="2125066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75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754880" y="2360981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4754880" y="2360981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B8D4"/>
                </a:solidFill>
              </a:rPr>
              <a:t>B-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532120" y="2360981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5532120" y="2360981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2.67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309360" y="2360981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6309360" y="2360981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68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7223760" y="2360981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7223760" y="2360981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71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4754880" y="2596896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4754880" y="2596896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C518"/>
                </a:solidFill>
              </a:rPr>
              <a:t>C+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532120" y="2596896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 txBox="1"/>
          <p:nvPr/>
        </p:nvSpPr>
        <p:spPr>
          <a:xfrm>
            <a:off x="5532120" y="2596896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2.33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6309360" y="2596896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 txBox="1"/>
          <p:nvPr/>
        </p:nvSpPr>
        <p:spPr>
          <a:xfrm>
            <a:off x="6309360" y="2596896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64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7223760" y="2596896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7223760" y="2596896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68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4754880" y="2832811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4754880" y="2832811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C518"/>
                </a:solidFill>
              </a:rPr>
              <a:t>C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5532120" y="2832811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5532120" y="2832811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2.00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6309360" y="2832811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 txBox="1"/>
          <p:nvPr/>
        </p:nvSpPr>
        <p:spPr>
          <a:xfrm>
            <a:off x="6309360" y="2832811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60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7223760" y="2832811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 txBox="1"/>
          <p:nvPr/>
        </p:nvSpPr>
        <p:spPr>
          <a:xfrm>
            <a:off x="7223760" y="2832811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64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4754880" y="3068726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 txBox="1"/>
          <p:nvPr/>
        </p:nvSpPr>
        <p:spPr>
          <a:xfrm>
            <a:off x="4754880" y="3068726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7A3A"/>
                </a:solidFill>
              </a:rPr>
              <a:t>C-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532120" y="3068726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 txBox="1"/>
          <p:nvPr/>
        </p:nvSpPr>
        <p:spPr>
          <a:xfrm>
            <a:off x="5532120" y="3068726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1.67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6309360" y="3068726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 txBox="1"/>
          <p:nvPr/>
        </p:nvSpPr>
        <p:spPr>
          <a:xfrm>
            <a:off x="6309360" y="3068726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57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223760" y="3068726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 txBox="1"/>
          <p:nvPr/>
        </p:nvSpPr>
        <p:spPr>
          <a:xfrm>
            <a:off x="7223760" y="3068726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60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4754880" y="3304642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 txBox="1"/>
          <p:nvPr/>
        </p:nvSpPr>
        <p:spPr>
          <a:xfrm>
            <a:off x="4754880" y="3304642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7A3A"/>
                </a:solidFill>
              </a:rPr>
              <a:t>D+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5532120" y="3304642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 txBox="1"/>
          <p:nvPr/>
        </p:nvSpPr>
        <p:spPr>
          <a:xfrm>
            <a:off x="5532120" y="3304642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1.33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6309360" y="3304642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 txBox="1"/>
          <p:nvPr/>
        </p:nvSpPr>
        <p:spPr>
          <a:xfrm>
            <a:off x="6309360" y="3304642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53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7223760" y="3304642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 txBox="1"/>
          <p:nvPr/>
        </p:nvSpPr>
        <p:spPr>
          <a:xfrm>
            <a:off x="7223760" y="3304642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57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4754880" y="3540557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 txBox="1"/>
          <p:nvPr/>
        </p:nvSpPr>
        <p:spPr>
          <a:xfrm>
            <a:off x="4754880" y="3540557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7A3A"/>
                </a:solidFill>
              </a:rPr>
              <a:t>D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5532120" y="3540557"/>
            <a:ext cx="77724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 txBox="1"/>
          <p:nvPr/>
        </p:nvSpPr>
        <p:spPr>
          <a:xfrm>
            <a:off x="5532120" y="3540557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1.00</a:t>
            </a:r>
            <a:endParaRPr lang="en-US" sz="800" dirty="0"/>
          </a:p>
        </p:txBody>
      </p:sp>
      <p:sp>
        <p:nvSpPr>
          <p:cNvPr id="91" name="Shape 88"/>
          <p:cNvSpPr/>
          <p:nvPr/>
        </p:nvSpPr>
        <p:spPr>
          <a:xfrm>
            <a:off x="6309360" y="3540557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 txBox="1"/>
          <p:nvPr/>
        </p:nvSpPr>
        <p:spPr>
          <a:xfrm>
            <a:off x="6309360" y="3540557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≥ 50</a:t>
            </a:r>
            <a:endParaRPr lang="en-US" sz="800" dirty="0"/>
          </a:p>
        </p:txBody>
      </p:sp>
      <p:sp>
        <p:nvSpPr>
          <p:cNvPr id="93" name="Shape 90"/>
          <p:cNvSpPr/>
          <p:nvPr/>
        </p:nvSpPr>
        <p:spPr>
          <a:xfrm>
            <a:off x="7223760" y="3540557"/>
            <a:ext cx="914400" cy="235915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 txBox="1"/>
          <p:nvPr/>
        </p:nvSpPr>
        <p:spPr>
          <a:xfrm>
            <a:off x="7223760" y="3540557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53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4754880" y="3776472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 txBox="1"/>
          <p:nvPr/>
        </p:nvSpPr>
        <p:spPr>
          <a:xfrm>
            <a:off x="4754880" y="3776472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</a:rPr>
              <a:t>F</a:t>
            </a:r>
            <a:endParaRPr lang="en-US" sz="950" dirty="0"/>
          </a:p>
        </p:txBody>
      </p:sp>
      <p:sp>
        <p:nvSpPr>
          <p:cNvPr id="97" name="Shape 94"/>
          <p:cNvSpPr/>
          <p:nvPr/>
        </p:nvSpPr>
        <p:spPr>
          <a:xfrm>
            <a:off x="5532120" y="3776472"/>
            <a:ext cx="77724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 txBox="1"/>
          <p:nvPr/>
        </p:nvSpPr>
        <p:spPr>
          <a:xfrm>
            <a:off x="5532120" y="3776472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0.00</a:t>
            </a:r>
            <a:endParaRPr lang="en-US" sz="800" dirty="0"/>
          </a:p>
        </p:txBody>
      </p:sp>
      <p:sp>
        <p:nvSpPr>
          <p:cNvPr id="99" name="Shape 96"/>
          <p:cNvSpPr/>
          <p:nvPr/>
        </p:nvSpPr>
        <p:spPr>
          <a:xfrm>
            <a:off x="6309360" y="3776472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7"/>
          <p:cNvSpPr txBox="1"/>
          <p:nvPr/>
        </p:nvSpPr>
        <p:spPr>
          <a:xfrm>
            <a:off x="6309360" y="3776472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-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223760" y="3776472"/>
            <a:ext cx="914400" cy="235915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9"/>
          <p:cNvSpPr txBox="1"/>
          <p:nvPr/>
        </p:nvSpPr>
        <p:spPr>
          <a:xfrm>
            <a:off x="7223760" y="3776472"/>
            <a:ext cx="91440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&lt; 50</a:t>
            </a:r>
            <a:endParaRPr lang="en-US" sz="800" dirty="0"/>
          </a:p>
        </p:txBody>
      </p:sp>
      <p:sp>
        <p:nvSpPr>
          <p:cNvPr id="103" name="Shape 100"/>
          <p:cNvSpPr/>
          <p:nvPr/>
        </p:nvSpPr>
        <p:spPr>
          <a:xfrm>
            <a:off x="4754880" y="4012387"/>
            <a:ext cx="777240" cy="235915"/>
          </a:xfrm>
          <a:prstGeom prst="rect">
            <a:avLst/>
          </a:prstGeom>
          <a:solidFill>
            <a:srgbClr val="1A2E4A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1"/>
          <p:cNvSpPr txBox="1"/>
          <p:nvPr/>
        </p:nvSpPr>
        <p:spPr>
          <a:xfrm>
            <a:off x="4754880" y="4012387"/>
            <a:ext cx="77724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5532120" y="4012387"/>
            <a:ext cx="3383280" cy="235915"/>
          </a:xfrm>
          <a:prstGeom prst="rect">
            <a:avLst/>
          </a:prstGeom>
          <a:solidFill>
            <a:srgbClr val="1A2E4A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3"/>
          <p:cNvSpPr txBox="1"/>
          <p:nvPr/>
        </p:nvSpPr>
        <p:spPr>
          <a:xfrm>
            <a:off x="5532120" y="4012387"/>
            <a:ext cx="338328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Withdrawn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365760" y="4343400"/>
            <a:ext cx="8412480" cy="530352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Text 105"/>
          <p:cNvSpPr txBox="1"/>
          <p:nvPr/>
        </p:nvSpPr>
        <p:spPr>
          <a:xfrm>
            <a:off x="502920" y="4389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💡  Official Bahria University grading system — LL = Lower Limit, UL = Upper Limit of marks range.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OPENING HOOK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0:10–0:25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94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00000"/>
                </a:solidFill>
              </a:rPr>
              <a:t>🤔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640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E4A"/>
                </a:solidFill>
              </a:rPr>
              <a:t>Before we start — answer honestly: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128016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261872"/>
            <a:ext cx="8229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"How many devices did you touch</a:t>
            </a:r>
            <a:endParaRPr lang="en-US" sz="2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before coming to class today?"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2697480" cy="21488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1️⃣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273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Count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8D"/>
                </a:solidFill>
              </a:rPr>
              <a:t>Think from the moment your alarm went off this morning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697480"/>
            <a:ext cx="2697480" cy="21488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3756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2️⃣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273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Share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8D"/>
                </a:solidFill>
              </a:rPr>
              <a:t>Tell your neighbour your number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697480"/>
            <a:ext cx="2697480" cy="21488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7220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3️⃣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273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Discuss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8D"/>
                </a:solidFill>
              </a:rPr>
              <a:t>Why do we depend on so many devices without thinking?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4736592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58000" y="4736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📊 Mentimeter Poll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51758-0EC1-3B45-4C48-6012E7339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7"/>
            <a:ext cx="9144000" cy="51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4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WHAT IS ICT? — PART 1 OF 2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The Definition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0:25–0:35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5303520" cy="109728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29844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ICT = Any technology that helps people COLLECT, STORE, PROCESS, or SHARE information — and COMMUNICATE with each other.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1207008"/>
            <a:ext cx="2834640" cy="1371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89320" y="2596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🖼 Real ICT Device: Keyboard (Input)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5760" y="2944368"/>
            <a:ext cx="2743200" cy="19659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2944368"/>
            <a:ext cx="27432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38912" y="298094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💾  INFORMATION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" y="34381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Data that has meaning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38912" y="3730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e.g. Patient records, class notes, survey results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46120" y="2944368"/>
            <a:ext cx="2743200" cy="19659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46120" y="2944368"/>
            <a:ext cx="27432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3319272" y="298094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📡  COMMUNICATION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319272" y="34381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Sending &amp; receiving data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319272" y="3730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e.g. Email, video call, social media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2944368"/>
            <a:ext cx="2743200" cy="19659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26480" y="2944368"/>
            <a:ext cx="27432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199632" y="298094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 TECHNOLOGY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199632" y="34381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Tools that make it possible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199632" y="37307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e.g. Phones, laptops, internet, apps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WHAT IS ICT? — PART 2 OF 2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Why ICT Matters — Especially for YOU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0:35–0:45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75488" y="13441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🧠  Psychology Research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167335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Google Scholar · SPSS · Survey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910328" y="13441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💬  Client Communication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167335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Zoom therapy · Email · Telecounseling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5488" y="2578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📊  Data &amp; Analysis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" y="29077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Excel · Google Forms · Statistical apps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46888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10328" y="2578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📚  Continuous Learning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10328" y="29077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Coursera · YouTube · Digital journals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75488" y="38130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🏥  Healthcare Integration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41422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Hospital software · Telemedicine · EHR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70332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910328" y="38130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🤝  Collaboration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10328" y="41422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Google Docs · Teams · Shared drives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2E4A"/>
                </a:solidFill>
              </a:rPr>
              <a:t>HARDWARE — PART 1 OF 3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The 4 Categories of Hardware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0:45–0:55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2560320" cy="1554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2816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📷 Input: Keyboard</a:t>
            </a: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63240" y="1234440"/>
            <a:ext cx="2560320" cy="1554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63240" y="2816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📷 Output: Monitor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3200400"/>
            <a:ext cx="2560320" cy="1554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5760" y="4773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📷 Processing: CPU Chip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63240" y="3200400"/>
            <a:ext cx="2560320" cy="1554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063240" y="4773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📷 Storage: USB &amp; SSD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5806440" y="1234440"/>
            <a:ext cx="3017520" cy="37947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594360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Quick Reference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897880" y="1755648"/>
            <a:ext cx="164592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6126480" y="1755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INPUT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6126480" y="1984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Keyboard · Mouse · Camera · Mic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5897880" y="2505456"/>
            <a:ext cx="164592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6126480" y="25054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</a:rPr>
              <a:t>OUTPUT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6126480" y="27340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Monitor · Printer · Speaker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897880" y="3255264"/>
            <a:ext cx="164592" cy="47548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6126480" y="32552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3FA0"/>
                </a:solidFill>
              </a:rPr>
              <a:t>PROCESSING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6126480" y="34838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CPU · GPU · RAM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897880" y="4005072"/>
            <a:ext cx="164592" cy="475488"/>
          </a:xfrm>
          <a:prstGeom prst="rect">
            <a:avLst/>
          </a:prstGeom>
          <a:solidFill>
            <a:srgbClr val="C75B26"/>
          </a:solidFill>
          <a:ln w="12700">
            <a:solidFill>
              <a:srgbClr val="C75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6126480" y="4005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5B26"/>
                </a:solidFill>
              </a:rPr>
              <a:t>STORAGE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6126480" y="4233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SSD · HDD · USB · SD Card</a:t>
            </a:r>
            <a:endParaRPr lang="en-US" sz="900" dirty="0"/>
          </a:p>
        </p:txBody>
      </p:sp>
      <p:pic>
        <p:nvPicPr>
          <p:cNvPr id="30" name="Picture 29" descr="laptop keyboard letters and buttons">
            <a:extLst>
              <a:ext uri="{FF2B5EF4-FFF2-40B4-BE49-F238E27FC236}">
                <a16:creationId xmlns:a16="http://schemas.microsoft.com/office/drawing/2014/main" id="{67E9DDF3-29CD-F11B-FE28-8FAEF62C88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81" t="11709" r="3634" b="25745"/>
          <a:stretch>
            <a:fillRect/>
          </a:stretch>
        </p:blipFill>
        <p:spPr>
          <a:xfrm>
            <a:off x="359096" y="1251187"/>
            <a:ext cx="2560320" cy="153773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57954A3-28A7-59D9-3237-17D7C61C55E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662" t="17688" r="5021" b="13245"/>
          <a:stretch>
            <a:fillRect/>
          </a:stretch>
        </p:blipFill>
        <p:spPr>
          <a:xfrm>
            <a:off x="3056576" y="1220724"/>
            <a:ext cx="2560320" cy="1568196"/>
          </a:xfrm>
          <a:prstGeom prst="rect">
            <a:avLst/>
          </a:prstGeom>
        </p:spPr>
      </p:pic>
      <p:pic>
        <p:nvPicPr>
          <p:cNvPr id="33" name="Picture 32" descr="Computer CPU Chip stock image. Image of chip, technology - 1462919">
            <a:extLst>
              <a:ext uri="{FF2B5EF4-FFF2-40B4-BE49-F238E27FC236}">
                <a16:creationId xmlns:a16="http://schemas.microsoft.com/office/drawing/2014/main" id="{7E2C5A66-D9A3-80A6-E2BC-10896CC3C0E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909" t="9260" r="7921" b="19005"/>
          <a:stretch>
            <a:fillRect/>
          </a:stretch>
        </p:blipFill>
        <p:spPr>
          <a:xfrm>
            <a:off x="359096" y="3200400"/>
            <a:ext cx="2560320" cy="1568196"/>
          </a:xfrm>
          <a:prstGeom prst="rect">
            <a:avLst/>
          </a:prstGeom>
        </p:spPr>
      </p:pic>
      <p:pic>
        <p:nvPicPr>
          <p:cNvPr id="34" name="Picture 33" descr="836 Usb Ssd Stock Photos - Free &amp; Royalty-Free Stock Photos ...">
            <a:extLst>
              <a:ext uri="{FF2B5EF4-FFF2-40B4-BE49-F238E27FC236}">
                <a16:creationId xmlns:a16="http://schemas.microsoft.com/office/drawing/2014/main" id="{E6621D76-095F-F091-050B-BF9466528AD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0539" t="5561" r="5405" b="10138"/>
          <a:stretch>
            <a:fillRect/>
          </a:stretch>
        </p:blipFill>
        <p:spPr>
          <a:xfrm>
            <a:off x="3063240" y="3192083"/>
            <a:ext cx="256032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2E4A"/>
                </a:solidFill>
              </a:rPr>
              <a:t>HARDWARE — PART 2 OF 3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Your Smartphone = ALL 4 Categories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0:55–1:05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2286000" cy="3429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📷 A modern smartphone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880360" y="1234440"/>
            <a:ext cx="2926080" cy="171907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80360" y="1234440"/>
            <a:ext cx="292608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2971800" y="1289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97180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Touchscreen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002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Camera (front &amp; back)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2295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Microphone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2587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Fingerprint sensor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1234440"/>
            <a:ext cx="2926080" cy="171907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0" y="1234440"/>
            <a:ext cx="292608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035040" y="1289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Screen/Display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2002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Speaker &amp; earpiece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295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Vibration motor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2587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Flash/torch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880360" y="3154680"/>
            <a:ext cx="2926080" cy="171907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880360" y="3154680"/>
            <a:ext cx="2926080" cy="38404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2971800" y="3209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29718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Processor (Snapdragon/Apple A)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2971800" y="3922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RAM 4–16 GB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971800" y="4215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GPU for graphics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943600" y="3154680"/>
            <a:ext cx="2926080" cy="171907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943600" y="3154680"/>
            <a:ext cx="2926080" cy="384048"/>
          </a:xfrm>
          <a:prstGeom prst="rect">
            <a:avLst/>
          </a:prstGeom>
          <a:solidFill>
            <a:srgbClr val="C75B26"/>
          </a:solidFill>
          <a:ln w="12700">
            <a:solidFill>
              <a:srgbClr val="C75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6035040" y="3209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03504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Internal 64GB–1TB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035040" y="3922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microSD slot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035040" y="4215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Cloud auto-backup</a:t>
            </a:r>
            <a:endParaRPr lang="en-US" sz="950" dirty="0"/>
          </a:p>
        </p:txBody>
      </p:sp>
      <p:pic>
        <p:nvPicPr>
          <p:cNvPr id="36" name="Picture 35" descr="Smartphones Pictures | Download Free Images on Unsplash">
            <a:extLst>
              <a:ext uri="{FF2B5EF4-FFF2-40B4-BE49-F238E27FC236}">
                <a16:creationId xmlns:a16="http://schemas.microsoft.com/office/drawing/2014/main" id="{93899530-13A4-FCC7-C1C6-57877668DF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53" t="12891" r="18363" b="11539"/>
          <a:stretch>
            <a:fillRect/>
          </a:stretch>
        </p:blipFill>
        <p:spPr>
          <a:xfrm>
            <a:off x="827366" y="1426464"/>
            <a:ext cx="1399143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BB8D4"/>
                </a:solidFill>
              </a:rPr>
              <a:t>HARDWARE — PART 3 OF 3  |  QUICK CHECK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1:05–1:15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Look around this classroom right now.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3ED"/>
                </a:solidFill>
              </a:rPr>
              <a:t>Can you identify one device for each category?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8412480" cy="713232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237744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 DEVICE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Name one: ____________________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B8D4"/>
                </a:solidFill>
              </a:rPr>
              <a:t>Look at what students are touching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14016"/>
            <a:ext cx="8412480" cy="713232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414016"/>
            <a:ext cx="237744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25054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OUTPUT DEVICE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2532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Name one: ____________________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532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B8D4"/>
                </a:solidFill>
              </a:rPr>
              <a:t>What shows or plays information?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8412480" cy="713232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237744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7200" y="33467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PROCESSING UNIT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33741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Name one: ____________________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374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B8D4"/>
                </a:solidFill>
              </a:rPr>
              <a:t>Usually hidden inside a device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8412480" cy="713232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2377440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7200" y="4187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STORAGE DEVICE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4215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Name one: ____________________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42153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B8D4"/>
                </a:solidFill>
              </a:rPr>
              <a:t>Check your bag or pockets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SOFTWARE — PART 1 OF 2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Software: The Invisible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1:15–1:25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8412480" cy="6400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30352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</a:rPr>
              <a:t>🔑  Hardware is the body. Software is the mind. Without software, hardware is just an expensive box.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938528"/>
            <a:ext cx="4389120" cy="2633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5760" y="45902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📷 System &amp; Application Software Examples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37760" y="1938528"/>
            <a:ext cx="3840480" cy="26517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07492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2E4A"/>
                </a:solidFill>
              </a:rPr>
              <a:t>SYSTEM SOFTWARE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Runs the machine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2651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🪟  Windows / macOS / Linux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07492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📱  Android / iOS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074920" y="33467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🔧  Device Drivers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074920" y="36941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🛡️  Antivirus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4069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7B"/>
                </a:solidFill>
              </a:rPr>
              <a:t>APPLICATION SOFTWARE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4315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Word · Excel · Chrome · Zoom · WhatsApp</a:t>
            </a:r>
            <a:endParaRPr lang="en-US" sz="950" dirty="0"/>
          </a:p>
        </p:txBody>
      </p:sp>
      <p:pic>
        <p:nvPicPr>
          <p:cNvPr id="21" name="Picture 20" descr="Introducing Windows 11">
            <a:extLst>
              <a:ext uri="{FF2B5EF4-FFF2-40B4-BE49-F238E27FC236}">
                <a16:creationId xmlns:a16="http://schemas.microsoft.com/office/drawing/2014/main" id="{FE4AAA5F-6D4F-0FC1-1FFA-308089C2A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284325"/>
            <a:ext cx="901841" cy="1062379"/>
          </a:xfrm>
          <a:prstGeom prst="rect">
            <a:avLst/>
          </a:prstGeom>
        </p:spPr>
      </p:pic>
      <p:pic>
        <p:nvPicPr>
          <p:cNvPr id="23" name="Picture 22" descr="Mac OS X at 20: The OS That Changed Everything - TidBITS">
            <a:extLst>
              <a:ext uri="{FF2B5EF4-FFF2-40B4-BE49-F238E27FC236}">
                <a16:creationId xmlns:a16="http://schemas.microsoft.com/office/drawing/2014/main" id="{405562BC-8303-8C96-B69F-6A833695F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074" y="2284325"/>
            <a:ext cx="901841" cy="1017541"/>
          </a:xfrm>
          <a:prstGeom prst="rect">
            <a:avLst/>
          </a:prstGeom>
        </p:spPr>
      </p:pic>
      <p:pic>
        <p:nvPicPr>
          <p:cNvPr id="24" name="Picture 23" descr="How I ditched my old OS and jumped into Linux | Opensource.com">
            <a:extLst>
              <a:ext uri="{FF2B5EF4-FFF2-40B4-BE49-F238E27FC236}">
                <a16:creationId xmlns:a16="http://schemas.microsoft.com/office/drawing/2014/main" id="{EFA1203D-6E53-7446-3417-DC95170A6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1" y="2266253"/>
            <a:ext cx="951229" cy="1062379"/>
          </a:xfrm>
          <a:prstGeom prst="rect">
            <a:avLst/>
          </a:prstGeom>
        </p:spPr>
      </p:pic>
      <p:pic>
        <p:nvPicPr>
          <p:cNvPr id="25" name="Picture 24" descr="What Is Android? 7 Unique Features Of Android Operating System. - FITA  Academy">
            <a:extLst>
              <a:ext uri="{FF2B5EF4-FFF2-40B4-BE49-F238E27FC236}">
                <a16:creationId xmlns:a16="http://schemas.microsoft.com/office/drawing/2014/main" id="{B529714A-1266-E1A4-2296-E5CEB38B58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6754" y="2294382"/>
            <a:ext cx="945246" cy="10074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D54AC34-8DEE-0FED-07F7-3D67CEF6211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9437" b="22571"/>
          <a:stretch>
            <a:fillRect/>
          </a:stretch>
        </p:blipFill>
        <p:spPr>
          <a:xfrm>
            <a:off x="477804" y="4057269"/>
            <a:ext cx="4041648" cy="4808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SOFTWARE — PART 2 OF 2  |  CLASSIFY IT!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System or Application?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1:25–1:35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</a:rPr>
              <a:t>Call out your answer before I reveal it!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4251960" cy="98755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Windows 11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58191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00400" y="1581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19842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→ Operating system — manages all hardware &amp; software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508760"/>
            <a:ext cx="4251960" cy="98755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10328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Microsoft Word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158191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635240" y="1581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910328" y="19842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→ You open it to do a specific task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4251960" cy="98755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75488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Android 14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72491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200400" y="2724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" y="31272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→ Runs the phone — you cannot delete 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651760"/>
            <a:ext cx="4251960" cy="98755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910328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Google Chrome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272491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635240" y="2724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910328" y="31272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→ A browser you install to access the web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4251960" cy="98755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5488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Device Driver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386791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3200400" y="3867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" y="42702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→ Helps OS communicate with hardware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794760"/>
            <a:ext cx="4251960" cy="98755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910328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Zoom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35240" y="3867912"/>
            <a:ext cx="1298448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635240" y="3867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910328" y="4270248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→ Communication app you choose to install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329184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200400" y="594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☕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74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10-Minute Break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7249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Returning at 1:45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Stand up  ·  Stretch  ·  Hydrate  ·  Step outside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45920" y="3749040"/>
            <a:ext cx="5852160" cy="1024128"/>
          </a:xfrm>
          <a:prstGeom prst="rect">
            <a:avLst/>
          </a:prstGeom>
          <a:solidFill>
            <a:srgbClr val="0C6968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828800" y="38221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Coming up after break: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40965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3ED"/>
                </a:solidFill>
              </a:rPr>
              <a:t>Networks  →  Cloud vs Local Storage  →  Group Activity  →  Exit Ticket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2E4A"/>
                </a:solidFill>
              </a:rPr>
              <a:t>NETWORKS &amp; INTERNET — PART 1 OF 2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How Devices Talk to Each Other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1:45–1:58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5029200" cy="2971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224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📷 LAN connected to the Internet (WAN)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577840" y="1234440"/>
            <a:ext cx="3200400" cy="35204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69280" y="1353312"/>
            <a:ext cx="164592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8978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🏠  LAN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Local Area Network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18836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📍 One building/home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2468880"/>
            <a:ext cx="164592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8978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🏙️  MAN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897880" y="2779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Metropolitan Area Network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89788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📍 City or campus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3584448"/>
            <a:ext cx="164592" cy="68580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897880" y="3602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A0"/>
                </a:solidFill>
              </a:rPr>
              <a:t>🌍  WAN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897880" y="3895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Wide Area Network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📍 Countries/continents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577840" y="4645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A8D"/>
                </a:solidFill>
              </a:rPr>
              <a:t>Analogy: LAN = your street · WAN = the entire motorway system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2E4A"/>
                </a:solidFill>
              </a:rPr>
              <a:t>NETWORKS &amp; INTERNET — PART 2 OF 2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Internet vs Intranet vs Extranet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1:58–2:10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743200" cy="37490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743200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280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Internet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Massive global PUBLIC network — open to everyone with a connection.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78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</a:rPr>
              <a:t>👤 Who: Anyone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907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</a:rPr>
              <a:t>Examples: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Browsing Google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YouTube streaming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WhatsApp messages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743200" cy="37490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74320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337560" y="1280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🔒  Intranet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PRIVATE internal network — only for people inside an organization.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2578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A"/>
                </a:solidFill>
              </a:rPr>
              <a:t>👤 Who: Staff/Students only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2907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</a:rPr>
              <a:t>Examples: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University portal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3474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Hospital system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Company HR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234440"/>
            <a:ext cx="2743200" cy="37490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1234440"/>
            <a:ext cx="2743200" cy="47548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17920" y="1280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🔗  Extranet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</a:rPr>
              <a:t>Controlled network shared with selected OUTSIDERS.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578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3FA0"/>
                </a:solidFill>
              </a:rPr>
              <a:t>👤 Who: Invited external parties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2907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</a:rPr>
              <a:t>Examples: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Supplier portal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474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Bank partner access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• B2B platforms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CLOUD VS LOCAL STORAGE — PART 1 OF 2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What is Cloud Storage?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2:10–2:20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207008"/>
            <a:ext cx="3931920" cy="23591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46320" y="3584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</a:rPr>
              <a:t>📷 Data centres — the "cloud" is real servers in warehouses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65760" y="1207008"/>
            <a:ext cx="4297680" cy="91440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02920" y="12984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☁️  Cloud = storing YOUR files on SOMEONE ELSE'S computers, accessed via the Internet.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304288"/>
            <a:ext cx="914400" cy="254203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3774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" y="279806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A2E4A"/>
                </a:solidFill>
              </a:rPr>
              <a:t>You save a file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384048" y="32004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A8D"/>
                </a:solidFill>
              </a:rPr>
              <a:t>On phone, laptop, or tablet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371600" y="2304288"/>
            <a:ext cx="914400" cy="254203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463040" y="23774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46304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389888" y="279806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A2E4A"/>
                </a:solidFill>
              </a:rPr>
              <a:t>Auto upload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389888" y="32004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A8D"/>
                </a:solidFill>
              </a:rPr>
              <a:t>Sent via internet to a data centre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377440" y="2304288"/>
            <a:ext cx="914400" cy="254203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468880" y="23774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246888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2395728" y="279806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A2E4A"/>
                </a:solidFill>
              </a:rPr>
              <a:t>Stored on servers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2395728" y="32004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A8D"/>
                </a:solidFill>
              </a:rPr>
              <a:t>Thousands of drives in a warehouse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383280" y="2304288"/>
            <a:ext cx="914400" cy="254203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474720" y="23774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347472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401568" y="279806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A2E4A"/>
                </a:solidFill>
              </a:rPr>
              <a:t>Access anywhere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3401568" y="32004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B7A8D"/>
                </a:solidFill>
              </a:rPr>
              <a:t>Any device downloads it instantly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CLOUD VS LOCAL STORAGE — PART 2 OF 2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Cloud vs Local: Side by Side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2:20–2:32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114800" cy="374904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☁️  CLOUD STORAGE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E3ED"/>
                </a:solidFill>
              </a:rPr>
              <a:t>Google Drive · OneDrive · Dropbox · iCloud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✅  Access from any device, anywhere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377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✅  Easy sharing and collaboration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7614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✅  Auto backup — no data loss risk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✅  Free tier (15 GB Google Drive)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529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❌  Needs internet connection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❌  Privacy depends on provider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297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❌  Paid plans for large storage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207008"/>
            <a:ext cx="4114800" cy="37490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80060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💾  LOCAL STORAGE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USB Drive · HDD · SSD · Memory Card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✅  Works without internet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377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✅  Full control over your data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27614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✅  Fast access — no upload wait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✅  One-time cost, no subscription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529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❌  Lost if device breaks/stolen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❌  Hard to share with others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4297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❌  Limited physical capacity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CLOUD STORAGE — KNOW YOUR TOOLS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3 Platforms You Will Use This Semester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2:32–2:40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234440"/>
            <a:ext cx="2834640" cy="1417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2788920"/>
            <a:ext cx="2743200" cy="2240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🔵  Google Drive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310128"/>
            <a:ext cx="2468880" cy="237744"/>
          </a:xfrm>
          <a:prstGeom prst="roundRect">
            <a:avLst>
              <a:gd name="adj" fmla="val 2307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3310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for collaboration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210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Free: 15 GB free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770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Real-time co-editing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169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Integrated Docs/Sheets/Slides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Great on Android phones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731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7B"/>
                </a:solidFill>
              </a:rPr>
              <a:t>Best for: Group assignments &amp; shared notes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46120" y="2788920"/>
            <a:ext cx="2743200" cy="2240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333756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🟦  Microsoft OneDrive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37560" y="3310128"/>
            <a:ext cx="2468880" cy="237744"/>
          </a:xfrm>
          <a:prstGeom prst="roundRect">
            <a:avLst>
              <a:gd name="adj" fmla="val 2307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3337560" y="3310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for Office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337560" y="36210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Free: 5 GB free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3337560" y="38770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Syncs with Word/Excel/PowerPoint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337560" y="4169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Integrated with Teams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33756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Often free via university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337560" y="47731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7B"/>
                </a:solidFill>
              </a:rPr>
              <a:t>Best for: Formal reports &amp; academic docs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26480" y="2788920"/>
            <a:ext cx="2743200" cy="2240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21792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🔷  Dropbox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217920" y="3310128"/>
            <a:ext cx="2468880" cy="237744"/>
          </a:xfrm>
          <a:prstGeom prst="roundRect">
            <a:avLst>
              <a:gd name="adj" fmla="val 2307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6217920" y="3310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Simplest file sharing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6217920" y="36210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Free: 2 GB free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217920" y="38770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Drag and drop interface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217920" y="4169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Works on all devices &amp; OS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21792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• Great for large file sharing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217920" y="47731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C7B"/>
                </a:solidFill>
              </a:rPr>
              <a:t>Best for: Sharing media &amp; research data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 Minutes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B8D4"/>
                </a:solidFill>
              </a:rPr>
              <a:t>GROUP ACTIVITY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Classify Your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Digital Life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29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3ED"/>
                </a:solidFill>
              </a:rPr>
              <a:t>With your neighbour — complete this table: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22860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20624" y="24505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ICT Component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2450592"/>
            <a:ext cx="22860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706624" y="245059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Used Today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2450592"/>
            <a:ext cx="18288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92624" y="245059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Category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6560" y="2450592"/>
            <a:ext cx="237744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21424" y="245059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or Local?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28600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38912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E3ED"/>
                </a:solidFill>
              </a:rPr>
              <a:t>Smartphone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2834640"/>
            <a:ext cx="228600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724912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834640"/>
            <a:ext cx="182880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010912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2834640"/>
            <a:ext cx="237744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39712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291840"/>
            <a:ext cx="2286000" cy="457200"/>
          </a:xfrm>
          <a:prstGeom prst="rect">
            <a:avLst/>
          </a:prstGeom>
          <a:solidFill>
            <a:srgbClr val="0A1520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38912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E3ED"/>
                </a:solidFill>
              </a:rPr>
              <a:t>Laptop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3291840"/>
            <a:ext cx="2286000" cy="457200"/>
          </a:xfrm>
          <a:prstGeom prst="rect">
            <a:avLst/>
          </a:prstGeom>
          <a:solidFill>
            <a:srgbClr val="0A1520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2724912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3291840"/>
            <a:ext cx="1828800" cy="457200"/>
          </a:xfrm>
          <a:prstGeom prst="rect">
            <a:avLst/>
          </a:prstGeom>
          <a:solidFill>
            <a:srgbClr val="0A1520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010912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3291840"/>
            <a:ext cx="2377440" cy="457200"/>
          </a:xfrm>
          <a:prstGeom prst="rect">
            <a:avLst/>
          </a:prstGeom>
          <a:solidFill>
            <a:srgbClr val="0A1520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839712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228600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38912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E3ED"/>
                </a:solidFill>
              </a:rPr>
              <a:t>USB Drive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51760" y="3749040"/>
            <a:ext cx="228600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2724912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3749040"/>
            <a:ext cx="182880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5010912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3749040"/>
            <a:ext cx="2377440" cy="457200"/>
          </a:xfrm>
          <a:prstGeom prst="rect">
            <a:avLst/>
          </a:prstGeom>
          <a:solidFill>
            <a:srgbClr val="0D1B2A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839712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206240"/>
            <a:ext cx="2286000" cy="457200"/>
          </a:xfrm>
          <a:prstGeom prst="rect">
            <a:avLst/>
          </a:prstGeom>
          <a:solidFill>
            <a:srgbClr val="0A1520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38912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E3ED"/>
                </a:solidFill>
              </a:rPr>
              <a:t>Google Drive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51760" y="4206240"/>
            <a:ext cx="2286000" cy="457200"/>
          </a:xfrm>
          <a:prstGeom prst="rect">
            <a:avLst/>
          </a:prstGeom>
          <a:solidFill>
            <a:srgbClr val="0A1520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2724912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37760" y="4206240"/>
            <a:ext cx="1828800" cy="457200"/>
          </a:xfrm>
          <a:prstGeom prst="rect">
            <a:avLst/>
          </a:prstGeom>
          <a:solidFill>
            <a:srgbClr val="0A1520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5010912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66560" y="4206240"/>
            <a:ext cx="2377440" cy="457200"/>
          </a:xfrm>
          <a:prstGeom prst="rect">
            <a:avLst/>
          </a:prstGeom>
          <a:solidFill>
            <a:srgbClr val="0A1520"/>
          </a:solidFill>
          <a:ln w="381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6839712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B8D4"/>
                </a:solidFill>
              </a:rPr>
              <a:t>🏆  First pair to fill ALL 4 rows correctly shares with the class!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ACTIVITY DEBRIEF — SAMPLE ANSWERS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Here's How It Should Look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2:50–2:55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3716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0624" y="123444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Component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1234440"/>
            <a:ext cx="22860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792224" y="123444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Used For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0" y="1234440"/>
            <a:ext cx="237744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078224" y="123444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ICT Category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234440"/>
            <a:ext cx="269748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55664" y="1234440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or Local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618488"/>
            <a:ext cx="1371600" cy="804672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29768" y="166420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Smartphone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1618488"/>
            <a:ext cx="2286000" cy="804672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801368" y="166420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Alarm, WhatsApp, camera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23360" y="1618488"/>
            <a:ext cx="2377440" cy="804672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087368" y="16642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Input+Output+Processing+Storage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1618488"/>
            <a:ext cx="2697480" cy="804672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64808" y="166420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Both — local + iCloud/Google Photos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459736"/>
            <a:ext cx="137160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29768" y="250545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Laptop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37360" y="2459736"/>
            <a:ext cx="228600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801368" y="250545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Email, browsing, assignments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23360" y="2459736"/>
            <a:ext cx="237744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087368" y="250545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Input+Output+Processing+Storage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2459736"/>
            <a:ext cx="269748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464808" y="2505456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Both — local drive + OneDrive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300984"/>
            <a:ext cx="1371600" cy="804672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29768" y="334670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USB Drive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737360" y="3300984"/>
            <a:ext cx="2286000" cy="804672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801368" y="33467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Transferred assignment file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23360" y="3300984"/>
            <a:ext cx="2377440" cy="804672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087368" y="33467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Storage only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3300984"/>
            <a:ext cx="2697480" cy="804672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464808" y="33467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Local only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142232"/>
            <a:ext cx="137160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29768" y="418795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Google Drive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737360" y="4142232"/>
            <a:ext cx="228600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801368" y="418795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Saved and shared notes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23360" y="4142232"/>
            <a:ext cx="237744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087368" y="418795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Cloud Storage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0" y="4142232"/>
            <a:ext cx="269748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6464808" y="418795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Cloud only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TODAY'S KEY TAKEAWAYS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6 Things You Now Know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2:55–3:00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251960" cy="1097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" y="134416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ICT definition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67335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Any tech that helps collect, store, process, share info and communicate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1234440"/>
            <a:ext cx="4251960" cy="1097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10328" y="134416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1032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4 Hardware types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67335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Input · Output · Processing · Storage — your phone has ALL four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496312"/>
            <a:ext cx="4251960" cy="1097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260604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7548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2615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2 Software types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293522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System software runs the machine · Application software does your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496312"/>
            <a:ext cx="4251960" cy="1097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10328" y="260604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91032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615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3 Network types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93522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LAN (building) · MAN (city) · WAN (global) — Internet is biggest WAN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758184"/>
            <a:ext cx="4251960" cy="1097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" y="3867912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548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3877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Internet vs Intranet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19709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Internet = public global · Intranet = private organizational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758184"/>
            <a:ext cx="4251960" cy="109728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10328" y="3867912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91032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3877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Cloud vs Local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419709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8D"/>
                </a:solidFill>
              </a:rPr>
              <a:t>Cloud = accessible anywhere, needs internet · Local = offline, risk of loss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7C7B"/>
                </a:solidFill>
              </a:rPr>
              <a:t>EXIT TICKET — BEFORE YOU LEAVE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Answer These 3 Questions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76656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3:00–3:10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3258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E3ED"/>
                </a:solidFill>
              </a:rPr>
              <a:t>01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353312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2E4A"/>
                </a:solidFill>
              </a:rPr>
              <a:t>Name ONE ICT tool from today you will use before next class.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1051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Be specific — which app, device, or platform?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25603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E3ED"/>
                </a:solidFill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587752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2E4A"/>
                </a:solidFill>
              </a:rPr>
              <a:t>What is ONE thing that surprised you or you did not know before?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04495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Think about hardware, software, networks, or cloud.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2920" y="379476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E3ED"/>
                </a:solidFill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22192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2E4A"/>
                </a:solidFill>
              </a:rPr>
              <a:t>What is ONE question you still have about ICT?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27939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I will answer it at the start of next class.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0292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📅  Next Class (Week 2): ICT in Society — Education · Healthcare · Business · Governance · Emerging Technologies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2376</Words>
  <Application>Microsoft Office PowerPoint</Application>
  <PresentationFormat>On-screen Show (16:9)</PresentationFormat>
  <Paragraphs>493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FAHEEM SHAUKAT</cp:lastModifiedBy>
  <cp:revision>3</cp:revision>
  <dcterms:created xsi:type="dcterms:W3CDTF">2026-08-30T18:23:28Z</dcterms:created>
  <dcterms:modified xsi:type="dcterms:W3CDTF">2026-08-30T19:56:30Z</dcterms:modified>
</cp:coreProperties>
</file>