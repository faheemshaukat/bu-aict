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6" d="100"/>
          <a:sy n="66" d="100"/>
        </p:scale>
        <p:origin x="79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0029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0.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B4D"/>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62B4D"/>
          </a:solidFill>
          <a:ln/>
        </p:spPr>
        <p:txBody>
          <a:bodyPr/>
          <a:lstStyle/>
          <a:p>
            <a:endParaRPr lang="en-US"/>
          </a:p>
        </p:txBody>
      </p:sp>
      <p:sp>
        <p:nvSpPr>
          <p:cNvPr id="3" name="Shape 1"/>
          <p:cNvSpPr/>
          <p:nvPr/>
        </p:nvSpPr>
        <p:spPr>
          <a:xfrm>
            <a:off x="0" y="6309360"/>
            <a:ext cx="12191695" cy="73152"/>
          </a:xfrm>
          <a:prstGeom prst="rect">
            <a:avLst/>
          </a:prstGeom>
          <a:solidFill>
            <a:srgbClr val="B8860B"/>
          </a:solidFill>
          <a:ln/>
        </p:spPr>
        <p:txBody>
          <a:bodyPr/>
          <a:lstStyle/>
          <a:p>
            <a:endParaRPr lang="en-US"/>
          </a:p>
        </p:txBody>
      </p:sp>
      <p:pic>
        <p:nvPicPr>
          <p:cNvPr id="4" name="Image 0" descr="/home/claude/bahria_logo_cropped.png"/>
          <p:cNvPicPr>
            <a:picLocks noChangeAspect="1"/>
          </p:cNvPicPr>
          <p:nvPr/>
        </p:nvPicPr>
        <p:blipFill>
          <a:blip r:embed="rId3"/>
          <a:stretch>
            <a:fillRect/>
          </a:stretch>
        </p:blipFill>
        <p:spPr>
          <a:xfrm>
            <a:off x="640080" y="502920"/>
            <a:ext cx="1005840" cy="1124712"/>
          </a:xfrm>
          <a:prstGeom prst="rect">
            <a:avLst/>
          </a:prstGeom>
        </p:spPr>
      </p:pic>
      <p:sp>
        <p:nvSpPr>
          <p:cNvPr id="5" name="Text 2"/>
          <p:cNvSpPr/>
          <p:nvPr/>
        </p:nvSpPr>
        <p:spPr>
          <a:xfrm>
            <a:off x="1828800" y="594360"/>
            <a:ext cx="8229600" cy="365760"/>
          </a:xfrm>
          <a:prstGeom prst="rect">
            <a:avLst/>
          </a:prstGeom>
          <a:noFill/>
          <a:ln/>
        </p:spPr>
        <p:txBody>
          <a:bodyPr wrap="square" rtlCol="0" anchor="ctr"/>
          <a:lstStyle/>
          <a:p>
            <a:pPr marL="0" indent="0">
              <a:buNone/>
            </a:pPr>
            <a:r>
              <a:rPr lang="en-US" sz="1600" b="1" dirty="0">
                <a:solidFill>
                  <a:srgbClr val="D8B84A"/>
                </a:solidFill>
                <a:latin typeface="Calibri" pitchFamily="34" charset="0"/>
                <a:ea typeface="Calibri" pitchFamily="34" charset="-122"/>
                <a:cs typeface="Calibri" pitchFamily="34" charset="-120"/>
              </a:rPr>
              <a:t>BAHRIA UNIVERSITY, ISLAMABAD</a:t>
            </a:r>
            <a:endParaRPr lang="en-US" sz="1600" dirty="0"/>
          </a:p>
        </p:txBody>
      </p:sp>
      <p:sp>
        <p:nvSpPr>
          <p:cNvPr id="6" name="Text 3"/>
          <p:cNvSpPr/>
          <p:nvPr/>
        </p:nvSpPr>
        <p:spPr>
          <a:xfrm>
            <a:off x="1828800" y="960120"/>
            <a:ext cx="8229600" cy="320040"/>
          </a:xfrm>
          <a:prstGeom prst="rect">
            <a:avLst/>
          </a:prstGeom>
          <a:noFill/>
          <a:ln/>
        </p:spPr>
        <p:txBody>
          <a:bodyPr wrap="square" rtlCol="0" anchor="ctr"/>
          <a:lstStyle/>
          <a:p>
            <a:pPr marL="0" indent="0">
              <a:buNone/>
            </a:pPr>
            <a:r>
              <a:rPr lang="en-US" sz="1300" dirty="0">
                <a:solidFill>
                  <a:srgbClr val="C7D0E0"/>
                </a:solidFill>
                <a:latin typeface="Calibri" pitchFamily="34" charset="0"/>
                <a:ea typeface="Calibri" pitchFamily="34" charset="-122"/>
                <a:cs typeface="Calibri" pitchFamily="34" charset="-120"/>
              </a:rPr>
              <a:t>Department of AI &amp; Computer Technologies</a:t>
            </a:r>
            <a:endParaRPr lang="en-US" sz="1300" dirty="0"/>
          </a:p>
        </p:txBody>
      </p:sp>
      <p:sp>
        <p:nvSpPr>
          <p:cNvPr id="7" name="Text 4"/>
          <p:cNvSpPr/>
          <p:nvPr/>
        </p:nvSpPr>
        <p:spPr>
          <a:xfrm>
            <a:off x="822960" y="1965960"/>
            <a:ext cx="10515600" cy="457200"/>
          </a:xfrm>
          <a:prstGeom prst="rect">
            <a:avLst/>
          </a:prstGeom>
          <a:noFill/>
          <a:ln/>
        </p:spPr>
        <p:txBody>
          <a:bodyPr wrap="square" rtlCol="0" anchor="ctr"/>
          <a:lstStyle/>
          <a:p>
            <a:pPr marL="0" indent="0">
              <a:buNone/>
            </a:pPr>
            <a:r>
              <a:rPr lang="en-US" sz="1600" b="1" kern="0" spc="300" dirty="0">
                <a:solidFill>
                  <a:srgbClr val="D8B84A"/>
                </a:solidFill>
                <a:latin typeface="Calibri" pitchFamily="34" charset="0"/>
                <a:ea typeface="Calibri" pitchFamily="34" charset="-122"/>
                <a:cs typeface="Calibri" pitchFamily="34" charset="-120"/>
              </a:rPr>
              <a:t>WEEK 8  +  WEEK 4 CATCH-UP</a:t>
            </a:r>
            <a:endParaRPr lang="en-US" sz="1600" dirty="0"/>
          </a:p>
        </p:txBody>
      </p:sp>
      <p:sp>
        <p:nvSpPr>
          <p:cNvPr id="8" name="Text 5"/>
          <p:cNvSpPr/>
          <p:nvPr/>
        </p:nvSpPr>
        <p:spPr>
          <a:xfrm>
            <a:off x="822960" y="2377440"/>
            <a:ext cx="10515600" cy="82296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Online Learning, Virtual Classrooms &amp; Cloud Tools</a:t>
            </a:r>
            <a:endParaRPr lang="en-US" sz="3600" dirty="0"/>
          </a:p>
        </p:txBody>
      </p:sp>
      <p:sp>
        <p:nvSpPr>
          <p:cNvPr id="9" name="Text 6"/>
          <p:cNvSpPr/>
          <p:nvPr/>
        </p:nvSpPr>
        <p:spPr>
          <a:xfrm>
            <a:off x="822960" y="3200400"/>
            <a:ext cx="10515600" cy="457200"/>
          </a:xfrm>
          <a:prstGeom prst="rect">
            <a:avLst/>
          </a:prstGeom>
          <a:noFill/>
          <a:ln/>
        </p:spPr>
        <p:txBody>
          <a:bodyPr wrap="square" rtlCol="0" anchor="ctr"/>
          <a:lstStyle/>
          <a:p>
            <a:pPr marL="0" indent="0">
              <a:buNone/>
            </a:pPr>
            <a:r>
              <a:rPr lang="en-US" sz="1600" i="1" dirty="0">
                <a:solidFill>
                  <a:srgbClr val="C7D0E0"/>
                </a:solidFill>
                <a:latin typeface="Calibri" pitchFamily="34" charset="0"/>
                <a:ea typeface="Calibri" pitchFamily="34" charset="-122"/>
                <a:cs typeface="Calibri" pitchFamily="34" charset="-120"/>
              </a:rPr>
              <a:t>Coursera, edX, Udemy, Khan Academy  —  interactive multimedia  —  Google Workspace and cloud storage</a:t>
            </a:r>
            <a:endParaRPr lang="en-US" sz="1600" dirty="0"/>
          </a:p>
        </p:txBody>
      </p:sp>
      <p:sp>
        <p:nvSpPr>
          <p:cNvPr id="10" name="Shape 7"/>
          <p:cNvSpPr/>
          <p:nvPr/>
        </p:nvSpPr>
        <p:spPr>
          <a:xfrm>
            <a:off x="822960" y="3840480"/>
            <a:ext cx="10515600" cy="713232"/>
          </a:xfrm>
          <a:prstGeom prst="roundRect">
            <a:avLst>
              <a:gd name="adj" fmla="val 10256"/>
            </a:avLst>
          </a:prstGeom>
          <a:solidFill>
            <a:srgbClr val="25406B"/>
          </a:solidFill>
          <a:ln/>
        </p:spPr>
        <p:txBody>
          <a:bodyPr/>
          <a:lstStyle/>
          <a:p>
            <a:endParaRPr lang="en-US"/>
          </a:p>
        </p:txBody>
      </p:sp>
      <p:sp>
        <p:nvSpPr>
          <p:cNvPr id="11" name="Text 8"/>
          <p:cNvSpPr/>
          <p:nvPr/>
        </p:nvSpPr>
        <p:spPr>
          <a:xfrm>
            <a:off x="1051560" y="3840480"/>
            <a:ext cx="10058400" cy="713232"/>
          </a:xfrm>
          <a:prstGeom prst="rect">
            <a:avLst/>
          </a:prstGeom>
          <a:noFill/>
          <a:ln/>
        </p:spPr>
        <p:txBody>
          <a:bodyPr wrap="square" rtlCol="0" anchor="ctr"/>
          <a:lstStyle/>
          <a:p>
            <a:pPr marL="0" indent="0">
              <a:buNone/>
            </a:pPr>
            <a:r>
              <a:rPr lang="en-US" sz="1300" b="1" dirty="0">
                <a:solidFill>
                  <a:srgbClr val="D8B84A"/>
                </a:solidFill>
                <a:latin typeface="Calibri" pitchFamily="34" charset="0"/>
                <a:ea typeface="Calibri" pitchFamily="34" charset="-122"/>
                <a:cs typeface="Calibri" pitchFamily="34" charset="-120"/>
              </a:rPr>
              <a:t>ICT 201  </a:t>
            </a:r>
            <a:r>
              <a:rPr lang="en-US" sz="1300" dirty="0">
                <a:solidFill>
                  <a:srgbClr val="FFFFFF"/>
                </a:solidFill>
                <a:latin typeface="Calibri" pitchFamily="34" charset="0"/>
                <a:ea typeface="Calibri" pitchFamily="34" charset="-122"/>
                <a:cs typeface="Calibri" pitchFamily="34" charset="-120"/>
              </a:rPr>
              <a:t>|  Applications of ICT   |  3-Hour Session   |  CLO-2 &amp; CLO-3   |  Fall 2026</a:t>
            </a:r>
            <a:endParaRPr lang="en-US" sz="1300" dirty="0"/>
          </a:p>
        </p:txBody>
      </p:sp>
      <p:pic>
        <p:nvPicPr>
          <p:cNvPr id="12" name="Image 1" descr="logos/coursera.png"/>
          <p:cNvPicPr>
            <a:picLocks noChangeAspect="1"/>
          </p:cNvPicPr>
          <p:nvPr/>
        </p:nvPicPr>
        <p:blipFill>
          <a:blip r:embed="rId4"/>
          <a:stretch>
            <a:fillRect/>
          </a:stretch>
        </p:blipFill>
        <p:spPr>
          <a:xfrm>
            <a:off x="822960" y="4846320"/>
            <a:ext cx="566928" cy="566928"/>
          </a:xfrm>
          <a:prstGeom prst="rect">
            <a:avLst/>
          </a:prstGeom>
        </p:spPr>
      </p:pic>
      <p:sp>
        <p:nvSpPr>
          <p:cNvPr id="13" name="Text 9"/>
          <p:cNvSpPr/>
          <p:nvPr/>
        </p:nvSpPr>
        <p:spPr>
          <a:xfrm>
            <a:off x="621792" y="5468112"/>
            <a:ext cx="969264" cy="457200"/>
          </a:xfrm>
          <a:prstGeom prst="rect">
            <a:avLst/>
          </a:prstGeom>
          <a:noFill/>
          <a:ln/>
        </p:spPr>
        <p:txBody>
          <a:bodyPr wrap="square" rtlCol="0" anchor="t"/>
          <a:lstStyle/>
          <a:p>
            <a:pPr marL="0" indent="0" algn="ctr">
              <a:buNone/>
            </a:pPr>
            <a:r>
              <a:rPr lang="en-US" sz="950" b="1" dirty="0">
                <a:solidFill>
                  <a:srgbClr val="FFFFFF"/>
                </a:solidFill>
                <a:latin typeface="Calibri" pitchFamily="34" charset="0"/>
                <a:ea typeface="Calibri" pitchFamily="34" charset="-122"/>
                <a:cs typeface="Calibri" pitchFamily="34" charset="-120"/>
              </a:rPr>
              <a:t>Coursera</a:t>
            </a:r>
            <a:endParaRPr lang="en-US" sz="950" dirty="0"/>
          </a:p>
        </p:txBody>
      </p:sp>
      <p:pic>
        <p:nvPicPr>
          <p:cNvPr id="14" name="Image 2" descr="logos/edx.png"/>
          <p:cNvPicPr>
            <a:picLocks noChangeAspect="1"/>
          </p:cNvPicPr>
          <p:nvPr/>
        </p:nvPicPr>
        <p:blipFill>
          <a:blip r:embed="rId5"/>
          <a:stretch>
            <a:fillRect/>
          </a:stretch>
        </p:blipFill>
        <p:spPr>
          <a:xfrm>
            <a:off x="1828800" y="4846320"/>
            <a:ext cx="566928" cy="566928"/>
          </a:xfrm>
          <a:prstGeom prst="rect">
            <a:avLst/>
          </a:prstGeom>
        </p:spPr>
      </p:pic>
      <p:sp>
        <p:nvSpPr>
          <p:cNvPr id="15" name="Text 10"/>
          <p:cNvSpPr/>
          <p:nvPr/>
        </p:nvSpPr>
        <p:spPr>
          <a:xfrm>
            <a:off x="1627632" y="5468112"/>
            <a:ext cx="969264" cy="457200"/>
          </a:xfrm>
          <a:prstGeom prst="rect">
            <a:avLst/>
          </a:prstGeom>
          <a:noFill/>
          <a:ln/>
        </p:spPr>
        <p:txBody>
          <a:bodyPr wrap="square" rtlCol="0" anchor="t"/>
          <a:lstStyle/>
          <a:p>
            <a:pPr marL="0" indent="0" algn="ctr">
              <a:buNone/>
            </a:pPr>
            <a:r>
              <a:rPr lang="en-US" sz="950" b="1" dirty="0">
                <a:solidFill>
                  <a:srgbClr val="FFFFFF"/>
                </a:solidFill>
                <a:latin typeface="Calibri" pitchFamily="34" charset="0"/>
                <a:ea typeface="Calibri" pitchFamily="34" charset="-122"/>
                <a:cs typeface="Calibri" pitchFamily="34" charset="-120"/>
              </a:rPr>
              <a:t>edX</a:t>
            </a:r>
            <a:endParaRPr lang="en-US" sz="950" dirty="0"/>
          </a:p>
        </p:txBody>
      </p:sp>
      <p:pic>
        <p:nvPicPr>
          <p:cNvPr id="16" name="Image 3" descr="logos/udemy.png"/>
          <p:cNvPicPr>
            <a:picLocks noChangeAspect="1"/>
          </p:cNvPicPr>
          <p:nvPr/>
        </p:nvPicPr>
        <p:blipFill>
          <a:blip r:embed="rId6"/>
          <a:stretch>
            <a:fillRect/>
          </a:stretch>
        </p:blipFill>
        <p:spPr>
          <a:xfrm>
            <a:off x="2834640" y="4846320"/>
            <a:ext cx="566928" cy="566928"/>
          </a:xfrm>
          <a:prstGeom prst="rect">
            <a:avLst/>
          </a:prstGeom>
        </p:spPr>
      </p:pic>
      <p:sp>
        <p:nvSpPr>
          <p:cNvPr id="17" name="Text 11"/>
          <p:cNvSpPr/>
          <p:nvPr/>
        </p:nvSpPr>
        <p:spPr>
          <a:xfrm>
            <a:off x="2633472" y="5468112"/>
            <a:ext cx="969264" cy="457200"/>
          </a:xfrm>
          <a:prstGeom prst="rect">
            <a:avLst/>
          </a:prstGeom>
          <a:noFill/>
          <a:ln/>
        </p:spPr>
        <p:txBody>
          <a:bodyPr wrap="square" rtlCol="0" anchor="t"/>
          <a:lstStyle/>
          <a:p>
            <a:pPr marL="0" indent="0" algn="ctr">
              <a:buNone/>
            </a:pPr>
            <a:r>
              <a:rPr lang="en-US" sz="950" b="1" dirty="0">
                <a:solidFill>
                  <a:srgbClr val="FFFFFF"/>
                </a:solidFill>
                <a:latin typeface="Calibri" pitchFamily="34" charset="0"/>
                <a:ea typeface="Calibri" pitchFamily="34" charset="-122"/>
                <a:cs typeface="Calibri" pitchFamily="34" charset="-120"/>
              </a:rPr>
              <a:t>Udemy</a:t>
            </a:r>
            <a:endParaRPr lang="en-US" sz="950" dirty="0"/>
          </a:p>
        </p:txBody>
      </p:sp>
      <p:pic>
        <p:nvPicPr>
          <p:cNvPr id="18" name="Image 4" descr="logos/khan.png"/>
          <p:cNvPicPr>
            <a:picLocks noChangeAspect="1"/>
          </p:cNvPicPr>
          <p:nvPr/>
        </p:nvPicPr>
        <p:blipFill>
          <a:blip r:embed="rId7"/>
          <a:stretch>
            <a:fillRect/>
          </a:stretch>
        </p:blipFill>
        <p:spPr>
          <a:xfrm>
            <a:off x="3840480" y="4846320"/>
            <a:ext cx="566928" cy="566928"/>
          </a:xfrm>
          <a:prstGeom prst="rect">
            <a:avLst/>
          </a:prstGeom>
        </p:spPr>
      </p:pic>
      <p:sp>
        <p:nvSpPr>
          <p:cNvPr id="19" name="Text 12"/>
          <p:cNvSpPr/>
          <p:nvPr/>
        </p:nvSpPr>
        <p:spPr>
          <a:xfrm>
            <a:off x="3639312" y="5468112"/>
            <a:ext cx="969264" cy="457200"/>
          </a:xfrm>
          <a:prstGeom prst="rect">
            <a:avLst/>
          </a:prstGeom>
          <a:noFill/>
          <a:ln/>
        </p:spPr>
        <p:txBody>
          <a:bodyPr wrap="square" rtlCol="0" anchor="t"/>
          <a:lstStyle/>
          <a:p>
            <a:pPr marL="0" indent="0" algn="ctr">
              <a:buNone/>
            </a:pPr>
            <a:r>
              <a:rPr lang="en-US" sz="950" b="1" dirty="0">
                <a:solidFill>
                  <a:srgbClr val="FFFFFF"/>
                </a:solidFill>
                <a:latin typeface="Calibri" pitchFamily="34" charset="0"/>
                <a:ea typeface="Calibri" pitchFamily="34" charset="-122"/>
                <a:cs typeface="Calibri" pitchFamily="34" charset="-120"/>
              </a:rPr>
              <a:t>Khan Academy</a:t>
            </a:r>
            <a:endParaRPr lang="en-US" sz="950" dirty="0"/>
          </a:p>
        </p:txBody>
      </p:sp>
      <p:pic>
        <p:nvPicPr>
          <p:cNvPr id="20" name="Image 5" descr="logos/bbb.png"/>
          <p:cNvPicPr>
            <a:picLocks noChangeAspect="1"/>
          </p:cNvPicPr>
          <p:nvPr/>
        </p:nvPicPr>
        <p:blipFill>
          <a:blip r:embed="rId8"/>
          <a:stretch>
            <a:fillRect/>
          </a:stretch>
        </p:blipFill>
        <p:spPr>
          <a:xfrm>
            <a:off x="4846320" y="4846320"/>
            <a:ext cx="566928" cy="566928"/>
          </a:xfrm>
          <a:prstGeom prst="rect">
            <a:avLst/>
          </a:prstGeom>
        </p:spPr>
      </p:pic>
      <p:sp>
        <p:nvSpPr>
          <p:cNvPr id="21" name="Text 13"/>
          <p:cNvSpPr/>
          <p:nvPr/>
        </p:nvSpPr>
        <p:spPr>
          <a:xfrm>
            <a:off x="4645152" y="5468112"/>
            <a:ext cx="969264" cy="457200"/>
          </a:xfrm>
          <a:prstGeom prst="rect">
            <a:avLst/>
          </a:prstGeom>
          <a:noFill/>
          <a:ln/>
        </p:spPr>
        <p:txBody>
          <a:bodyPr wrap="square" rtlCol="0" anchor="t"/>
          <a:lstStyle/>
          <a:p>
            <a:pPr marL="0" indent="0" algn="ctr">
              <a:buNone/>
            </a:pPr>
            <a:r>
              <a:rPr lang="en-US" sz="950" b="1" dirty="0">
                <a:solidFill>
                  <a:srgbClr val="FFFFFF"/>
                </a:solidFill>
                <a:latin typeface="Calibri" pitchFamily="34" charset="0"/>
                <a:ea typeface="Calibri" pitchFamily="34" charset="-122"/>
                <a:cs typeface="Calibri" pitchFamily="34" charset="-120"/>
              </a:rPr>
              <a:t>Virtual classroom</a:t>
            </a:r>
            <a:endParaRPr lang="en-US" sz="950" dirty="0"/>
          </a:p>
        </p:txBody>
      </p:sp>
      <p:pic>
        <p:nvPicPr>
          <p:cNvPr id="22" name="Image 6" descr="logos/docs.png"/>
          <p:cNvPicPr>
            <a:picLocks noChangeAspect="1"/>
          </p:cNvPicPr>
          <p:nvPr/>
        </p:nvPicPr>
        <p:blipFill>
          <a:blip r:embed="rId9"/>
          <a:stretch>
            <a:fillRect/>
          </a:stretch>
        </p:blipFill>
        <p:spPr>
          <a:xfrm>
            <a:off x="5852160" y="4846320"/>
            <a:ext cx="566928" cy="566928"/>
          </a:xfrm>
          <a:prstGeom prst="rect">
            <a:avLst/>
          </a:prstGeom>
        </p:spPr>
      </p:pic>
      <p:sp>
        <p:nvSpPr>
          <p:cNvPr id="23" name="Text 14"/>
          <p:cNvSpPr/>
          <p:nvPr/>
        </p:nvSpPr>
        <p:spPr>
          <a:xfrm>
            <a:off x="5650992" y="5468112"/>
            <a:ext cx="969264" cy="457200"/>
          </a:xfrm>
          <a:prstGeom prst="rect">
            <a:avLst/>
          </a:prstGeom>
          <a:noFill/>
          <a:ln/>
        </p:spPr>
        <p:txBody>
          <a:bodyPr wrap="square" rtlCol="0" anchor="t"/>
          <a:lstStyle/>
          <a:p>
            <a:pPr marL="0" indent="0" algn="ctr">
              <a:buNone/>
            </a:pPr>
            <a:r>
              <a:rPr lang="en-US" sz="950" b="1" dirty="0">
                <a:solidFill>
                  <a:srgbClr val="FFFFFF"/>
                </a:solidFill>
                <a:latin typeface="Calibri" pitchFamily="34" charset="0"/>
                <a:ea typeface="Calibri" pitchFamily="34" charset="-122"/>
                <a:cs typeface="Calibri" pitchFamily="34" charset="-120"/>
              </a:rPr>
              <a:t>Docs</a:t>
            </a:r>
            <a:endParaRPr lang="en-US" sz="950" dirty="0"/>
          </a:p>
        </p:txBody>
      </p:sp>
      <p:pic>
        <p:nvPicPr>
          <p:cNvPr id="24" name="Image 7" descr="logos/sheets.png"/>
          <p:cNvPicPr>
            <a:picLocks noChangeAspect="1"/>
          </p:cNvPicPr>
          <p:nvPr/>
        </p:nvPicPr>
        <p:blipFill>
          <a:blip r:embed="rId10"/>
          <a:stretch>
            <a:fillRect/>
          </a:stretch>
        </p:blipFill>
        <p:spPr>
          <a:xfrm>
            <a:off x="6858000" y="4846320"/>
            <a:ext cx="566928" cy="566928"/>
          </a:xfrm>
          <a:prstGeom prst="rect">
            <a:avLst/>
          </a:prstGeom>
        </p:spPr>
      </p:pic>
      <p:sp>
        <p:nvSpPr>
          <p:cNvPr id="25" name="Text 15"/>
          <p:cNvSpPr/>
          <p:nvPr/>
        </p:nvSpPr>
        <p:spPr>
          <a:xfrm>
            <a:off x="6656832" y="5468112"/>
            <a:ext cx="969264" cy="457200"/>
          </a:xfrm>
          <a:prstGeom prst="rect">
            <a:avLst/>
          </a:prstGeom>
          <a:noFill/>
          <a:ln/>
        </p:spPr>
        <p:txBody>
          <a:bodyPr wrap="square" rtlCol="0" anchor="t"/>
          <a:lstStyle/>
          <a:p>
            <a:pPr marL="0" indent="0" algn="ctr">
              <a:buNone/>
            </a:pPr>
            <a:r>
              <a:rPr lang="en-US" sz="950" b="1" dirty="0">
                <a:solidFill>
                  <a:srgbClr val="FFFFFF"/>
                </a:solidFill>
                <a:latin typeface="Calibri" pitchFamily="34" charset="0"/>
                <a:ea typeface="Calibri" pitchFamily="34" charset="-122"/>
                <a:cs typeface="Calibri" pitchFamily="34" charset="-120"/>
              </a:rPr>
              <a:t>Sheets</a:t>
            </a:r>
            <a:endParaRPr lang="en-US" sz="950" dirty="0"/>
          </a:p>
        </p:txBody>
      </p:sp>
      <p:pic>
        <p:nvPicPr>
          <p:cNvPr id="26" name="Image 8" descr="logos/slides.png"/>
          <p:cNvPicPr>
            <a:picLocks noChangeAspect="1"/>
          </p:cNvPicPr>
          <p:nvPr/>
        </p:nvPicPr>
        <p:blipFill>
          <a:blip r:embed="rId11"/>
          <a:stretch>
            <a:fillRect/>
          </a:stretch>
        </p:blipFill>
        <p:spPr>
          <a:xfrm>
            <a:off x="7863840" y="4846320"/>
            <a:ext cx="566928" cy="566928"/>
          </a:xfrm>
          <a:prstGeom prst="rect">
            <a:avLst/>
          </a:prstGeom>
        </p:spPr>
      </p:pic>
      <p:sp>
        <p:nvSpPr>
          <p:cNvPr id="27" name="Text 16"/>
          <p:cNvSpPr/>
          <p:nvPr/>
        </p:nvSpPr>
        <p:spPr>
          <a:xfrm>
            <a:off x="7662672" y="5468112"/>
            <a:ext cx="969264" cy="457200"/>
          </a:xfrm>
          <a:prstGeom prst="rect">
            <a:avLst/>
          </a:prstGeom>
          <a:noFill/>
          <a:ln/>
        </p:spPr>
        <p:txBody>
          <a:bodyPr wrap="square" rtlCol="0" anchor="t"/>
          <a:lstStyle/>
          <a:p>
            <a:pPr marL="0" indent="0" algn="ctr">
              <a:buNone/>
            </a:pPr>
            <a:r>
              <a:rPr lang="en-US" sz="950" b="1" dirty="0">
                <a:solidFill>
                  <a:srgbClr val="FFFFFF"/>
                </a:solidFill>
                <a:latin typeface="Calibri" pitchFamily="34" charset="0"/>
                <a:ea typeface="Calibri" pitchFamily="34" charset="-122"/>
                <a:cs typeface="Calibri" pitchFamily="34" charset="-120"/>
              </a:rPr>
              <a:t>Slides</a:t>
            </a:r>
            <a:endParaRPr lang="en-US" sz="950" dirty="0"/>
          </a:p>
        </p:txBody>
      </p:sp>
      <p:pic>
        <p:nvPicPr>
          <p:cNvPr id="28" name="Image 9" descr="logos/drive.png"/>
          <p:cNvPicPr>
            <a:picLocks noChangeAspect="1"/>
          </p:cNvPicPr>
          <p:nvPr/>
        </p:nvPicPr>
        <p:blipFill>
          <a:blip r:embed="rId12"/>
          <a:stretch>
            <a:fillRect/>
          </a:stretch>
        </p:blipFill>
        <p:spPr>
          <a:xfrm>
            <a:off x="8869680" y="4846320"/>
            <a:ext cx="566928" cy="566928"/>
          </a:xfrm>
          <a:prstGeom prst="rect">
            <a:avLst/>
          </a:prstGeom>
        </p:spPr>
      </p:pic>
      <p:sp>
        <p:nvSpPr>
          <p:cNvPr id="29" name="Text 17"/>
          <p:cNvSpPr/>
          <p:nvPr/>
        </p:nvSpPr>
        <p:spPr>
          <a:xfrm>
            <a:off x="8668512" y="5468112"/>
            <a:ext cx="969264" cy="457200"/>
          </a:xfrm>
          <a:prstGeom prst="rect">
            <a:avLst/>
          </a:prstGeom>
          <a:noFill/>
          <a:ln/>
        </p:spPr>
        <p:txBody>
          <a:bodyPr wrap="square" rtlCol="0" anchor="t"/>
          <a:lstStyle/>
          <a:p>
            <a:pPr marL="0" indent="0" algn="ctr">
              <a:buNone/>
            </a:pPr>
            <a:r>
              <a:rPr lang="en-US" sz="950" b="1" dirty="0">
                <a:solidFill>
                  <a:srgbClr val="FFFFFF"/>
                </a:solidFill>
                <a:latin typeface="Calibri" pitchFamily="34" charset="0"/>
                <a:ea typeface="Calibri" pitchFamily="34" charset="-122"/>
                <a:cs typeface="Calibri" pitchFamily="34" charset="-120"/>
              </a:rPr>
              <a:t>Drive</a:t>
            </a:r>
            <a:endParaRPr lang="en-US" sz="950" dirty="0"/>
          </a:p>
        </p:txBody>
      </p:sp>
      <p:pic>
        <p:nvPicPr>
          <p:cNvPr id="30" name="Image 10" descr="logos/dropbox.png"/>
          <p:cNvPicPr>
            <a:picLocks noChangeAspect="1"/>
          </p:cNvPicPr>
          <p:nvPr/>
        </p:nvPicPr>
        <p:blipFill>
          <a:blip r:embed="rId13"/>
          <a:stretch>
            <a:fillRect/>
          </a:stretch>
        </p:blipFill>
        <p:spPr>
          <a:xfrm>
            <a:off x="9875520" y="4846320"/>
            <a:ext cx="566928" cy="566928"/>
          </a:xfrm>
          <a:prstGeom prst="rect">
            <a:avLst/>
          </a:prstGeom>
        </p:spPr>
      </p:pic>
      <p:sp>
        <p:nvSpPr>
          <p:cNvPr id="31" name="Text 18"/>
          <p:cNvSpPr/>
          <p:nvPr/>
        </p:nvSpPr>
        <p:spPr>
          <a:xfrm>
            <a:off x="9674352" y="5468112"/>
            <a:ext cx="969264" cy="457200"/>
          </a:xfrm>
          <a:prstGeom prst="rect">
            <a:avLst/>
          </a:prstGeom>
          <a:noFill/>
          <a:ln/>
        </p:spPr>
        <p:txBody>
          <a:bodyPr wrap="square" rtlCol="0" anchor="t"/>
          <a:lstStyle/>
          <a:p>
            <a:pPr marL="0" indent="0" algn="ctr">
              <a:buNone/>
            </a:pPr>
            <a:r>
              <a:rPr lang="en-US" sz="950" b="1" dirty="0">
                <a:solidFill>
                  <a:srgbClr val="FFFFFF"/>
                </a:solidFill>
                <a:latin typeface="Calibri" pitchFamily="34" charset="0"/>
                <a:ea typeface="Calibri" pitchFamily="34" charset="-122"/>
                <a:cs typeface="Calibri" pitchFamily="34" charset="-120"/>
              </a:rPr>
              <a:t>Dropbox</a:t>
            </a:r>
            <a:endParaRPr lang="en-US" sz="950" dirty="0"/>
          </a:p>
        </p:txBody>
      </p:sp>
      <p:pic>
        <p:nvPicPr>
          <p:cNvPr id="32" name="Image 11" descr="logos/onedrive.png"/>
          <p:cNvPicPr>
            <a:picLocks noChangeAspect="1"/>
          </p:cNvPicPr>
          <p:nvPr/>
        </p:nvPicPr>
        <p:blipFill>
          <a:blip r:embed="rId14"/>
          <a:stretch>
            <a:fillRect/>
          </a:stretch>
        </p:blipFill>
        <p:spPr>
          <a:xfrm>
            <a:off x="10881360" y="4846320"/>
            <a:ext cx="566928" cy="566928"/>
          </a:xfrm>
          <a:prstGeom prst="rect">
            <a:avLst/>
          </a:prstGeom>
        </p:spPr>
      </p:pic>
      <p:sp>
        <p:nvSpPr>
          <p:cNvPr id="33" name="Text 19"/>
          <p:cNvSpPr/>
          <p:nvPr/>
        </p:nvSpPr>
        <p:spPr>
          <a:xfrm>
            <a:off x="10680192" y="5468112"/>
            <a:ext cx="969264" cy="457200"/>
          </a:xfrm>
          <a:prstGeom prst="rect">
            <a:avLst/>
          </a:prstGeom>
          <a:noFill/>
          <a:ln/>
        </p:spPr>
        <p:txBody>
          <a:bodyPr wrap="square" rtlCol="0" anchor="t"/>
          <a:lstStyle/>
          <a:p>
            <a:pPr marL="0" indent="0" algn="ctr">
              <a:buNone/>
            </a:pPr>
            <a:r>
              <a:rPr lang="en-US" sz="950" b="1" dirty="0">
                <a:solidFill>
                  <a:srgbClr val="FFFFFF"/>
                </a:solidFill>
                <a:latin typeface="Calibri" pitchFamily="34" charset="0"/>
                <a:ea typeface="Calibri" pitchFamily="34" charset="-122"/>
                <a:cs typeface="Calibri" pitchFamily="34" charset="-120"/>
              </a:rPr>
              <a:t>OneDrive</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AGENDA — 3-HOUR SESSION, TWO BREAKS</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Today’s Roadmap</a:t>
            </a:r>
            <a:endParaRPr lang="en-US" sz="2400" dirty="0"/>
          </a:p>
        </p:txBody>
      </p:sp>
      <p:sp>
        <p:nvSpPr>
          <p:cNvPr id="6" name="Shape 4"/>
          <p:cNvSpPr/>
          <p:nvPr/>
        </p:nvSpPr>
        <p:spPr>
          <a:xfrm>
            <a:off x="10561320" y="137160"/>
            <a:ext cx="1417320" cy="320040"/>
          </a:xfrm>
          <a:prstGeom prst="roundRect">
            <a:avLst>
              <a:gd name="adj" fmla="val 48571"/>
            </a:avLst>
          </a:prstGeom>
          <a:solidFill>
            <a:srgbClr val="FFFFFF"/>
          </a:solidFill>
          <a:ln/>
        </p:spPr>
        <p:txBody>
          <a:bodyPr/>
          <a:lstStyle/>
          <a:p>
            <a:endParaRPr lang="en-US"/>
          </a:p>
        </p:txBody>
      </p:sp>
      <p:sp>
        <p:nvSpPr>
          <p:cNvPr id="7" name="Text 5"/>
          <p:cNvSpPr/>
          <p:nvPr/>
        </p:nvSpPr>
        <p:spPr>
          <a:xfrm>
            <a:off x="10561320" y="137160"/>
            <a:ext cx="1417320" cy="320040"/>
          </a:xfrm>
          <a:prstGeom prst="rect">
            <a:avLst/>
          </a:prstGeom>
          <a:noFill/>
          <a:ln/>
        </p:spPr>
        <p:txBody>
          <a:bodyPr wrap="square" rtlCol="0" anchor="ctr"/>
          <a:lstStyle/>
          <a:p>
            <a:pPr marL="0" indent="0" algn="ctr">
              <a:buNone/>
            </a:pPr>
            <a:r>
              <a:rPr lang="en-US" sz="1100" b="1" dirty="0">
                <a:solidFill>
                  <a:srgbClr val="1F3864"/>
                </a:solidFill>
                <a:latin typeface="Calibri" pitchFamily="34" charset="0"/>
                <a:ea typeface="Calibri" pitchFamily="34" charset="-122"/>
                <a:cs typeface="Calibri" pitchFamily="34" charset="-120"/>
              </a:rPr>
              <a:t>180 MIN</a:t>
            </a:r>
            <a:endParaRPr lang="en-US" sz="1100" dirty="0"/>
          </a:p>
        </p:txBody>
      </p:sp>
      <p:sp>
        <p:nvSpPr>
          <p:cNvPr id="8" name="Shape 6"/>
          <p:cNvSpPr/>
          <p:nvPr/>
        </p:nvSpPr>
        <p:spPr>
          <a:xfrm>
            <a:off x="457200" y="1143000"/>
            <a:ext cx="11247120" cy="438912"/>
          </a:xfrm>
          <a:prstGeom prst="roundRect">
            <a:avLst>
              <a:gd name="adj" fmla="val 16667"/>
            </a:avLst>
          </a:prstGeom>
          <a:solidFill>
            <a:srgbClr val="FFFFFF"/>
          </a:solidFill>
          <a:ln w="12700">
            <a:solidFill>
              <a:srgbClr val="DCE1EA"/>
            </a:solidFill>
            <a:prstDash val="solid"/>
          </a:ln>
        </p:spPr>
        <p:txBody>
          <a:bodyPr/>
          <a:lstStyle/>
          <a:p>
            <a:endParaRPr lang="en-US" sz="1600"/>
          </a:p>
        </p:txBody>
      </p:sp>
      <p:sp>
        <p:nvSpPr>
          <p:cNvPr id="9" name="Shape 7"/>
          <p:cNvSpPr/>
          <p:nvPr/>
        </p:nvSpPr>
        <p:spPr>
          <a:xfrm>
            <a:off x="548640" y="1197864"/>
            <a:ext cx="411480" cy="329184"/>
          </a:xfrm>
          <a:prstGeom prst="roundRect">
            <a:avLst>
              <a:gd name="adj" fmla="val 16667"/>
            </a:avLst>
          </a:prstGeom>
          <a:solidFill>
            <a:srgbClr val="1F3864"/>
          </a:solidFill>
          <a:ln/>
        </p:spPr>
        <p:txBody>
          <a:bodyPr/>
          <a:lstStyle/>
          <a:p>
            <a:endParaRPr lang="en-US" sz="1600"/>
          </a:p>
        </p:txBody>
      </p:sp>
      <p:sp>
        <p:nvSpPr>
          <p:cNvPr id="10" name="Text 8"/>
          <p:cNvSpPr/>
          <p:nvPr/>
        </p:nvSpPr>
        <p:spPr>
          <a:xfrm>
            <a:off x="548640" y="1197864"/>
            <a:ext cx="411480" cy="32918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1" name="Text 9"/>
          <p:cNvSpPr/>
          <p:nvPr/>
        </p:nvSpPr>
        <p:spPr>
          <a:xfrm>
            <a:off x="1097280" y="1143000"/>
            <a:ext cx="8412480" cy="27432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Online Education: Landscape &amp; How Courses Work</a:t>
            </a:r>
            <a:endParaRPr lang="en-US" sz="1600" dirty="0"/>
          </a:p>
        </p:txBody>
      </p:sp>
      <p:sp>
        <p:nvSpPr>
          <p:cNvPr id="12" name="Text 10"/>
          <p:cNvSpPr/>
          <p:nvPr/>
        </p:nvSpPr>
        <p:spPr>
          <a:xfrm>
            <a:off x="1097280" y="1389888"/>
            <a:ext cx="8412480" cy="182880"/>
          </a:xfrm>
          <a:prstGeom prst="rect">
            <a:avLst/>
          </a:prstGeom>
          <a:noFill/>
          <a:ln/>
        </p:spPr>
        <p:txBody>
          <a:bodyPr wrap="square" rtlCol="0" anchor="ctr"/>
          <a:lstStyle/>
          <a:p>
            <a:pPr marL="0" indent="0">
              <a:buNone/>
            </a:pPr>
            <a:r>
              <a:rPr lang="en-US" sz="1600" dirty="0">
                <a:solidFill>
                  <a:srgbClr val="595959"/>
                </a:solidFill>
                <a:latin typeface="Calibri" pitchFamily="34" charset="0"/>
                <a:ea typeface="Calibri" pitchFamily="34" charset="-122"/>
                <a:cs typeface="Calibri" pitchFamily="34" charset="-120"/>
              </a:rPr>
              <a:t>Why online learning, course types, how a course runs</a:t>
            </a:r>
            <a:endParaRPr lang="en-US" sz="1600" dirty="0"/>
          </a:p>
        </p:txBody>
      </p:sp>
      <p:sp>
        <p:nvSpPr>
          <p:cNvPr id="13" name="Text 11"/>
          <p:cNvSpPr/>
          <p:nvPr/>
        </p:nvSpPr>
        <p:spPr>
          <a:xfrm>
            <a:off x="9784080" y="1143000"/>
            <a:ext cx="1645920" cy="438912"/>
          </a:xfrm>
          <a:prstGeom prst="rect">
            <a:avLst/>
          </a:prstGeom>
          <a:noFill/>
          <a:ln/>
        </p:spPr>
        <p:txBody>
          <a:bodyPr wrap="square" rtlCol="0" anchor="ctr"/>
          <a:lstStyle/>
          <a:p>
            <a:pPr marL="0" indent="0" algn="r">
              <a:buNone/>
            </a:pPr>
            <a:r>
              <a:rPr lang="en-US" sz="1600" b="1" dirty="0">
                <a:solidFill>
                  <a:srgbClr val="B8860B"/>
                </a:solidFill>
                <a:latin typeface="Calibri" pitchFamily="34" charset="0"/>
                <a:ea typeface="Calibri" pitchFamily="34" charset="-122"/>
                <a:cs typeface="Calibri" pitchFamily="34" charset="-120"/>
              </a:rPr>
              <a:t>15 min</a:t>
            </a:r>
            <a:endParaRPr lang="en-US" sz="1600" dirty="0"/>
          </a:p>
        </p:txBody>
      </p:sp>
      <p:sp>
        <p:nvSpPr>
          <p:cNvPr id="14" name="Shape 12"/>
          <p:cNvSpPr/>
          <p:nvPr/>
        </p:nvSpPr>
        <p:spPr>
          <a:xfrm>
            <a:off x="457200" y="1645920"/>
            <a:ext cx="11247120" cy="438912"/>
          </a:xfrm>
          <a:prstGeom prst="roundRect">
            <a:avLst>
              <a:gd name="adj" fmla="val 16667"/>
            </a:avLst>
          </a:prstGeom>
          <a:solidFill>
            <a:srgbClr val="FFFFFF"/>
          </a:solidFill>
          <a:ln w="12700">
            <a:solidFill>
              <a:srgbClr val="DCE1EA"/>
            </a:solidFill>
            <a:prstDash val="solid"/>
          </a:ln>
        </p:spPr>
        <p:txBody>
          <a:bodyPr/>
          <a:lstStyle/>
          <a:p>
            <a:endParaRPr lang="en-US" sz="1600"/>
          </a:p>
        </p:txBody>
      </p:sp>
      <p:sp>
        <p:nvSpPr>
          <p:cNvPr id="15" name="Shape 13"/>
          <p:cNvSpPr/>
          <p:nvPr/>
        </p:nvSpPr>
        <p:spPr>
          <a:xfrm>
            <a:off x="548640" y="1700784"/>
            <a:ext cx="411480" cy="329184"/>
          </a:xfrm>
          <a:prstGeom prst="roundRect">
            <a:avLst>
              <a:gd name="adj" fmla="val 16667"/>
            </a:avLst>
          </a:prstGeom>
          <a:solidFill>
            <a:srgbClr val="1F3864"/>
          </a:solidFill>
          <a:ln/>
        </p:spPr>
        <p:txBody>
          <a:bodyPr/>
          <a:lstStyle/>
          <a:p>
            <a:endParaRPr lang="en-US" sz="1600"/>
          </a:p>
        </p:txBody>
      </p:sp>
      <p:sp>
        <p:nvSpPr>
          <p:cNvPr id="16" name="Text 14"/>
          <p:cNvSpPr/>
          <p:nvPr/>
        </p:nvSpPr>
        <p:spPr>
          <a:xfrm>
            <a:off x="548640" y="1700784"/>
            <a:ext cx="411480" cy="32918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7" name="Text 15"/>
          <p:cNvSpPr/>
          <p:nvPr/>
        </p:nvSpPr>
        <p:spPr>
          <a:xfrm>
            <a:off x="1097280" y="1645920"/>
            <a:ext cx="8412480" cy="27432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Coursera &amp; edX — University-Led Platforms</a:t>
            </a:r>
            <a:endParaRPr lang="en-US" sz="1600" dirty="0"/>
          </a:p>
        </p:txBody>
      </p:sp>
      <p:sp>
        <p:nvSpPr>
          <p:cNvPr id="18" name="Text 16"/>
          <p:cNvSpPr/>
          <p:nvPr/>
        </p:nvSpPr>
        <p:spPr>
          <a:xfrm>
            <a:off x="1097280" y="1892808"/>
            <a:ext cx="8412480" cy="182880"/>
          </a:xfrm>
          <a:prstGeom prst="rect">
            <a:avLst/>
          </a:prstGeom>
          <a:noFill/>
          <a:ln/>
        </p:spPr>
        <p:txBody>
          <a:bodyPr wrap="square" rtlCol="0" anchor="ctr"/>
          <a:lstStyle/>
          <a:p>
            <a:pPr marL="0" indent="0">
              <a:buNone/>
            </a:pPr>
            <a:r>
              <a:rPr lang="en-US" sz="1600" dirty="0">
                <a:solidFill>
                  <a:srgbClr val="595959"/>
                </a:solidFill>
                <a:latin typeface="Calibri" pitchFamily="34" charset="0"/>
                <a:ea typeface="Calibri" pitchFamily="34" charset="-122"/>
                <a:cs typeface="Calibri" pitchFamily="34" charset="-120"/>
              </a:rPr>
              <a:t>Interface tour, features, tracks, certificates</a:t>
            </a:r>
            <a:endParaRPr lang="en-US" sz="1600" dirty="0"/>
          </a:p>
        </p:txBody>
      </p:sp>
      <p:sp>
        <p:nvSpPr>
          <p:cNvPr id="19" name="Text 17"/>
          <p:cNvSpPr/>
          <p:nvPr/>
        </p:nvSpPr>
        <p:spPr>
          <a:xfrm>
            <a:off x="9784080" y="1645920"/>
            <a:ext cx="1645920" cy="438912"/>
          </a:xfrm>
          <a:prstGeom prst="rect">
            <a:avLst/>
          </a:prstGeom>
          <a:noFill/>
          <a:ln/>
        </p:spPr>
        <p:txBody>
          <a:bodyPr wrap="square" rtlCol="0" anchor="ctr"/>
          <a:lstStyle/>
          <a:p>
            <a:pPr marL="0" indent="0" algn="r">
              <a:buNone/>
            </a:pPr>
            <a:r>
              <a:rPr lang="en-US" sz="1600" b="1" dirty="0">
                <a:solidFill>
                  <a:srgbClr val="B8860B"/>
                </a:solidFill>
                <a:latin typeface="Calibri" pitchFamily="34" charset="0"/>
                <a:ea typeface="Calibri" pitchFamily="34" charset="-122"/>
                <a:cs typeface="Calibri" pitchFamily="34" charset="-120"/>
              </a:rPr>
              <a:t>20 min</a:t>
            </a:r>
            <a:endParaRPr lang="en-US" sz="1600" dirty="0"/>
          </a:p>
        </p:txBody>
      </p:sp>
      <p:sp>
        <p:nvSpPr>
          <p:cNvPr id="20" name="Shape 18"/>
          <p:cNvSpPr/>
          <p:nvPr/>
        </p:nvSpPr>
        <p:spPr>
          <a:xfrm>
            <a:off x="457200" y="2148840"/>
            <a:ext cx="11247120" cy="438912"/>
          </a:xfrm>
          <a:prstGeom prst="roundRect">
            <a:avLst>
              <a:gd name="adj" fmla="val 16667"/>
            </a:avLst>
          </a:prstGeom>
          <a:solidFill>
            <a:srgbClr val="FFFFFF"/>
          </a:solidFill>
          <a:ln w="12700">
            <a:solidFill>
              <a:srgbClr val="DCE1EA"/>
            </a:solidFill>
            <a:prstDash val="solid"/>
          </a:ln>
        </p:spPr>
        <p:txBody>
          <a:bodyPr/>
          <a:lstStyle/>
          <a:p>
            <a:endParaRPr lang="en-US" sz="1600"/>
          </a:p>
        </p:txBody>
      </p:sp>
      <p:sp>
        <p:nvSpPr>
          <p:cNvPr id="21" name="Shape 19"/>
          <p:cNvSpPr/>
          <p:nvPr/>
        </p:nvSpPr>
        <p:spPr>
          <a:xfrm>
            <a:off x="548640" y="2203704"/>
            <a:ext cx="411480" cy="329184"/>
          </a:xfrm>
          <a:prstGeom prst="roundRect">
            <a:avLst>
              <a:gd name="adj" fmla="val 16667"/>
            </a:avLst>
          </a:prstGeom>
          <a:solidFill>
            <a:srgbClr val="1F3864"/>
          </a:solidFill>
          <a:ln/>
        </p:spPr>
        <p:txBody>
          <a:bodyPr/>
          <a:lstStyle/>
          <a:p>
            <a:endParaRPr lang="en-US" sz="1600"/>
          </a:p>
        </p:txBody>
      </p:sp>
      <p:sp>
        <p:nvSpPr>
          <p:cNvPr id="22" name="Text 20"/>
          <p:cNvSpPr/>
          <p:nvPr/>
        </p:nvSpPr>
        <p:spPr>
          <a:xfrm>
            <a:off x="548640" y="2203704"/>
            <a:ext cx="411480" cy="32918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23" name="Text 21"/>
          <p:cNvSpPr/>
          <p:nvPr/>
        </p:nvSpPr>
        <p:spPr>
          <a:xfrm>
            <a:off x="1097280" y="2148840"/>
            <a:ext cx="8412480" cy="27432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Udemy, Khan Academy &amp; Other Sources</a:t>
            </a:r>
            <a:endParaRPr lang="en-US" sz="1600" dirty="0"/>
          </a:p>
        </p:txBody>
      </p:sp>
      <p:sp>
        <p:nvSpPr>
          <p:cNvPr id="24" name="Text 22"/>
          <p:cNvSpPr/>
          <p:nvPr/>
        </p:nvSpPr>
        <p:spPr>
          <a:xfrm>
            <a:off x="1097280" y="2395728"/>
            <a:ext cx="8412480" cy="182880"/>
          </a:xfrm>
          <a:prstGeom prst="rect">
            <a:avLst/>
          </a:prstGeom>
          <a:noFill/>
          <a:ln/>
        </p:spPr>
        <p:txBody>
          <a:bodyPr wrap="square" rtlCol="0" anchor="ctr"/>
          <a:lstStyle/>
          <a:p>
            <a:pPr marL="0" indent="0">
              <a:buNone/>
            </a:pPr>
            <a:r>
              <a:rPr lang="en-US" sz="1600" dirty="0">
                <a:solidFill>
                  <a:srgbClr val="595959"/>
                </a:solidFill>
                <a:latin typeface="Calibri" pitchFamily="34" charset="0"/>
                <a:ea typeface="Calibri" pitchFamily="34" charset="-122"/>
                <a:cs typeface="Calibri" pitchFamily="34" charset="-120"/>
              </a:rPr>
              <a:t>Comparison table, choosing a credible course</a:t>
            </a:r>
            <a:endParaRPr lang="en-US" sz="1600" dirty="0"/>
          </a:p>
        </p:txBody>
      </p:sp>
      <p:sp>
        <p:nvSpPr>
          <p:cNvPr id="25" name="Text 23"/>
          <p:cNvSpPr/>
          <p:nvPr/>
        </p:nvSpPr>
        <p:spPr>
          <a:xfrm>
            <a:off x="9784080" y="2148840"/>
            <a:ext cx="1645920" cy="438912"/>
          </a:xfrm>
          <a:prstGeom prst="rect">
            <a:avLst/>
          </a:prstGeom>
          <a:noFill/>
          <a:ln/>
        </p:spPr>
        <p:txBody>
          <a:bodyPr wrap="square" rtlCol="0" anchor="ctr"/>
          <a:lstStyle/>
          <a:p>
            <a:pPr marL="0" indent="0" algn="r">
              <a:buNone/>
            </a:pPr>
            <a:r>
              <a:rPr lang="en-US" sz="1600" b="1" dirty="0">
                <a:solidFill>
                  <a:srgbClr val="B8860B"/>
                </a:solidFill>
                <a:latin typeface="Calibri" pitchFamily="34" charset="0"/>
                <a:ea typeface="Calibri" pitchFamily="34" charset="-122"/>
                <a:cs typeface="Calibri" pitchFamily="34" charset="-120"/>
              </a:rPr>
              <a:t>25 min</a:t>
            </a:r>
            <a:endParaRPr lang="en-US" sz="1600" dirty="0"/>
          </a:p>
        </p:txBody>
      </p:sp>
      <p:sp>
        <p:nvSpPr>
          <p:cNvPr id="26" name="Shape 24"/>
          <p:cNvSpPr/>
          <p:nvPr/>
        </p:nvSpPr>
        <p:spPr>
          <a:xfrm>
            <a:off x="457200" y="2651760"/>
            <a:ext cx="11247120" cy="438912"/>
          </a:xfrm>
          <a:prstGeom prst="roundRect">
            <a:avLst>
              <a:gd name="adj" fmla="val 16667"/>
            </a:avLst>
          </a:prstGeom>
          <a:solidFill>
            <a:srgbClr val="FDF3E3"/>
          </a:solidFill>
          <a:ln w="12700">
            <a:solidFill>
              <a:srgbClr val="DCE1EA"/>
            </a:solidFill>
            <a:prstDash val="solid"/>
          </a:ln>
        </p:spPr>
        <p:txBody>
          <a:bodyPr/>
          <a:lstStyle/>
          <a:p>
            <a:endParaRPr lang="en-US" sz="1600"/>
          </a:p>
        </p:txBody>
      </p:sp>
      <p:sp>
        <p:nvSpPr>
          <p:cNvPr id="27" name="Shape 25"/>
          <p:cNvSpPr/>
          <p:nvPr/>
        </p:nvSpPr>
        <p:spPr>
          <a:xfrm>
            <a:off x="548640" y="2706624"/>
            <a:ext cx="411480" cy="329184"/>
          </a:xfrm>
          <a:prstGeom prst="roundRect">
            <a:avLst>
              <a:gd name="adj" fmla="val 16667"/>
            </a:avLst>
          </a:prstGeom>
          <a:solidFill>
            <a:srgbClr val="B8860B"/>
          </a:solidFill>
          <a:ln/>
        </p:spPr>
        <p:txBody>
          <a:bodyPr/>
          <a:lstStyle/>
          <a:p>
            <a:endParaRPr lang="en-US" sz="1600"/>
          </a:p>
        </p:txBody>
      </p:sp>
      <p:sp>
        <p:nvSpPr>
          <p:cNvPr id="28" name="Text 26"/>
          <p:cNvSpPr/>
          <p:nvPr/>
        </p:nvSpPr>
        <p:spPr>
          <a:xfrm>
            <a:off x="548640" y="2706624"/>
            <a:ext cx="411480" cy="32918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9" name="Text 27"/>
          <p:cNvSpPr/>
          <p:nvPr/>
        </p:nvSpPr>
        <p:spPr>
          <a:xfrm>
            <a:off x="1097280" y="2688336"/>
            <a:ext cx="8412480" cy="274320"/>
          </a:xfrm>
          <a:prstGeom prst="rect">
            <a:avLst/>
          </a:prstGeom>
          <a:noFill/>
          <a:ln/>
        </p:spPr>
        <p:txBody>
          <a:bodyPr wrap="square" rtlCol="0" anchor="ctr"/>
          <a:lstStyle/>
          <a:p>
            <a:pPr marL="0" indent="0">
              <a:buNone/>
            </a:pPr>
            <a:r>
              <a:rPr lang="en-US" sz="1600" b="1" dirty="0">
                <a:solidFill>
                  <a:srgbClr val="B8860B"/>
                </a:solidFill>
                <a:latin typeface="Calibri" pitchFamily="34" charset="0"/>
                <a:ea typeface="Calibri" pitchFamily="34" charset="-122"/>
                <a:cs typeface="Calibri" pitchFamily="34" charset="-120"/>
              </a:rPr>
              <a:t>BREAK 1</a:t>
            </a:r>
            <a:endParaRPr lang="en-US" sz="1600" dirty="0"/>
          </a:p>
        </p:txBody>
      </p:sp>
      <p:sp>
        <p:nvSpPr>
          <p:cNvPr id="30" name="Text 28"/>
          <p:cNvSpPr/>
          <p:nvPr/>
        </p:nvSpPr>
        <p:spPr>
          <a:xfrm>
            <a:off x="9784080" y="2651760"/>
            <a:ext cx="1645920" cy="438912"/>
          </a:xfrm>
          <a:prstGeom prst="rect">
            <a:avLst/>
          </a:prstGeom>
          <a:noFill/>
          <a:ln/>
        </p:spPr>
        <p:txBody>
          <a:bodyPr wrap="square" rtlCol="0" anchor="ctr"/>
          <a:lstStyle/>
          <a:p>
            <a:pPr marL="0" indent="0" algn="r">
              <a:buNone/>
            </a:pPr>
            <a:r>
              <a:rPr lang="en-US" sz="1600" b="1" dirty="0">
                <a:solidFill>
                  <a:srgbClr val="B8860B"/>
                </a:solidFill>
                <a:latin typeface="Calibri" pitchFamily="34" charset="0"/>
                <a:ea typeface="Calibri" pitchFamily="34" charset="-122"/>
                <a:cs typeface="Calibri" pitchFamily="34" charset="-120"/>
              </a:rPr>
              <a:t>15 min</a:t>
            </a:r>
            <a:endParaRPr lang="en-US" sz="1600" dirty="0"/>
          </a:p>
        </p:txBody>
      </p:sp>
      <p:sp>
        <p:nvSpPr>
          <p:cNvPr id="31" name="Shape 29"/>
          <p:cNvSpPr/>
          <p:nvPr/>
        </p:nvSpPr>
        <p:spPr>
          <a:xfrm>
            <a:off x="457200" y="3154680"/>
            <a:ext cx="11247120" cy="438912"/>
          </a:xfrm>
          <a:prstGeom prst="roundRect">
            <a:avLst>
              <a:gd name="adj" fmla="val 16667"/>
            </a:avLst>
          </a:prstGeom>
          <a:solidFill>
            <a:srgbClr val="FFFFFF"/>
          </a:solidFill>
          <a:ln w="12700">
            <a:solidFill>
              <a:srgbClr val="DCE1EA"/>
            </a:solidFill>
            <a:prstDash val="solid"/>
          </a:ln>
        </p:spPr>
        <p:txBody>
          <a:bodyPr/>
          <a:lstStyle/>
          <a:p>
            <a:endParaRPr lang="en-US" sz="1600"/>
          </a:p>
        </p:txBody>
      </p:sp>
      <p:sp>
        <p:nvSpPr>
          <p:cNvPr id="32" name="Shape 30"/>
          <p:cNvSpPr/>
          <p:nvPr/>
        </p:nvSpPr>
        <p:spPr>
          <a:xfrm>
            <a:off x="548640" y="3209544"/>
            <a:ext cx="411480" cy="329184"/>
          </a:xfrm>
          <a:prstGeom prst="roundRect">
            <a:avLst>
              <a:gd name="adj" fmla="val 16667"/>
            </a:avLst>
          </a:prstGeom>
          <a:solidFill>
            <a:srgbClr val="1F3864"/>
          </a:solidFill>
          <a:ln/>
        </p:spPr>
        <p:txBody>
          <a:bodyPr/>
          <a:lstStyle/>
          <a:p>
            <a:endParaRPr lang="en-US" sz="1600"/>
          </a:p>
        </p:txBody>
      </p:sp>
      <p:sp>
        <p:nvSpPr>
          <p:cNvPr id="33" name="Text 31"/>
          <p:cNvSpPr/>
          <p:nvPr/>
        </p:nvSpPr>
        <p:spPr>
          <a:xfrm>
            <a:off x="548640" y="3209544"/>
            <a:ext cx="411480" cy="32918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34" name="Text 32"/>
          <p:cNvSpPr/>
          <p:nvPr/>
        </p:nvSpPr>
        <p:spPr>
          <a:xfrm>
            <a:off x="1097280" y="3154680"/>
            <a:ext cx="8412480" cy="27432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Interactive Multimedia in Learning</a:t>
            </a:r>
            <a:endParaRPr lang="en-US" sz="1600" dirty="0"/>
          </a:p>
        </p:txBody>
      </p:sp>
      <p:sp>
        <p:nvSpPr>
          <p:cNvPr id="35" name="Text 33"/>
          <p:cNvSpPr/>
          <p:nvPr/>
        </p:nvSpPr>
        <p:spPr>
          <a:xfrm>
            <a:off x="1097280" y="3401568"/>
            <a:ext cx="8412480" cy="182880"/>
          </a:xfrm>
          <a:prstGeom prst="rect">
            <a:avLst/>
          </a:prstGeom>
          <a:noFill/>
          <a:ln/>
        </p:spPr>
        <p:txBody>
          <a:bodyPr wrap="square" rtlCol="0" anchor="ctr"/>
          <a:lstStyle/>
          <a:p>
            <a:pPr marL="0" indent="0">
              <a:buNone/>
            </a:pPr>
            <a:r>
              <a:rPr lang="en-US" sz="1600" dirty="0">
                <a:solidFill>
                  <a:srgbClr val="595959"/>
                </a:solidFill>
                <a:latin typeface="Calibri" pitchFamily="34" charset="0"/>
                <a:ea typeface="Calibri" pitchFamily="34" charset="-122"/>
                <a:cs typeface="Calibri" pitchFamily="34" charset="-120"/>
              </a:rPr>
              <a:t>What it is, types, tools, benefits and cautions</a:t>
            </a:r>
            <a:endParaRPr lang="en-US" sz="1600" dirty="0"/>
          </a:p>
        </p:txBody>
      </p:sp>
      <p:sp>
        <p:nvSpPr>
          <p:cNvPr id="36" name="Text 34"/>
          <p:cNvSpPr/>
          <p:nvPr/>
        </p:nvSpPr>
        <p:spPr>
          <a:xfrm>
            <a:off x="9784080" y="3154680"/>
            <a:ext cx="1645920" cy="438912"/>
          </a:xfrm>
          <a:prstGeom prst="rect">
            <a:avLst/>
          </a:prstGeom>
          <a:noFill/>
          <a:ln/>
        </p:spPr>
        <p:txBody>
          <a:bodyPr wrap="square" rtlCol="0" anchor="ctr"/>
          <a:lstStyle/>
          <a:p>
            <a:pPr marL="0" indent="0" algn="r">
              <a:buNone/>
            </a:pPr>
            <a:r>
              <a:rPr lang="en-US" sz="1600" b="1" dirty="0">
                <a:solidFill>
                  <a:srgbClr val="B8860B"/>
                </a:solidFill>
                <a:latin typeface="Calibri" pitchFamily="34" charset="0"/>
                <a:ea typeface="Calibri" pitchFamily="34" charset="-122"/>
                <a:cs typeface="Calibri" pitchFamily="34" charset="-120"/>
              </a:rPr>
              <a:t>20 min</a:t>
            </a:r>
            <a:endParaRPr lang="en-US" sz="1600" dirty="0"/>
          </a:p>
        </p:txBody>
      </p:sp>
      <p:sp>
        <p:nvSpPr>
          <p:cNvPr id="37" name="Shape 35"/>
          <p:cNvSpPr/>
          <p:nvPr/>
        </p:nvSpPr>
        <p:spPr>
          <a:xfrm>
            <a:off x="457200" y="3657600"/>
            <a:ext cx="11247120" cy="438912"/>
          </a:xfrm>
          <a:prstGeom prst="roundRect">
            <a:avLst>
              <a:gd name="adj" fmla="val 16667"/>
            </a:avLst>
          </a:prstGeom>
          <a:solidFill>
            <a:srgbClr val="FFFFFF"/>
          </a:solidFill>
          <a:ln w="12700">
            <a:solidFill>
              <a:srgbClr val="DCE1EA"/>
            </a:solidFill>
            <a:prstDash val="solid"/>
          </a:ln>
        </p:spPr>
        <p:txBody>
          <a:bodyPr/>
          <a:lstStyle/>
          <a:p>
            <a:endParaRPr lang="en-US" sz="1600"/>
          </a:p>
        </p:txBody>
      </p:sp>
      <p:sp>
        <p:nvSpPr>
          <p:cNvPr id="38" name="Shape 36"/>
          <p:cNvSpPr/>
          <p:nvPr/>
        </p:nvSpPr>
        <p:spPr>
          <a:xfrm>
            <a:off x="548640" y="3712464"/>
            <a:ext cx="411480" cy="329184"/>
          </a:xfrm>
          <a:prstGeom prst="roundRect">
            <a:avLst>
              <a:gd name="adj" fmla="val 16667"/>
            </a:avLst>
          </a:prstGeom>
          <a:solidFill>
            <a:srgbClr val="1F3864"/>
          </a:solidFill>
          <a:ln/>
        </p:spPr>
        <p:txBody>
          <a:bodyPr/>
          <a:lstStyle/>
          <a:p>
            <a:endParaRPr lang="en-US" sz="1600"/>
          </a:p>
        </p:txBody>
      </p:sp>
      <p:sp>
        <p:nvSpPr>
          <p:cNvPr id="39" name="Text 37"/>
          <p:cNvSpPr/>
          <p:nvPr/>
        </p:nvSpPr>
        <p:spPr>
          <a:xfrm>
            <a:off x="548640" y="3712464"/>
            <a:ext cx="411480" cy="32918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40" name="Text 38"/>
          <p:cNvSpPr/>
          <p:nvPr/>
        </p:nvSpPr>
        <p:spPr>
          <a:xfrm>
            <a:off x="1097280" y="3657600"/>
            <a:ext cx="8412480" cy="27432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Virtual Classrooms</a:t>
            </a:r>
            <a:endParaRPr lang="en-US" sz="1600" dirty="0"/>
          </a:p>
        </p:txBody>
      </p:sp>
      <p:sp>
        <p:nvSpPr>
          <p:cNvPr id="41" name="Text 39"/>
          <p:cNvSpPr/>
          <p:nvPr/>
        </p:nvSpPr>
        <p:spPr>
          <a:xfrm>
            <a:off x="1097280" y="3904488"/>
            <a:ext cx="8412480" cy="182880"/>
          </a:xfrm>
          <a:prstGeom prst="rect">
            <a:avLst/>
          </a:prstGeom>
          <a:noFill/>
          <a:ln/>
        </p:spPr>
        <p:txBody>
          <a:bodyPr wrap="square" rtlCol="0" anchor="ctr"/>
          <a:lstStyle/>
          <a:p>
            <a:pPr marL="0" indent="0">
              <a:buNone/>
            </a:pPr>
            <a:r>
              <a:rPr lang="en-US" sz="1600" dirty="0">
                <a:solidFill>
                  <a:srgbClr val="595959"/>
                </a:solidFill>
                <a:latin typeface="Calibri" pitchFamily="34" charset="0"/>
                <a:ea typeface="Calibri" pitchFamily="34" charset="-122"/>
                <a:cs typeface="Calibri" pitchFamily="34" charset="-120"/>
              </a:rPr>
              <a:t>How they work, features, tools, best practices</a:t>
            </a:r>
            <a:endParaRPr lang="en-US" sz="1600" dirty="0"/>
          </a:p>
        </p:txBody>
      </p:sp>
      <p:sp>
        <p:nvSpPr>
          <p:cNvPr id="42" name="Text 40"/>
          <p:cNvSpPr/>
          <p:nvPr/>
        </p:nvSpPr>
        <p:spPr>
          <a:xfrm>
            <a:off x="9784080" y="3657600"/>
            <a:ext cx="1645920" cy="438912"/>
          </a:xfrm>
          <a:prstGeom prst="rect">
            <a:avLst/>
          </a:prstGeom>
          <a:noFill/>
          <a:ln/>
        </p:spPr>
        <p:txBody>
          <a:bodyPr wrap="square" rtlCol="0" anchor="ctr"/>
          <a:lstStyle/>
          <a:p>
            <a:pPr marL="0" indent="0" algn="r">
              <a:buNone/>
            </a:pPr>
            <a:r>
              <a:rPr lang="en-US" sz="1600" b="1" dirty="0">
                <a:solidFill>
                  <a:srgbClr val="B8860B"/>
                </a:solidFill>
                <a:latin typeface="Calibri" pitchFamily="34" charset="0"/>
                <a:ea typeface="Calibri" pitchFamily="34" charset="-122"/>
                <a:cs typeface="Calibri" pitchFamily="34" charset="-120"/>
              </a:rPr>
              <a:t>20 min</a:t>
            </a:r>
            <a:endParaRPr lang="en-US" sz="1600" dirty="0"/>
          </a:p>
        </p:txBody>
      </p:sp>
      <p:sp>
        <p:nvSpPr>
          <p:cNvPr id="43" name="Shape 41"/>
          <p:cNvSpPr/>
          <p:nvPr/>
        </p:nvSpPr>
        <p:spPr>
          <a:xfrm>
            <a:off x="457200" y="4160520"/>
            <a:ext cx="11247120" cy="438912"/>
          </a:xfrm>
          <a:prstGeom prst="roundRect">
            <a:avLst>
              <a:gd name="adj" fmla="val 16667"/>
            </a:avLst>
          </a:prstGeom>
          <a:solidFill>
            <a:srgbClr val="FFFFFF"/>
          </a:solidFill>
          <a:ln w="12700">
            <a:solidFill>
              <a:srgbClr val="DCE1EA"/>
            </a:solidFill>
            <a:prstDash val="solid"/>
          </a:ln>
        </p:spPr>
        <p:txBody>
          <a:bodyPr/>
          <a:lstStyle/>
          <a:p>
            <a:endParaRPr lang="en-US" sz="1600"/>
          </a:p>
        </p:txBody>
      </p:sp>
      <p:sp>
        <p:nvSpPr>
          <p:cNvPr id="44" name="Shape 42"/>
          <p:cNvSpPr/>
          <p:nvPr/>
        </p:nvSpPr>
        <p:spPr>
          <a:xfrm>
            <a:off x="548640" y="4215384"/>
            <a:ext cx="411480" cy="329184"/>
          </a:xfrm>
          <a:prstGeom prst="roundRect">
            <a:avLst>
              <a:gd name="adj" fmla="val 16667"/>
            </a:avLst>
          </a:prstGeom>
          <a:solidFill>
            <a:srgbClr val="1F3864"/>
          </a:solidFill>
          <a:ln/>
        </p:spPr>
        <p:txBody>
          <a:bodyPr/>
          <a:lstStyle/>
          <a:p>
            <a:endParaRPr lang="en-US" sz="1600"/>
          </a:p>
        </p:txBody>
      </p:sp>
      <p:sp>
        <p:nvSpPr>
          <p:cNvPr id="45" name="Text 43"/>
          <p:cNvSpPr/>
          <p:nvPr/>
        </p:nvSpPr>
        <p:spPr>
          <a:xfrm>
            <a:off x="548640" y="4215384"/>
            <a:ext cx="411480" cy="32918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06</a:t>
            </a:r>
            <a:endParaRPr lang="en-US" sz="1600" dirty="0"/>
          </a:p>
        </p:txBody>
      </p:sp>
      <p:sp>
        <p:nvSpPr>
          <p:cNvPr id="46" name="Text 44"/>
          <p:cNvSpPr/>
          <p:nvPr/>
        </p:nvSpPr>
        <p:spPr>
          <a:xfrm>
            <a:off x="1097280" y="4160520"/>
            <a:ext cx="8412480" cy="27432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Week 4 Catch-Up: Google Workspace</a:t>
            </a:r>
            <a:endParaRPr lang="en-US" sz="1600" dirty="0"/>
          </a:p>
        </p:txBody>
      </p:sp>
      <p:sp>
        <p:nvSpPr>
          <p:cNvPr id="47" name="Text 45"/>
          <p:cNvSpPr/>
          <p:nvPr/>
        </p:nvSpPr>
        <p:spPr>
          <a:xfrm>
            <a:off x="1097280" y="4407408"/>
            <a:ext cx="8412480" cy="182880"/>
          </a:xfrm>
          <a:prstGeom prst="rect">
            <a:avLst/>
          </a:prstGeom>
          <a:noFill/>
          <a:ln/>
        </p:spPr>
        <p:txBody>
          <a:bodyPr wrap="square" rtlCol="0" anchor="ctr"/>
          <a:lstStyle/>
          <a:p>
            <a:pPr marL="0" indent="0">
              <a:buNone/>
            </a:pPr>
            <a:r>
              <a:rPr lang="en-US" sz="1600" dirty="0">
                <a:solidFill>
                  <a:srgbClr val="595959"/>
                </a:solidFill>
                <a:latin typeface="Calibri" pitchFamily="34" charset="0"/>
                <a:ea typeface="Calibri" pitchFamily="34" charset="-122"/>
                <a:cs typeface="Calibri" pitchFamily="34" charset="-120"/>
              </a:rPr>
              <a:t>Docs, Sheets, and Slides — features and collaboration</a:t>
            </a:r>
            <a:endParaRPr lang="en-US" sz="1600" dirty="0"/>
          </a:p>
        </p:txBody>
      </p:sp>
      <p:sp>
        <p:nvSpPr>
          <p:cNvPr id="48" name="Text 46"/>
          <p:cNvSpPr/>
          <p:nvPr/>
        </p:nvSpPr>
        <p:spPr>
          <a:xfrm>
            <a:off x="9784080" y="4160520"/>
            <a:ext cx="1645920" cy="438912"/>
          </a:xfrm>
          <a:prstGeom prst="rect">
            <a:avLst/>
          </a:prstGeom>
          <a:noFill/>
          <a:ln/>
        </p:spPr>
        <p:txBody>
          <a:bodyPr wrap="square" rtlCol="0" anchor="ctr"/>
          <a:lstStyle/>
          <a:p>
            <a:pPr marL="0" indent="0" algn="r">
              <a:buNone/>
            </a:pPr>
            <a:r>
              <a:rPr lang="en-US" sz="1600" b="1" dirty="0">
                <a:solidFill>
                  <a:srgbClr val="B8860B"/>
                </a:solidFill>
                <a:latin typeface="Calibri" pitchFamily="34" charset="0"/>
                <a:ea typeface="Calibri" pitchFamily="34" charset="-122"/>
                <a:cs typeface="Calibri" pitchFamily="34" charset="-120"/>
              </a:rPr>
              <a:t>20 min</a:t>
            </a:r>
            <a:endParaRPr lang="en-US" sz="1600" dirty="0"/>
          </a:p>
        </p:txBody>
      </p:sp>
      <p:sp>
        <p:nvSpPr>
          <p:cNvPr id="49" name="Shape 47"/>
          <p:cNvSpPr/>
          <p:nvPr/>
        </p:nvSpPr>
        <p:spPr>
          <a:xfrm>
            <a:off x="457200" y="4663440"/>
            <a:ext cx="11247120" cy="438912"/>
          </a:xfrm>
          <a:prstGeom prst="roundRect">
            <a:avLst>
              <a:gd name="adj" fmla="val 16667"/>
            </a:avLst>
          </a:prstGeom>
          <a:solidFill>
            <a:srgbClr val="FDF3E3"/>
          </a:solidFill>
          <a:ln w="12700">
            <a:solidFill>
              <a:srgbClr val="DCE1EA"/>
            </a:solidFill>
            <a:prstDash val="solid"/>
          </a:ln>
        </p:spPr>
        <p:txBody>
          <a:bodyPr/>
          <a:lstStyle/>
          <a:p>
            <a:endParaRPr lang="en-US" sz="1600"/>
          </a:p>
        </p:txBody>
      </p:sp>
      <p:sp>
        <p:nvSpPr>
          <p:cNvPr id="50" name="Shape 48"/>
          <p:cNvSpPr/>
          <p:nvPr/>
        </p:nvSpPr>
        <p:spPr>
          <a:xfrm>
            <a:off x="548640" y="4718304"/>
            <a:ext cx="411480" cy="329184"/>
          </a:xfrm>
          <a:prstGeom prst="roundRect">
            <a:avLst>
              <a:gd name="adj" fmla="val 16667"/>
            </a:avLst>
          </a:prstGeom>
          <a:solidFill>
            <a:srgbClr val="B8860B"/>
          </a:solidFill>
          <a:ln/>
        </p:spPr>
        <p:txBody>
          <a:bodyPr/>
          <a:lstStyle/>
          <a:p>
            <a:endParaRPr lang="en-US" sz="1600"/>
          </a:p>
        </p:txBody>
      </p:sp>
      <p:sp>
        <p:nvSpPr>
          <p:cNvPr id="51" name="Text 49"/>
          <p:cNvSpPr/>
          <p:nvPr/>
        </p:nvSpPr>
        <p:spPr>
          <a:xfrm>
            <a:off x="548640" y="4718304"/>
            <a:ext cx="411480" cy="32918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52" name="Text 50"/>
          <p:cNvSpPr/>
          <p:nvPr/>
        </p:nvSpPr>
        <p:spPr>
          <a:xfrm>
            <a:off x="1097280" y="4700016"/>
            <a:ext cx="8412480" cy="274320"/>
          </a:xfrm>
          <a:prstGeom prst="rect">
            <a:avLst/>
          </a:prstGeom>
          <a:noFill/>
          <a:ln/>
        </p:spPr>
        <p:txBody>
          <a:bodyPr wrap="square" rtlCol="0" anchor="ctr"/>
          <a:lstStyle/>
          <a:p>
            <a:pPr marL="0" indent="0">
              <a:buNone/>
            </a:pPr>
            <a:r>
              <a:rPr lang="en-US" sz="1600" b="1" dirty="0">
                <a:solidFill>
                  <a:srgbClr val="B8860B"/>
                </a:solidFill>
                <a:latin typeface="Calibri" pitchFamily="34" charset="0"/>
                <a:ea typeface="Calibri" pitchFamily="34" charset="-122"/>
                <a:cs typeface="Calibri" pitchFamily="34" charset="-120"/>
              </a:rPr>
              <a:t>BREAK 2</a:t>
            </a:r>
            <a:endParaRPr lang="en-US" sz="1600" dirty="0"/>
          </a:p>
        </p:txBody>
      </p:sp>
      <p:sp>
        <p:nvSpPr>
          <p:cNvPr id="53" name="Text 51"/>
          <p:cNvSpPr/>
          <p:nvPr/>
        </p:nvSpPr>
        <p:spPr>
          <a:xfrm>
            <a:off x="9784080" y="4663440"/>
            <a:ext cx="1645920" cy="438912"/>
          </a:xfrm>
          <a:prstGeom prst="rect">
            <a:avLst/>
          </a:prstGeom>
          <a:noFill/>
          <a:ln/>
        </p:spPr>
        <p:txBody>
          <a:bodyPr wrap="square" rtlCol="0" anchor="ctr"/>
          <a:lstStyle/>
          <a:p>
            <a:pPr marL="0" indent="0" algn="r">
              <a:buNone/>
            </a:pPr>
            <a:r>
              <a:rPr lang="en-US" sz="1600" b="1" dirty="0">
                <a:solidFill>
                  <a:srgbClr val="B8860B"/>
                </a:solidFill>
                <a:latin typeface="Calibri" pitchFamily="34" charset="0"/>
                <a:ea typeface="Calibri" pitchFamily="34" charset="-122"/>
                <a:cs typeface="Calibri" pitchFamily="34" charset="-120"/>
              </a:rPr>
              <a:t>10 min</a:t>
            </a:r>
            <a:endParaRPr lang="en-US" sz="1600" dirty="0"/>
          </a:p>
        </p:txBody>
      </p:sp>
      <p:sp>
        <p:nvSpPr>
          <p:cNvPr id="54" name="Shape 52"/>
          <p:cNvSpPr/>
          <p:nvPr/>
        </p:nvSpPr>
        <p:spPr>
          <a:xfrm>
            <a:off x="457200" y="5166360"/>
            <a:ext cx="11247120" cy="438912"/>
          </a:xfrm>
          <a:prstGeom prst="roundRect">
            <a:avLst>
              <a:gd name="adj" fmla="val 16667"/>
            </a:avLst>
          </a:prstGeom>
          <a:solidFill>
            <a:srgbClr val="FFFFFF"/>
          </a:solidFill>
          <a:ln w="12700">
            <a:solidFill>
              <a:srgbClr val="DCE1EA"/>
            </a:solidFill>
            <a:prstDash val="solid"/>
          </a:ln>
        </p:spPr>
        <p:txBody>
          <a:bodyPr/>
          <a:lstStyle/>
          <a:p>
            <a:endParaRPr lang="en-US" sz="1600"/>
          </a:p>
        </p:txBody>
      </p:sp>
      <p:sp>
        <p:nvSpPr>
          <p:cNvPr id="55" name="Shape 53"/>
          <p:cNvSpPr/>
          <p:nvPr/>
        </p:nvSpPr>
        <p:spPr>
          <a:xfrm>
            <a:off x="548640" y="5221224"/>
            <a:ext cx="411480" cy="329184"/>
          </a:xfrm>
          <a:prstGeom prst="roundRect">
            <a:avLst>
              <a:gd name="adj" fmla="val 16667"/>
            </a:avLst>
          </a:prstGeom>
          <a:solidFill>
            <a:srgbClr val="1F3864"/>
          </a:solidFill>
          <a:ln/>
        </p:spPr>
        <p:txBody>
          <a:bodyPr/>
          <a:lstStyle/>
          <a:p>
            <a:endParaRPr lang="en-US" sz="1600"/>
          </a:p>
        </p:txBody>
      </p:sp>
      <p:sp>
        <p:nvSpPr>
          <p:cNvPr id="56" name="Text 54"/>
          <p:cNvSpPr/>
          <p:nvPr/>
        </p:nvSpPr>
        <p:spPr>
          <a:xfrm>
            <a:off x="548640" y="5221224"/>
            <a:ext cx="411480" cy="32918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07</a:t>
            </a:r>
            <a:endParaRPr lang="en-US" sz="1600" dirty="0"/>
          </a:p>
        </p:txBody>
      </p:sp>
      <p:sp>
        <p:nvSpPr>
          <p:cNvPr id="57" name="Text 55"/>
          <p:cNvSpPr/>
          <p:nvPr/>
        </p:nvSpPr>
        <p:spPr>
          <a:xfrm>
            <a:off x="1097280" y="5166360"/>
            <a:ext cx="8412480" cy="27432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Week 4 Catch-Up: Cloud Storage</a:t>
            </a:r>
            <a:endParaRPr lang="en-US" sz="1600" dirty="0"/>
          </a:p>
        </p:txBody>
      </p:sp>
      <p:sp>
        <p:nvSpPr>
          <p:cNvPr id="58" name="Text 56"/>
          <p:cNvSpPr/>
          <p:nvPr/>
        </p:nvSpPr>
        <p:spPr>
          <a:xfrm>
            <a:off x="1097280" y="5413248"/>
            <a:ext cx="8412480" cy="182880"/>
          </a:xfrm>
          <a:prstGeom prst="rect">
            <a:avLst/>
          </a:prstGeom>
          <a:noFill/>
          <a:ln/>
        </p:spPr>
        <p:txBody>
          <a:bodyPr wrap="square" rtlCol="0" anchor="ctr"/>
          <a:lstStyle/>
          <a:p>
            <a:pPr marL="0" indent="0">
              <a:buNone/>
            </a:pPr>
            <a:r>
              <a:rPr lang="en-US" sz="1600" dirty="0">
                <a:solidFill>
                  <a:srgbClr val="595959"/>
                </a:solidFill>
                <a:latin typeface="Calibri" pitchFamily="34" charset="0"/>
                <a:ea typeface="Calibri" pitchFamily="34" charset="-122"/>
                <a:cs typeface="Calibri" pitchFamily="34" charset="-120"/>
              </a:rPr>
              <a:t>Google Drive, Dropbox, OneDrive, sharing, security</a:t>
            </a:r>
            <a:endParaRPr lang="en-US" sz="1600" dirty="0"/>
          </a:p>
        </p:txBody>
      </p:sp>
      <p:sp>
        <p:nvSpPr>
          <p:cNvPr id="59" name="Text 57"/>
          <p:cNvSpPr/>
          <p:nvPr/>
        </p:nvSpPr>
        <p:spPr>
          <a:xfrm>
            <a:off x="9784080" y="5166360"/>
            <a:ext cx="1645920" cy="438912"/>
          </a:xfrm>
          <a:prstGeom prst="rect">
            <a:avLst/>
          </a:prstGeom>
          <a:noFill/>
          <a:ln/>
        </p:spPr>
        <p:txBody>
          <a:bodyPr wrap="square" rtlCol="0" anchor="ctr"/>
          <a:lstStyle/>
          <a:p>
            <a:pPr marL="0" indent="0" algn="r">
              <a:buNone/>
            </a:pPr>
            <a:r>
              <a:rPr lang="en-US" sz="1600" b="1" dirty="0">
                <a:solidFill>
                  <a:srgbClr val="B8860B"/>
                </a:solidFill>
                <a:latin typeface="Calibri" pitchFamily="34" charset="0"/>
                <a:ea typeface="Calibri" pitchFamily="34" charset="-122"/>
                <a:cs typeface="Calibri" pitchFamily="34" charset="-120"/>
              </a:rPr>
              <a:t>25 min</a:t>
            </a:r>
            <a:endParaRPr lang="en-US" sz="1600" dirty="0"/>
          </a:p>
        </p:txBody>
      </p:sp>
      <p:sp>
        <p:nvSpPr>
          <p:cNvPr id="60" name="Shape 58"/>
          <p:cNvSpPr/>
          <p:nvPr/>
        </p:nvSpPr>
        <p:spPr>
          <a:xfrm>
            <a:off x="457200" y="5669280"/>
            <a:ext cx="11247120" cy="438912"/>
          </a:xfrm>
          <a:prstGeom prst="roundRect">
            <a:avLst>
              <a:gd name="adj" fmla="val 16667"/>
            </a:avLst>
          </a:prstGeom>
          <a:solidFill>
            <a:srgbClr val="FFFFFF"/>
          </a:solidFill>
          <a:ln w="12700">
            <a:solidFill>
              <a:srgbClr val="DCE1EA"/>
            </a:solidFill>
            <a:prstDash val="solid"/>
          </a:ln>
        </p:spPr>
        <p:txBody>
          <a:bodyPr/>
          <a:lstStyle/>
          <a:p>
            <a:endParaRPr lang="en-US" sz="1600"/>
          </a:p>
        </p:txBody>
      </p:sp>
      <p:sp>
        <p:nvSpPr>
          <p:cNvPr id="61" name="Shape 59"/>
          <p:cNvSpPr/>
          <p:nvPr/>
        </p:nvSpPr>
        <p:spPr>
          <a:xfrm>
            <a:off x="548640" y="5724144"/>
            <a:ext cx="411480" cy="329184"/>
          </a:xfrm>
          <a:prstGeom prst="roundRect">
            <a:avLst>
              <a:gd name="adj" fmla="val 16667"/>
            </a:avLst>
          </a:prstGeom>
          <a:solidFill>
            <a:srgbClr val="1F3864"/>
          </a:solidFill>
          <a:ln/>
        </p:spPr>
        <p:txBody>
          <a:bodyPr/>
          <a:lstStyle/>
          <a:p>
            <a:endParaRPr lang="en-US" sz="1600"/>
          </a:p>
        </p:txBody>
      </p:sp>
      <p:sp>
        <p:nvSpPr>
          <p:cNvPr id="62" name="Text 60"/>
          <p:cNvSpPr/>
          <p:nvPr/>
        </p:nvSpPr>
        <p:spPr>
          <a:xfrm>
            <a:off x="548640" y="5724144"/>
            <a:ext cx="411480" cy="32918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08</a:t>
            </a:r>
            <a:endParaRPr lang="en-US" sz="1600" dirty="0"/>
          </a:p>
        </p:txBody>
      </p:sp>
      <p:sp>
        <p:nvSpPr>
          <p:cNvPr id="63" name="Text 61"/>
          <p:cNvSpPr/>
          <p:nvPr/>
        </p:nvSpPr>
        <p:spPr>
          <a:xfrm>
            <a:off x="1097280" y="5669280"/>
            <a:ext cx="8412480" cy="27432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Hands-On Activity, Key Takeaways &amp; Exit Ticket</a:t>
            </a:r>
            <a:endParaRPr lang="en-US" sz="1600" dirty="0"/>
          </a:p>
        </p:txBody>
      </p:sp>
      <p:sp>
        <p:nvSpPr>
          <p:cNvPr id="64" name="Text 62"/>
          <p:cNvSpPr/>
          <p:nvPr/>
        </p:nvSpPr>
        <p:spPr>
          <a:xfrm>
            <a:off x="1097280" y="5916168"/>
            <a:ext cx="8412480" cy="182880"/>
          </a:xfrm>
          <a:prstGeom prst="rect">
            <a:avLst/>
          </a:prstGeom>
          <a:noFill/>
          <a:ln/>
        </p:spPr>
        <p:txBody>
          <a:bodyPr wrap="square" rtlCol="0" anchor="ctr"/>
          <a:lstStyle/>
          <a:p>
            <a:pPr marL="0" indent="0">
              <a:buNone/>
            </a:pPr>
            <a:r>
              <a:rPr lang="en-US" sz="1600" dirty="0">
                <a:solidFill>
                  <a:srgbClr val="595959"/>
                </a:solidFill>
                <a:latin typeface="Calibri" pitchFamily="34" charset="0"/>
                <a:ea typeface="Calibri" pitchFamily="34" charset="-122"/>
                <a:cs typeface="Calibri" pitchFamily="34" charset="-120"/>
              </a:rPr>
              <a:t>Guided practice and wrap-up</a:t>
            </a:r>
            <a:endParaRPr lang="en-US" sz="1600" dirty="0"/>
          </a:p>
        </p:txBody>
      </p:sp>
      <p:sp>
        <p:nvSpPr>
          <p:cNvPr id="65" name="Text 63"/>
          <p:cNvSpPr/>
          <p:nvPr/>
        </p:nvSpPr>
        <p:spPr>
          <a:xfrm>
            <a:off x="9784080" y="5669280"/>
            <a:ext cx="1645920" cy="438912"/>
          </a:xfrm>
          <a:prstGeom prst="rect">
            <a:avLst/>
          </a:prstGeom>
          <a:noFill/>
          <a:ln/>
        </p:spPr>
        <p:txBody>
          <a:bodyPr wrap="square" rtlCol="0" anchor="ctr"/>
          <a:lstStyle/>
          <a:p>
            <a:pPr marL="0" indent="0" algn="r">
              <a:buNone/>
            </a:pPr>
            <a:r>
              <a:rPr lang="en-US" sz="1600" b="1" dirty="0">
                <a:solidFill>
                  <a:srgbClr val="B8860B"/>
                </a:solidFill>
                <a:latin typeface="Calibri" pitchFamily="34" charset="0"/>
                <a:ea typeface="Calibri" pitchFamily="34" charset="-122"/>
                <a:cs typeface="Calibri" pitchFamily="34" charset="-120"/>
              </a:rPr>
              <a:t>10 min</a:t>
            </a:r>
            <a:endParaRPr lang="en-US" sz="1600" dirty="0"/>
          </a:p>
        </p:txBody>
      </p:sp>
      <p:sp>
        <p:nvSpPr>
          <p:cNvPr id="66" name="Text 64"/>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67" name="Text 65"/>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SETTING THE CONTEXT</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Learning Does Not Stop at the Classroom Door</a:t>
            </a:r>
            <a:endParaRPr lang="en-US" sz="2400" dirty="0"/>
          </a:p>
        </p:txBody>
      </p:sp>
      <p:sp>
        <p:nvSpPr>
          <p:cNvPr id="6" name="Shape 4"/>
          <p:cNvSpPr/>
          <p:nvPr/>
        </p:nvSpPr>
        <p:spPr>
          <a:xfrm>
            <a:off x="548640" y="1188720"/>
            <a:ext cx="11064240" cy="1051560"/>
          </a:xfrm>
          <a:prstGeom prst="roundRect">
            <a:avLst>
              <a:gd name="adj" fmla="val 6957"/>
            </a:avLst>
          </a:prstGeom>
          <a:solidFill>
            <a:srgbClr val="F4F6F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7" name="Text 5"/>
          <p:cNvSpPr/>
          <p:nvPr/>
        </p:nvSpPr>
        <p:spPr>
          <a:xfrm>
            <a:off x="822960" y="1353312"/>
            <a:ext cx="10515600" cy="731520"/>
          </a:xfrm>
          <a:prstGeom prst="rect">
            <a:avLst/>
          </a:prstGeom>
          <a:noFill/>
          <a:ln/>
        </p:spPr>
        <p:txBody>
          <a:bodyPr wrap="square" rtlCol="0" anchor="ctr"/>
          <a:lstStyle/>
          <a:p>
            <a:pPr marL="0" indent="0" algn="ctr">
              <a:buNone/>
            </a:pPr>
            <a:r>
              <a:rPr lang="en-US" sz="2000" b="1" i="1" dirty="0">
                <a:solidFill>
                  <a:srgbClr val="1F3864"/>
                </a:solidFill>
                <a:latin typeface="Calibri" pitchFamily="34" charset="0"/>
                <a:ea typeface="Calibri" pitchFamily="34" charset="-122"/>
                <a:cs typeface="Calibri" pitchFamily="34" charset="-120"/>
              </a:rPr>
              <a:t>“Today a student can learn from the best universities in the world — without leaving home.”</a:t>
            </a:r>
            <a:endParaRPr lang="en-US" sz="2000" dirty="0"/>
          </a:p>
        </p:txBody>
      </p:sp>
      <p:sp>
        <p:nvSpPr>
          <p:cNvPr id="8" name="Shape 6"/>
          <p:cNvSpPr/>
          <p:nvPr/>
        </p:nvSpPr>
        <p:spPr>
          <a:xfrm>
            <a:off x="548640" y="2514600"/>
            <a:ext cx="5440680" cy="2103120"/>
          </a:xfrm>
          <a:prstGeom prst="roundRect">
            <a:avLst>
              <a:gd name="adj" fmla="val 3478"/>
            </a:avLst>
          </a:prstGeom>
          <a:solidFill>
            <a:srgbClr val="EAF6EC"/>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9" name="Text 7"/>
          <p:cNvSpPr/>
          <p:nvPr/>
        </p:nvSpPr>
        <p:spPr>
          <a:xfrm>
            <a:off x="777240" y="2697480"/>
            <a:ext cx="4937760" cy="36576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Learning Beyond Our Course</a:t>
            </a:r>
            <a:endParaRPr lang="en-US" dirty="0"/>
          </a:p>
        </p:txBody>
      </p:sp>
      <p:sp>
        <p:nvSpPr>
          <p:cNvPr id="10" name="Text 8"/>
          <p:cNvSpPr/>
          <p:nvPr/>
        </p:nvSpPr>
        <p:spPr>
          <a:xfrm>
            <a:off x="777240" y="3108960"/>
            <a:ext cx="4937760" cy="1371600"/>
          </a:xfrm>
          <a:prstGeom prst="rect">
            <a:avLst/>
          </a:prstGeom>
          <a:noFill/>
          <a:ln/>
        </p:spPr>
        <p:txBody>
          <a:bodyPr wrap="square" rtlCol="0" anchor="t"/>
          <a:lstStyle/>
          <a:p>
            <a:pPr marL="0" indent="0">
              <a:lnSpc>
                <a:spcPts val="1700"/>
              </a:lnSpc>
              <a:buNone/>
            </a:pPr>
            <a:r>
              <a:rPr lang="en-US" sz="1600" dirty="0">
                <a:solidFill>
                  <a:srgbClr val="333333"/>
                </a:solidFill>
                <a:latin typeface="Calibri" pitchFamily="34" charset="0"/>
                <a:ea typeface="Calibri" pitchFamily="34" charset="-122"/>
                <a:cs typeface="Calibri" pitchFamily="34" charset="-120"/>
              </a:rPr>
              <a:t>Free and low-cost platforms offer thousands of courses, from programming to psychology. Knowing where to find them — and which ones to trust — is now an essential digital skill.</a:t>
            </a:r>
            <a:endParaRPr lang="en-US" sz="1600" dirty="0"/>
          </a:p>
        </p:txBody>
      </p:sp>
      <p:sp>
        <p:nvSpPr>
          <p:cNvPr id="11" name="Shape 9"/>
          <p:cNvSpPr/>
          <p:nvPr/>
        </p:nvSpPr>
        <p:spPr>
          <a:xfrm>
            <a:off x="6172200" y="2514600"/>
            <a:ext cx="5440680" cy="2103120"/>
          </a:xfrm>
          <a:prstGeom prst="roundRect">
            <a:avLst>
              <a:gd name="adj" fmla="val 3478"/>
            </a:avLst>
          </a:prstGeom>
          <a:solidFill>
            <a:srgbClr val="E8EEF9"/>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12" name="Text 10"/>
          <p:cNvSpPr/>
          <p:nvPr/>
        </p:nvSpPr>
        <p:spPr>
          <a:xfrm>
            <a:off x="6400800" y="2697480"/>
            <a:ext cx="4937760" cy="36576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Learning Together, Online</a:t>
            </a:r>
            <a:endParaRPr lang="en-US" dirty="0"/>
          </a:p>
        </p:txBody>
      </p:sp>
      <p:sp>
        <p:nvSpPr>
          <p:cNvPr id="13" name="Text 11"/>
          <p:cNvSpPr/>
          <p:nvPr/>
        </p:nvSpPr>
        <p:spPr>
          <a:xfrm>
            <a:off x="6400800" y="3108960"/>
            <a:ext cx="4937760" cy="1371600"/>
          </a:xfrm>
          <a:prstGeom prst="rect">
            <a:avLst/>
          </a:prstGeom>
          <a:noFill/>
          <a:ln/>
        </p:spPr>
        <p:txBody>
          <a:bodyPr wrap="square" rtlCol="0" anchor="t"/>
          <a:lstStyle/>
          <a:p>
            <a:pPr marL="0" indent="0">
              <a:lnSpc>
                <a:spcPts val="1700"/>
              </a:lnSpc>
              <a:buNone/>
            </a:pPr>
            <a:r>
              <a:rPr lang="en-US" sz="1600" dirty="0">
                <a:solidFill>
                  <a:srgbClr val="333333"/>
                </a:solidFill>
                <a:latin typeface="Calibri" pitchFamily="34" charset="0"/>
                <a:ea typeface="Calibri" pitchFamily="34" charset="-122"/>
                <a:cs typeface="Calibri" pitchFamily="34" charset="-120"/>
              </a:rPr>
              <a:t>Interactive multimedia and virtual classrooms make remote learning active instead of passive, while cloud tools let teams write, store, and share work from anywhere.</a:t>
            </a:r>
            <a:endParaRPr lang="en-US" sz="1600" dirty="0"/>
          </a:p>
        </p:txBody>
      </p:sp>
      <p:sp>
        <p:nvSpPr>
          <p:cNvPr id="14" name="Shape 12"/>
          <p:cNvSpPr/>
          <p:nvPr/>
        </p:nvSpPr>
        <p:spPr>
          <a:xfrm>
            <a:off x="548640" y="4846320"/>
            <a:ext cx="11064240" cy="1463040"/>
          </a:xfrm>
          <a:prstGeom prst="roundRect">
            <a:avLst>
              <a:gd name="adj" fmla="val 5000"/>
            </a:avLst>
          </a:prstGeom>
          <a:solidFill>
            <a:srgbClr val="FDF3E3"/>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sz="1600"/>
          </a:p>
        </p:txBody>
      </p:sp>
      <p:sp>
        <p:nvSpPr>
          <p:cNvPr id="15" name="Text 13"/>
          <p:cNvSpPr/>
          <p:nvPr/>
        </p:nvSpPr>
        <p:spPr>
          <a:xfrm>
            <a:off x="822960" y="4983480"/>
            <a:ext cx="7315200" cy="274320"/>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TODAY’S PLAN</a:t>
            </a:r>
            <a:endParaRPr lang="en-US" dirty="0"/>
          </a:p>
        </p:txBody>
      </p:sp>
      <p:sp>
        <p:nvSpPr>
          <p:cNvPr id="16" name="Text 14"/>
          <p:cNvSpPr/>
          <p:nvPr/>
        </p:nvSpPr>
        <p:spPr>
          <a:xfrm>
            <a:off x="822960" y="5285232"/>
            <a:ext cx="10332720" cy="914400"/>
          </a:xfrm>
          <a:prstGeom prst="rect">
            <a:avLst/>
          </a:prstGeom>
          <a:noFill/>
          <a:ln/>
        </p:spPr>
        <p:txBody>
          <a:bodyPr wrap="square" rtlCol="0" anchor="t"/>
          <a:lstStyle/>
          <a:p>
            <a:pPr marL="0" indent="0">
              <a:lnSpc>
                <a:spcPts val="1800"/>
              </a:lnSpc>
              <a:buNone/>
            </a:pPr>
            <a:r>
              <a:rPr lang="en-US" sz="1600" dirty="0">
                <a:solidFill>
                  <a:srgbClr val="222222"/>
                </a:solidFill>
                <a:latin typeface="Calibri" pitchFamily="34" charset="0"/>
                <a:ea typeface="Calibri" pitchFamily="34" charset="-122"/>
                <a:cs typeface="Calibri" pitchFamily="34" charset="-120"/>
              </a:rPr>
              <a:t>Part 1: sources of online courses (Coursera, edX, Udemy, Khan Academy). Part 2: interactive multimedia and virtual classrooms. Part 3: the Week 4 topic we skipped earlier — Google Workspace (Docs, Sheets, Slides) and cloud storage (Google Drive, Dropbox, OneDrive).</a:t>
            </a:r>
            <a:endParaRPr lang="en-US" sz="1600" dirty="0"/>
          </a:p>
        </p:txBody>
      </p:sp>
      <p:sp>
        <p:nvSpPr>
          <p:cNvPr id="17" name="Text 15"/>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18" name="Text 16"/>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2B4D"/>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62B4D"/>
          </a:solidFill>
          <a:ln/>
        </p:spPr>
        <p:txBody>
          <a:bodyPr/>
          <a:lstStyle/>
          <a:p>
            <a:endParaRPr lang="en-US"/>
          </a:p>
        </p:txBody>
      </p:sp>
      <p:pic>
        <p:nvPicPr>
          <p:cNvPr id="3" name="Image 0" descr="logos/coursera.png"/>
          <p:cNvPicPr>
            <a:picLocks noChangeAspect="1"/>
          </p:cNvPicPr>
          <p:nvPr/>
        </p:nvPicPr>
        <p:blipFill>
          <a:blip r:embed="rId3"/>
          <a:stretch>
            <a:fillRect/>
          </a:stretch>
        </p:blipFill>
        <p:spPr>
          <a:xfrm>
            <a:off x="4033876" y="1417320"/>
            <a:ext cx="914400" cy="914400"/>
          </a:xfrm>
          <a:prstGeom prst="rect">
            <a:avLst/>
          </a:prstGeom>
        </p:spPr>
      </p:pic>
      <p:pic>
        <p:nvPicPr>
          <p:cNvPr id="4" name="Image 1" descr="logos/edx.png"/>
          <p:cNvPicPr>
            <a:picLocks noChangeAspect="1"/>
          </p:cNvPicPr>
          <p:nvPr/>
        </p:nvPicPr>
        <p:blipFill>
          <a:blip r:embed="rId4"/>
          <a:stretch>
            <a:fillRect/>
          </a:stretch>
        </p:blipFill>
        <p:spPr>
          <a:xfrm>
            <a:off x="5103724" y="1417320"/>
            <a:ext cx="914400" cy="914400"/>
          </a:xfrm>
          <a:prstGeom prst="rect">
            <a:avLst/>
          </a:prstGeom>
        </p:spPr>
      </p:pic>
      <p:pic>
        <p:nvPicPr>
          <p:cNvPr id="5" name="Image 2" descr="logos/udemy.png"/>
          <p:cNvPicPr>
            <a:picLocks noChangeAspect="1"/>
          </p:cNvPicPr>
          <p:nvPr/>
        </p:nvPicPr>
        <p:blipFill>
          <a:blip r:embed="rId5"/>
          <a:stretch>
            <a:fillRect/>
          </a:stretch>
        </p:blipFill>
        <p:spPr>
          <a:xfrm>
            <a:off x="6173572" y="1417320"/>
            <a:ext cx="914400" cy="914400"/>
          </a:xfrm>
          <a:prstGeom prst="rect">
            <a:avLst/>
          </a:prstGeom>
        </p:spPr>
      </p:pic>
      <p:pic>
        <p:nvPicPr>
          <p:cNvPr id="6" name="Image 3" descr="logos/khan.png"/>
          <p:cNvPicPr>
            <a:picLocks noChangeAspect="1"/>
          </p:cNvPicPr>
          <p:nvPr/>
        </p:nvPicPr>
        <p:blipFill>
          <a:blip r:embed="rId6"/>
          <a:stretch>
            <a:fillRect/>
          </a:stretch>
        </p:blipFill>
        <p:spPr>
          <a:xfrm>
            <a:off x="7243420" y="1417320"/>
            <a:ext cx="914400" cy="914400"/>
          </a:xfrm>
          <a:prstGeom prst="rect">
            <a:avLst/>
          </a:prstGeom>
        </p:spPr>
      </p:pic>
      <p:sp>
        <p:nvSpPr>
          <p:cNvPr id="7" name="Text 1"/>
          <p:cNvSpPr/>
          <p:nvPr/>
        </p:nvSpPr>
        <p:spPr>
          <a:xfrm>
            <a:off x="822960" y="2697480"/>
            <a:ext cx="10515600" cy="457200"/>
          </a:xfrm>
          <a:prstGeom prst="rect">
            <a:avLst/>
          </a:prstGeom>
          <a:noFill/>
          <a:ln/>
        </p:spPr>
        <p:txBody>
          <a:bodyPr wrap="square" rtlCol="0" anchor="ctr"/>
          <a:lstStyle/>
          <a:p>
            <a:pPr marL="0" indent="0" algn="ctr">
              <a:buNone/>
            </a:pPr>
            <a:r>
              <a:rPr lang="en-US" sz="1600" b="1" kern="0" spc="300" dirty="0">
                <a:solidFill>
                  <a:srgbClr val="D8B84A"/>
                </a:solidFill>
                <a:latin typeface="Calibri" pitchFamily="34" charset="0"/>
                <a:ea typeface="Calibri" pitchFamily="34" charset="-122"/>
                <a:cs typeface="Calibri" pitchFamily="34" charset="-120"/>
              </a:rPr>
              <a:t>PART 1: SOURCES OF ONLINE EDUCATION COURSES</a:t>
            </a:r>
            <a:endParaRPr lang="en-US" sz="1600" dirty="0"/>
          </a:p>
        </p:txBody>
      </p:sp>
      <p:sp>
        <p:nvSpPr>
          <p:cNvPr id="8" name="Text 2"/>
          <p:cNvSpPr/>
          <p:nvPr/>
        </p:nvSpPr>
        <p:spPr>
          <a:xfrm>
            <a:off x="822960" y="3154680"/>
            <a:ext cx="10515600" cy="73152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Coursera, edX, Udemy, Khan Academy &amp; More</a:t>
            </a:r>
            <a:endParaRPr lang="en-US" sz="3000" dirty="0"/>
          </a:p>
        </p:txBody>
      </p:sp>
      <p:sp>
        <p:nvSpPr>
          <p:cNvPr id="9" name="Text 3"/>
          <p:cNvSpPr/>
          <p:nvPr/>
        </p:nvSpPr>
        <p:spPr>
          <a:xfrm>
            <a:off x="822960" y="3886200"/>
            <a:ext cx="10515600" cy="457200"/>
          </a:xfrm>
          <a:prstGeom prst="rect">
            <a:avLst/>
          </a:prstGeom>
          <a:noFill/>
          <a:ln/>
        </p:spPr>
        <p:txBody>
          <a:bodyPr wrap="square" rtlCol="0" anchor="ctr"/>
          <a:lstStyle/>
          <a:p>
            <a:pPr marL="0" indent="0" algn="ctr">
              <a:buNone/>
            </a:pPr>
            <a:r>
              <a:rPr lang="en-US" sz="1500" i="1" dirty="0">
                <a:solidFill>
                  <a:srgbClr val="C7D0E0"/>
                </a:solidFill>
                <a:latin typeface="Calibri" pitchFamily="34" charset="0"/>
                <a:ea typeface="Calibri" pitchFamily="34" charset="-122"/>
                <a:cs typeface="Calibri" pitchFamily="34" charset="-120"/>
              </a:rPr>
              <a:t>Where to learn, how courses work, and how to choose wisely</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ONLINE EDUCATION</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The Landscape of Online Courses</a:t>
            </a:r>
            <a:endParaRPr lang="en-US" sz="2400" dirty="0"/>
          </a:p>
        </p:txBody>
      </p:sp>
      <p:sp>
        <p:nvSpPr>
          <p:cNvPr id="6" name="Shape 4"/>
          <p:cNvSpPr/>
          <p:nvPr/>
        </p:nvSpPr>
        <p:spPr>
          <a:xfrm>
            <a:off x="548640" y="1143000"/>
            <a:ext cx="5394960" cy="1600200"/>
          </a:xfrm>
          <a:prstGeom prst="roundRect">
            <a:avLst>
              <a:gd name="adj" fmla="val 4571"/>
            </a:avLst>
          </a:prstGeom>
          <a:solidFill>
            <a:srgbClr val="EAF6EC"/>
          </a:solidFill>
          <a:ln w="12700">
            <a:solidFill>
              <a:srgbClr val="DCE1EA"/>
            </a:solidFill>
            <a:prstDash val="solid"/>
          </a:ln>
        </p:spPr>
        <p:txBody>
          <a:bodyPr/>
          <a:lstStyle/>
          <a:p>
            <a:endParaRPr lang="en-US" sz="1600"/>
          </a:p>
        </p:txBody>
      </p:sp>
      <p:sp>
        <p:nvSpPr>
          <p:cNvPr id="7" name="Text 5"/>
          <p:cNvSpPr/>
          <p:nvPr/>
        </p:nvSpPr>
        <p:spPr>
          <a:xfrm>
            <a:off x="777240" y="128016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MOOCs</a:t>
            </a:r>
            <a:endParaRPr lang="en-US" dirty="0"/>
          </a:p>
        </p:txBody>
      </p:sp>
      <p:sp>
        <p:nvSpPr>
          <p:cNvPr id="8" name="Text 6"/>
          <p:cNvSpPr/>
          <p:nvPr/>
        </p:nvSpPr>
        <p:spPr>
          <a:xfrm>
            <a:off x="77724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Massive Open Online Courses: large, usually free-to-start courses from universities and organizations, open to anyone with internet.</a:t>
            </a:r>
            <a:endParaRPr lang="en-US" sz="1600" dirty="0"/>
          </a:p>
        </p:txBody>
      </p:sp>
      <p:sp>
        <p:nvSpPr>
          <p:cNvPr id="9" name="Shape 7"/>
          <p:cNvSpPr/>
          <p:nvPr/>
        </p:nvSpPr>
        <p:spPr>
          <a:xfrm>
            <a:off x="6172200" y="114300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10" name="Text 8"/>
          <p:cNvSpPr/>
          <p:nvPr/>
        </p:nvSpPr>
        <p:spPr>
          <a:xfrm>
            <a:off x="6400800" y="128016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Self-Paced Courses</a:t>
            </a:r>
            <a:endParaRPr lang="en-US" dirty="0"/>
          </a:p>
        </p:txBody>
      </p:sp>
      <p:sp>
        <p:nvSpPr>
          <p:cNvPr id="11" name="Text 9"/>
          <p:cNvSpPr/>
          <p:nvPr/>
        </p:nvSpPr>
        <p:spPr>
          <a:xfrm>
            <a:off x="640080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Pre-recorded lessons you can start any time and finish on your own schedule — ideal for working students.</a:t>
            </a:r>
            <a:endParaRPr lang="en-US" sz="1600" dirty="0"/>
          </a:p>
        </p:txBody>
      </p:sp>
      <p:sp>
        <p:nvSpPr>
          <p:cNvPr id="12" name="Shape 10"/>
          <p:cNvSpPr/>
          <p:nvPr/>
        </p:nvSpPr>
        <p:spPr>
          <a:xfrm>
            <a:off x="548640" y="2880360"/>
            <a:ext cx="5394960" cy="1600200"/>
          </a:xfrm>
          <a:prstGeom prst="roundRect">
            <a:avLst>
              <a:gd name="adj" fmla="val 4571"/>
            </a:avLst>
          </a:prstGeom>
          <a:solidFill>
            <a:srgbClr val="EAF6EC"/>
          </a:solidFill>
          <a:ln w="12700">
            <a:solidFill>
              <a:srgbClr val="DCE1EA"/>
            </a:solidFill>
            <a:prstDash val="solid"/>
          </a:ln>
        </p:spPr>
        <p:txBody>
          <a:bodyPr/>
          <a:lstStyle/>
          <a:p>
            <a:endParaRPr lang="en-US" sz="1600"/>
          </a:p>
        </p:txBody>
      </p:sp>
      <p:sp>
        <p:nvSpPr>
          <p:cNvPr id="13" name="Text 11"/>
          <p:cNvSpPr/>
          <p:nvPr/>
        </p:nvSpPr>
        <p:spPr>
          <a:xfrm>
            <a:off x="777240" y="301752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Instructor-Led &amp; Cohort Courses</a:t>
            </a:r>
            <a:endParaRPr lang="en-US" dirty="0"/>
          </a:p>
        </p:txBody>
      </p:sp>
      <p:sp>
        <p:nvSpPr>
          <p:cNvPr id="14" name="Text 12"/>
          <p:cNvSpPr/>
          <p:nvPr/>
        </p:nvSpPr>
        <p:spPr>
          <a:xfrm>
            <a:off x="77724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Fixed start dates, live sessions or deadlines, and a group of classmates moving together.</a:t>
            </a:r>
            <a:endParaRPr lang="en-US" sz="1600" dirty="0"/>
          </a:p>
        </p:txBody>
      </p:sp>
      <p:sp>
        <p:nvSpPr>
          <p:cNvPr id="15" name="Shape 13"/>
          <p:cNvSpPr/>
          <p:nvPr/>
        </p:nvSpPr>
        <p:spPr>
          <a:xfrm>
            <a:off x="6172200" y="288036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16" name="Text 14"/>
          <p:cNvSpPr/>
          <p:nvPr/>
        </p:nvSpPr>
        <p:spPr>
          <a:xfrm>
            <a:off x="6400800" y="301752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Certificates &amp; Micro-Credentials</a:t>
            </a:r>
            <a:endParaRPr lang="en-US" dirty="0"/>
          </a:p>
        </p:txBody>
      </p:sp>
      <p:sp>
        <p:nvSpPr>
          <p:cNvPr id="17" name="Text 15"/>
          <p:cNvSpPr/>
          <p:nvPr/>
        </p:nvSpPr>
        <p:spPr>
          <a:xfrm>
            <a:off x="640080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Shorter, skills-focused programs that end in a certificate — useful for a CV, but quality and recognition vary.</a:t>
            </a:r>
            <a:endParaRPr lang="en-US" sz="1600" dirty="0"/>
          </a:p>
        </p:txBody>
      </p:sp>
      <p:sp>
        <p:nvSpPr>
          <p:cNvPr id="18" name="Shape 16"/>
          <p:cNvSpPr/>
          <p:nvPr/>
        </p:nvSpPr>
        <p:spPr>
          <a:xfrm>
            <a:off x="548640" y="4617720"/>
            <a:ext cx="5394960" cy="1600200"/>
          </a:xfrm>
          <a:prstGeom prst="roundRect">
            <a:avLst>
              <a:gd name="adj" fmla="val 4571"/>
            </a:avLst>
          </a:prstGeom>
          <a:solidFill>
            <a:srgbClr val="EAF6EC"/>
          </a:solidFill>
          <a:ln w="12700">
            <a:solidFill>
              <a:srgbClr val="DCE1EA"/>
            </a:solidFill>
            <a:prstDash val="solid"/>
          </a:ln>
        </p:spPr>
        <p:txBody>
          <a:bodyPr/>
          <a:lstStyle/>
          <a:p>
            <a:endParaRPr lang="en-US" sz="1600"/>
          </a:p>
        </p:txBody>
      </p:sp>
      <p:sp>
        <p:nvSpPr>
          <p:cNvPr id="19" name="Text 17"/>
          <p:cNvSpPr/>
          <p:nvPr/>
        </p:nvSpPr>
        <p:spPr>
          <a:xfrm>
            <a:off x="777240" y="47548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Online Degrees</a:t>
            </a:r>
            <a:endParaRPr lang="en-US" dirty="0"/>
          </a:p>
        </p:txBody>
      </p:sp>
      <p:sp>
        <p:nvSpPr>
          <p:cNvPr id="20" name="Text 18"/>
          <p:cNvSpPr/>
          <p:nvPr/>
        </p:nvSpPr>
        <p:spPr>
          <a:xfrm>
            <a:off x="77724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Full bachelor’s or master’s programs delivered online by accredited universities, usually at higher cost and commitment.</a:t>
            </a:r>
            <a:endParaRPr lang="en-US" sz="1600" dirty="0"/>
          </a:p>
        </p:txBody>
      </p:sp>
      <p:sp>
        <p:nvSpPr>
          <p:cNvPr id="21" name="Shape 19"/>
          <p:cNvSpPr/>
          <p:nvPr/>
        </p:nvSpPr>
        <p:spPr>
          <a:xfrm>
            <a:off x="6172200" y="461772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22" name="Text 20"/>
          <p:cNvSpPr/>
          <p:nvPr/>
        </p:nvSpPr>
        <p:spPr>
          <a:xfrm>
            <a:off x="6400800" y="47548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Open Educational Resources</a:t>
            </a:r>
            <a:endParaRPr lang="en-US" dirty="0"/>
          </a:p>
        </p:txBody>
      </p:sp>
      <p:sp>
        <p:nvSpPr>
          <p:cNvPr id="23" name="Text 21"/>
          <p:cNvSpPr/>
          <p:nvPr/>
        </p:nvSpPr>
        <p:spPr>
          <a:xfrm>
            <a:off x="640080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Freely shared lecture notes, videos, and textbooks (for example, open university course materials) that anyone may reuse.</a:t>
            </a:r>
            <a:endParaRPr lang="en-US" sz="1600" dirty="0"/>
          </a:p>
        </p:txBody>
      </p:sp>
      <p:sp>
        <p:nvSpPr>
          <p:cNvPr id="24" name="Text 22"/>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25" name="Text 23"/>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ONLINE EDUCATION</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How an Online Course Works</a:t>
            </a:r>
            <a:endParaRPr lang="en-US" sz="2400" dirty="0"/>
          </a:p>
        </p:txBody>
      </p:sp>
      <p:sp>
        <p:nvSpPr>
          <p:cNvPr id="6" name="Shape 4"/>
          <p:cNvSpPr/>
          <p:nvPr/>
        </p:nvSpPr>
        <p:spPr>
          <a:xfrm>
            <a:off x="548640" y="1234440"/>
            <a:ext cx="1432560" cy="2926080"/>
          </a:xfrm>
          <a:prstGeom prst="roundRect">
            <a:avLst>
              <a:gd name="adj" fmla="val 5106"/>
            </a:avLst>
          </a:prstGeom>
          <a:solidFill>
            <a:srgbClr val="E8EEF9"/>
          </a:solidFill>
          <a:ln w="12700">
            <a:solidFill>
              <a:srgbClr val="DCE1EA"/>
            </a:solidFill>
            <a:prstDash val="solid"/>
          </a:ln>
        </p:spPr>
        <p:txBody>
          <a:bodyPr/>
          <a:lstStyle/>
          <a:p>
            <a:endParaRPr lang="en-US" sz="1600"/>
          </a:p>
        </p:txBody>
      </p:sp>
      <p:sp>
        <p:nvSpPr>
          <p:cNvPr id="7" name="Shape 5"/>
          <p:cNvSpPr/>
          <p:nvPr/>
        </p:nvSpPr>
        <p:spPr>
          <a:xfrm>
            <a:off x="685800" y="1371600"/>
            <a:ext cx="411480" cy="411480"/>
          </a:xfrm>
          <a:prstGeom prst="ellipse">
            <a:avLst/>
          </a:prstGeom>
          <a:solidFill>
            <a:srgbClr val="1F3864"/>
          </a:solidFill>
          <a:ln/>
        </p:spPr>
        <p:txBody>
          <a:bodyPr/>
          <a:lstStyle/>
          <a:p>
            <a:endParaRPr lang="en-US" sz="1600"/>
          </a:p>
        </p:txBody>
      </p:sp>
      <p:sp>
        <p:nvSpPr>
          <p:cNvPr id="8" name="Text 6"/>
          <p:cNvSpPr/>
          <p:nvPr/>
        </p:nvSpPr>
        <p:spPr>
          <a:xfrm>
            <a:off x="685800"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658368" y="1874520"/>
            <a:ext cx="1213104"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Find</a:t>
            </a:r>
            <a:endParaRPr lang="en-US" sz="1600" dirty="0"/>
          </a:p>
        </p:txBody>
      </p:sp>
      <p:sp>
        <p:nvSpPr>
          <p:cNvPr id="10" name="Text 8"/>
          <p:cNvSpPr/>
          <p:nvPr/>
        </p:nvSpPr>
        <p:spPr>
          <a:xfrm>
            <a:off x="658368" y="2423160"/>
            <a:ext cx="1213104" cy="164592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Search a platform by topic, level, or provider and read the syllabus.</a:t>
            </a:r>
            <a:endParaRPr lang="en-US" sz="1600" dirty="0"/>
          </a:p>
        </p:txBody>
      </p:sp>
      <p:sp>
        <p:nvSpPr>
          <p:cNvPr id="11" name="Shape 9"/>
          <p:cNvSpPr/>
          <p:nvPr/>
        </p:nvSpPr>
        <p:spPr>
          <a:xfrm>
            <a:off x="2090928" y="2560320"/>
            <a:ext cx="274320" cy="274320"/>
          </a:xfrm>
          <a:prstGeom prst="rightArrow">
            <a:avLst/>
          </a:prstGeom>
          <a:solidFill>
            <a:srgbClr val="B8860B"/>
          </a:solidFill>
          <a:ln/>
        </p:spPr>
        <p:txBody>
          <a:bodyPr/>
          <a:lstStyle/>
          <a:p>
            <a:endParaRPr lang="en-US" sz="1600"/>
          </a:p>
        </p:txBody>
      </p:sp>
      <p:sp>
        <p:nvSpPr>
          <p:cNvPr id="12" name="Shape 10"/>
          <p:cNvSpPr/>
          <p:nvPr/>
        </p:nvSpPr>
        <p:spPr>
          <a:xfrm>
            <a:off x="2474976" y="1234440"/>
            <a:ext cx="1432560" cy="2926080"/>
          </a:xfrm>
          <a:prstGeom prst="roundRect">
            <a:avLst>
              <a:gd name="adj" fmla="val 5106"/>
            </a:avLst>
          </a:prstGeom>
          <a:solidFill>
            <a:srgbClr val="FDF3E3"/>
          </a:solidFill>
          <a:ln w="12700">
            <a:solidFill>
              <a:srgbClr val="DCE1EA"/>
            </a:solidFill>
            <a:prstDash val="solid"/>
          </a:ln>
        </p:spPr>
        <p:txBody>
          <a:bodyPr/>
          <a:lstStyle/>
          <a:p>
            <a:endParaRPr lang="en-US" sz="1600"/>
          </a:p>
        </p:txBody>
      </p:sp>
      <p:sp>
        <p:nvSpPr>
          <p:cNvPr id="13" name="Shape 11"/>
          <p:cNvSpPr/>
          <p:nvPr/>
        </p:nvSpPr>
        <p:spPr>
          <a:xfrm>
            <a:off x="2612136" y="1371600"/>
            <a:ext cx="411480" cy="411480"/>
          </a:xfrm>
          <a:prstGeom prst="ellipse">
            <a:avLst/>
          </a:prstGeom>
          <a:solidFill>
            <a:srgbClr val="1F3864"/>
          </a:solidFill>
          <a:ln/>
        </p:spPr>
        <p:txBody>
          <a:bodyPr/>
          <a:lstStyle/>
          <a:p>
            <a:endParaRPr lang="en-US" sz="1600"/>
          </a:p>
        </p:txBody>
      </p:sp>
      <p:sp>
        <p:nvSpPr>
          <p:cNvPr id="14" name="Text 12"/>
          <p:cNvSpPr/>
          <p:nvPr/>
        </p:nvSpPr>
        <p:spPr>
          <a:xfrm>
            <a:off x="2612136"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3"/>
          <p:cNvSpPr/>
          <p:nvPr/>
        </p:nvSpPr>
        <p:spPr>
          <a:xfrm>
            <a:off x="2584704" y="1874520"/>
            <a:ext cx="1213104"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Enrol</a:t>
            </a:r>
            <a:endParaRPr lang="en-US" sz="1600" dirty="0"/>
          </a:p>
        </p:txBody>
      </p:sp>
      <p:sp>
        <p:nvSpPr>
          <p:cNvPr id="16" name="Text 14"/>
          <p:cNvSpPr/>
          <p:nvPr/>
        </p:nvSpPr>
        <p:spPr>
          <a:xfrm>
            <a:off x="2584704" y="2423160"/>
            <a:ext cx="1213104" cy="164592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Create an account and join free, audit, or pay for full access.</a:t>
            </a:r>
            <a:endParaRPr lang="en-US" sz="1600" dirty="0"/>
          </a:p>
        </p:txBody>
      </p:sp>
      <p:sp>
        <p:nvSpPr>
          <p:cNvPr id="17" name="Shape 15"/>
          <p:cNvSpPr/>
          <p:nvPr/>
        </p:nvSpPr>
        <p:spPr>
          <a:xfrm>
            <a:off x="4017264" y="2560320"/>
            <a:ext cx="274320" cy="274320"/>
          </a:xfrm>
          <a:prstGeom prst="rightArrow">
            <a:avLst/>
          </a:prstGeom>
          <a:solidFill>
            <a:srgbClr val="B8860B"/>
          </a:solidFill>
          <a:ln/>
        </p:spPr>
        <p:txBody>
          <a:bodyPr/>
          <a:lstStyle/>
          <a:p>
            <a:endParaRPr lang="en-US" sz="1600"/>
          </a:p>
        </p:txBody>
      </p:sp>
      <p:sp>
        <p:nvSpPr>
          <p:cNvPr id="18" name="Shape 16"/>
          <p:cNvSpPr/>
          <p:nvPr/>
        </p:nvSpPr>
        <p:spPr>
          <a:xfrm>
            <a:off x="4401312" y="1234440"/>
            <a:ext cx="1432560" cy="2926080"/>
          </a:xfrm>
          <a:prstGeom prst="roundRect">
            <a:avLst>
              <a:gd name="adj" fmla="val 5106"/>
            </a:avLst>
          </a:prstGeom>
          <a:solidFill>
            <a:srgbClr val="E8EEF9"/>
          </a:solidFill>
          <a:ln w="12700">
            <a:solidFill>
              <a:srgbClr val="DCE1EA"/>
            </a:solidFill>
            <a:prstDash val="solid"/>
          </a:ln>
        </p:spPr>
        <p:txBody>
          <a:bodyPr/>
          <a:lstStyle/>
          <a:p>
            <a:endParaRPr lang="en-US" sz="1600"/>
          </a:p>
        </p:txBody>
      </p:sp>
      <p:sp>
        <p:nvSpPr>
          <p:cNvPr id="19" name="Shape 17"/>
          <p:cNvSpPr/>
          <p:nvPr/>
        </p:nvSpPr>
        <p:spPr>
          <a:xfrm>
            <a:off x="4538472" y="1371600"/>
            <a:ext cx="411480" cy="411480"/>
          </a:xfrm>
          <a:prstGeom prst="ellipse">
            <a:avLst/>
          </a:prstGeom>
          <a:solidFill>
            <a:srgbClr val="1F3864"/>
          </a:solidFill>
          <a:ln/>
        </p:spPr>
        <p:txBody>
          <a:bodyPr/>
          <a:lstStyle/>
          <a:p>
            <a:endParaRPr lang="en-US" sz="1600"/>
          </a:p>
        </p:txBody>
      </p:sp>
      <p:sp>
        <p:nvSpPr>
          <p:cNvPr id="20" name="Text 18"/>
          <p:cNvSpPr/>
          <p:nvPr/>
        </p:nvSpPr>
        <p:spPr>
          <a:xfrm>
            <a:off x="4538472"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9"/>
          <p:cNvSpPr/>
          <p:nvPr/>
        </p:nvSpPr>
        <p:spPr>
          <a:xfrm>
            <a:off x="4511040" y="1874520"/>
            <a:ext cx="1213104"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Learn</a:t>
            </a:r>
            <a:endParaRPr lang="en-US" sz="1600" dirty="0"/>
          </a:p>
        </p:txBody>
      </p:sp>
      <p:sp>
        <p:nvSpPr>
          <p:cNvPr id="22" name="Text 20"/>
          <p:cNvSpPr/>
          <p:nvPr/>
        </p:nvSpPr>
        <p:spPr>
          <a:xfrm>
            <a:off x="4511040" y="2423160"/>
            <a:ext cx="1213104" cy="164592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Watch short videos, read materials, and join discussion forums.</a:t>
            </a:r>
            <a:endParaRPr lang="en-US" sz="1600" dirty="0"/>
          </a:p>
        </p:txBody>
      </p:sp>
      <p:sp>
        <p:nvSpPr>
          <p:cNvPr id="23" name="Shape 21"/>
          <p:cNvSpPr/>
          <p:nvPr/>
        </p:nvSpPr>
        <p:spPr>
          <a:xfrm>
            <a:off x="5943600" y="2560320"/>
            <a:ext cx="274320" cy="274320"/>
          </a:xfrm>
          <a:prstGeom prst="rightArrow">
            <a:avLst/>
          </a:prstGeom>
          <a:solidFill>
            <a:srgbClr val="B8860B"/>
          </a:solidFill>
          <a:ln/>
        </p:spPr>
        <p:txBody>
          <a:bodyPr/>
          <a:lstStyle/>
          <a:p>
            <a:endParaRPr lang="en-US" sz="1600"/>
          </a:p>
        </p:txBody>
      </p:sp>
      <p:sp>
        <p:nvSpPr>
          <p:cNvPr id="24" name="Shape 22"/>
          <p:cNvSpPr/>
          <p:nvPr/>
        </p:nvSpPr>
        <p:spPr>
          <a:xfrm>
            <a:off x="6327648" y="1234440"/>
            <a:ext cx="1432560" cy="2926080"/>
          </a:xfrm>
          <a:prstGeom prst="roundRect">
            <a:avLst>
              <a:gd name="adj" fmla="val 5106"/>
            </a:avLst>
          </a:prstGeom>
          <a:solidFill>
            <a:srgbClr val="FDF3E3"/>
          </a:solidFill>
          <a:ln w="12700">
            <a:solidFill>
              <a:srgbClr val="DCE1EA"/>
            </a:solidFill>
            <a:prstDash val="solid"/>
          </a:ln>
        </p:spPr>
        <p:txBody>
          <a:bodyPr/>
          <a:lstStyle/>
          <a:p>
            <a:endParaRPr lang="en-US" sz="1600"/>
          </a:p>
        </p:txBody>
      </p:sp>
      <p:sp>
        <p:nvSpPr>
          <p:cNvPr id="25" name="Shape 23"/>
          <p:cNvSpPr/>
          <p:nvPr/>
        </p:nvSpPr>
        <p:spPr>
          <a:xfrm>
            <a:off x="6464808" y="1371600"/>
            <a:ext cx="411480" cy="411480"/>
          </a:xfrm>
          <a:prstGeom prst="ellipse">
            <a:avLst/>
          </a:prstGeom>
          <a:solidFill>
            <a:srgbClr val="1F3864"/>
          </a:solidFill>
          <a:ln/>
        </p:spPr>
        <p:txBody>
          <a:bodyPr/>
          <a:lstStyle/>
          <a:p>
            <a:endParaRPr lang="en-US" sz="1600"/>
          </a:p>
        </p:txBody>
      </p:sp>
      <p:sp>
        <p:nvSpPr>
          <p:cNvPr id="26" name="Text 24"/>
          <p:cNvSpPr/>
          <p:nvPr/>
        </p:nvSpPr>
        <p:spPr>
          <a:xfrm>
            <a:off x="6464808"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5"/>
          <p:cNvSpPr/>
          <p:nvPr/>
        </p:nvSpPr>
        <p:spPr>
          <a:xfrm>
            <a:off x="6437376" y="1874520"/>
            <a:ext cx="1213104"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Practice</a:t>
            </a:r>
            <a:endParaRPr lang="en-US" sz="1600" dirty="0"/>
          </a:p>
        </p:txBody>
      </p:sp>
      <p:sp>
        <p:nvSpPr>
          <p:cNvPr id="28" name="Text 26"/>
          <p:cNvSpPr/>
          <p:nvPr/>
        </p:nvSpPr>
        <p:spPr>
          <a:xfrm>
            <a:off x="6437376" y="2423160"/>
            <a:ext cx="1213104" cy="164592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Complete quizzes, exercises, and projects with feedback.</a:t>
            </a:r>
            <a:endParaRPr lang="en-US" sz="1600" dirty="0"/>
          </a:p>
        </p:txBody>
      </p:sp>
      <p:sp>
        <p:nvSpPr>
          <p:cNvPr id="29" name="Shape 27"/>
          <p:cNvSpPr/>
          <p:nvPr/>
        </p:nvSpPr>
        <p:spPr>
          <a:xfrm>
            <a:off x="7869936" y="2560320"/>
            <a:ext cx="274320" cy="274320"/>
          </a:xfrm>
          <a:prstGeom prst="rightArrow">
            <a:avLst/>
          </a:prstGeom>
          <a:solidFill>
            <a:srgbClr val="B8860B"/>
          </a:solidFill>
          <a:ln/>
        </p:spPr>
        <p:txBody>
          <a:bodyPr/>
          <a:lstStyle/>
          <a:p>
            <a:endParaRPr lang="en-US" sz="1600"/>
          </a:p>
        </p:txBody>
      </p:sp>
      <p:sp>
        <p:nvSpPr>
          <p:cNvPr id="30" name="Shape 28"/>
          <p:cNvSpPr/>
          <p:nvPr/>
        </p:nvSpPr>
        <p:spPr>
          <a:xfrm>
            <a:off x="8253984" y="1234440"/>
            <a:ext cx="1432560" cy="2926080"/>
          </a:xfrm>
          <a:prstGeom prst="roundRect">
            <a:avLst>
              <a:gd name="adj" fmla="val 5106"/>
            </a:avLst>
          </a:prstGeom>
          <a:solidFill>
            <a:srgbClr val="E8EEF9"/>
          </a:solidFill>
          <a:ln w="12700">
            <a:solidFill>
              <a:srgbClr val="DCE1EA"/>
            </a:solidFill>
            <a:prstDash val="solid"/>
          </a:ln>
        </p:spPr>
        <p:txBody>
          <a:bodyPr/>
          <a:lstStyle/>
          <a:p>
            <a:endParaRPr lang="en-US" sz="1600"/>
          </a:p>
        </p:txBody>
      </p:sp>
      <p:sp>
        <p:nvSpPr>
          <p:cNvPr id="31" name="Shape 29"/>
          <p:cNvSpPr/>
          <p:nvPr/>
        </p:nvSpPr>
        <p:spPr>
          <a:xfrm>
            <a:off x="8391144" y="1371600"/>
            <a:ext cx="411480" cy="411480"/>
          </a:xfrm>
          <a:prstGeom prst="ellipse">
            <a:avLst/>
          </a:prstGeom>
          <a:solidFill>
            <a:srgbClr val="1F3864"/>
          </a:solidFill>
          <a:ln/>
        </p:spPr>
        <p:txBody>
          <a:bodyPr/>
          <a:lstStyle/>
          <a:p>
            <a:endParaRPr lang="en-US" sz="1600"/>
          </a:p>
        </p:txBody>
      </p:sp>
      <p:sp>
        <p:nvSpPr>
          <p:cNvPr id="32" name="Text 30"/>
          <p:cNvSpPr/>
          <p:nvPr/>
        </p:nvSpPr>
        <p:spPr>
          <a:xfrm>
            <a:off x="8391144"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3" name="Text 31"/>
          <p:cNvSpPr/>
          <p:nvPr/>
        </p:nvSpPr>
        <p:spPr>
          <a:xfrm>
            <a:off x="8363712" y="1874520"/>
            <a:ext cx="1213104"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Assess</a:t>
            </a:r>
            <a:endParaRPr lang="en-US" sz="1600" dirty="0"/>
          </a:p>
        </p:txBody>
      </p:sp>
      <p:sp>
        <p:nvSpPr>
          <p:cNvPr id="34" name="Text 32"/>
          <p:cNvSpPr/>
          <p:nvPr/>
        </p:nvSpPr>
        <p:spPr>
          <a:xfrm>
            <a:off x="8363712" y="2423160"/>
            <a:ext cx="1213104" cy="164592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Pass graded work or exams to show you met the learning goals.</a:t>
            </a:r>
            <a:endParaRPr lang="en-US" sz="1600" dirty="0"/>
          </a:p>
        </p:txBody>
      </p:sp>
      <p:sp>
        <p:nvSpPr>
          <p:cNvPr id="35" name="Shape 33"/>
          <p:cNvSpPr/>
          <p:nvPr/>
        </p:nvSpPr>
        <p:spPr>
          <a:xfrm>
            <a:off x="9796272" y="2560320"/>
            <a:ext cx="274320" cy="274320"/>
          </a:xfrm>
          <a:prstGeom prst="rightArrow">
            <a:avLst/>
          </a:prstGeom>
          <a:solidFill>
            <a:srgbClr val="B8860B"/>
          </a:solidFill>
          <a:ln/>
        </p:spPr>
        <p:txBody>
          <a:bodyPr/>
          <a:lstStyle/>
          <a:p>
            <a:endParaRPr lang="en-US" sz="1600"/>
          </a:p>
        </p:txBody>
      </p:sp>
      <p:sp>
        <p:nvSpPr>
          <p:cNvPr id="36" name="Shape 34"/>
          <p:cNvSpPr/>
          <p:nvPr/>
        </p:nvSpPr>
        <p:spPr>
          <a:xfrm>
            <a:off x="10180320" y="1234440"/>
            <a:ext cx="1432560" cy="2926080"/>
          </a:xfrm>
          <a:prstGeom prst="roundRect">
            <a:avLst>
              <a:gd name="adj" fmla="val 5106"/>
            </a:avLst>
          </a:prstGeom>
          <a:solidFill>
            <a:srgbClr val="FDF3E3"/>
          </a:solidFill>
          <a:ln w="12700">
            <a:solidFill>
              <a:srgbClr val="DCE1EA"/>
            </a:solidFill>
            <a:prstDash val="solid"/>
          </a:ln>
        </p:spPr>
        <p:txBody>
          <a:bodyPr/>
          <a:lstStyle/>
          <a:p>
            <a:endParaRPr lang="en-US" sz="1600"/>
          </a:p>
        </p:txBody>
      </p:sp>
      <p:sp>
        <p:nvSpPr>
          <p:cNvPr id="37" name="Shape 35"/>
          <p:cNvSpPr/>
          <p:nvPr/>
        </p:nvSpPr>
        <p:spPr>
          <a:xfrm>
            <a:off x="10317480" y="1371600"/>
            <a:ext cx="411480" cy="411480"/>
          </a:xfrm>
          <a:prstGeom prst="ellipse">
            <a:avLst/>
          </a:prstGeom>
          <a:solidFill>
            <a:srgbClr val="1F3864"/>
          </a:solidFill>
          <a:ln/>
        </p:spPr>
        <p:txBody>
          <a:bodyPr/>
          <a:lstStyle/>
          <a:p>
            <a:endParaRPr lang="en-US" sz="1600"/>
          </a:p>
        </p:txBody>
      </p:sp>
      <p:sp>
        <p:nvSpPr>
          <p:cNvPr id="38" name="Text 36"/>
          <p:cNvSpPr/>
          <p:nvPr/>
        </p:nvSpPr>
        <p:spPr>
          <a:xfrm>
            <a:off x="10317480"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9" name="Text 37"/>
          <p:cNvSpPr/>
          <p:nvPr/>
        </p:nvSpPr>
        <p:spPr>
          <a:xfrm>
            <a:off x="10290048" y="1874520"/>
            <a:ext cx="1213104"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Credential</a:t>
            </a:r>
            <a:endParaRPr lang="en-US" sz="1600" dirty="0"/>
          </a:p>
        </p:txBody>
      </p:sp>
      <p:sp>
        <p:nvSpPr>
          <p:cNvPr id="40" name="Text 38"/>
          <p:cNvSpPr/>
          <p:nvPr/>
        </p:nvSpPr>
        <p:spPr>
          <a:xfrm>
            <a:off x="10290048" y="2423160"/>
            <a:ext cx="1213104" cy="164592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Receive a certificate you can add to your CV or profile.</a:t>
            </a:r>
            <a:endParaRPr lang="en-US" sz="1600" dirty="0"/>
          </a:p>
        </p:txBody>
      </p:sp>
      <p:sp>
        <p:nvSpPr>
          <p:cNvPr id="41" name="Shape 39"/>
          <p:cNvSpPr/>
          <p:nvPr/>
        </p:nvSpPr>
        <p:spPr>
          <a:xfrm>
            <a:off x="548640" y="4434840"/>
            <a:ext cx="3566160" cy="1325880"/>
          </a:xfrm>
          <a:prstGeom prst="roundRect">
            <a:avLst>
              <a:gd name="adj" fmla="val 5517"/>
            </a:avLst>
          </a:prstGeom>
          <a:solidFill>
            <a:srgbClr val="E8EEF9"/>
          </a:solidFill>
          <a:ln w="12700">
            <a:solidFill>
              <a:srgbClr val="DCE1EA"/>
            </a:solidFill>
            <a:prstDash val="solid"/>
          </a:ln>
        </p:spPr>
        <p:txBody>
          <a:bodyPr/>
          <a:lstStyle/>
          <a:p>
            <a:endParaRPr lang="en-US" sz="1600"/>
          </a:p>
        </p:txBody>
      </p:sp>
      <p:sp>
        <p:nvSpPr>
          <p:cNvPr id="42" name="Text 40"/>
          <p:cNvSpPr/>
          <p:nvPr/>
        </p:nvSpPr>
        <p:spPr>
          <a:xfrm>
            <a:off x="731520" y="4544568"/>
            <a:ext cx="3200400" cy="29260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Cost</a:t>
            </a:r>
            <a:endParaRPr lang="en-US" sz="1600" dirty="0"/>
          </a:p>
        </p:txBody>
      </p:sp>
      <p:sp>
        <p:nvSpPr>
          <p:cNvPr id="43" name="Text 41"/>
          <p:cNvSpPr/>
          <p:nvPr/>
        </p:nvSpPr>
        <p:spPr>
          <a:xfrm>
            <a:off x="731520" y="4873752"/>
            <a:ext cx="3200400" cy="822960"/>
          </a:xfrm>
          <a:prstGeom prst="rect">
            <a:avLst/>
          </a:prstGeom>
          <a:noFill/>
          <a:ln/>
        </p:spPr>
        <p:txBody>
          <a:bodyPr wrap="square" rtlCol="0" anchor="t"/>
          <a:lstStyle/>
          <a:p>
            <a:pPr marL="0" indent="0">
              <a:lnSpc>
                <a:spcPts val="1500"/>
              </a:lnSpc>
              <a:buNone/>
            </a:pPr>
            <a:r>
              <a:rPr lang="en-US" sz="1600" dirty="0">
                <a:solidFill>
                  <a:srgbClr val="333333"/>
                </a:solidFill>
                <a:latin typeface="Calibri" pitchFamily="34" charset="0"/>
                <a:ea typeface="Calibri" pitchFamily="34" charset="-122"/>
                <a:cs typeface="Calibri" pitchFamily="34" charset="-120"/>
              </a:rPr>
              <a:t>Many courses are free to learn from; certificates, graded work, or extra features usually cost money.</a:t>
            </a:r>
            <a:endParaRPr lang="en-US" sz="1600" dirty="0"/>
          </a:p>
        </p:txBody>
      </p:sp>
      <p:sp>
        <p:nvSpPr>
          <p:cNvPr id="44" name="Shape 42"/>
          <p:cNvSpPr/>
          <p:nvPr/>
        </p:nvSpPr>
        <p:spPr>
          <a:xfrm>
            <a:off x="4297680" y="4434840"/>
            <a:ext cx="3566160" cy="1325880"/>
          </a:xfrm>
          <a:prstGeom prst="roundRect">
            <a:avLst>
              <a:gd name="adj" fmla="val 5517"/>
            </a:avLst>
          </a:prstGeom>
          <a:solidFill>
            <a:srgbClr val="FDF3E3"/>
          </a:solidFill>
          <a:ln w="12700">
            <a:solidFill>
              <a:srgbClr val="DCE1EA"/>
            </a:solidFill>
            <a:prstDash val="solid"/>
          </a:ln>
        </p:spPr>
        <p:txBody>
          <a:bodyPr/>
          <a:lstStyle/>
          <a:p>
            <a:endParaRPr lang="en-US" sz="1600"/>
          </a:p>
        </p:txBody>
      </p:sp>
      <p:sp>
        <p:nvSpPr>
          <p:cNvPr id="45" name="Text 43"/>
          <p:cNvSpPr/>
          <p:nvPr/>
        </p:nvSpPr>
        <p:spPr>
          <a:xfrm>
            <a:off x="4480560" y="4544568"/>
            <a:ext cx="3200400" cy="29260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Time</a:t>
            </a:r>
            <a:endParaRPr lang="en-US" sz="1600" dirty="0"/>
          </a:p>
        </p:txBody>
      </p:sp>
      <p:sp>
        <p:nvSpPr>
          <p:cNvPr id="46" name="Text 44"/>
          <p:cNvSpPr/>
          <p:nvPr/>
        </p:nvSpPr>
        <p:spPr>
          <a:xfrm>
            <a:off x="4480560" y="4873752"/>
            <a:ext cx="3200400" cy="822960"/>
          </a:xfrm>
          <a:prstGeom prst="rect">
            <a:avLst/>
          </a:prstGeom>
          <a:noFill/>
          <a:ln/>
        </p:spPr>
        <p:txBody>
          <a:bodyPr wrap="square" rtlCol="0" anchor="t"/>
          <a:lstStyle/>
          <a:p>
            <a:pPr marL="0" indent="0">
              <a:lnSpc>
                <a:spcPts val="1500"/>
              </a:lnSpc>
              <a:buNone/>
            </a:pPr>
            <a:r>
              <a:rPr lang="en-US" sz="1600" dirty="0">
                <a:solidFill>
                  <a:srgbClr val="333333"/>
                </a:solidFill>
                <a:latin typeface="Calibri" pitchFamily="34" charset="0"/>
                <a:ea typeface="Calibri" pitchFamily="34" charset="-122"/>
                <a:cs typeface="Calibri" pitchFamily="34" charset="-120"/>
              </a:rPr>
              <a:t>Courses are broken into weekly modules of a few hours — realistic to fit around university.</a:t>
            </a:r>
            <a:endParaRPr lang="en-US" sz="1600" dirty="0"/>
          </a:p>
        </p:txBody>
      </p:sp>
      <p:sp>
        <p:nvSpPr>
          <p:cNvPr id="47" name="Shape 45"/>
          <p:cNvSpPr/>
          <p:nvPr/>
        </p:nvSpPr>
        <p:spPr>
          <a:xfrm>
            <a:off x="8046720" y="4434840"/>
            <a:ext cx="3566160" cy="1325880"/>
          </a:xfrm>
          <a:prstGeom prst="roundRect">
            <a:avLst>
              <a:gd name="adj" fmla="val 5517"/>
            </a:avLst>
          </a:prstGeom>
          <a:solidFill>
            <a:srgbClr val="E8EEF9"/>
          </a:solidFill>
          <a:ln w="12700">
            <a:solidFill>
              <a:srgbClr val="DCE1EA"/>
            </a:solidFill>
            <a:prstDash val="solid"/>
          </a:ln>
        </p:spPr>
        <p:txBody>
          <a:bodyPr/>
          <a:lstStyle/>
          <a:p>
            <a:endParaRPr lang="en-US" sz="1600"/>
          </a:p>
        </p:txBody>
      </p:sp>
      <p:sp>
        <p:nvSpPr>
          <p:cNvPr id="48" name="Text 46"/>
          <p:cNvSpPr/>
          <p:nvPr/>
        </p:nvSpPr>
        <p:spPr>
          <a:xfrm>
            <a:off x="8229600" y="4544568"/>
            <a:ext cx="3200400" cy="29260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Outcome</a:t>
            </a:r>
            <a:endParaRPr lang="en-US" sz="1600" dirty="0"/>
          </a:p>
        </p:txBody>
      </p:sp>
      <p:sp>
        <p:nvSpPr>
          <p:cNvPr id="49" name="Text 47"/>
          <p:cNvSpPr/>
          <p:nvPr/>
        </p:nvSpPr>
        <p:spPr>
          <a:xfrm>
            <a:off x="8229600" y="4873752"/>
            <a:ext cx="3200400" cy="822960"/>
          </a:xfrm>
          <a:prstGeom prst="rect">
            <a:avLst/>
          </a:prstGeom>
          <a:noFill/>
          <a:ln/>
        </p:spPr>
        <p:txBody>
          <a:bodyPr wrap="square" rtlCol="0" anchor="t"/>
          <a:lstStyle/>
          <a:p>
            <a:pPr marL="0" indent="0">
              <a:lnSpc>
                <a:spcPts val="1500"/>
              </a:lnSpc>
              <a:buNone/>
            </a:pPr>
            <a:r>
              <a:rPr lang="en-US" sz="1600" dirty="0">
                <a:solidFill>
                  <a:srgbClr val="333333"/>
                </a:solidFill>
                <a:latin typeface="Calibri" pitchFamily="34" charset="0"/>
                <a:ea typeface="Calibri" pitchFamily="34" charset="-122"/>
                <a:cs typeface="Calibri" pitchFamily="34" charset="-120"/>
              </a:rPr>
              <a:t>Real value comes from skills you can show: projects, portfolios, and knowledge you can apply.</a:t>
            </a:r>
            <a:endParaRPr lang="en-US" sz="1600" dirty="0"/>
          </a:p>
        </p:txBody>
      </p:sp>
      <p:sp>
        <p:nvSpPr>
          <p:cNvPr id="50" name="Text 48"/>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51" name="Text 49"/>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PART 1: ONLINE COURSES — COURSERA</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Coursera — Course Page &amp; Syllabus</a:t>
            </a:r>
            <a:endParaRPr lang="en-US" sz="2400" dirty="0"/>
          </a:p>
        </p:txBody>
      </p:sp>
      <p:pic>
        <p:nvPicPr>
          <p:cNvPr id="6" name="Image 0" descr="mockups/coursera_course.png"/>
          <p:cNvPicPr>
            <a:picLocks noChangeAspect="1"/>
          </p:cNvPicPr>
          <p:nvPr/>
        </p:nvPicPr>
        <p:blipFill>
          <a:blip r:embed="rId3"/>
          <a:stretch>
            <a:fillRect/>
          </a:stretch>
        </p:blipFill>
        <p:spPr>
          <a:xfrm>
            <a:off x="457200" y="1097280"/>
            <a:ext cx="7223760" cy="4540649"/>
          </a:xfrm>
          <a:prstGeom prst="rect">
            <a:avLst/>
          </a:prstGeom>
        </p:spPr>
      </p:pic>
      <p:sp>
        <p:nvSpPr>
          <p:cNvPr id="7" name="Shape 4"/>
          <p:cNvSpPr/>
          <p:nvPr/>
        </p:nvSpPr>
        <p:spPr>
          <a:xfrm>
            <a:off x="457200" y="1097280"/>
            <a:ext cx="7223760" cy="4540649"/>
          </a:xfrm>
          <a:prstGeom prst="rect">
            <a:avLst/>
          </a:prstGeom>
          <a:ln w="12700">
            <a:solidFill>
              <a:srgbClr val="C9D0DC"/>
            </a:solidFill>
            <a:prstDash val="solid"/>
          </a:ln>
        </p:spPr>
        <p:txBody>
          <a:bodyPr/>
          <a:lstStyle/>
          <a:p>
            <a:endParaRPr lang="en-US"/>
          </a:p>
        </p:txBody>
      </p:sp>
      <p:sp>
        <p:nvSpPr>
          <p:cNvPr id="8" name="Text 5"/>
          <p:cNvSpPr/>
          <p:nvPr/>
        </p:nvSpPr>
        <p:spPr>
          <a:xfrm>
            <a:off x="457200" y="5729369"/>
            <a:ext cx="7223760" cy="457200"/>
          </a:xfrm>
          <a:prstGeom prst="rect">
            <a:avLst/>
          </a:prstGeom>
          <a:noFill/>
          <a:ln/>
        </p:spPr>
        <p:txBody>
          <a:bodyPr wrap="square" rtlCol="0" anchor="t"/>
          <a:lstStyle/>
          <a:p>
            <a:pPr marL="0" indent="0">
              <a:lnSpc>
                <a:spcPts val="1300"/>
              </a:lnSpc>
              <a:buNone/>
            </a:pPr>
            <a:r>
              <a:rPr lang="en-US" sz="1050" i="1" dirty="0">
                <a:solidFill>
                  <a:srgbClr val="595959"/>
                </a:solidFill>
                <a:latin typeface="Calibri" pitchFamily="34" charset="0"/>
                <a:ea typeface="Calibri" pitchFamily="34" charset="-122"/>
                <a:cs typeface="Calibri" pitchFamily="34" charset="-120"/>
              </a:rPr>
              <a:t>Illustrative interface drawn for teaching — exact layout varies by version and institution.</a:t>
            </a:r>
            <a:endParaRPr lang="en-US" sz="1050" dirty="0"/>
          </a:p>
        </p:txBody>
      </p:sp>
      <p:sp>
        <p:nvSpPr>
          <p:cNvPr id="9" name="Shape 6"/>
          <p:cNvSpPr/>
          <p:nvPr/>
        </p:nvSpPr>
        <p:spPr>
          <a:xfrm>
            <a:off x="7909560" y="1097280"/>
            <a:ext cx="3794760" cy="5212080"/>
          </a:xfrm>
          <a:prstGeom prst="roundRect">
            <a:avLst>
              <a:gd name="adj" fmla="val 1928"/>
            </a:avLst>
          </a:prstGeom>
          <a:solidFill>
            <a:srgbClr val="F4F6F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10" name="Text 7"/>
          <p:cNvSpPr/>
          <p:nvPr/>
        </p:nvSpPr>
        <p:spPr>
          <a:xfrm>
            <a:off x="8138160" y="1261872"/>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WHAT IT IS</a:t>
            </a:r>
            <a:endParaRPr lang="en-US" sz="1600" dirty="0"/>
          </a:p>
        </p:txBody>
      </p:sp>
      <p:sp>
        <p:nvSpPr>
          <p:cNvPr id="11" name="Text 8"/>
          <p:cNvSpPr/>
          <p:nvPr/>
        </p:nvSpPr>
        <p:spPr>
          <a:xfrm>
            <a:off x="8138160" y="1554480"/>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An online learning platform that offers courses, certificates, and degrees created with universities and companies.</a:t>
            </a:r>
            <a:endParaRPr lang="en-US" sz="1600" dirty="0"/>
          </a:p>
        </p:txBody>
      </p:sp>
      <p:sp>
        <p:nvSpPr>
          <p:cNvPr id="12" name="Text 9"/>
          <p:cNvSpPr/>
          <p:nvPr/>
        </p:nvSpPr>
        <p:spPr>
          <a:xfrm>
            <a:off x="8138160" y="2383536"/>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HOW IT WORKS</a:t>
            </a:r>
            <a:endParaRPr lang="en-US" sz="1600" dirty="0"/>
          </a:p>
        </p:txBody>
      </p:sp>
      <p:sp>
        <p:nvSpPr>
          <p:cNvPr id="13" name="Text 10"/>
          <p:cNvSpPr/>
          <p:nvPr/>
        </p:nvSpPr>
        <p:spPr>
          <a:xfrm>
            <a:off x="8138160" y="2676144"/>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You open a course page, read what you will learn and the syllabus, then enroll. Each module has videos, readings, and quizzes.</a:t>
            </a:r>
            <a:endParaRPr lang="en-US" sz="1600" dirty="0"/>
          </a:p>
        </p:txBody>
      </p:sp>
      <p:sp>
        <p:nvSpPr>
          <p:cNvPr id="14" name="Text 11"/>
          <p:cNvSpPr/>
          <p:nvPr/>
        </p:nvSpPr>
        <p:spPr>
          <a:xfrm>
            <a:off x="8138160" y="3505200"/>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KEY AREAS SHOWN</a:t>
            </a:r>
            <a:endParaRPr lang="en-US" sz="1600" dirty="0"/>
          </a:p>
        </p:txBody>
      </p:sp>
      <p:sp>
        <p:nvSpPr>
          <p:cNvPr id="15" name="Text 12"/>
          <p:cNvSpPr/>
          <p:nvPr/>
        </p:nvSpPr>
        <p:spPr>
          <a:xfrm>
            <a:off x="8138160" y="3797808"/>
            <a:ext cx="3337560" cy="1052576"/>
          </a:xfrm>
          <a:prstGeom prst="rect">
            <a:avLst/>
          </a:prstGeom>
          <a:noFill/>
          <a:ln/>
        </p:spPr>
        <p:txBody>
          <a:bodyPr wrap="square" lIns="0" tIns="0" rIns="0" bIns="0" rtlCol="0" anchor="t"/>
          <a:lstStyle/>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Course title, level, and ratings</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What you will learn</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Module-by-module syllabus</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Enroll card with time and certificate</a:t>
            </a:r>
            <a:endParaRPr lang="en-US" sz="1600" dirty="0"/>
          </a:p>
        </p:txBody>
      </p:sp>
      <p:sp>
        <p:nvSpPr>
          <p:cNvPr id="16" name="Text 13"/>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17" name="Text 14"/>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PART 1: ONLINE COURSES — COURSERA</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Coursera — Features &amp; Learning Paths</a:t>
            </a:r>
            <a:endParaRPr lang="en-US" sz="2400" dirty="0"/>
          </a:p>
        </p:txBody>
      </p:sp>
      <p:sp>
        <p:nvSpPr>
          <p:cNvPr id="6" name="Shape 4"/>
          <p:cNvSpPr/>
          <p:nvPr/>
        </p:nvSpPr>
        <p:spPr>
          <a:xfrm>
            <a:off x="548640" y="114300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7" name="Text 5"/>
          <p:cNvSpPr/>
          <p:nvPr/>
        </p:nvSpPr>
        <p:spPr>
          <a:xfrm>
            <a:off x="777240" y="128016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Courses &amp; Specializations</a:t>
            </a:r>
            <a:endParaRPr lang="en-US" sz="1600" dirty="0"/>
          </a:p>
        </p:txBody>
      </p:sp>
      <p:sp>
        <p:nvSpPr>
          <p:cNvPr id="8" name="Text 6"/>
          <p:cNvSpPr/>
          <p:nvPr/>
        </p:nvSpPr>
        <p:spPr>
          <a:xfrm>
            <a:off x="77724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Single courses, or a series of connected courses (a Specialization) that build one skill step by step.</a:t>
            </a:r>
            <a:endParaRPr lang="en-US" sz="1600" dirty="0"/>
          </a:p>
        </p:txBody>
      </p:sp>
      <p:sp>
        <p:nvSpPr>
          <p:cNvPr id="9" name="Shape 7"/>
          <p:cNvSpPr/>
          <p:nvPr/>
        </p:nvSpPr>
        <p:spPr>
          <a:xfrm>
            <a:off x="6172200" y="114300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10" name="Text 8"/>
          <p:cNvSpPr/>
          <p:nvPr/>
        </p:nvSpPr>
        <p:spPr>
          <a:xfrm>
            <a:off x="6400800" y="128016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Professional Certificates</a:t>
            </a:r>
            <a:endParaRPr lang="en-US" sz="1600" dirty="0"/>
          </a:p>
        </p:txBody>
      </p:sp>
      <p:sp>
        <p:nvSpPr>
          <p:cNvPr id="11" name="Text 9"/>
          <p:cNvSpPr/>
          <p:nvPr/>
        </p:nvSpPr>
        <p:spPr>
          <a:xfrm>
            <a:off x="640080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Job-focused programs, some created with major companies, that end in a shareable credential.</a:t>
            </a:r>
            <a:endParaRPr lang="en-US" sz="1600" dirty="0"/>
          </a:p>
        </p:txBody>
      </p:sp>
      <p:sp>
        <p:nvSpPr>
          <p:cNvPr id="12" name="Shape 10"/>
          <p:cNvSpPr/>
          <p:nvPr/>
        </p:nvSpPr>
        <p:spPr>
          <a:xfrm>
            <a:off x="548640" y="288036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13" name="Text 11"/>
          <p:cNvSpPr/>
          <p:nvPr/>
        </p:nvSpPr>
        <p:spPr>
          <a:xfrm>
            <a:off x="777240" y="301752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Degrees</a:t>
            </a:r>
            <a:endParaRPr lang="en-US" sz="1600" dirty="0"/>
          </a:p>
        </p:txBody>
      </p:sp>
      <p:sp>
        <p:nvSpPr>
          <p:cNvPr id="14" name="Text 12"/>
          <p:cNvSpPr/>
          <p:nvPr/>
        </p:nvSpPr>
        <p:spPr>
          <a:xfrm>
            <a:off x="77724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Online bachelor’s and master’s programs offered through partner universities.</a:t>
            </a:r>
            <a:endParaRPr lang="en-US" sz="1600" dirty="0"/>
          </a:p>
        </p:txBody>
      </p:sp>
      <p:sp>
        <p:nvSpPr>
          <p:cNvPr id="15" name="Shape 13"/>
          <p:cNvSpPr/>
          <p:nvPr/>
        </p:nvSpPr>
        <p:spPr>
          <a:xfrm>
            <a:off x="6172200" y="288036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16" name="Text 14"/>
          <p:cNvSpPr/>
          <p:nvPr/>
        </p:nvSpPr>
        <p:spPr>
          <a:xfrm>
            <a:off x="6400800" y="301752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Audit &amp; Financial Aid</a:t>
            </a:r>
            <a:endParaRPr lang="en-US" sz="1600" dirty="0"/>
          </a:p>
        </p:txBody>
      </p:sp>
      <p:sp>
        <p:nvSpPr>
          <p:cNvPr id="17" name="Text 15"/>
          <p:cNvSpPr/>
          <p:nvPr/>
        </p:nvSpPr>
        <p:spPr>
          <a:xfrm>
            <a:off x="640080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Many courses can be explored for free in audit mode; graded work may need payment, and financial aid exists for eligible learners.</a:t>
            </a:r>
            <a:endParaRPr lang="en-US" sz="1600" dirty="0"/>
          </a:p>
        </p:txBody>
      </p:sp>
      <p:sp>
        <p:nvSpPr>
          <p:cNvPr id="18" name="Shape 16"/>
          <p:cNvSpPr/>
          <p:nvPr/>
        </p:nvSpPr>
        <p:spPr>
          <a:xfrm>
            <a:off x="548640" y="461772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19" name="Text 17"/>
          <p:cNvSpPr/>
          <p:nvPr/>
        </p:nvSpPr>
        <p:spPr>
          <a:xfrm>
            <a:off x="777240" y="475488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Graded Work &amp; Peer Review</a:t>
            </a:r>
            <a:endParaRPr lang="en-US" sz="1600" dirty="0"/>
          </a:p>
        </p:txBody>
      </p:sp>
      <p:sp>
        <p:nvSpPr>
          <p:cNvPr id="20" name="Text 18"/>
          <p:cNvSpPr/>
          <p:nvPr/>
        </p:nvSpPr>
        <p:spPr>
          <a:xfrm>
            <a:off x="77724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Quizzes, assignments, and peer-reviewed projects give feedback and prove progress.</a:t>
            </a:r>
            <a:endParaRPr lang="en-US" sz="1600" dirty="0"/>
          </a:p>
        </p:txBody>
      </p:sp>
      <p:sp>
        <p:nvSpPr>
          <p:cNvPr id="21" name="Shape 19"/>
          <p:cNvSpPr/>
          <p:nvPr/>
        </p:nvSpPr>
        <p:spPr>
          <a:xfrm>
            <a:off x="6172200" y="461772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22" name="Text 20"/>
          <p:cNvSpPr/>
          <p:nvPr/>
        </p:nvSpPr>
        <p:spPr>
          <a:xfrm>
            <a:off x="6400800" y="475488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Shareable Certificates</a:t>
            </a:r>
            <a:endParaRPr lang="en-US" sz="1600" dirty="0"/>
          </a:p>
        </p:txBody>
      </p:sp>
      <p:sp>
        <p:nvSpPr>
          <p:cNvPr id="23" name="Text 21"/>
          <p:cNvSpPr/>
          <p:nvPr/>
        </p:nvSpPr>
        <p:spPr>
          <a:xfrm>
            <a:off x="640080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Completed courses give certificates that can be added to LinkedIn and your CV.</a:t>
            </a:r>
            <a:endParaRPr lang="en-US" sz="1600" dirty="0"/>
          </a:p>
        </p:txBody>
      </p:sp>
      <p:sp>
        <p:nvSpPr>
          <p:cNvPr id="24" name="Text 22"/>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25" name="Text 23"/>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PART 1: ONLINE COURSES — EDX</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edX — Tracks &amp; Learning Pathway</a:t>
            </a:r>
            <a:endParaRPr lang="en-US" sz="2400" dirty="0"/>
          </a:p>
        </p:txBody>
      </p:sp>
      <p:pic>
        <p:nvPicPr>
          <p:cNvPr id="6" name="Image 0" descr="mockups/edx_course.png"/>
          <p:cNvPicPr>
            <a:picLocks noChangeAspect="1"/>
          </p:cNvPicPr>
          <p:nvPr/>
        </p:nvPicPr>
        <p:blipFill>
          <a:blip r:embed="rId3"/>
          <a:stretch>
            <a:fillRect/>
          </a:stretch>
        </p:blipFill>
        <p:spPr>
          <a:xfrm>
            <a:off x="457200" y="1097280"/>
            <a:ext cx="7223760" cy="4540649"/>
          </a:xfrm>
          <a:prstGeom prst="rect">
            <a:avLst/>
          </a:prstGeom>
        </p:spPr>
      </p:pic>
      <p:sp>
        <p:nvSpPr>
          <p:cNvPr id="7" name="Shape 4"/>
          <p:cNvSpPr/>
          <p:nvPr/>
        </p:nvSpPr>
        <p:spPr>
          <a:xfrm>
            <a:off x="457200" y="1097280"/>
            <a:ext cx="7223760" cy="4540649"/>
          </a:xfrm>
          <a:prstGeom prst="rect">
            <a:avLst/>
          </a:prstGeom>
          <a:ln w="12700">
            <a:solidFill>
              <a:srgbClr val="C9D0DC"/>
            </a:solidFill>
            <a:prstDash val="solid"/>
          </a:ln>
        </p:spPr>
        <p:txBody>
          <a:bodyPr/>
          <a:lstStyle/>
          <a:p>
            <a:endParaRPr lang="en-US"/>
          </a:p>
        </p:txBody>
      </p:sp>
      <p:sp>
        <p:nvSpPr>
          <p:cNvPr id="8" name="Text 5"/>
          <p:cNvSpPr/>
          <p:nvPr/>
        </p:nvSpPr>
        <p:spPr>
          <a:xfrm>
            <a:off x="457200" y="5729369"/>
            <a:ext cx="7223760" cy="457200"/>
          </a:xfrm>
          <a:prstGeom prst="rect">
            <a:avLst/>
          </a:prstGeom>
          <a:noFill/>
          <a:ln/>
        </p:spPr>
        <p:txBody>
          <a:bodyPr wrap="square" rtlCol="0" anchor="t"/>
          <a:lstStyle/>
          <a:p>
            <a:pPr marL="0" indent="0">
              <a:lnSpc>
                <a:spcPts val="1300"/>
              </a:lnSpc>
              <a:buNone/>
            </a:pPr>
            <a:r>
              <a:rPr lang="en-US" sz="1050" i="1" dirty="0">
                <a:solidFill>
                  <a:srgbClr val="595959"/>
                </a:solidFill>
                <a:latin typeface="Calibri" pitchFamily="34" charset="0"/>
                <a:ea typeface="Calibri" pitchFamily="34" charset="-122"/>
                <a:cs typeface="Calibri" pitchFamily="34" charset="-120"/>
              </a:rPr>
              <a:t>Illustrative interface drawn for teaching — exact layout varies by version and institution.</a:t>
            </a:r>
            <a:endParaRPr lang="en-US" sz="1050" dirty="0"/>
          </a:p>
        </p:txBody>
      </p:sp>
      <p:sp>
        <p:nvSpPr>
          <p:cNvPr id="9" name="Shape 6"/>
          <p:cNvSpPr/>
          <p:nvPr/>
        </p:nvSpPr>
        <p:spPr>
          <a:xfrm>
            <a:off x="7909560" y="1097280"/>
            <a:ext cx="3794760" cy="5212080"/>
          </a:xfrm>
          <a:prstGeom prst="roundRect">
            <a:avLst>
              <a:gd name="adj" fmla="val 1928"/>
            </a:avLst>
          </a:prstGeom>
          <a:solidFill>
            <a:srgbClr val="F4F6F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sz="1600"/>
          </a:p>
        </p:txBody>
      </p:sp>
      <p:sp>
        <p:nvSpPr>
          <p:cNvPr id="10" name="Text 7"/>
          <p:cNvSpPr/>
          <p:nvPr/>
        </p:nvSpPr>
        <p:spPr>
          <a:xfrm>
            <a:off x="8138160" y="1261872"/>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WHAT IT IS</a:t>
            </a:r>
            <a:endParaRPr lang="en-US" sz="1600" dirty="0"/>
          </a:p>
        </p:txBody>
      </p:sp>
      <p:sp>
        <p:nvSpPr>
          <p:cNvPr id="11" name="Text 8"/>
          <p:cNvSpPr/>
          <p:nvPr/>
        </p:nvSpPr>
        <p:spPr>
          <a:xfrm>
            <a:off x="8138160" y="1554480"/>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An online learning platform founded by Harvard and MIT, offering courses from many universities and institutions.</a:t>
            </a:r>
            <a:endParaRPr lang="en-US" sz="1600" dirty="0"/>
          </a:p>
        </p:txBody>
      </p:sp>
      <p:sp>
        <p:nvSpPr>
          <p:cNvPr id="12" name="Text 9"/>
          <p:cNvSpPr/>
          <p:nvPr/>
        </p:nvSpPr>
        <p:spPr>
          <a:xfrm>
            <a:off x="8138160" y="2383536"/>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AUDIT VS VERIFIED</a:t>
            </a:r>
            <a:endParaRPr lang="en-US" sz="1600" dirty="0"/>
          </a:p>
        </p:txBody>
      </p:sp>
      <p:sp>
        <p:nvSpPr>
          <p:cNvPr id="13" name="Text 10"/>
          <p:cNvSpPr/>
          <p:nvPr/>
        </p:nvSpPr>
        <p:spPr>
          <a:xfrm>
            <a:off x="8138160" y="2676144"/>
            <a:ext cx="3337560" cy="8493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You can often start in an audit (free, limited-time) track, or choose the verified (paid) track for graded work and a certificate.</a:t>
            </a:r>
            <a:endParaRPr lang="en-US" sz="1600" dirty="0"/>
          </a:p>
        </p:txBody>
      </p:sp>
      <p:sp>
        <p:nvSpPr>
          <p:cNvPr id="14" name="Text 11"/>
          <p:cNvSpPr/>
          <p:nvPr/>
        </p:nvSpPr>
        <p:spPr>
          <a:xfrm>
            <a:off x="8138160" y="3708400"/>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PATHWAYS</a:t>
            </a:r>
            <a:endParaRPr lang="en-US" sz="1600" dirty="0"/>
          </a:p>
        </p:txBody>
      </p:sp>
      <p:sp>
        <p:nvSpPr>
          <p:cNvPr id="15" name="Text 12"/>
          <p:cNvSpPr/>
          <p:nvPr/>
        </p:nvSpPr>
        <p:spPr>
          <a:xfrm>
            <a:off x="8138160" y="4001008"/>
            <a:ext cx="3337560" cy="798576"/>
          </a:xfrm>
          <a:prstGeom prst="rect">
            <a:avLst/>
          </a:prstGeom>
          <a:noFill/>
          <a:ln/>
        </p:spPr>
        <p:txBody>
          <a:bodyPr wrap="square" lIns="0" tIns="0" rIns="0" bIns="0" rtlCol="0" anchor="t"/>
          <a:lstStyle/>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Short courses grouped into programs</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Program credentials for career goals</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Some programs link to degree credit</a:t>
            </a:r>
            <a:endParaRPr lang="en-US" sz="1600" dirty="0"/>
          </a:p>
        </p:txBody>
      </p:sp>
      <p:sp>
        <p:nvSpPr>
          <p:cNvPr id="16" name="Text 13"/>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17" name="Text 14"/>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PART 1: ONLINE COURSES — EDX</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edX — Features &amp; What Makes It Different</a:t>
            </a:r>
            <a:endParaRPr lang="en-US" sz="2400" dirty="0"/>
          </a:p>
        </p:txBody>
      </p:sp>
      <p:sp>
        <p:nvSpPr>
          <p:cNvPr id="6" name="Shape 4"/>
          <p:cNvSpPr/>
          <p:nvPr/>
        </p:nvSpPr>
        <p:spPr>
          <a:xfrm>
            <a:off x="548640" y="1143000"/>
            <a:ext cx="5394960" cy="1600200"/>
          </a:xfrm>
          <a:prstGeom prst="roundRect">
            <a:avLst>
              <a:gd name="adj" fmla="val 4571"/>
            </a:avLst>
          </a:prstGeom>
          <a:solidFill>
            <a:srgbClr val="EAF6EC"/>
          </a:solidFill>
          <a:ln w="12700">
            <a:solidFill>
              <a:srgbClr val="DCE1EA"/>
            </a:solidFill>
            <a:prstDash val="solid"/>
          </a:ln>
        </p:spPr>
        <p:txBody>
          <a:bodyPr/>
          <a:lstStyle/>
          <a:p>
            <a:endParaRPr lang="en-US" sz="1600"/>
          </a:p>
        </p:txBody>
      </p:sp>
      <p:sp>
        <p:nvSpPr>
          <p:cNvPr id="7" name="Text 5"/>
          <p:cNvSpPr/>
          <p:nvPr/>
        </p:nvSpPr>
        <p:spPr>
          <a:xfrm>
            <a:off x="777240" y="128016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University-Backed Content</a:t>
            </a:r>
            <a:endParaRPr lang="en-US" sz="1600" dirty="0"/>
          </a:p>
        </p:txBody>
      </p:sp>
      <p:sp>
        <p:nvSpPr>
          <p:cNvPr id="8" name="Text 6"/>
          <p:cNvSpPr/>
          <p:nvPr/>
        </p:nvSpPr>
        <p:spPr>
          <a:xfrm>
            <a:off x="77724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Courses are created by universities and institutions, so syllabi often follow real campus courses.</a:t>
            </a:r>
            <a:endParaRPr lang="en-US" sz="1600" dirty="0"/>
          </a:p>
        </p:txBody>
      </p:sp>
      <p:sp>
        <p:nvSpPr>
          <p:cNvPr id="9" name="Shape 7"/>
          <p:cNvSpPr/>
          <p:nvPr/>
        </p:nvSpPr>
        <p:spPr>
          <a:xfrm>
            <a:off x="6172200" y="114300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10" name="Text 8"/>
          <p:cNvSpPr/>
          <p:nvPr/>
        </p:nvSpPr>
        <p:spPr>
          <a:xfrm>
            <a:off x="6400800" y="128016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Audit Track</a:t>
            </a:r>
            <a:endParaRPr lang="en-US" sz="1600" dirty="0"/>
          </a:p>
        </p:txBody>
      </p:sp>
      <p:sp>
        <p:nvSpPr>
          <p:cNvPr id="11" name="Text 9"/>
          <p:cNvSpPr/>
          <p:nvPr/>
        </p:nvSpPr>
        <p:spPr>
          <a:xfrm>
            <a:off x="640080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Free access to lectures and readings for a limited time, with no graded work or certificate.</a:t>
            </a:r>
            <a:endParaRPr lang="en-US" sz="1600" dirty="0"/>
          </a:p>
        </p:txBody>
      </p:sp>
      <p:sp>
        <p:nvSpPr>
          <p:cNvPr id="12" name="Shape 10"/>
          <p:cNvSpPr/>
          <p:nvPr/>
        </p:nvSpPr>
        <p:spPr>
          <a:xfrm>
            <a:off x="548640" y="2880360"/>
            <a:ext cx="5394960" cy="1600200"/>
          </a:xfrm>
          <a:prstGeom prst="roundRect">
            <a:avLst>
              <a:gd name="adj" fmla="val 4571"/>
            </a:avLst>
          </a:prstGeom>
          <a:solidFill>
            <a:srgbClr val="EAF6EC"/>
          </a:solidFill>
          <a:ln w="12700">
            <a:solidFill>
              <a:srgbClr val="DCE1EA"/>
            </a:solidFill>
            <a:prstDash val="solid"/>
          </a:ln>
        </p:spPr>
        <p:txBody>
          <a:bodyPr/>
          <a:lstStyle/>
          <a:p>
            <a:endParaRPr lang="en-US" sz="1600"/>
          </a:p>
        </p:txBody>
      </p:sp>
      <p:sp>
        <p:nvSpPr>
          <p:cNvPr id="13" name="Text 11"/>
          <p:cNvSpPr/>
          <p:nvPr/>
        </p:nvSpPr>
        <p:spPr>
          <a:xfrm>
            <a:off x="777240" y="301752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Verified Track</a:t>
            </a:r>
            <a:endParaRPr lang="en-US" sz="1600" dirty="0"/>
          </a:p>
        </p:txBody>
      </p:sp>
      <p:sp>
        <p:nvSpPr>
          <p:cNvPr id="14" name="Text 12"/>
          <p:cNvSpPr/>
          <p:nvPr/>
        </p:nvSpPr>
        <p:spPr>
          <a:xfrm>
            <a:off x="77724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Paid option that unlocks graded assignments, full access, and a verified certificate.</a:t>
            </a:r>
            <a:endParaRPr lang="en-US" sz="1600" dirty="0"/>
          </a:p>
        </p:txBody>
      </p:sp>
      <p:sp>
        <p:nvSpPr>
          <p:cNvPr id="15" name="Shape 13"/>
          <p:cNvSpPr/>
          <p:nvPr/>
        </p:nvSpPr>
        <p:spPr>
          <a:xfrm>
            <a:off x="6172200" y="288036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16" name="Text 14"/>
          <p:cNvSpPr/>
          <p:nvPr/>
        </p:nvSpPr>
        <p:spPr>
          <a:xfrm>
            <a:off x="6400800" y="301752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Program Credentials</a:t>
            </a:r>
            <a:endParaRPr lang="en-US" sz="1600" dirty="0"/>
          </a:p>
        </p:txBody>
      </p:sp>
      <p:sp>
        <p:nvSpPr>
          <p:cNvPr id="17" name="Text 15"/>
          <p:cNvSpPr/>
          <p:nvPr/>
        </p:nvSpPr>
        <p:spPr>
          <a:xfrm>
            <a:off x="640080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Groups of related courses that form a recognized program, sometimes counted toward further study.</a:t>
            </a:r>
            <a:endParaRPr lang="en-US" sz="1600" dirty="0"/>
          </a:p>
        </p:txBody>
      </p:sp>
      <p:sp>
        <p:nvSpPr>
          <p:cNvPr id="18" name="Shape 16"/>
          <p:cNvSpPr/>
          <p:nvPr/>
        </p:nvSpPr>
        <p:spPr>
          <a:xfrm>
            <a:off x="548640" y="4617720"/>
            <a:ext cx="5394960" cy="1600200"/>
          </a:xfrm>
          <a:prstGeom prst="roundRect">
            <a:avLst>
              <a:gd name="adj" fmla="val 4571"/>
            </a:avLst>
          </a:prstGeom>
          <a:solidFill>
            <a:srgbClr val="EAF6EC"/>
          </a:solidFill>
          <a:ln w="12700">
            <a:solidFill>
              <a:srgbClr val="DCE1EA"/>
            </a:solidFill>
            <a:prstDash val="solid"/>
          </a:ln>
        </p:spPr>
        <p:txBody>
          <a:bodyPr/>
          <a:lstStyle/>
          <a:p>
            <a:endParaRPr lang="en-US" sz="1600"/>
          </a:p>
        </p:txBody>
      </p:sp>
      <p:sp>
        <p:nvSpPr>
          <p:cNvPr id="19" name="Text 17"/>
          <p:cNvSpPr/>
          <p:nvPr/>
        </p:nvSpPr>
        <p:spPr>
          <a:xfrm>
            <a:off x="777240" y="475488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Boot Camps &amp; Degrees</a:t>
            </a:r>
            <a:endParaRPr lang="en-US" sz="1600" dirty="0"/>
          </a:p>
        </p:txBody>
      </p:sp>
      <p:sp>
        <p:nvSpPr>
          <p:cNvPr id="20" name="Text 18"/>
          <p:cNvSpPr/>
          <p:nvPr/>
        </p:nvSpPr>
        <p:spPr>
          <a:xfrm>
            <a:off x="77724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Intensive skills programs and degree options are offered alongside regular courses.</a:t>
            </a:r>
            <a:endParaRPr lang="en-US" sz="1600" dirty="0"/>
          </a:p>
        </p:txBody>
      </p:sp>
      <p:sp>
        <p:nvSpPr>
          <p:cNvPr id="21" name="Shape 19"/>
          <p:cNvSpPr/>
          <p:nvPr/>
        </p:nvSpPr>
        <p:spPr>
          <a:xfrm>
            <a:off x="6172200" y="461772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22" name="Text 20"/>
          <p:cNvSpPr/>
          <p:nvPr/>
        </p:nvSpPr>
        <p:spPr>
          <a:xfrm>
            <a:off x="6400800" y="475488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Open edX Platform</a:t>
            </a:r>
            <a:endParaRPr lang="en-US" sz="1600" dirty="0"/>
          </a:p>
        </p:txBody>
      </p:sp>
      <p:sp>
        <p:nvSpPr>
          <p:cNvPr id="23" name="Text 21"/>
          <p:cNvSpPr/>
          <p:nvPr/>
        </p:nvSpPr>
        <p:spPr>
          <a:xfrm>
            <a:off x="640080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The software behind edX is open source, so many universities run their own course sites on it.</a:t>
            </a:r>
            <a:endParaRPr lang="en-US" sz="1600" dirty="0"/>
          </a:p>
        </p:txBody>
      </p:sp>
      <p:sp>
        <p:nvSpPr>
          <p:cNvPr id="24" name="Text 22"/>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25" name="Text 23"/>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PART 1: ONLINE COURSES — UDEMY</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Udemy — Course Landing Page</a:t>
            </a:r>
            <a:endParaRPr lang="en-US" sz="2400" dirty="0"/>
          </a:p>
        </p:txBody>
      </p:sp>
      <p:pic>
        <p:nvPicPr>
          <p:cNvPr id="6" name="Image 0" descr="mockups/udemy_course.png"/>
          <p:cNvPicPr>
            <a:picLocks noChangeAspect="1"/>
          </p:cNvPicPr>
          <p:nvPr/>
        </p:nvPicPr>
        <p:blipFill>
          <a:blip r:embed="rId3"/>
          <a:stretch>
            <a:fillRect/>
          </a:stretch>
        </p:blipFill>
        <p:spPr>
          <a:xfrm>
            <a:off x="457200" y="1097280"/>
            <a:ext cx="7223760" cy="4540649"/>
          </a:xfrm>
          <a:prstGeom prst="rect">
            <a:avLst/>
          </a:prstGeom>
        </p:spPr>
      </p:pic>
      <p:sp>
        <p:nvSpPr>
          <p:cNvPr id="7" name="Shape 4"/>
          <p:cNvSpPr/>
          <p:nvPr/>
        </p:nvSpPr>
        <p:spPr>
          <a:xfrm>
            <a:off x="457200" y="1097280"/>
            <a:ext cx="7223760" cy="4540649"/>
          </a:xfrm>
          <a:prstGeom prst="rect">
            <a:avLst/>
          </a:prstGeom>
          <a:ln w="12700">
            <a:solidFill>
              <a:srgbClr val="C9D0DC"/>
            </a:solidFill>
            <a:prstDash val="solid"/>
          </a:ln>
        </p:spPr>
        <p:txBody>
          <a:bodyPr/>
          <a:lstStyle/>
          <a:p>
            <a:endParaRPr lang="en-US"/>
          </a:p>
        </p:txBody>
      </p:sp>
      <p:sp>
        <p:nvSpPr>
          <p:cNvPr id="8" name="Text 5"/>
          <p:cNvSpPr/>
          <p:nvPr/>
        </p:nvSpPr>
        <p:spPr>
          <a:xfrm>
            <a:off x="457200" y="5729369"/>
            <a:ext cx="7223760" cy="457200"/>
          </a:xfrm>
          <a:prstGeom prst="rect">
            <a:avLst/>
          </a:prstGeom>
          <a:noFill/>
          <a:ln/>
        </p:spPr>
        <p:txBody>
          <a:bodyPr wrap="square" rtlCol="0" anchor="t"/>
          <a:lstStyle/>
          <a:p>
            <a:pPr marL="0" indent="0">
              <a:lnSpc>
                <a:spcPts val="1300"/>
              </a:lnSpc>
              <a:buNone/>
            </a:pPr>
            <a:r>
              <a:rPr lang="en-US" sz="1050" i="1" dirty="0">
                <a:solidFill>
                  <a:srgbClr val="595959"/>
                </a:solidFill>
                <a:latin typeface="Calibri" pitchFamily="34" charset="0"/>
                <a:ea typeface="Calibri" pitchFamily="34" charset="-122"/>
                <a:cs typeface="Calibri" pitchFamily="34" charset="-120"/>
              </a:rPr>
              <a:t>Illustrative interface drawn for teaching — exact layout varies by version and institution.</a:t>
            </a:r>
            <a:endParaRPr lang="en-US" sz="1050" dirty="0"/>
          </a:p>
        </p:txBody>
      </p:sp>
      <p:sp>
        <p:nvSpPr>
          <p:cNvPr id="9" name="Shape 6"/>
          <p:cNvSpPr/>
          <p:nvPr/>
        </p:nvSpPr>
        <p:spPr>
          <a:xfrm>
            <a:off x="7909560" y="1097280"/>
            <a:ext cx="3794760" cy="5212080"/>
          </a:xfrm>
          <a:prstGeom prst="roundRect">
            <a:avLst>
              <a:gd name="adj" fmla="val 1928"/>
            </a:avLst>
          </a:prstGeom>
          <a:solidFill>
            <a:srgbClr val="F4F6F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10" name="Text 7"/>
          <p:cNvSpPr/>
          <p:nvPr/>
        </p:nvSpPr>
        <p:spPr>
          <a:xfrm>
            <a:off x="8138160" y="1261872"/>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WHAT IT IS</a:t>
            </a:r>
            <a:endParaRPr lang="en-US" sz="1600" dirty="0"/>
          </a:p>
        </p:txBody>
      </p:sp>
      <p:sp>
        <p:nvSpPr>
          <p:cNvPr id="11" name="Text 8"/>
          <p:cNvSpPr/>
          <p:nvPr/>
        </p:nvSpPr>
        <p:spPr>
          <a:xfrm>
            <a:off x="8138160" y="1554480"/>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A marketplace where independent instructors create and sell courses on a very wide range of practical skills.</a:t>
            </a:r>
            <a:endParaRPr lang="en-US" sz="1600" dirty="0"/>
          </a:p>
        </p:txBody>
      </p:sp>
      <p:sp>
        <p:nvSpPr>
          <p:cNvPr id="12" name="Text 9"/>
          <p:cNvSpPr/>
          <p:nvPr/>
        </p:nvSpPr>
        <p:spPr>
          <a:xfrm>
            <a:off x="8138160" y="2383536"/>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HOW IT WORKS</a:t>
            </a:r>
            <a:endParaRPr lang="en-US" sz="1600" dirty="0"/>
          </a:p>
        </p:txBody>
      </p:sp>
      <p:sp>
        <p:nvSpPr>
          <p:cNvPr id="13" name="Text 10"/>
          <p:cNvSpPr/>
          <p:nvPr/>
        </p:nvSpPr>
        <p:spPr>
          <a:xfrm>
            <a:off x="8138160" y="2676144"/>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You buy a course once and get on-demand access to its videos and downloads, learning at your own pace.</a:t>
            </a:r>
            <a:endParaRPr lang="en-US" sz="1600" dirty="0"/>
          </a:p>
        </p:txBody>
      </p:sp>
      <p:sp>
        <p:nvSpPr>
          <p:cNvPr id="14" name="Text 11"/>
          <p:cNvSpPr/>
          <p:nvPr/>
        </p:nvSpPr>
        <p:spPr>
          <a:xfrm>
            <a:off x="8138160" y="3505200"/>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WHAT TO CHECK ON THE PAGE</a:t>
            </a:r>
            <a:endParaRPr lang="en-US" sz="1600" dirty="0"/>
          </a:p>
        </p:txBody>
      </p:sp>
      <p:sp>
        <p:nvSpPr>
          <p:cNvPr id="15" name="Text 12"/>
          <p:cNvSpPr/>
          <p:nvPr/>
        </p:nvSpPr>
        <p:spPr>
          <a:xfrm>
            <a:off x="8138160" y="3797808"/>
            <a:ext cx="3337560" cy="1052576"/>
          </a:xfrm>
          <a:prstGeom prst="rect">
            <a:avLst/>
          </a:prstGeom>
          <a:noFill/>
          <a:ln/>
        </p:spPr>
        <p:txBody>
          <a:bodyPr wrap="square" lIns="0" tIns="0" rIns="0" bIns="0" rtlCol="0" anchor="t"/>
          <a:lstStyle/>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Rating and number of learners</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Last updated date</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Preview video and syllabus</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Price and refund policy</a:t>
            </a:r>
            <a:endParaRPr lang="en-US" sz="1600" dirty="0"/>
          </a:p>
        </p:txBody>
      </p:sp>
      <p:sp>
        <p:nvSpPr>
          <p:cNvPr id="16" name="Text 13"/>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17" name="Text 14"/>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PART 1: ONLINE COURSES — UDEMY</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Udemy — Features, Strengths &amp; Cautions</a:t>
            </a:r>
            <a:endParaRPr lang="en-US" sz="2400" dirty="0"/>
          </a:p>
        </p:txBody>
      </p:sp>
      <p:sp>
        <p:nvSpPr>
          <p:cNvPr id="6" name="Shape 4"/>
          <p:cNvSpPr/>
          <p:nvPr/>
        </p:nvSpPr>
        <p:spPr>
          <a:xfrm>
            <a:off x="548640" y="1143000"/>
            <a:ext cx="5394960" cy="1600200"/>
          </a:xfrm>
          <a:prstGeom prst="roundRect">
            <a:avLst>
              <a:gd name="adj" fmla="val 4571"/>
            </a:avLst>
          </a:prstGeom>
          <a:solidFill>
            <a:srgbClr val="F3E8FD"/>
          </a:solidFill>
          <a:ln w="12700">
            <a:solidFill>
              <a:srgbClr val="DCE1EA"/>
            </a:solidFill>
            <a:prstDash val="solid"/>
          </a:ln>
        </p:spPr>
        <p:txBody>
          <a:bodyPr/>
          <a:lstStyle/>
          <a:p>
            <a:endParaRPr lang="en-US" sz="1600"/>
          </a:p>
        </p:txBody>
      </p:sp>
      <p:sp>
        <p:nvSpPr>
          <p:cNvPr id="7" name="Text 5"/>
          <p:cNvSpPr/>
          <p:nvPr/>
        </p:nvSpPr>
        <p:spPr>
          <a:xfrm>
            <a:off x="777240" y="128016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Marketplace Model</a:t>
            </a:r>
            <a:endParaRPr lang="en-US" sz="1600" dirty="0"/>
          </a:p>
        </p:txBody>
      </p:sp>
      <p:sp>
        <p:nvSpPr>
          <p:cNvPr id="8" name="Text 6"/>
          <p:cNvSpPr/>
          <p:nvPr/>
        </p:nvSpPr>
        <p:spPr>
          <a:xfrm>
            <a:off x="77724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Anyone can publish a course, so topics range from coding and design to photography and business.</a:t>
            </a:r>
            <a:endParaRPr lang="en-US" sz="1600" dirty="0"/>
          </a:p>
        </p:txBody>
      </p:sp>
      <p:sp>
        <p:nvSpPr>
          <p:cNvPr id="9" name="Shape 7"/>
          <p:cNvSpPr/>
          <p:nvPr/>
        </p:nvSpPr>
        <p:spPr>
          <a:xfrm>
            <a:off x="6172200" y="114300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10" name="Text 8"/>
          <p:cNvSpPr/>
          <p:nvPr/>
        </p:nvSpPr>
        <p:spPr>
          <a:xfrm>
            <a:off x="6400800" y="128016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Buy Once, Learn at Your Pace</a:t>
            </a:r>
            <a:endParaRPr lang="en-US" sz="1600" dirty="0"/>
          </a:p>
        </p:txBody>
      </p:sp>
      <p:sp>
        <p:nvSpPr>
          <p:cNvPr id="11" name="Text 9"/>
          <p:cNvSpPr/>
          <p:nvPr/>
        </p:nvSpPr>
        <p:spPr>
          <a:xfrm>
            <a:off x="640080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Most purchases give long-term access to the course content and later updates.</a:t>
            </a:r>
            <a:endParaRPr lang="en-US" sz="1600" dirty="0"/>
          </a:p>
        </p:txBody>
      </p:sp>
      <p:sp>
        <p:nvSpPr>
          <p:cNvPr id="12" name="Shape 10"/>
          <p:cNvSpPr/>
          <p:nvPr/>
        </p:nvSpPr>
        <p:spPr>
          <a:xfrm>
            <a:off x="548640" y="2880360"/>
            <a:ext cx="5394960" cy="1600200"/>
          </a:xfrm>
          <a:prstGeom prst="roundRect">
            <a:avLst>
              <a:gd name="adj" fmla="val 4571"/>
            </a:avLst>
          </a:prstGeom>
          <a:solidFill>
            <a:srgbClr val="F3E8FD"/>
          </a:solidFill>
          <a:ln w="12700">
            <a:solidFill>
              <a:srgbClr val="DCE1EA"/>
            </a:solidFill>
            <a:prstDash val="solid"/>
          </a:ln>
        </p:spPr>
        <p:txBody>
          <a:bodyPr/>
          <a:lstStyle/>
          <a:p>
            <a:endParaRPr lang="en-US" sz="1600"/>
          </a:p>
        </p:txBody>
      </p:sp>
      <p:sp>
        <p:nvSpPr>
          <p:cNvPr id="13" name="Text 11"/>
          <p:cNvSpPr/>
          <p:nvPr/>
        </p:nvSpPr>
        <p:spPr>
          <a:xfrm>
            <a:off x="777240" y="301752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Frequent Discounts</a:t>
            </a:r>
            <a:endParaRPr lang="en-US" sz="1600" dirty="0"/>
          </a:p>
        </p:txBody>
      </p:sp>
      <p:sp>
        <p:nvSpPr>
          <p:cNvPr id="14" name="Text 12"/>
          <p:cNvSpPr/>
          <p:nvPr/>
        </p:nvSpPr>
        <p:spPr>
          <a:xfrm>
            <a:off x="77724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Prices change often, so waiting for a sale is common — but compare value, not just price.</a:t>
            </a:r>
            <a:endParaRPr lang="en-US" sz="1600" dirty="0"/>
          </a:p>
        </p:txBody>
      </p:sp>
      <p:sp>
        <p:nvSpPr>
          <p:cNvPr id="15" name="Shape 13"/>
          <p:cNvSpPr/>
          <p:nvPr/>
        </p:nvSpPr>
        <p:spPr>
          <a:xfrm>
            <a:off x="6172200" y="288036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16" name="Text 14"/>
          <p:cNvSpPr/>
          <p:nvPr/>
        </p:nvSpPr>
        <p:spPr>
          <a:xfrm>
            <a:off x="6400800" y="301752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Practical, Skills-First Courses</a:t>
            </a:r>
            <a:endParaRPr lang="en-US" sz="1600" dirty="0"/>
          </a:p>
        </p:txBody>
      </p:sp>
      <p:sp>
        <p:nvSpPr>
          <p:cNvPr id="17" name="Text 15"/>
          <p:cNvSpPr/>
          <p:nvPr/>
        </p:nvSpPr>
        <p:spPr>
          <a:xfrm>
            <a:off x="640080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Courses are usually short, project-based, and focused on doing — good for hands-on skills.</a:t>
            </a:r>
            <a:endParaRPr lang="en-US" sz="1600" dirty="0"/>
          </a:p>
        </p:txBody>
      </p:sp>
      <p:sp>
        <p:nvSpPr>
          <p:cNvPr id="18" name="Shape 16"/>
          <p:cNvSpPr/>
          <p:nvPr/>
        </p:nvSpPr>
        <p:spPr>
          <a:xfrm>
            <a:off x="548640" y="4617720"/>
            <a:ext cx="5394960" cy="1600200"/>
          </a:xfrm>
          <a:prstGeom prst="roundRect">
            <a:avLst>
              <a:gd name="adj" fmla="val 4571"/>
            </a:avLst>
          </a:prstGeom>
          <a:solidFill>
            <a:srgbClr val="F3E8FD"/>
          </a:solidFill>
          <a:ln w="12700">
            <a:solidFill>
              <a:srgbClr val="DCE1EA"/>
            </a:solidFill>
            <a:prstDash val="solid"/>
          </a:ln>
        </p:spPr>
        <p:txBody>
          <a:bodyPr/>
          <a:lstStyle/>
          <a:p>
            <a:endParaRPr lang="en-US" sz="1600"/>
          </a:p>
        </p:txBody>
      </p:sp>
      <p:sp>
        <p:nvSpPr>
          <p:cNvPr id="19" name="Text 17"/>
          <p:cNvSpPr/>
          <p:nvPr/>
        </p:nvSpPr>
        <p:spPr>
          <a:xfrm>
            <a:off x="777240" y="475488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Quality Varies</a:t>
            </a:r>
            <a:endParaRPr lang="en-US" sz="1600" dirty="0"/>
          </a:p>
        </p:txBody>
      </p:sp>
      <p:sp>
        <p:nvSpPr>
          <p:cNvPr id="20" name="Text 18"/>
          <p:cNvSpPr/>
          <p:nvPr/>
        </p:nvSpPr>
        <p:spPr>
          <a:xfrm>
            <a:off x="77724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Because there is no single editor, always read reviews, the syllabus, and the update date before buying.</a:t>
            </a:r>
            <a:endParaRPr lang="en-US" sz="1600" dirty="0"/>
          </a:p>
        </p:txBody>
      </p:sp>
      <p:sp>
        <p:nvSpPr>
          <p:cNvPr id="21" name="Shape 19"/>
          <p:cNvSpPr/>
          <p:nvPr/>
        </p:nvSpPr>
        <p:spPr>
          <a:xfrm>
            <a:off x="6172200" y="461772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22" name="Text 20"/>
          <p:cNvSpPr/>
          <p:nvPr/>
        </p:nvSpPr>
        <p:spPr>
          <a:xfrm>
            <a:off x="6400800" y="475488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Certificates of Completion</a:t>
            </a:r>
            <a:endParaRPr lang="en-US" sz="1600" dirty="0"/>
          </a:p>
        </p:txBody>
      </p:sp>
      <p:sp>
        <p:nvSpPr>
          <p:cNvPr id="23" name="Text 21"/>
          <p:cNvSpPr/>
          <p:nvPr/>
        </p:nvSpPr>
        <p:spPr>
          <a:xfrm>
            <a:off x="640080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You receive a certificate of completion, which shows effort but is not a formal degree or accreditation.</a:t>
            </a:r>
            <a:endParaRPr lang="en-US" sz="1600" dirty="0"/>
          </a:p>
        </p:txBody>
      </p:sp>
      <p:sp>
        <p:nvSpPr>
          <p:cNvPr id="24" name="Text 22"/>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25" name="Text 23"/>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PART 1: ONLINE COURSES — KHAN ACADEMY</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Khan Academy — Mastery Dashboard</a:t>
            </a:r>
            <a:endParaRPr lang="en-US" sz="2400" dirty="0"/>
          </a:p>
        </p:txBody>
      </p:sp>
      <p:pic>
        <p:nvPicPr>
          <p:cNvPr id="6" name="Image 0" descr="mockups/khan_dashboard.png"/>
          <p:cNvPicPr>
            <a:picLocks noChangeAspect="1"/>
          </p:cNvPicPr>
          <p:nvPr/>
        </p:nvPicPr>
        <p:blipFill>
          <a:blip r:embed="rId3"/>
          <a:stretch>
            <a:fillRect/>
          </a:stretch>
        </p:blipFill>
        <p:spPr>
          <a:xfrm>
            <a:off x="457200" y="1097280"/>
            <a:ext cx="7223760" cy="4540649"/>
          </a:xfrm>
          <a:prstGeom prst="rect">
            <a:avLst/>
          </a:prstGeom>
        </p:spPr>
      </p:pic>
      <p:sp>
        <p:nvSpPr>
          <p:cNvPr id="7" name="Shape 4"/>
          <p:cNvSpPr/>
          <p:nvPr/>
        </p:nvSpPr>
        <p:spPr>
          <a:xfrm>
            <a:off x="457200" y="1097280"/>
            <a:ext cx="7223760" cy="4540649"/>
          </a:xfrm>
          <a:prstGeom prst="rect">
            <a:avLst/>
          </a:prstGeom>
          <a:ln w="12700">
            <a:solidFill>
              <a:srgbClr val="C9D0DC"/>
            </a:solidFill>
            <a:prstDash val="solid"/>
          </a:ln>
        </p:spPr>
        <p:txBody>
          <a:bodyPr/>
          <a:lstStyle/>
          <a:p>
            <a:endParaRPr lang="en-US"/>
          </a:p>
        </p:txBody>
      </p:sp>
      <p:sp>
        <p:nvSpPr>
          <p:cNvPr id="8" name="Text 5"/>
          <p:cNvSpPr/>
          <p:nvPr/>
        </p:nvSpPr>
        <p:spPr>
          <a:xfrm>
            <a:off x="457200" y="5729369"/>
            <a:ext cx="7223760" cy="457200"/>
          </a:xfrm>
          <a:prstGeom prst="rect">
            <a:avLst/>
          </a:prstGeom>
          <a:noFill/>
          <a:ln/>
        </p:spPr>
        <p:txBody>
          <a:bodyPr wrap="square" rtlCol="0" anchor="t"/>
          <a:lstStyle/>
          <a:p>
            <a:pPr marL="0" indent="0">
              <a:lnSpc>
                <a:spcPts val="1300"/>
              </a:lnSpc>
              <a:buNone/>
            </a:pPr>
            <a:r>
              <a:rPr lang="en-US" sz="1050" i="1" dirty="0">
                <a:solidFill>
                  <a:srgbClr val="595959"/>
                </a:solidFill>
                <a:latin typeface="Calibri" pitchFamily="34" charset="0"/>
                <a:ea typeface="Calibri" pitchFamily="34" charset="-122"/>
                <a:cs typeface="Calibri" pitchFamily="34" charset="-120"/>
              </a:rPr>
              <a:t>Illustrative interface drawn for teaching — exact layout varies by version and institution.</a:t>
            </a:r>
            <a:endParaRPr lang="en-US" sz="1050" dirty="0"/>
          </a:p>
        </p:txBody>
      </p:sp>
      <p:sp>
        <p:nvSpPr>
          <p:cNvPr id="9" name="Shape 6"/>
          <p:cNvSpPr/>
          <p:nvPr/>
        </p:nvSpPr>
        <p:spPr>
          <a:xfrm>
            <a:off x="7909560" y="1097280"/>
            <a:ext cx="3794760" cy="5212080"/>
          </a:xfrm>
          <a:prstGeom prst="roundRect">
            <a:avLst>
              <a:gd name="adj" fmla="val 1928"/>
            </a:avLst>
          </a:prstGeom>
          <a:solidFill>
            <a:srgbClr val="F4F6F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10" name="Text 7"/>
          <p:cNvSpPr/>
          <p:nvPr/>
        </p:nvSpPr>
        <p:spPr>
          <a:xfrm>
            <a:off x="8138160" y="1261872"/>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WHAT IT IS</a:t>
            </a:r>
            <a:endParaRPr lang="en-US" sz="1600" dirty="0"/>
          </a:p>
        </p:txBody>
      </p:sp>
      <p:sp>
        <p:nvSpPr>
          <p:cNvPr id="11" name="Text 8"/>
          <p:cNvSpPr/>
          <p:nvPr/>
        </p:nvSpPr>
        <p:spPr>
          <a:xfrm>
            <a:off x="8138160" y="1554480"/>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A non-profit learning platform with free lessons and practice, mainly for school-level and early college subjects.</a:t>
            </a:r>
            <a:endParaRPr lang="en-US" sz="1600" dirty="0"/>
          </a:p>
        </p:txBody>
      </p:sp>
      <p:sp>
        <p:nvSpPr>
          <p:cNvPr id="12" name="Text 9"/>
          <p:cNvSpPr/>
          <p:nvPr/>
        </p:nvSpPr>
        <p:spPr>
          <a:xfrm>
            <a:off x="8138160" y="2383536"/>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HOW IT WORKS</a:t>
            </a:r>
            <a:endParaRPr lang="en-US" sz="1600" dirty="0"/>
          </a:p>
        </p:txBody>
      </p:sp>
      <p:sp>
        <p:nvSpPr>
          <p:cNvPr id="13" name="Text 10"/>
          <p:cNvSpPr/>
          <p:nvPr/>
        </p:nvSpPr>
        <p:spPr>
          <a:xfrm>
            <a:off x="8138160" y="2676144"/>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Short videos and articles teach a skill, then practice questions check it. Progress is shown as mastery levels.</a:t>
            </a:r>
            <a:endParaRPr lang="en-US" sz="1600" dirty="0"/>
          </a:p>
        </p:txBody>
      </p:sp>
      <p:sp>
        <p:nvSpPr>
          <p:cNvPr id="14" name="Text 11"/>
          <p:cNvSpPr/>
          <p:nvPr/>
        </p:nvSpPr>
        <p:spPr>
          <a:xfrm>
            <a:off x="8138160" y="3505200"/>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KEY AREAS SHOWN</a:t>
            </a:r>
            <a:endParaRPr lang="en-US" sz="1600" dirty="0"/>
          </a:p>
        </p:txBody>
      </p:sp>
      <p:sp>
        <p:nvSpPr>
          <p:cNvPr id="15" name="Text 12"/>
          <p:cNvSpPr/>
          <p:nvPr/>
        </p:nvSpPr>
        <p:spPr>
          <a:xfrm>
            <a:off x="8138160" y="3797808"/>
            <a:ext cx="3337560" cy="1052576"/>
          </a:xfrm>
          <a:prstGeom prst="rect">
            <a:avLst/>
          </a:prstGeom>
          <a:noFill/>
          <a:ln/>
        </p:spPr>
        <p:txBody>
          <a:bodyPr wrap="square" lIns="0" tIns="0" rIns="0" bIns="0" rtlCol="0" anchor="t"/>
          <a:lstStyle/>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Course mastery bar</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Units with skills and levels</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Daily goal and streak</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Recommended next practice</a:t>
            </a:r>
            <a:endParaRPr lang="en-US" sz="1600" dirty="0"/>
          </a:p>
        </p:txBody>
      </p:sp>
      <p:sp>
        <p:nvSpPr>
          <p:cNvPr id="16" name="Text 13"/>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17" name="Text 14"/>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PART 1: ONLINE COURSES — KHAN ACADEMY</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Khan Academy — Features &amp; Strengths</a:t>
            </a:r>
            <a:endParaRPr lang="en-US" sz="2400" dirty="0"/>
          </a:p>
        </p:txBody>
      </p:sp>
      <p:sp>
        <p:nvSpPr>
          <p:cNvPr id="6" name="Shape 4"/>
          <p:cNvSpPr/>
          <p:nvPr/>
        </p:nvSpPr>
        <p:spPr>
          <a:xfrm>
            <a:off x="548640" y="1143000"/>
            <a:ext cx="5394960" cy="1600200"/>
          </a:xfrm>
          <a:prstGeom prst="roundRect">
            <a:avLst>
              <a:gd name="adj" fmla="val 4571"/>
            </a:avLst>
          </a:prstGeom>
          <a:solidFill>
            <a:srgbClr val="E6F8F3"/>
          </a:solidFill>
          <a:ln w="12700">
            <a:solidFill>
              <a:srgbClr val="DCE1EA"/>
            </a:solidFill>
            <a:prstDash val="solid"/>
          </a:ln>
        </p:spPr>
        <p:txBody>
          <a:bodyPr/>
          <a:lstStyle/>
          <a:p>
            <a:endParaRPr lang="en-US" sz="1600"/>
          </a:p>
        </p:txBody>
      </p:sp>
      <p:sp>
        <p:nvSpPr>
          <p:cNvPr id="7" name="Text 5"/>
          <p:cNvSpPr/>
          <p:nvPr/>
        </p:nvSpPr>
        <p:spPr>
          <a:xfrm>
            <a:off x="777240" y="128016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Completely Free</a:t>
            </a:r>
            <a:endParaRPr lang="en-US" sz="1600" dirty="0"/>
          </a:p>
        </p:txBody>
      </p:sp>
      <p:sp>
        <p:nvSpPr>
          <p:cNvPr id="8" name="Text 6"/>
          <p:cNvSpPr/>
          <p:nvPr/>
        </p:nvSpPr>
        <p:spPr>
          <a:xfrm>
            <a:off x="77724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Run by a non-profit organization, so lessons and practice are free for every learner.</a:t>
            </a:r>
            <a:endParaRPr lang="en-US" sz="1600" dirty="0"/>
          </a:p>
        </p:txBody>
      </p:sp>
      <p:sp>
        <p:nvSpPr>
          <p:cNvPr id="9" name="Shape 7"/>
          <p:cNvSpPr/>
          <p:nvPr/>
        </p:nvSpPr>
        <p:spPr>
          <a:xfrm>
            <a:off x="6172200" y="114300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10" name="Text 8"/>
          <p:cNvSpPr/>
          <p:nvPr/>
        </p:nvSpPr>
        <p:spPr>
          <a:xfrm>
            <a:off x="6400800" y="128016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Mastery Learning</a:t>
            </a:r>
            <a:endParaRPr lang="en-US" sz="1600" dirty="0"/>
          </a:p>
        </p:txBody>
      </p:sp>
      <p:sp>
        <p:nvSpPr>
          <p:cNvPr id="11" name="Text 9"/>
          <p:cNvSpPr/>
          <p:nvPr/>
        </p:nvSpPr>
        <p:spPr>
          <a:xfrm>
            <a:off x="640080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Practice continues until a skill is mastered, so gaps are fixed before moving on.</a:t>
            </a:r>
            <a:endParaRPr lang="en-US" sz="1600" dirty="0"/>
          </a:p>
        </p:txBody>
      </p:sp>
      <p:sp>
        <p:nvSpPr>
          <p:cNvPr id="12" name="Shape 10"/>
          <p:cNvSpPr/>
          <p:nvPr/>
        </p:nvSpPr>
        <p:spPr>
          <a:xfrm>
            <a:off x="548640" y="2880360"/>
            <a:ext cx="5394960" cy="1600200"/>
          </a:xfrm>
          <a:prstGeom prst="roundRect">
            <a:avLst>
              <a:gd name="adj" fmla="val 4571"/>
            </a:avLst>
          </a:prstGeom>
          <a:solidFill>
            <a:srgbClr val="E6F8F3"/>
          </a:solidFill>
          <a:ln w="12700">
            <a:solidFill>
              <a:srgbClr val="DCE1EA"/>
            </a:solidFill>
            <a:prstDash val="solid"/>
          </a:ln>
        </p:spPr>
        <p:txBody>
          <a:bodyPr/>
          <a:lstStyle/>
          <a:p>
            <a:endParaRPr lang="en-US" sz="1600"/>
          </a:p>
        </p:txBody>
      </p:sp>
      <p:sp>
        <p:nvSpPr>
          <p:cNvPr id="13" name="Text 11"/>
          <p:cNvSpPr/>
          <p:nvPr/>
        </p:nvSpPr>
        <p:spPr>
          <a:xfrm>
            <a:off x="777240" y="301752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Wide Subject Range</a:t>
            </a:r>
            <a:endParaRPr lang="en-US" sz="1600" dirty="0"/>
          </a:p>
        </p:txBody>
      </p:sp>
      <p:sp>
        <p:nvSpPr>
          <p:cNvPr id="14" name="Text 12"/>
          <p:cNvSpPr/>
          <p:nvPr/>
        </p:nvSpPr>
        <p:spPr>
          <a:xfrm>
            <a:off x="77724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Math, science, computing, economics, arts and humanities, and test-preparation material.</a:t>
            </a:r>
            <a:endParaRPr lang="en-US" sz="1600" dirty="0"/>
          </a:p>
        </p:txBody>
      </p:sp>
      <p:sp>
        <p:nvSpPr>
          <p:cNvPr id="15" name="Shape 13"/>
          <p:cNvSpPr/>
          <p:nvPr/>
        </p:nvSpPr>
        <p:spPr>
          <a:xfrm>
            <a:off x="6172200" y="288036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16" name="Text 14"/>
          <p:cNvSpPr/>
          <p:nvPr/>
        </p:nvSpPr>
        <p:spPr>
          <a:xfrm>
            <a:off x="6400800" y="301752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Instant Feedback</a:t>
            </a:r>
            <a:endParaRPr lang="en-US" sz="1600" dirty="0"/>
          </a:p>
        </p:txBody>
      </p:sp>
      <p:sp>
        <p:nvSpPr>
          <p:cNvPr id="17" name="Text 15"/>
          <p:cNvSpPr/>
          <p:nvPr/>
        </p:nvSpPr>
        <p:spPr>
          <a:xfrm>
            <a:off x="640080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Hints and step-by-step solutions appear as you practice, helping you learn from mistakes.</a:t>
            </a:r>
            <a:endParaRPr lang="en-US" sz="1600" dirty="0"/>
          </a:p>
        </p:txBody>
      </p:sp>
      <p:sp>
        <p:nvSpPr>
          <p:cNvPr id="18" name="Shape 16"/>
          <p:cNvSpPr/>
          <p:nvPr/>
        </p:nvSpPr>
        <p:spPr>
          <a:xfrm>
            <a:off x="548640" y="4617720"/>
            <a:ext cx="5394960" cy="1600200"/>
          </a:xfrm>
          <a:prstGeom prst="roundRect">
            <a:avLst>
              <a:gd name="adj" fmla="val 4571"/>
            </a:avLst>
          </a:prstGeom>
          <a:solidFill>
            <a:srgbClr val="E6F8F3"/>
          </a:solidFill>
          <a:ln w="12700">
            <a:solidFill>
              <a:srgbClr val="DCE1EA"/>
            </a:solidFill>
            <a:prstDash val="solid"/>
          </a:ln>
        </p:spPr>
        <p:txBody>
          <a:bodyPr/>
          <a:lstStyle/>
          <a:p>
            <a:endParaRPr lang="en-US" sz="1600"/>
          </a:p>
        </p:txBody>
      </p:sp>
      <p:sp>
        <p:nvSpPr>
          <p:cNvPr id="19" name="Text 17"/>
          <p:cNvSpPr/>
          <p:nvPr/>
        </p:nvSpPr>
        <p:spPr>
          <a:xfrm>
            <a:off x="777240" y="475488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Teacher &amp; Parent Tools</a:t>
            </a:r>
            <a:endParaRPr lang="en-US" sz="1600" dirty="0"/>
          </a:p>
        </p:txBody>
      </p:sp>
      <p:sp>
        <p:nvSpPr>
          <p:cNvPr id="20" name="Text 18"/>
          <p:cNvSpPr/>
          <p:nvPr/>
        </p:nvSpPr>
        <p:spPr>
          <a:xfrm>
            <a:off x="77724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Teachers can assign work and see class progress; parents can follow a child’s learning.</a:t>
            </a:r>
            <a:endParaRPr lang="en-US" sz="1600" dirty="0"/>
          </a:p>
        </p:txBody>
      </p:sp>
      <p:sp>
        <p:nvSpPr>
          <p:cNvPr id="21" name="Shape 19"/>
          <p:cNvSpPr/>
          <p:nvPr/>
        </p:nvSpPr>
        <p:spPr>
          <a:xfrm>
            <a:off x="6172200" y="461772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22" name="Text 20"/>
          <p:cNvSpPr/>
          <p:nvPr/>
        </p:nvSpPr>
        <p:spPr>
          <a:xfrm>
            <a:off x="6400800" y="475488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Optional AI Tutor</a:t>
            </a:r>
            <a:endParaRPr lang="en-US" sz="1600" dirty="0"/>
          </a:p>
        </p:txBody>
      </p:sp>
      <p:sp>
        <p:nvSpPr>
          <p:cNvPr id="23" name="Text 21"/>
          <p:cNvSpPr/>
          <p:nvPr/>
        </p:nvSpPr>
        <p:spPr>
          <a:xfrm>
            <a:off x="640080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An AI tutor can guide learners with hints instead of just giving answers (some features may be paid or limited).</a:t>
            </a:r>
            <a:endParaRPr lang="en-US" sz="1600" dirty="0"/>
          </a:p>
        </p:txBody>
      </p:sp>
      <p:sp>
        <p:nvSpPr>
          <p:cNvPr id="24" name="Text 22"/>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25" name="Text 23"/>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PART 1: ONLINE COURSES — MORE PLACES TO LEARN</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Other Sources of Online Courses</a:t>
            </a:r>
            <a:endParaRPr lang="en-US" sz="2400" dirty="0"/>
          </a:p>
        </p:txBody>
      </p:sp>
      <p:sp>
        <p:nvSpPr>
          <p:cNvPr id="6" name="Shape 4"/>
          <p:cNvSpPr/>
          <p:nvPr/>
        </p:nvSpPr>
        <p:spPr>
          <a:xfrm>
            <a:off x="548640" y="114300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7" name="Text 5"/>
          <p:cNvSpPr/>
          <p:nvPr/>
        </p:nvSpPr>
        <p:spPr>
          <a:xfrm>
            <a:off x="777240" y="128016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FutureLearn &amp; Udacity</a:t>
            </a:r>
            <a:endParaRPr lang="en-US" sz="1600" dirty="0"/>
          </a:p>
        </p:txBody>
      </p:sp>
      <p:sp>
        <p:nvSpPr>
          <p:cNvPr id="8" name="Text 6"/>
          <p:cNvSpPr/>
          <p:nvPr/>
        </p:nvSpPr>
        <p:spPr>
          <a:xfrm>
            <a:off x="777240" y="164592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FutureLearn offers university-linked courses with a social learning style; Udacity focuses on technology skills and project-based programs.</a:t>
            </a:r>
            <a:endParaRPr lang="en-US" sz="1600" dirty="0"/>
          </a:p>
        </p:txBody>
      </p:sp>
      <p:sp>
        <p:nvSpPr>
          <p:cNvPr id="9" name="Shape 7"/>
          <p:cNvSpPr/>
          <p:nvPr/>
        </p:nvSpPr>
        <p:spPr>
          <a:xfrm>
            <a:off x="6172200" y="114300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10" name="Text 8"/>
          <p:cNvSpPr/>
          <p:nvPr/>
        </p:nvSpPr>
        <p:spPr>
          <a:xfrm>
            <a:off x="6400800" y="128016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LinkedIn Learning &amp; Skillshare</a:t>
            </a:r>
            <a:endParaRPr lang="en-US" sz="1600" dirty="0"/>
          </a:p>
        </p:txBody>
      </p:sp>
      <p:sp>
        <p:nvSpPr>
          <p:cNvPr id="11" name="Text 9"/>
          <p:cNvSpPr/>
          <p:nvPr/>
        </p:nvSpPr>
        <p:spPr>
          <a:xfrm>
            <a:off x="6400800" y="164592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Short professional and creative skill videos; LinkedIn Learning links directly to your professional profile.</a:t>
            </a:r>
            <a:endParaRPr lang="en-US" sz="1600" dirty="0"/>
          </a:p>
        </p:txBody>
      </p:sp>
      <p:sp>
        <p:nvSpPr>
          <p:cNvPr id="12" name="Shape 10"/>
          <p:cNvSpPr/>
          <p:nvPr/>
        </p:nvSpPr>
        <p:spPr>
          <a:xfrm>
            <a:off x="548640" y="288036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13" name="Text 11"/>
          <p:cNvSpPr/>
          <p:nvPr/>
        </p:nvSpPr>
        <p:spPr>
          <a:xfrm>
            <a:off x="777240" y="301752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Alison &amp; freeCodeCamp</a:t>
            </a:r>
            <a:endParaRPr lang="en-US" sz="1600" dirty="0"/>
          </a:p>
        </p:txBody>
      </p:sp>
      <p:sp>
        <p:nvSpPr>
          <p:cNvPr id="14" name="Text 12"/>
          <p:cNvSpPr/>
          <p:nvPr/>
        </p:nvSpPr>
        <p:spPr>
          <a:xfrm>
            <a:off x="777240" y="338328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Free-to-learn sites: Alison covers many job skills, and freeCodeCamp teaches programming through projects.</a:t>
            </a:r>
            <a:endParaRPr lang="en-US" sz="1600" dirty="0"/>
          </a:p>
        </p:txBody>
      </p:sp>
      <p:sp>
        <p:nvSpPr>
          <p:cNvPr id="15" name="Shape 13"/>
          <p:cNvSpPr/>
          <p:nvPr/>
        </p:nvSpPr>
        <p:spPr>
          <a:xfrm>
            <a:off x="6172200" y="288036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16" name="Text 14"/>
          <p:cNvSpPr/>
          <p:nvPr/>
        </p:nvSpPr>
        <p:spPr>
          <a:xfrm>
            <a:off x="6400800" y="301752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Open University Materials</a:t>
            </a:r>
            <a:endParaRPr lang="en-US" sz="1600" dirty="0"/>
          </a:p>
        </p:txBody>
      </p:sp>
      <p:sp>
        <p:nvSpPr>
          <p:cNvPr id="17" name="Text 15"/>
          <p:cNvSpPr/>
          <p:nvPr/>
        </p:nvSpPr>
        <p:spPr>
          <a:xfrm>
            <a:off x="6400800" y="338328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Many universities publish lecture notes, videos, and assignments online for anyone to study.</a:t>
            </a:r>
            <a:endParaRPr lang="en-US" sz="1600" dirty="0"/>
          </a:p>
        </p:txBody>
      </p:sp>
      <p:sp>
        <p:nvSpPr>
          <p:cNvPr id="18" name="Shape 16"/>
          <p:cNvSpPr/>
          <p:nvPr/>
        </p:nvSpPr>
        <p:spPr>
          <a:xfrm>
            <a:off x="548640" y="461772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19" name="Text 17"/>
          <p:cNvSpPr/>
          <p:nvPr/>
        </p:nvSpPr>
        <p:spPr>
          <a:xfrm>
            <a:off x="777240" y="475488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Company Learning Hubs</a:t>
            </a:r>
            <a:endParaRPr lang="en-US" sz="1600" dirty="0"/>
          </a:p>
        </p:txBody>
      </p:sp>
      <p:sp>
        <p:nvSpPr>
          <p:cNvPr id="20" name="Text 18"/>
          <p:cNvSpPr/>
          <p:nvPr/>
        </p:nvSpPr>
        <p:spPr>
          <a:xfrm>
            <a:off x="777240" y="512064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Technology companies run free learning portals for their own tools and certifications.</a:t>
            </a:r>
            <a:endParaRPr lang="en-US" sz="1600" dirty="0"/>
          </a:p>
        </p:txBody>
      </p:sp>
      <p:sp>
        <p:nvSpPr>
          <p:cNvPr id="21" name="Shape 19"/>
          <p:cNvSpPr/>
          <p:nvPr/>
        </p:nvSpPr>
        <p:spPr>
          <a:xfrm>
            <a:off x="6172200" y="461772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22" name="Text 20"/>
          <p:cNvSpPr/>
          <p:nvPr/>
        </p:nvSpPr>
        <p:spPr>
          <a:xfrm>
            <a:off x="6400800" y="475488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Local &amp; Distance Universities</a:t>
            </a:r>
            <a:endParaRPr lang="en-US" sz="1600" dirty="0"/>
          </a:p>
        </p:txBody>
      </p:sp>
      <p:sp>
        <p:nvSpPr>
          <p:cNvPr id="23" name="Text 21"/>
          <p:cNvSpPr/>
          <p:nvPr/>
        </p:nvSpPr>
        <p:spPr>
          <a:xfrm>
            <a:off x="6400800" y="512064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Distance-learning institutions, such as the Virtual University of Pakistan, deliver full programs online.</a:t>
            </a:r>
            <a:endParaRPr lang="en-US" sz="1600" dirty="0"/>
          </a:p>
        </p:txBody>
      </p:sp>
      <p:sp>
        <p:nvSpPr>
          <p:cNvPr id="24" name="Text 22"/>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25" name="Text 23"/>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SIDE-BY-SIDE COMPARISON</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Coursera vs edX vs Udemy vs Khan Academy</a:t>
            </a:r>
            <a:endParaRPr lang="en-US" sz="2400" dirty="0"/>
          </a:p>
        </p:txBody>
      </p:sp>
      <p:sp>
        <p:nvSpPr>
          <p:cNvPr id="6" name="Shape 4"/>
          <p:cNvSpPr/>
          <p:nvPr/>
        </p:nvSpPr>
        <p:spPr>
          <a:xfrm>
            <a:off x="548640" y="1188720"/>
            <a:ext cx="1737360" cy="457200"/>
          </a:xfrm>
          <a:prstGeom prst="rect">
            <a:avLst/>
          </a:prstGeom>
          <a:solidFill>
            <a:srgbClr val="1F3864"/>
          </a:solidFill>
          <a:ln/>
        </p:spPr>
        <p:txBody>
          <a:bodyPr/>
          <a:lstStyle/>
          <a:p>
            <a:endParaRPr lang="en-US" sz="1600"/>
          </a:p>
        </p:txBody>
      </p:sp>
      <p:sp>
        <p:nvSpPr>
          <p:cNvPr id="7" name="Text 5"/>
          <p:cNvSpPr/>
          <p:nvPr/>
        </p:nvSpPr>
        <p:spPr>
          <a:xfrm>
            <a:off x="548640" y="1188720"/>
            <a:ext cx="173736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Aspect</a:t>
            </a:r>
            <a:endParaRPr lang="en-US" sz="1600" dirty="0"/>
          </a:p>
        </p:txBody>
      </p:sp>
      <p:sp>
        <p:nvSpPr>
          <p:cNvPr id="8" name="Shape 6"/>
          <p:cNvSpPr/>
          <p:nvPr/>
        </p:nvSpPr>
        <p:spPr>
          <a:xfrm>
            <a:off x="2286000" y="1188720"/>
            <a:ext cx="2331720" cy="457200"/>
          </a:xfrm>
          <a:prstGeom prst="rect">
            <a:avLst/>
          </a:prstGeom>
          <a:solidFill>
            <a:srgbClr val="0056D2"/>
          </a:solidFill>
          <a:ln/>
        </p:spPr>
        <p:txBody>
          <a:bodyPr/>
          <a:lstStyle/>
          <a:p>
            <a:endParaRPr lang="en-US" sz="1600"/>
          </a:p>
        </p:txBody>
      </p:sp>
      <p:sp>
        <p:nvSpPr>
          <p:cNvPr id="9" name="Text 7"/>
          <p:cNvSpPr/>
          <p:nvPr/>
        </p:nvSpPr>
        <p:spPr>
          <a:xfrm>
            <a:off x="2286000" y="1188720"/>
            <a:ext cx="233172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Coursera</a:t>
            </a:r>
            <a:endParaRPr lang="en-US" sz="1600" dirty="0"/>
          </a:p>
        </p:txBody>
      </p:sp>
      <p:sp>
        <p:nvSpPr>
          <p:cNvPr id="10" name="Shape 8"/>
          <p:cNvSpPr/>
          <p:nvPr/>
        </p:nvSpPr>
        <p:spPr>
          <a:xfrm>
            <a:off x="4617720" y="1188720"/>
            <a:ext cx="2331720" cy="457200"/>
          </a:xfrm>
          <a:prstGeom prst="rect">
            <a:avLst/>
          </a:prstGeom>
          <a:solidFill>
            <a:srgbClr val="007278"/>
          </a:solidFill>
          <a:ln/>
        </p:spPr>
        <p:txBody>
          <a:bodyPr/>
          <a:lstStyle/>
          <a:p>
            <a:endParaRPr lang="en-US" sz="1600"/>
          </a:p>
        </p:txBody>
      </p:sp>
      <p:sp>
        <p:nvSpPr>
          <p:cNvPr id="11" name="Text 9"/>
          <p:cNvSpPr/>
          <p:nvPr/>
        </p:nvSpPr>
        <p:spPr>
          <a:xfrm>
            <a:off x="4617720" y="1188720"/>
            <a:ext cx="233172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edX</a:t>
            </a:r>
            <a:endParaRPr lang="en-US" sz="1600" dirty="0"/>
          </a:p>
        </p:txBody>
      </p:sp>
      <p:sp>
        <p:nvSpPr>
          <p:cNvPr id="12" name="Shape 10"/>
          <p:cNvSpPr/>
          <p:nvPr/>
        </p:nvSpPr>
        <p:spPr>
          <a:xfrm>
            <a:off x="6949440" y="1188720"/>
            <a:ext cx="2331720" cy="457200"/>
          </a:xfrm>
          <a:prstGeom prst="rect">
            <a:avLst/>
          </a:prstGeom>
          <a:solidFill>
            <a:srgbClr val="A435F0"/>
          </a:solidFill>
          <a:ln/>
        </p:spPr>
        <p:txBody>
          <a:bodyPr/>
          <a:lstStyle/>
          <a:p>
            <a:endParaRPr lang="en-US" sz="1600"/>
          </a:p>
        </p:txBody>
      </p:sp>
      <p:sp>
        <p:nvSpPr>
          <p:cNvPr id="13" name="Text 11"/>
          <p:cNvSpPr/>
          <p:nvPr/>
        </p:nvSpPr>
        <p:spPr>
          <a:xfrm>
            <a:off x="6949440" y="1188720"/>
            <a:ext cx="233172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Udemy</a:t>
            </a:r>
            <a:endParaRPr lang="en-US" sz="1600" dirty="0"/>
          </a:p>
        </p:txBody>
      </p:sp>
      <p:sp>
        <p:nvSpPr>
          <p:cNvPr id="14" name="Shape 12"/>
          <p:cNvSpPr/>
          <p:nvPr/>
        </p:nvSpPr>
        <p:spPr>
          <a:xfrm>
            <a:off x="9281160" y="1188720"/>
            <a:ext cx="2331720" cy="457200"/>
          </a:xfrm>
          <a:prstGeom prst="rect">
            <a:avLst/>
          </a:prstGeom>
          <a:solidFill>
            <a:srgbClr val="14BF96"/>
          </a:solidFill>
          <a:ln/>
        </p:spPr>
        <p:txBody>
          <a:bodyPr/>
          <a:lstStyle/>
          <a:p>
            <a:endParaRPr lang="en-US" sz="1600"/>
          </a:p>
        </p:txBody>
      </p:sp>
      <p:sp>
        <p:nvSpPr>
          <p:cNvPr id="15" name="Text 13"/>
          <p:cNvSpPr/>
          <p:nvPr/>
        </p:nvSpPr>
        <p:spPr>
          <a:xfrm>
            <a:off x="9281160" y="1188720"/>
            <a:ext cx="233172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Khan Academy</a:t>
            </a:r>
            <a:endParaRPr lang="en-US" sz="1600" dirty="0"/>
          </a:p>
        </p:txBody>
      </p:sp>
      <p:sp>
        <p:nvSpPr>
          <p:cNvPr id="16" name="Shape 14"/>
          <p:cNvSpPr/>
          <p:nvPr/>
        </p:nvSpPr>
        <p:spPr>
          <a:xfrm>
            <a:off x="548640" y="1645920"/>
            <a:ext cx="1737360" cy="658368"/>
          </a:xfrm>
          <a:prstGeom prst="rect">
            <a:avLst/>
          </a:prstGeom>
          <a:solidFill>
            <a:srgbClr val="FFFFFF"/>
          </a:solidFill>
          <a:ln w="9525">
            <a:solidFill>
              <a:srgbClr val="DCE1EA"/>
            </a:solidFill>
            <a:prstDash val="solid"/>
          </a:ln>
        </p:spPr>
        <p:txBody>
          <a:bodyPr/>
          <a:lstStyle/>
          <a:p>
            <a:endParaRPr lang="en-US" sz="1600"/>
          </a:p>
        </p:txBody>
      </p:sp>
      <p:sp>
        <p:nvSpPr>
          <p:cNvPr id="17" name="Text 15"/>
          <p:cNvSpPr/>
          <p:nvPr/>
        </p:nvSpPr>
        <p:spPr>
          <a:xfrm>
            <a:off x="640080" y="1645920"/>
            <a:ext cx="1554480" cy="658368"/>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Main model</a:t>
            </a:r>
            <a:endParaRPr lang="en-US" sz="1600" dirty="0"/>
          </a:p>
        </p:txBody>
      </p:sp>
      <p:sp>
        <p:nvSpPr>
          <p:cNvPr id="18" name="Shape 16"/>
          <p:cNvSpPr/>
          <p:nvPr/>
        </p:nvSpPr>
        <p:spPr>
          <a:xfrm>
            <a:off x="2286000" y="1645920"/>
            <a:ext cx="2331720" cy="658368"/>
          </a:xfrm>
          <a:prstGeom prst="rect">
            <a:avLst/>
          </a:prstGeom>
          <a:solidFill>
            <a:srgbClr val="FFFFFF"/>
          </a:solidFill>
          <a:ln w="9525">
            <a:solidFill>
              <a:srgbClr val="DCE1EA"/>
            </a:solidFill>
            <a:prstDash val="solid"/>
          </a:ln>
        </p:spPr>
        <p:txBody>
          <a:bodyPr/>
          <a:lstStyle/>
          <a:p>
            <a:endParaRPr lang="en-US" sz="1600"/>
          </a:p>
        </p:txBody>
      </p:sp>
      <p:sp>
        <p:nvSpPr>
          <p:cNvPr id="19" name="Text 17"/>
          <p:cNvSpPr/>
          <p:nvPr/>
        </p:nvSpPr>
        <p:spPr>
          <a:xfrm>
            <a:off x="2377440" y="1645920"/>
            <a:ext cx="2148840" cy="658368"/>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Partner universities and companies</a:t>
            </a:r>
            <a:endParaRPr lang="en-US" sz="1600" dirty="0"/>
          </a:p>
        </p:txBody>
      </p:sp>
      <p:sp>
        <p:nvSpPr>
          <p:cNvPr id="20" name="Shape 18"/>
          <p:cNvSpPr/>
          <p:nvPr/>
        </p:nvSpPr>
        <p:spPr>
          <a:xfrm>
            <a:off x="4617720" y="1645920"/>
            <a:ext cx="2331720" cy="658368"/>
          </a:xfrm>
          <a:prstGeom prst="rect">
            <a:avLst/>
          </a:prstGeom>
          <a:solidFill>
            <a:srgbClr val="FFFFFF"/>
          </a:solidFill>
          <a:ln w="9525">
            <a:solidFill>
              <a:srgbClr val="DCE1EA"/>
            </a:solidFill>
            <a:prstDash val="solid"/>
          </a:ln>
        </p:spPr>
        <p:txBody>
          <a:bodyPr/>
          <a:lstStyle/>
          <a:p>
            <a:endParaRPr lang="en-US" sz="1600"/>
          </a:p>
        </p:txBody>
      </p:sp>
      <p:sp>
        <p:nvSpPr>
          <p:cNvPr id="21" name="Text 19"/>
          <p:cNvSpPr/>
          <p:nvPr/>
        </p:nvSpPr>
        <p:spPr>
          <a:xfrm>
            <a:off x="4709160" y="1645920"/>
            <a:ext cx="2148840" cy="658368"/>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University and institution courses</a:t>
            </a:r>
            <a:endParaRPr lang="en-US" sz="1600" dirty="0"/>
          </a:p>
        </p:txBody>
      </p:sp>
      <p:sp>
        <p:nvSpPr>
          <p:cNvPr id="22" name="Shape 20"/>
          <p:cNvSpPr/>
          <p:nvPr/>
        </p:nvSpPr>
        <p:spPr>
          <a:xfrm>
            <a:off x="6949440" y="1645920"/>
            <a:ext cx="2331720" cy="658368"/>
          </a:xfrm>
          <a:prstGeom prst="rect">
            <a:avLst/>
          </a:prstGeom>
          <a:solidFill>
            <a:srgbClr val="FFFFFF"/>
          </a:solidFill>
          <a:ln w="9525">
            <a:solidFill>
              <a:srgbClr val="DCE1EA"/>
            </a:solidFill>
            <a:prstDash val="solid"/>
          </a:ln>
        </p:spPr>
        <p:txBody>
          <a:bodyPr/>
          <a:lstStyle/>
          <a:p>
            <a:endParaRPr lang="en-US" sz="1600"/>
          </a:p>
        </p:txBody>
      </p:sp>
      <p:sp>
        <p:nvSpPr>
          <p:cNvPr id="23" name="Text 21"/>
          <p:cNvSpPr/>
          <p:nvPr/>
        </p:nvSpPr>
        <p:spPr>
          <a:xfrm>
            <a:off x="7040880" y="1645920"/>
            <a:ext cx="2148840" cy="658368"/>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Marketplace of independent instructors</a:t>
            </a:r>
            <a:endParaRPr lang="en-US" sz="1600" dirty="0"/>
          </a:p>
        </p:txBody>
      </p:sp>
      <p:sp>
        <p:nvSpPr>
          <p:cNvPr id="24" name="Shape 22"/>
          <p:cNvSpPr/>
          <p:nvPr/>
        </p:nvSpPr>
        <p:spPr>
          <a:xfrm>
            <a:off x="9281160" y="1645920"/>
            <a:ext cx="2331720" cy="658368"/>
          </a:xfrm>
          <a:prstGeom prst="rect">
            <a:avLst/>
          </a:prstGeom>
          <a:solidFill>
            <a:srgbClr val="FFFFFF"/>
          </a:solidFill>
          <a:ln w="9525">
            <a:solidFill>
              <a:srgbClr val="DCE1EA"/>
            </a:solidFill>
            <a:prstDash val="solid"/>
          </a:ln>
        </p:spPr>
        <p:txBody>
          <a:bodyPr/>
          <a:lstStyle/>
          <a:p>
            <a:endParaRPr lang="en-US" sz="1600"/>
          </a:p>
        </p:txBody>
      </p:sp>
      <p:sp>
        <p:nvSpPr>
          <p:cNvPr id="25" name="Text 23"/>
          <p:cNvSpPr/>
          <p:nvPr/>
        </p:nvSpPr>
        <p:spPr>
          <a:xfrm>
            <a:off x="9372600" y="1645920"/>
            <a:ext cx="2148840" cy="658368"/>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Non-profit free learning</a:t>
            </a:r>
            <a:endParaRPr lang="en-US" sz="1600" dirty="0"/>
          </a:p>
        </p:txBody>
      </p:sp>
      <p:sp>
        <p:nvSpPr>
          <p:cNvPr id="26" name="Shape 24"/>
          <p:cNvSpPr/>
          <p:nvPr/>
        </p:nvSpPr>
        <p:spPr>
          <a:xfrm>
            <a:off x="548640" y="2304288"/>
            <a:ext cx="1737360" cy="658368"/>
          </a:xfrm>
          <a:prstGeom prst="rect">
            <a:avLst/>
          </a:prstGeom>
          <a:solidFill>
            <a:srgbClr val="F4F6FA"/>
          </a:solidFill>
          <a:ln w="9525">
            <a:solidFill>
              <a:srgbClr val="DCE1EA"/>
            </a:solidFill>
            <a:prstDash val="solid"/>
          </a:ln>
        </p:spPr>
        <p:txBody>
          <a:bodyPr/>
          <a:lstStyle/>
          <a:p>
            <a:endParaRPr lang="en-US" sz="1600"/>
          </a:p>
        </p:txBody>
      </p:sp>
      <p:sp>
        <p:nvSpPr>
          <p:cNvPr id="27" name="Text 25"/>
          <p:cNvSpPr/>
          <p:nvPr/>
        </p:nvSpPr>
        <p:spPr>
          <a:xfrm>
            <a:off x="640080" y="2304288"/>
            <a:ext cx="1554480" cy="658368"/>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Typical cost</a:t>
            </a:r>
            <a:endParaRPr lang="en-US" sz="1600" dirty="0"/>
          </a:p>
        </p:txBody>
      </p:sp>
      <p:sp>
        <p:nvSpPr>
          <p:cNvPr id="28" name="Shape 26"/>
          <p:cNvSpPr/>
          <p:nvPr/>
        </p:nvSpPr>
        <p:spPr>
          <a:xfrm>
            <a:off x="2286000" y="2304288"/>
            <a:ext cx="2331720" cy="658368"/>
          </a:xfrm>
          <a:prstGeom prst="rect">
            <a:avLst/>
          </a:prstGeom>
          <a:solidFill>
            <a:srgbClr val="F4F6FA"/>
          </a:solidFill>
          <a:ln w="9525">
            <a:solidFill>
              <a:srgbClr val="DCE1EA"/>
            </a:solidFill>
            <a:prstDash val="solid"/>
          </a:ln>
        </p:spPr>
        <p:txBody>
          <a:bodyPr/>
          <a:lstStyle/>
          <a:p>
            <a:endParaRPr lang="en-US" sz="1600"/>
          </a:p>
        </p:txBody>
      </p:sp>
      <p:sp>
        <p:nvSpPr>
          <p:cNvPr id="29" name="Text 27"/>
          <p:cNvSpPr/>
          <p:nvPr/>
        </p:nvSpPr>
        <p:spPr>
          <a:xfrm>
            <a:off x="2377440" y="2304288"/>
            <a:ext cx="2148840" cy="658368"/>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Free to audit many; paid for certificates</a:t>
            </a:r>
            <a:endParaRPr lang="en-US" sz="1600" dirty="0"/>
          </a:p>
        </p:txBody>
      </p:sp>
      <p:sp>
        <p:nvSpPr>
          <p:cNvPr id="30" name="Shape 28"/>
          <p:cNvSpPr/>
          <p:nvPr/>
        </p:nvSpPr>
        <p:spPr>
          <a:xfrm>
            <a:off x="4617720" y="2304288"/>
            <a:ext cx="2331720" cy="658368"/>
          </a:xfrm>
          <a:prstGeom prst="rect">
            <a:avLst/>
          </a:prstGeom>
          <a:solidFill>
            <a:srgbClr val="F4F6FA"/>
          </a:solidFill>
          <a:ln w="9525">
            <a:solidFill>
              <a:srgbClr val="DCE1EA"/>
            </a:solidFill>
            <a:prstDash val="solid"/>
          </a:ln>
        </p:spPr>
        <p:txBody>
          <a:bodyPr/>
          <a:lstStyle/>
          <a:p>
            <a:endParaRPr lang="en-US" sz="1600"/>
          </a:p>
        </p:txBody>
      </p:sp>
      <p:sp>
        <p:nvSpPr>
          <p:cNvPr id="31" name="Text 29"/>
          <p:cNvSpPr/>
          <p:nvPr/>
        </p:nvSpPr>
        <p:spPr>
          <a:xfrm>
            <a:off x="4709160" y="2304288"/>
            <a:ext cx="2148840" cy="658368"/>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Free audit; paid verified track</a:t>
            </a:r>
            <a:endParaRPr lang="en-US" sz="1600" dirty="0"/>
          </a:p>
        </p:txBody>
      </p:sp>
      <p:sp>
        <p:nvSpPr>
          <p:cNvPr id="32" name="Shape 30"/>
          <p:cNvSpPr/>
          <p:nvPr/>
        </p:nvSpPr>
        <p:spPr>
          <a:xfrm>
            <a:off x="6949440" y="2304288"/>
            <a:ext cx="2331720" cy="658368"/>
          </a:xfrm>
          <a:prstGeom prst="rect">
            <a:avLst/>
          </a:prstGeom>
          <a:solidFill>
            <a:srgbClr val="F4F6FA"/>
          </a:solidFill>
          <a:ln w="9525">
            <a:solidFill>
              <a:srgbClr val="DCE1EA"/>
            </a:solidFill>
            <a:prstDash val="solid"/>
          </a:ln>
        </p:spPr>
        <p:txBody>
          <a:bodyPr/>
          <a:lstStyle/>
          <a:p>
            <a:endParaRPr lang="en-US" sz="1600"/>
          </a:p>
        </p:txBody>
      </p:sp>
      <p:sp>
        <p:nvSpPr>
          <p:cNvPr id="33" name="Text 31"/>
          <p:cNvSpPr/>
          <p:nvPr/>
        </p:nvSpPr>
        <p:spPr>
          <a:xfrm>
            <a:off x="7040880" y="2304288"/>
            <a:ext cx="2148840" cy="658368"/>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Pay per course (often discounted)</a:t>
            </a:r>
            <a:endParaRPr lang="en-US" sz="1600" dirty="0"/>
          </a:p>
        </p:txBody>
      </p:sp>
      <p:sp>
        <p:nvSpPr>
          <p:cNvPr id="34" name="Shape 32"/>
          <p:cNvSpPr/>
          <p:nvPr/>
        </p:nvSpPr>
        <p:spPr>
          <a:xfrm>
            <a:off x="9281160" y="2304288"/>
            <a:ext cx="2331720" cy="658368"/>
          </a:xfrm>
          <a:prstGeom prst="rect">
            <a:avLst/>
          </a:prstGeom>
          <a:solidFill>
            <a:srgbClr val="F4F6FA"/>
          </a:solidFill>
          <a:ln w="9525">
            <a:solidFill>
              <a:srgbClr val="DCE1EA"/>
            </a:solidFill>
            <a:prstDash val="solid"/>
          </a:ln>
        </p:spPr>
        <p:txBody>
          <a:bodyPr/>
          <a:lstStyle/>
          <a:p>
            <a:endParaRPr lang="en-US" sz="1600"/>
          </a:p>
        </p:txBody>
      </p:sp>
      <p:sp>
        <p:nvSpPr>
          <p:cNvPr id="35" name="Text 33"/>
          <p:cNvSpPr/>
          <p:nvPr/>
        </p:nvSpPr>
        <p:spPr>
          <a:xfrm>
            <a:off x="9372600" y="2304288"/>
            <a:ext cx="2148840" cy="658368"/>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Free</a:t>
            </a:r>
            <a:endParaRPr lang="en-US" sz="1600" dirty="0"/>
          </a:p>
        </p:txBody>
      </p:sp>
      <p:sp>
        <p:nvSpPr>
          <p:cNvPr id="36" name="Shape 34"/>
          <p:cNvSpPr/>
          <p:nvPr/>
        </p:nvSpPr>
        <p:spPr>
          <a:xfrm>
            <a:off x="548640" y="2962656"/>
            <a:ext cx="1737360" cy="658368"/>
          </a:xfrm>
          <a:prstGeom prst="rect">
            <a:avLst/>
          </a:prstGeom>
          <a:solidFill>
            <a:srgbClr val="FFFFFF"/>
          </a:solidFill>
          <a:ln w="9525">
            <a:solidFill>
              <a:srgbClr val="DCE1EA"/>
            </a:solidFill>
            <a:prstDash val="solid"/>
          </a:ln>
        </p:spPr>
        <p:txBody>
          <a:bodyPr/>
          <a:lstStyle/>
          <a:p>
            <a:endParaRPr lang="en-US" sz="1600"/>
          </a:p>
        </p:txBody>
      </p:sp>
      <p:sp>
        <p:nvSpPr>
          <p:cNvPr id="37" name="Text 35"/>
          <p:cNvSpPr/>
          <p:nvPr/>
        </p:nvSpPr>
        <p:spPr>
          <a:xfrm>
            <a:off x="640080" y="2962656"/>
            <a:ext cx="1554480" cy="658368"/>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Credentials</a:t>
            </a:r>
            <a:endParaRPr lang="en-US" sz="1600" dirty="0"/>
          </a:p>
        </p:txBody>
      </p:sp>
      <p:sp>
        <p:nvSpPr>
          <p:cNvPr id="38" name="Shape 36"/>
          <p:cNvSpPr/>
          <p:nvPr/>
        </p:nvSpPr>
        <p:spPr>
          <a:xfrm>
            <a:off x="2286000" y="2962656"/>
            <a:ext cx="2331720" cy="658368"/>
          </a:xfrm>
          <a:prstGeom prst="rect">
            <a:avLst/>
          </a:prstGeom>
          <a:solidFill>
            <a:srgbClr val="FFFFFF"/>
          </a:solidFill>
          <a:ln w="9525">
            <a:solidFill>
              <a:srgbClr val="DCE1EA"/>
            </a:solidFill>
            <a:prstDash val="solid"/>
          </a:ln>
        </p:spPr>
        <p:txBody>
          <a:bodyPr/>
          <a:lstStyle/>
          <a:p>
            <a:endParaRPr lang="en-US" sz="1600"/>
          </a:p>
        </p:txBody>
      </p:sp>
      <p:sp>
        <p:nvSpPr>
          <p:cNvPr id="39" name="Text 37"/>
          <p:cNvSpPr/>
          <p:nvPr/>
        </p:nvSpPr>
        <p:spPr>
          <a:xfrm>
            <a:off x="2377440" y="2962656"/>
            <a:ext cx="2148840" cy="658368"/>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Certificates and degrees</a:t>
            </a:r>
            <a:endParaRPr lang="en-US" sz="1600" dirty="0"/>
          </a:p>
        </p:txBody>
      </p:sp>
      <p:sp>
        <p:nvSpPr>
          <p:cNvPr id="40" name="Shape 38"/>
          <p:cNvSpPr/>
          <p:nvPr/>
        </p:nvSpPr>
        <p:spPr>
          <a:xfrm>
            <a:off x="4617720" y="2962656"/>
            <a:ext cx="2331720" cy="658368"/>
          </a:xfrm>
          <a:prstGeom prst="rect">
            <a:avLst/>
          </a:prstGeom>
          <a:solidFill>
            <a:srgbClr val="FFFFFF"/>
          </a:solidFill>
          <a:ln w="9525">
            <a:solidFill>
              <a:srgbClr val="DCE1EA"/>
            </a:solidFill>
            <a:prstDash val="solid"/>
          </a:ln>
        </p:spPr>
        <p:txBody>
          <a:bodyPr/>
          <a:lstStyle/>
          <a:p>
            <a:endParaRPr lang="en-US" sz="1600"/>
          </a:p>
        </p:txBody>
      </p:sp>
      <p:sp>
        <p:nvSpPr>
          <p:cNvPr id="41" name="Text 39"/>
          <p:cNvSpPr/>
          <p:nvPr/>
        </p:nvSpPr>
        <p:spPr>
          <a:xfrm>
            <a:off x="4709160" y="2962656"/>
            <a:ext cx="2148840" cy="658368"/>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Verified certificates, programs, degrees</a:t>
            </a:r>
            <a:endParaRPr lang="en-US" sz="1600" dirty="0"/>
          </a:p>
        </p:txBody>
      </p:sp>
      <p:sp>
        <p:nvSpPr>
          <p:cNvPr id="42" name="Shape 40"/>
          <p:cNvSpPr/>
          <p:nvPr/>
        </p:nvSpPr>
        <p:spPr>
          <a:xfrm>
            <a:off x="6949440" y="2962656"/>
            <a:ext cx="2331720" cy="658368"/>
          </a:xfrm>
          <a:prstGeom prst="rect">
            <a:avLst/>
          </a:prstGeom>
          <a:solidFill>
            <a:srgbClr val="FFFFFF"/>
          </a:solidFill>
          <a:ln w="9525">
            <a:solidFill>
              <a:srgbClr val="DCE1EA"/>
            </a:solidFill>
            <a:prstDash val="solid"/>
          </a:ln>
        </p:spPr>
        <p:txBody>
          <a:bodyPr/>
          <a:lstStyle/>
          <a:p>
            <a:endParaRPr lang="en-US" sz="1600"/>
          </a:p>
        </p:txBody>
      </p:sp>
      <p:sp>
        <p:nvSpPr>
          <p:cNvPr id="43" name="Text 41"/>
          <p:cNvSpPr/>
          <p:nvPr/>
        </p:nvSpPr>
        <p:spPr>
          <a:xfrm>
            <a:off x="7040880" y="2962656"/>
            <a:ext cx="2148840" cy="658368"/>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Certificate of completion</a:t>
            </a:r>
            <a:endParaRPr lang="en-US" sz="1600" dirty="0"/>
          </a:p>
        </p:txBody>
      </p:sp>
      <p:sp>
        <p:nvSpPr>
          <p:cNvPr id="44" name="Shape 42"/>
          <p:cNvSpPr/>
          <p:nvPr/>
        </p:nvSpPr>
        <p:spPr>
          <a:xfrm>
            <a:off x="9281160" y="2962656"/>
            <a:ext cx="2331720" cy="658368"/>
          </a:xfrm>
          <a:prstGeom prst="rect">
            <a:avLst/>
          </a:prstGeom>
          <a:solidFill>
            <a:srgbClr val="FFFFFF"/>
          </a:solidFill>
          <a:ln w="9525">
            <a:solidFill>
              <a:srgbClr val="DCE1EA"/>
            </a:solidFill>
            <a:prstDash val="solid"/>
          </a:ln>
        </p:spPr>
        <p:txBody>
          <a:bodyPr/>
          <a:lstStyle/>
          <a:p>
            <a:endParaRPr lang="en-US" sz="1600"/>
          </a:p>
        </p:txBody>
      </p:sp>
      <p:sp>
        <p:nvSpPr>
          <p:cNvPr id="45" name="Text 43"/>
          <p:cNvSpPr/>
          <p:nvPr/>
        </p:nvSpPr>
        <p:spPr>
          <a:xfrm>
            <a:off x="9372600" y="2962656"/>
            <a:ext cx="2148840" cy="658368"/>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No formal certificate</a:t>
            </a:r>
            <a:endParaRPr lang="en-US" sz="1600" dirty="0"/>
          </a:p>
        </p:txBody>
      </p:sp>
      <p:sp>
        <p:nvSpPr>
          <p:cNvPr id="46" name="Shape 44"/>
          <p:cNvSpPr/>
          <p:nvPr/>
        </p:nvSpPr>
        <p:spPr>
          <a:xfrm>
            <a:off x="548640" y="3621024"/>
            <a:ext cx="1737360" cy="658368"/>
          </a:xfrm>
          <a:prstGeom prst="rect">
            <a:avLst/>
          </a:prstGeom>
          <a:solidFill>
            <a:srgbClr val="F4F6FA"/>
          </a:solidFill>
          <a:ln w="9525">
            <a:solidFill>
              <a:srgbClr val="DCE1EA"/>
            </a:solidFill>
            <a:prstDash val="solid"/>
          </a:ln>
        </p:spPr>
        <p:txBody>
          <a:bodyPr/>
          <a:lstStyle/>
          <a:p>
            <a:endParaRPr lang="en-US" sz="1600"/>
          </a:p>
        </p:txBody>
      </p:sp>
      <p:sp>
        <p:nvSpPr>
          <p:cNvPr id="47" name="Text 45"/>
          <p:cNvSpPr/>
          <p:nvPr/>
        </p:nvSpPr>
        <p:spPr>
          <a:xfrm>
            <a:off x="640080" y="3621024"/>
            <a:ext cx="1554480" cy="658368"/>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Content style</a:t>
            </a:r>
            <a:endParaRPr lang="en-US" sz="1600" dirty="0"/>
          </a:p>
        </p:txBody>
      </p:sp>
      <p:sp>
        <p:nvSpPr>
          <p:cNvPr id="48" name="Shape 46"/>
          <p:cNvSpPr/>
          <p:nvPr/>
        </p:nvSpPr>
        <p:spPr>
          <a:xfrm>
            <a:off x="2286000" y="3621024"/>
            <a:ext cx="2331720" cy="658368"/>
          </a:xfrm>
          <a:prstGeom prst="rect">
            <a:avLst/>
          </a:prstGeom>
          <a:solidFill>
            <a:srgbClr val="F4F6FA"/>
          </a:solidFill>
          <a:ln w="9525">
            <a:solidFill>
              <a:srgbClr val="DCE1EA"/>
            </a:solidFill>
            <a:prstDash val="solid"/>
          </a:ln>
        </p:spPr>
        <p:txBody>
          <a:bodyPr/>
          <a:lstStyle/>
          <a:p>
            <a:endParaRPr lang="en-US" sz="1600"/>
          </a:p>
        </p:txBody>
      </p:sp>
      <p:sp>
        <p:nvSpPr>
          <p:cNvPr id="49" name="Text 47"/>
          <p:cNvSpPr/>
          <p:nvPr/>
        </p:nvSpPr>
        <p:spPr>
          <a:xfrm>
            <a:off x="2377440" y="3621024"/>
            <a:ext cx="2148840" cy="658368"/>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Structured weekly modules and graded work</a:t>
            </a:r>
            <a:endParaRPr lang="en-US" sz="1600" dirty="0"/>
          </a:p>
        </p:txBody>
      </p:sp>
      <p:sp>
        <p:nvSpPr>
          <p:cNvPr id="50" name="Shape 48"/>
          <p:cNvSpPr/>
          <p:nvPr/>
        </p:nvSpPr>
        <p:spPr>
          <a:xfrm>
            <a:off x="4617720" y="3621024"/>
            <a:ext cx="2331720" cy="658368"/>
          </a:xfrm>
          <a:prstGeom prst="rect">
            <a:avLst/>
          </a:prstGeom>
          <a:solidFill>
            <a:srgbClr val="F4F6FA"/>
          </a:solidFill>
          <a:ln w="9525">
            <a:solidFill>
              <a:srgbClr val="DCE1EA"/>
            </a:solidFill>
            <a:prstDash val="solid"/>
          </a:ln>
        </p:spPr>
        <p:txBody>
          <a:bodyPr/>
          <a:lstStyle/>
          <a:p>
            <a:endParaRPr lang="en-US" sz="1600"/>
          </a:p>
        </p:txBody>
      </p:sp>
      <p:sp>
        <p:nvSpPr>
          <p:cNvPr id="51" name="Text 49"/>
          <p:cNvSpPr/>
          <p:nvPr/>
        </p:nvSpPr>
        <p:spPr>
          <a:xfrm>
            <a:off x="4709160" y="3621024"/>
            <a:ext cx="2148840" cy="658368"/>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University-style courses and programs</a:t>
            </a:r>
            <a:endParaRPr lang="en-US" sz="1600" dirty="0"/>
          </a:p>
        </p:txBody>
      </p:sp>
      <p:sp>
        <p:nvSpPr>
          <p:cNvPr id="52" name="Shape 50"/>
          <p:cNvSpPr/>
          <p:nvPr/>
        </p:nvSpPr>
        <p:spPr>
          <a:xfrm>
            <a:off x="6949440" y="3621024"/>
            <a:ext cx="2331720" cy="658368"/>
          </a:xfrm>
          <a:prstGeom prst="rect">
            <a:avLst/>
          </a:prstGeom>
          <a:solidFill>
            <a:srgbClr val="F4F6FA"/>
          </a:solidFill>
          <a:ln w="9525">
            <a:solidFill>
              <a:srgbClr val="DCE1EA"/>
            </a:solidFill>
            <a:prstDash val="solid"/>
          </a:ln>
        </p:spPr>
        <p:txBody>
          <a:bodyPr/>
          <a:lstStyle/>
          <a:p>
            <a:endParaRPr lang="en-US" sz="1600"/>
          </a:p>
        </p:txBody>
      </p:sp>
      <p:sp>
        <p:nvSpPr>
          <p:cNvPr id="53" name="Text 51"/>
          <p:cNvSpPr/>
          <p:nvPr/>
        </p:nvSpPr>
        <p:spPr>
          <a:xfrm>
            <a:off x="7040880" y="3621024"/>
            <a:ext cx="2148840" cy="658368"/>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Practical, short, skills-first videos</a:t>
            </a:r>
            <a:endParaRPr lang="en-US" sz="1600" dirty="0"/>
          </a:p>
        </p:txBody>
      </p:sp>
      <p:sp>
        <p:nvSpPr>
          <p:cNvPr id="54" name="Shape 52"/>
          <p:cNvSpPr/>
          <p:nvPr/>
        </p:nvSpPr>
        <p:spPr>
          <a:xfrm>
            <a:off x="9281160" y="3621024"/>
            <a:ext cx="2331720" cy="658368"/>
          </a:xfrm>
          <a:prstGeom prst="rect">
            <a:avLst/>
          </a:prstGeom>
          <a:solidFill>
            <a:srgbClr val="F4F6FA"/>
          </a:solidFill>
          <a:ln w="9525">
            <a:solidFill>
              <a:srgbClr val="DCE1EA"/>
            </a:solidFill>
            <a:prstDash val="solid"/>
          </a:ln>
        </p:spPr>
        <p:txBody>
          <a:bodyPr/>
          <a:lstStyle/>
          <a:p>
            <a:endParaRPr lang="en-US" sz="1600"/>
          </a:p>
        </p:txBody>
      </p:sp>
      <p:sp>
        <p:nvSpPr>
          <p:cNvPr id="55" name="Text 53"/>
          <p:cNvSpPr/>
          <p:nvPr/>
        </p:nvSpPr>
        <p:spPr>
          <a:xfrm>
            <a:off x="9372600" y="3621024"/>
            <a:ext cx="2148840" cy="658368"/>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Short lessons plus mastery practice</a:t>
            </a:r>
            <a:endParaRPr lang="en-US" sz="1600" dirty="0"/>
          </a:p>
        </p:txBody>
      </p:sp>
      <p:sp>
        <p:nvSpPr>
          <p:cNvPr id="56" name="Shape 54"/>
          <p:cNvSpPr/>
          <p:nvPr/>
        </p:nvSpPr>
        <p:spPr>
          <a:xfrm>
            <a:off x="548640" y="4279392"/>
            <a:ext cx="1737360" cy="658368"/>
          </a:xfrm>
          <a:prstGeom prst="rect">
            <a:avLst/>
          </a:prstGeom>
          <a:solidFill>
            <a:srgbClr val="FFFFFF"/>
          </a:solidFill>
          <a:ln w="9525">
            <a:solidFill>
              <a:srgbClr val="DCE1EA"/>
            </a:solidFill>
            <a:prstDash val="solid"/>
          </a:ln>
        </p:spPr>
        <p:txBody>
          <a:bodyPr/>
          <a:lstStyle/>
          <a:p>
            <a:endParaRPr lang="en-US" sz="1600"/>
          </a:p>
        </p:txBody>
      </p:sp>
      <p:sp>
        <p:nvSpPr>
          <p:cNvPr id="57" name="Text 55"/>
          <p:cNvSpPr/>
          <p:nvPr/>
        </p:nvSpPr>
        <p:spPr>
          <a:xfrm>
            <a:off x="640080" y="4279392"/>
            <a:ext cx="1554480" cy="658368"/>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Strength</a:t>
            </a:r>
            <a:endParaRPr lang="en-US" sz="1600" dirty="0"/>
          </a:p>
        </p:txBody>
      </p:sp>
      <p:sp>
        <p:nvSpPr>
          <p:cNvPr id="58" name="Shape 56"/>
          <p:cNvSpPr/>
          <p:nvPr/>
        </p:nvSpPr>
        <p:spPr>
          <a:xfrm>
            <a:off x="2286000" y="4279392"/>
            <a:ext cx="2331720" cy="658368"/>
          </a:xfrm>
          <a:prstGeom prst="rect">
            <a:avLst/>
          </a:prstGeom>
          <a:solidFill>
            <a:srgbClr val="FFFFFF"/>
          </a:solidFill>
          <a:ln w="9525">
            <a:solidFill>
              <a:srgbClr val="DCE1EA"/>
            </a:solidFill>
            <a:prstDash val="solid"/>
          </a:ln>
        </p:spPr>
        <p:txBody>
          <a:bodyPr/>
          <a:lstStyle/>
          <a:p>
            <a:endParaRPr lang="en-US" sz="1600"/>
          </a:p>
        </p:txBody>
      </p:sp>
      <p:sp>
        <p:nvSpPr>
          <p:cNvPr id="59" name="Text 57"/>
          <p:cNvSpPr/>
          <p:nvPr/>
        </p:nvSpPr>
        <p:spPr>
          <a:xfrm>
            <a:off x="2377440" y="4279392"/>
            <a:ext cx="2148840" cy="658368"/>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Career and degree pathways</a:t>
            </a:r>
            <a:endParaRPr lang="en-US" sz="1600" dirty="0"/>
          </a:p>
        </p:txBody>
      </p:sp>
      <p:sp>
        <p:nvSpPr>
          <p:cNvPr id="60" name="Shape 58"/>
          <p:cNvSpPr/>
          <p:nvPr/>
        </p:nvSpPr>
        <p:spPr>
          <a:xfrm>
            <a:off x="4617720" y="4279392"/>
            <a:ext cx="2331720" cy="658368"/>
          </a:xfrm>
          <a:prstGeom prst="rect">
            <a:avLst/>
          </a:prstGeom>
          <a:solidFill>
            <a:srgbClr val="FFFFFF"/>
          </a:solidFill>
          <a:ln w="9525">
            <a:solidFill>
              <a:srgbClr val="DCE1EA"/>
            </a:solidFill>
            <a:prstDash val="solid"/>
          </a:ln>
        </p:spPr>
        <p:txBody>
          <a:bodyPr/>
          <a:lstStyle/>
          <a:p>
            <a:endParaRPr lang="en-US" sz="1600"/>
          </a:p>
        </p:txBody>
      </p:sp>
      <p:sp>
        <p:nvSpPr>
          <p:cNvPr id="61" name="Text 59"/>
          <p:cNvSpPr/>
          <p:nvPr/>
        </p:nvSpPr>
        <p:spPr>
          <a:xfrm>
            <a:off x="4709160" y="4279392"/>
            <a:ext cx="2148840" cy="658368"/>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Academic depth and open-source roots</a:t>
            </a:r>
            <a:endParaRPr lang="en-US" sz="1600" dirty="0"/>
          </a:p>
        </p:txBody>
      </p:sp>
      <p:sp>
        <p:nvSpPr>
          <p:cNvPr id="62" name="Shape 60"/>
          <p:cNvSpPr/>
          <p:nvPr/>
        </p:nvSpPr>
        <p:spPr>
          <a:xfrm>
            <a:off x="6949440" y="4279392"/>
            <a:ext cx="2331720" cy="658368"/>
          </a:xfrm>
          <a:prstGeom prst="rect">
            <a:avLst/>
          </a:prstGeom>
          <a:solidFill>
            <a:srgbClr val="FFFFFF"/>
          </a:solidFill>
          <a:ln w="9525">
            <a:solidFill>
              <a:srgbClr val="DCE1EA"/>
            </a:solidFill>
            <a:prstDash val="solid"/>
          </a:ln>
        </p:spPr>
        <p:txBody>
          <a:bodyPr/>
          <a:lstStyle/>
          <a:p>
            <a:endParaRPr lang="en-US" sz="1600"/>
          </a:p>
        </p:txBody>
      </p:sp>
      <p:sp>
        <p:nvSpPr>
          <p:cNvPr id="63" name="Text 61"/>
          <p:cNvSpPr/>
          <p:nvPr/>
        </p:nvSpPr>
        <p:spPr>
          <a:xfrm>
            <a:off x="7040880" y="4279392"/>
            <a:ext cx="2148840" cy="658368"/>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Huge variety of practical skills</a:t>
            </a:r>
            <a:endParaRPr lang="en-US" sz="1600" dirty="0"/>
          </a:p>
        </p:txBody>
      </p:sp>
      <p:sp>
        <p:nvSpPr>
          <p:cNvPr id="64" name="Shape 62"/>
          <p:cNvSpPr/>
          <p:nvPr/>
        </p:nvSpPr>
        <p:spPr>
          <a:xfrm>
            <a:off x="9281160" y="4279392"/>
            <a:ext cx="2331720" cy="658368"/>
          </a:xfrm>
          <a:prstGeom prst="rect">
            <a:avLst/>
          </a:prstGeom>
          <a:solidFill>
            <a:srgbClr val="FFFFFF"/>
          </a:solidFill>
          <a:ln w="9525">
            <a:solidFill>
              <a:srgbClr val="DCE1EA"/>
            </a:solidFill>
            <a:prstDash val="solid"/>
          </a:ln>
        </p:spPr>
        <p:txBody>
          <a:bodyPr/>
          <a:lstStyle/>
          <a:p>
            <a:endParaRPr lang="en-US" sz="1600"/>
          </a:p>
        </p:txBody>
      </p:sp>
      <p:sp>
        <p:nvSpPr>
          <p:cNvPr id="65" name="Text 63"/>
          <p:cNvSpPr/>
          <p:nvPr/>
        </p:nvSpPr>
        <p:spPr>
          <a:xfrm>
            <a:off x="9372600" y="4279392"/>
            <a:ext cx="2148840" cy="658368"/>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Free, clear foundations</a:t>
            </a:r>
            <a:endParaRPr lang="en-US" sz="1600" dirty="0"/>
          </a:p>
        </p:txBody>
      </p:sp>
      <p:sp>
        <p:nvSpPr>
          <p:cNvPr id="66" name="Shape 64"/>
          <p:cNvSpPr/>
          <p:nvPr/>
        </p:nvSpPr>
        <p:spPr>
          <a:xfrm>
            <a:off x="548640" y="4937760"/>
            <a:ext cx="1737360" cy="658368"/>
          </a:xfrm>
          <a:prstGeom prst="rect">
            <a:avLst/>
          </a:prstGeom>
          <a:solidFill>
            <a:srgbClr val="F4F6FA"/>
          </a:solidFill>
          <a:ln w="9525">
            <a:solidFill>
              <a:srgbClr val="DCE1EA"/>
            </a:solidFill>
            <a:prstDash val="solid"/>
          </a:ln>
        </p:spPr>
        <p:txBody>
          <a:bodyPr/>
          <a:lstStyle/>
          <a:p>
            <a:endParaRPr lang="en-US" sz="1600"/>
          </a:p>
        </p:txBody>
      </p:sp>
      <p:sp>
        <p:nvSpPr>
          <p:cNvPr id="67" name="Text 65"/>
          <p:cNvSpPr/>
          <p:nvPr/>
        </p:nvSpPr>
        <p:spPr>
          <a:xfrm>
            <a:off x="640080" y="4937760"/>
            <a:ext cx="1554480" cy="658368"/>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Watch out for</a:t>
            </a:r>
            <a:endParaRPr lang="en-US" sz="1600" dirty="0"/>
          </a:p>
        </p:txBody>
      </p:sp>
      <p:sp>
        <p:nvSpPr>
          <p:cNvPr id="68" name="Shape 66"/>
          <p:cNvSpPr/>
          <p:nvPr/>
        </p:nvSpPr>
        <p:spPr>
          <a:xfrm>
            <a:off x="2286000" y="4937760"/>
            <a:ext cx="2331720" cy="658368"/>
          </a:xfrm>
          <a:prstGeom prst="rect">
            <a:avLst/>
          </a:prstGeom>
          <a:solidFill>
            <a:srgbClr val="F4F6FA"/>
          </a:solidFill>
          <a:ln w="9525">
            <a:solidFill>
              <a:srgbClr val="DCE1EA"/>
            </a:solidFill>
            <a:prstDash val="solid"/>
          </a:ln>
        </p:spPr>
        <p:txBody>
          <a:bodyPr/>
          <a:lstStyle/>
          <a:p>
            <a:endParaRPr lang="en-US" sz="1600"/>
          </a:p>
        </p:txBody>
      </p:sp>
      <p:sp>
        <p:nvSpPr>
          <p:cNvPr id="69" name="Text 67"/>
          <p:cNvSpPr/>
          <p:nvPr/>
        </p:nvSpPr>
        <p:spPr>
          <a:xfrm>
            <a:off x="2377440" y="4937760"/>
            <a:ext cx="2148840" cy="658368"/>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Some graded features need payment</a:t>
            </a:r>
            <a:endParaRPr lang="en-US" sz="1600" dirty="0"/>
          </a:p>
        </p:txBody>
      </p:sp>
      <p:sp>
        <p:nvSpPr>
          <p:cNvPr id="70" name="Shape 68"/>
          <p:cNvSpPr/>
          <p:nvPr/>
        </p:nvSpPr>
        <p:spPr>
          <a:xfrm>
            <a:off x="4617720" y="4937760"/>
            <a:ext cx="2331720" cy="658368"/>
          </a:xfrm>
          <a:prstGeom prst="rect">
            <a:avLst/>
          </a:prstGeom>
          <a:solidFill>
            <a:srgbClr val="F4F6FA"/>
          </a:solidFill>
          <a:ln w="9525">
            <a:solidFill>
              <a:srgbClr val="DCE1EA"/>
            </a:solidFill>
            <a:prstDash val="solid"/>
          </a:ln>
        </p:spPr>
        <p:txBody>
          <a:bodyPr/>
          <a:lstStyle/>
          <a:p>
            <a:endParaRPr lang="en-US" sz="1600"/>
          </a:p>
        </p:txBody>
      </p:sp>
      <p:sp>
        <p:nvSpPr>
          <p:cNvPr id="71" name="Text 69"/>
          <p:cNvSpPr/>
          <p:nvPr/>
        </p:nvSpPr>
        <p:spPr>
          <a:xfrm>
            <a:off x="4709160" y="4937760"/>
            <a:ext cx="2148840" cy="658368"/>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Free access may be time-limited</a:t>
            </a:r>
            <a:endParaRPr lang="en-US" sz="1600" dirty="0"/>
          </a:p>
        </p:txBody>
      </p:sp>
      <p:sp>
        <p:nvSpPr>
          <p:cNvPr id="72" name="Shape 70"/>
          <p:cNvSpPr/>
          <p:nvPr/>
        </p:nvSpPr>
        <p:spPr>
          <a:xfrm>
            <a:off x="6949440" y="4937760"/>
            <a:ext cx="2331720" cy="658368"/>
          </a:xfrm>
          <a:prstGeom prst="rect">
            <a:avLst/>
          </a:prstGeom>
          <a:solidFill>
            <a:srgbClr val="F4F6FA"/>
          </a:solidFill>
          <a:ln w="9525">
            <a:solidFill>
              <a:srgbClr val="DCE1EA"/>
            </a:solidFill>
            <a:prstDash val="solid"/>
          </a:ln>
        </p:spPr>
        <p:txBody>
          <a:bodyPr/>
          <a:lstStyle/>
          <a:p>
            <a:endParaRPr lang="en-US" sz="1600"/>
          </a:p>
        </p:txBody>
      </p:sp>
      <p:sp>
        <p:nvSpPr>
          <p:cNvPr id="73" name="Text 71"/>
          <p:cNvSpPr/>
          <p:nvPr/>
        </p:nvSpPr>
        <p:spPr>
          <a:xfrm>
            <a:off x="7040880" y="4937760"/>
            <a:ext cx="2148840" cy="658368"/>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Quality varies by instructor</a:t>
            </a:r>
            <a:endParaRPr lang="en-US" sz="1600" dirty="0"/>
          </a:p>
        </p:txBody>
      </p:sp>
      <p:sp>
        <p:nvSpPr>
          <p:cNvPr id="74" name="Shape 72"/>
          <p:cNvSpPr/>
          <p:nvPr/>
        </p:nvSpPr>
        <p:spPr>
          <a:xfrm>
            <a:off x="9281160" y="4937760"/>
            <a:ext cx="2331720" cy="658368"/>
          </a:xfrm>
          <a:prstGeom prst="rect">
            <a:avLst/>
          </a:prstGeom>
          <a:solidFill>
            <a:srgbClr val="F4F6FA"/>
          </a:solidFill>
          <a:ln w="9525">
            <a:solidFill>
              <a:srgbClr val="DCE1EA"/>
            </a:solidFill>
            <a:prstDash val="solid"/>
          </a:ln>
        </p:spPr>
        <p:txBody>
          <a:bodyPr/>
          <a:lstStyle/>
          <a:p>
            <a:endParaRPr lang="en-US" sz="1600"/>
          </a:p>
        </p:txBody>
      </p:sp>
      <p:sp>
        <p:nvSpPr>
          <p:cNvPr id="75" name="Text 73"/>
          <p:cNvSpPr/>
          <p:nvPr/>
        </p:nvSpPr>
        <p:spPr>
          <a:xfrm>
            <a:off x="9372600" y="4937760"/>
            <a:ext cx="2148840" cy="658368"/>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Mostly school and early-college level</a:t>
            </a:r>
            <a:endParaRPr lang="en-US" sz="1600" dirty="0"/>
          </a:p>
        </p:txBody>
      </p:sp>
      <p:sp>
        <p:nvSpPr>
          <p:cNvPr id="76" name="Shape 74"/>
          <p:cNvSpPr/>
          <p:nvPr/>
        </p:nvSpPr>
        <p:spPr>
          <a:xfrm>
            <a:off x="548640" y="5596128"/>
            <a:ext cx="1737360" cy="658368"/>
          </a:xfrm>
          <a:prstGeom prst="rect">
            <a:avLst/>
          </a:prstGeom>
          <a:solidFill>
            <a:srgbClr val="FFFFFF"/>
          </a:solidFill>
          <a:ln w="9525">
            <a:solidFill>
              <a:srgbClr val="DCE1EA"/>
            </a:solidFill>
            <a:prstDash val="solid"/>
          </a:ln>
        </p:spPr>
        <p:txBody>
          <a:bodyPr/>
          <a:lstStyle/>
          <a:p>
            <a:endParaRPr lang="en-US" sz="1600"/>
          </a:p>
        </p:txBody>
      </p:sp>
      <p:sp>
        <p:nvSpPr>
          <p:cNvPr id="77" name="Text 75"/>
          <p:cNvSpPr/>
          <p:nvPr/>
        </p:nvSpPr>
        <p:spPr>
          <a:xfrm>
            <a:off x="640080" y="5596128"/>
            <a:ext cx="1554480" cy="658368"/>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Best for</a:t>
            </a:r>
            <a:endParaRPr lang="en-US" sz="1600" dirty="0"/>
          </a:p>
        </p:txBody>
      </p:sp>
      <p:sp>
        <p:nvSpPr>
          <p:cNvPr id="78" name="Shape 76"/>
          <p:cNvSpPr/>
          <p:nvPr/>
        </p:nvSpPr>
        <p:spPr>
          <a:xfrm>
            <a:off x="2286000" y="5596128"/>
            <a:ext cx="2331720" cy="658368"/>
          </a:xfrm>
          <a:prstGeom prst="rect">
            <a:avLst/>
          </a:prstGeom>
          <a:solidFill>
            <a:srgbClr val="FFFFFF"/>
          </a:solidFill>
          <a:ln w="9525">
            <a:solidFill>
              <a:srgbClr val="DCE1EA"/>
            </a:solidFill>
            <a:prstDash val="solid"/>
          </a:ln>
        </p:spPr>
        <p:txBody>
          <a:bodyPr/>
          <a:lstStyle/>
          <a:p>
            <a:endParaRPr lang="en-US" sz="1600"/>
          </a:p>
        </p:txBody>
      </p:sp>
      <p:sp>
        <p:nvSpPr>
          <p:cNvPr id="79" name="Text 77"/>
          <p:cNvSpPr/>
          <p:nvPr/>
        </p:nvSpPr>
        <p:spPr>
          <a:xfrm>
            <a:off x="2377440" y="5596128"/>
            <a:ext cx="2148840" cy="658368"/>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Career change or credential</a:t>
            </a:r>
            <a:endParaRPr lang="en-US" sz="1600" dirty="0"/>
          </a:p>
        </p:txBody>
      </p:sp>
      <p:sp>
        <p:nvSpPr>
          <p:cNvPr id="80" name="Shape 78"/>
          <p:cNvSpPr/>
          <p:nvPr/>
        </p:nvSpPr>
        <p:spPr>
          <a:xfrm>
            <a:off x="4617720" y="5596128"/>
            <a:ext cx="2331720" cy="658368"/>
          </a:xfrm>
          <a:prstGeom prst="rect">
            <a:avLst/>
          </a:prstGeom>
          <a:solidFill>
            <a:srgbClr val="FFFFFF"/>
          </a:solidFill>
          <a:ln w="9525">
            <a:solidFill>
              <a:srgbClr val="DCE1EA"/>
            </a:solidFill>
            <a:prstDash val="solid"/>
          </a:ln>
        </p:spPr>
        <p:txBody>
          <a:bodyPr/>
          <a:lstStyle/>
          <a:p>
            <a:endParaRPr lang="en-US" sz="1600"/>
          </a:p>
        </p:txBody>
      </p:sp>
      <p:sp>
        <p:nvSpPr>
          <p:cNvPr id="81" name="Text 79"/>
          <p:cNvSpPr/>
          <p:nvPr/>
        </p:nvSpPr>
        <p:spPr>
          <a:xfrm>
            <a:off x="4709160" y="5596128"/>
            <a:ext cx="2148840" cy="658368"/>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University-level learning</a:t>
            </a:r>
            <a:endParaRPr lang="en-US" sz="1600" dirty="0"/>
          </a:p>
        </p:txBody>
      </p:sp>
      <p:sp>
        <p:nvSpPr>
          <p:cNvPr id="82" name="Shape 80"/>
          <p:cNvSpPr/>
          <p:nvPr/>
        </p:nvSpPr>
        <p:spPr>
          <a:xfrm>
            <a:off x="6949440" y="5596128"/>
            <a:ext cx="2331720" cy="658368"/>
          </a:xfrm>
          <a:prstGeom prst="rect">
            <a:avLst/>
          </a:prstGeom>
          <a:solidFill>
            <a:srgbClr val="FFFFFF"/>
          </a:solidFill>
          <a:ln w="9525">
            <a:solidFill>
              <a:srgbClr val="DCE1EA"/>
            </a:solidFill>
            <a:prstDash val="solid"/>
          </a:ln>
        </p:spPr>
        <p:txBody>
          <a:bodyPr/>
          <a:lstStyle/>
          <a:p>
            <a:endParaRPr lang="en-US" sz="1600"/>
          </a:p>
        </p:txBody>
      </p:sp>
      <p:sp>
        <p:nvSpPr>
          <p:cNvPr id="83" name="Text 81"/>
          <p:cNvSpPr/>
          <p:nvPr/>
        </p:nvSpPr>
        <p:spPr>
          <a:xfrm>
            <a:off x="7040880" y="5596128"/>
            <a:ext cx="2148840" cy="658368"/>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Quick hands-on skills</a:t>
            </a:r>
            <a:endParaRPr lang="en-US" sz="1600" dirty="0"/>
          </a:p>
        </p:txBody>
      </p:sp>
      <p:sp>
        <p:nvSpPr>
          <p:cNvPr id="84" name="Shape 82"/>
          <p:cNvSpPr/>
          <p:nvPr/>
        </p:nvSpPr>
        <p:spPr>
          <a:xfrm>
            <a:off x="9281160" y="5596128"/>
            <a:ext cx="2331720" cy="658368"/>
          </a:xfrm>
          <a:prstGeom prst="rect">
            <a:avLst/>
          </a:prstGeom>
          <a:solidFill>
            <a:srgbClr val="FFFFFF"/>
          </a:solidFill>
          <a:ln w="9525">
            <a:solidFill>
              <a:srgbClr val="DCE1EA"/>
            </a:solidFill>
            <a:prstDash val="solid"/>
          </a:ln>
        </p:spPr>
        <p:txBody>
          <a:bodyPr/>
          <a:lstStyle/>
          <a:p>
            <a:endParaRPr lang="en-US" sz="1600"/>
          </a:p>
        </p:txBody>
      </p:sp>
      <p:sp>
        <p:nvSpPr>
          <p:cNvPr id="85" name="Text 83"/>
          <p:cNvSpPr/>
          <p:nvPr/>
        </p:nvSpPr>
        <p:spPr>
          <a:xfrm>
            <a:off x="9372600" y="5596128"/>
            <a:ext cx="2148840" cy="658368"/>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Strengthening basics</a:t>
            </a:r>
            <a:endParaRPr lang="en-US" sz="1600" dirty="0"/>
          </a:p>
        </p:txBody>
      </p:sp>
      <p:sp>
        <p:nvSpPr>
          <p:cNvPr id="86" name="Text 84"/>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87" name="Text 85"/>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EVALUATING ONLINE COURSES</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How to Choose a Credible Online Course</a:t>
            </a:r>
            <a:endParaRPr lang="en-US" sz="2400" dirty="0"/>
          </a:p>
        </p:txBody>
      </p:sp>
      <p:sp>
        <p:nvSpPr>
          <p:cNvPr id="6" name="Shape 4"/>
          <p:cNvSpPr/>
          <p:nvPr/>
        </p:nvSpPr>
        <p:spPr>
          <a:xfrm>
            <a:off x="548640" y="1143000"/>
            <a:ext cx="5394960" cy="1600200"/>
          </a:xfrm>
          <a:prstGeom prst="roundRect">
            <a:avLst>
              <a:gd name="adj" fmla="val 4571"/>
            </a:avLst>
          </a:prstGeom>
          <a:solidFill>
            <a:srgbClr val="EAF6EC"/>
          </a:solidFill>
          <a:ln w="12700">
            <a:solidFill>
              <a:srgbClr val="DCE1EA"/>
            </a:solidFill>
            <a:prstDash val="solid"/>
          </a:ln>
        </p:spPr>
        <p:txBody>
          <a:bodyPr/>
          <a:lstStyle/>
          <a:p>
            <a:endParaRPr lang="en-US" sz="1600"/>
          </a:p>
        </p:txBody>
      </p:sp>
      <p:sp>
        <p:nvSpPr>
          <p:cNvPr id="7" name="Text 5"/>
          <p:cNvSpPr/>
          <p:nvPr/>
        </p:nvSpPr>
        <p:spPr>
          <a:xfrm>
            <a:off x="777240" y="128016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Check the Provider</a:t>
            </a:r>
            <a:endParaRPr lang="en-US" sz="1600" dirty="0"/>
          </a:p>
        </p:txBody>
      </p:sp>
      <p:sp>
        <p:nvSpPr>
          <p:cNvPr id="8" name="Text 6"/>
          <p:cNvSpPr/>
          <p:nvPr/>
        </p:nvSpPr>
        <p:spPr>
          <a:xfrm>
            <a:off x="77724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Prefer recognized universities, established organizations, or clearly credited experts over unknown sources.</a:t>
            </a:r>
            <a:endParaRPr lang="en-US" sz="1600" dirty="0"/>
          </a:p>
        </p:txBody>
      </p:sp>
      <p:sp>
        <p:nvSpPr>
          <p:cNvPr id="9" name="Shape 7"/>
          <p:cNvSpPr/>
          <p:nvPr/>
        </p:nvSpPr>
        <p:spPr>
          <a:xfrm>
            <a:off x="6172200" y="1143000"/>
            <a:ext cx="5394960" cy="1600200"/>
          </a:xfrm>
          <a:prstGeom prst="roundRect">
            <a:avLst>
              <a:gd name="adj" fmla="val 4571"/>
            </a:avLst>
          </a:prstGeom>
          <a:solidFill>
            <a:srgbClr val="FBEAEA"/>
          </a:solidFill>
          <a:ln w="12700">
            <a:solidFill>
              <a:srgbClr val="DCE1EA"/>
            </a:solidFill>
            <a:prstDash val="solid"/>
          </a:ln>
        </p:spPr>
        <p:txBody>
          <a:bodyPr/>
          <a:lstStyle/>
          <a:p>
            <a:endParaRPr lang="en-US" sz="1600"/>
          </a:p>
        </p:txBody>
      </p:sp>
      <p:sp>
        <p:nvSpPr>
          <p:cNvPr id="10" name="Text 8"/>
          <p:cNvSpPr/>
          <p:nvPr/>
        </p:nvSpPr>
        <p:spPr>
          <a:xfrm>
            <a:off x="6400800" y="128016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Read the Syllabus</a:t>
            </a:r>
            <a:endParaRPr lang="en-US" sz="1600" dirty="0"/>
          </a:p>
        </p:txBody>
      </p:sp>
      <p:sp>
        <p:nvSpPr>
          <p:cNvPr id="11" name="Text 9"/>
          <p:cNvSpPr/>
          <p:nvPr/>
        </p:nvSpPr>
        <p:spPr>
          <a:xfrm>
            <a:off x="640080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Make sure topics, level, and weekly workload match your goal and available time.</a:t>
            </a:r>
            <a:endParaRPr lang="en-US" sz="1600" dirty="0"/>
          </a:p>
        </p:txBody>
      </p:sp>
      <p:sp>
        <p:nvSpPr>
          <p:cNvPr id="12" name="Shape 10"/>
          <p:cNvSpPr/>
          <p:nvPr/>
        </p:nvSpPr>
        <p:spPr>
          <a:xfrm>
            <a:off x="548640" y="2880360"/>
            <a:ext cx="5394960" cy="1600200"/>
          </a:xfrm>
          <a:prstGeom prst="roundRect">
            <a:avLst>
              <a:gd name="adj" fmla="val 4571"/>
            </a:avLst>
          </a:prstGeom>
          <a:solidFill>
            <a:srgbClr val="EAF6EC"/>
          </a:solidFill>
          <a:ln w="12700">
            <a:solidFill>
              <a:srgbClr val="DCE1EA"/>
            </a:solidFill>
            <a:prstDash val="solid"/>
          </a:ln>
        </p:spPr>
        <p:txBody>
          <a:bodyPr/>
          <a:lstStyle/>
          <a:p>
            <a:endParaRPr lang="en-US" sz="1600"/>
          </a:p>
        </p:txBody>
      </p:sp>
      <p:sp>
        <p:nvSpPr>
          <p:cNvPr id="13" name="Text 11"/>
          <p:cNvSpPr/>
          <p:nvPr/>
        </p:nvSpPr>
        <p:spPr>
          <a:xfrm>
            <a:off x="777240" y="301752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Look at Reviews &amp; Updates</a:t>
            </a:r>
            <a:endParaRPr lang="en-US" sz="1600" dirty="0"/>
          </a:p>
        </p:txBody>
      </p:sp>
      <p:sp>
        <p:nvSpPr>
          <p:cNvPr id="14" name="Text 12"/>
          <p:cNvSpPr/>
          <p:nvPr/>
        </p:nvSpPr>
        <p:spPr>
          <a:xfrm>
            <a:off x="77724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Recent ratings and a recent “last updated” date suggest the material is current and useful.</a:t>
            </a:r>
            <a:endParaRPr lang="en-US" sz="1600" dirty="0"/>
          </a:p>
        </p:txBody>
      </p:sp>
      <p:sp>
        <p:nvSpPr>
          <p:cNvPr id="15" name="Shape 13"/>
          <p:cNvSpPr/>
          <p:nvPr/>
        </p:nvSpPr>
        <p:spPr>
          <a:xfrm>
            <a:off x="6172200" y="2880360"/>
            <a:ext cx="5394960" cy="1600200"/>
          </a:xfrm>
          <a:prstGeom prst="roundRect">
            <a:avLst>
              <a:gd name="adj" fmla="val 4571"/>
            </a:avLst>
          </a:prstGeom>
          <a:solidFill>
            <a:srgbClr val="FBEAEA"/>
          </a:solidFill>
          <a:ln w="12700">
            <a:solidFill>
              <a:srgbClr val="DCE1EA"/>
            </a:solidFill>
            <a:prstDash val="solid"/>
          </a:ln>
        </p:spPr>
        <p:txBody>
          <a:bodyPr/>
          <a:lstStyle/>
          <a:p>
            <a:endParaRPr lang="en-US" sz="1600"/>
          </a:p>
        </p:txBody>
      </p:sp>
      <p:sp>
        <p:nvSpPr>
          <p:cNvPr id="16" name="Text 14"/>
          <p:cNvSpPr/>
          <p:nvPr/>
        </p:nvSpPr>
        <p:spPr>
          <a:xfrm>
            <a:off x="6400800" y="301752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Understand the Real Cost</a:t>
            </a:r>
            <a:endParaRPr lang="en-US" sz="1600" dirty="0"/>
          </a:p>
        </p:txBody>
      </p:sp>
      <p:sp>
        <p:nvSpPr>
          <p:cNvPr id="17" name="Text 15"/>
          <p:cNvSpPr/>
          <p:nvPr/>
        </p:nvSpPr>
        <p:spPr>
          <a:xfrm>
            <a:off x="640080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Check what is free, what needs payment, and whether certificates add real value for your goal.</a:t>
            </a:r>
            <a:endParaRPr lang="en-US" sz="1600" dirty="0"/>
          </a:p>
        </p:txBody>
      </p:sp>
      <p:sp>
        <p:nvSpPr>
          <p:cNvPr id="18" name="Shape 16"/>
          <p:cNvSpPr/>
          <p:nvPr/>
        </p:nvSpPr>
        <p:spPr>
          <a:xfrm>
            <a:off x="548640" y="4617720"/>
            <a:ext cx="5394960" cy="1600200"/>
          </a:xfrm>
          <a:prstGeom prst="roundRect">
            <a:avLst>
              <a:gd name="adj" fmla="val 4571"/>
            </a:avLst>
          </a:prstGeom>
          <a:solidFill>
            <a:srgbClr val="EAF6EC"/>
          </a:solidFill>
          <a:ln w="12700">
            <a:solidFill>
              <a:srgbClr val="DCE1EA"/>
            </a:solidFill>
            <a:prstDash val="solid"/>
          </a:ln>
        </p:spPr>
        <p:txBody>
          <a:bodyPr/>
          <a:lstStyle/>
          <a:p>
            <a:endParaRPr lang="en-US" sz="1600"/>
          </a:p>
        </p:txBody>
      </p:sp>
      <p:sp>
        <p:nvSpPr>
          <p:cNvPr id="19" name="Text 17"/>
          <p:cNvSpPr/>
          <p:nvPr/>
        </p:nvSpPr>
        <p:spPr>
          <a:xfrm>
            <a:off x="777240" y="475488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Value Skills over Certificates</a:t>
            </a:r>
            <a:endParaRPr lang="en-US" sz="1600" dirty="0"/>
          </a:p>
        </p:txBody>
      </p:sp>
      <p:sp>
        <p:nvSpPr>
          <p:cNvPr id="20" name="Text 18"/>
          <p:cNvSpPr/>
          <p:nvPr/>
        </p:nvSpPr>
        <p:spPr>
          <a:xfrm>
            <a:off x="77724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Employers care about projects and demonstrated ability; a certificate alone rarely proves skill.</a:t>
            </a:r>
            <a:endParaRPr lang="en-US" sz="1600" dirty="0"/>
          </a:p>
        </p:txBody>
      </p:sp>
      <p:sp>
        <p:nvSpPr>
          <p:cNvPr id="21" name="Shape 19"/>
          <p:cNvSpPr/>
          <p:nvPr/>
        </p:nvSpPr>
        <p:spPr>
          <a:xfrm>
            <a:off x="6172200" y="4617720"/>
            <a:ext cx="5394960" cy="1600200"/>
          </a:xfrm>
          <a:prstGeom prst="roundRect">
            <a:avLst>
              <a:gd name="adj" fmla="val 4571"/>
            </a:avLst>
          </a:prstGeom>
          <a:solidFill>
            <a:srgbClr val="FBEAEA"/>
          </a:solidFill>
          <a:ln w="12700">
            <a:solidFill>
              <a:srgbClr val="DCE1EA"/>
            </a:solidFill>
            <a:prstDash val="solid"/>
          </a:ln>
        </p:spPr>
        <p:txBody>
          <a:bodyPr/>
          <a:lstStyle/>
          <a:p>
            <a:endParaRPr lang="en-US" sz="1600"/>
          </a:p>
        </p:txBody>
      </p:sp>
      <p:sp>
        <p:nvSpPr>
          <p:cNvPr id="22" name="Text 20"/>
          <p:cNvSpPr/>
          <p:nvPr/>
        </p:nvSpPr>
        <p:spPr>
          <a:xfrm>
            <a:off x="6400800" y="475488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Beware of Scams</a:t>
            </a:r>
            <a:endParaRPr lang="en-US" sz="1600" dirty="0"/>
          </a:p>
        </p:txBody>
      </p:sp>
      <p:sp>
        <p:nvSpPr>
          <p:cNvPr id="23" name="Text 21"/>
          <p:cNvSpPr/>
          <p:nvPr/>
        </p:nvSpPr>
        <p:spPr>
          <a:xfrm>
            <a:off x="640080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Avoid “guaranteed job” promises, fake accreditation, and sites asking for unusual personal or payment details.</a:t>
            </a:r>
            <a:endParaRPr lang="en-US" sz="1600" dirty="0"/>
          </a:p>
        </p:txBody>
      </p:sp>
      <p:sp>
        <p:nvSpPr>
          <p:cNvPr id="24" name="Text 22"/>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25" name="Text 23"/>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sz="1600"/>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APPLYING WHAT YOU LEARNED</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Which Source Fits Which Learner?</a:t>
            </a:r>
            <a:endParaRPr lang="en-US" sz="2400" dirty="0"/>
          </a:p>
        </p:txBody>
      </p:sp>
      <p:sp>
        <p:nvSpPr>
          <p:cNvPr id="6" name="Shape 4"/>
          <p:cNvSpPr/>
          <p:nvPr/>
        </p:nvSpPr>
        <p:spPr>
          <a:xfrm>
            <a:off x="548640" y="1188720"/>
            <a:ext cx="4572000" cy="457200"/>
          </a:xfrm>
          <a:prstGeom prst="rect">
            <a:avLst/>
          </a:prstGeom>
          <a:solidFill>
            <a:srgbClr val="1F3864"/>
          </a:solidFill>
          <a:ln/>
        </p:spPr>
        <p:txBody>
          <a:bodyPr/>
          <a:lstStyle/>
          <a:p>
            <a:endParaRPr lang="en-US" sz="1600"/>
          </a:p>
        </p:txBody>
      </p:sp>
      <p:sp>
        <p:nvSpPr>
          <p:cNvPr id="7" name="Text 5"/>
          <p:cNvSpPr/>
          <p:nvPr/>
        </p:nvSpPr>
        <p:spPr>
          <a:xfrm>
            <a:off x="548640" y="1188720"/>
            <a:ext cx="45720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Learner situation</a:t>
            </a:r>
            <a:endParaRPr lang="en-US" sz="1600" dirty="0"/>
          </a:p>
        </p:txBody>
      </p:sp>
      <p:sp>
        <p:nvSpPr>
          <p:cNvPr id="8" name="Shape 6"/>
          <p:cNvSpPr/>
          <p:nvPr/>
        </p:nvSpPr>
        <p:spPr>
          <a:xfrm>
            <a:off x="5120640" y="1188720"/>
            <a:ext cx="2468880" cy="457200"/>
          </a:xfrm>
          <a:prstGeom prst="rect">
            <a:avLst/>
          </a:prstGeom>
          <a:solidFill>
            <a:srgbClr val="B8860B"/>
          </a:solidFill>
          <a:ln/>
        </p:spPr>
        <p:txBody>
          <a:bodyPr/>
          <a:lstStyle/>
          <a:p>
            <a:endParaRPr lang="en-US" sz="1600"/>
          </a:p>
        </p:txBody>
      </p:sp>
      <p:sp>
        <p:nvSpPr>
          <p:cNvPr id="9" name="Text 7"/>
          <p:cNvSpPr/>
          <p:nvPr/>
        </p:nvSpPr>
        <p:spPr>
          <a:xfrm>
            <a:off x="5120640" y="1188720"/>
            <a:ext cx="246888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Suggested source</a:t>
            </a:r>
            <a:endParaRPr lang="en-US" sz="1600" dirty="0"/>
          </a:p>
        </p:txBody>
      </p:sp>
      <p:sp>
        <p:nvSpPr>
          <p:cNvPr id="10" name="Shape 8"/>
          <p:cNvSpPr/>
          <p:nvPr/>
        </p:nvSpPr>
        <p:spPr>
          <a:xfrm>
            <a:off x="7589520" y="1188720"/>
            <a:ext cx="4023360" cy="457200"/>
          </a:xfrm>
          <a:prstGeom prst="rect">
            <a:avLst/>
          </a:prstGeom>
          <a:solidFill>
            <a:srgbClr val="1F3864"/>
          </a:solidFill>
          <a:ln/>
        </p:spPr>
        <p:txBody>
          <a:bodyPr/>
          <a:lstStyle/>
          <a:p>
            <a:endParaRPr lang="en-US" sz="1600"/>
          </a:p>
        </p:txBody>
      </p:sp>
      <p:sp>
        <p:nvSpPr>
          <p:cNvPr id="11" name="Text 9"/>
          <p:cNvSpPr/>
          <p:nvPr/>
        </p:nvSpPr>
        <p:spPr>
          <a:xfrm>
            <a:off x="7589520" y="1188720"/>
            <a:ext cx="402336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Why</a:t>
            </a:r>
            <a:endParaRPr lang="en-US" sz="1600" dirty="0"/>
          </a:p>
        </p:txBody>
      </p:sp>
      <p:sp>
        <p:nvSpPr>
          <p:cNvPr id="12" name="Shape 10"/>
          <p:cNvSpPr/>
          <p:nvPr/>
        </p:nvSpPr>
        <p:spPr>
          <a:xfrm>
            <a:off x="548640" y="1645920"/>
            <a:ext cx="4572000" cy="777240"/>
          </a:xfrm>
          <a:prstGeom prst="rect">
            <a:avLst/>
          </a:prstGeom>
          <a:solidFill>
            <a:srgbClr val="FFFFFF"/>
          </a:solidFill>
          <a:ln w="9525">
            <a:solidFill>
              <a:srgbClr val="DCE1EA"/>
            </a:solidFill>
            <a:prstDash val="solid"/>
          </a:ln>
        </p:spPr>
        <p:txBody>
          <a:bodyPr/>
          <a:lstStyle/>
          <a:p>
            <a:endParaRPr lang="en-US" sz="1600"/>
          </a:p>
        </p:txBody>
      </p:sp>
      <p:sp>
        <p:nvSpPr>
          <p:cNvPr id="13" name="Text 11"/>
          <p:cNvSpPr/>
          <p:nvPr/>
        </p:nvSpPr>
        <p:spPr>
          <a:xfrm>
            <a:off x="640080" y="1645920"/>
            <a:ext cx="4389120" cy="777240"/>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A student wants to strengthen weak statistics basics, for free</a:t>
            </a:r>
            <a:endParaRPr lang="en-US" sz="1600" dirty="0"/>
          </a:p>
        </p:txBody>
      </p:sp>
      <p:sp>
        <p:nvSpPr>
          <p:cNvPr id="14" name="Shape 12"/>
          <p:cNvSpPr/>
          <p:nvPr/>
        </p:nvSpPr>
        <p:spPr>
          <a:xfrm>
            <a:off x="5120640" y="1645920"/>
            <a:ext cx="2468880" cy="777240"/>
          </a:xfrm>
          <a:prstGeom prst="rect">
            <a:avLst/>
          </a:prstGeom>
          <a:solidFill>
            <a:srgbClr val="FFFFFF"/>
          </a:solidFill>
          <a:ln w="9525">
            <a:solidFill>
              <a:srgbClr val="DCE1EA"/>
            </a:solidFill>
            <a:prstDash val="solid"/>
          </a:ln>
        </p:spPr>
        <p:txBody>
          <a:bodyPr/>
          <a:lstStyle/>
          <a:p>
            <a:endParaRPr lang="en-US" sz="1600"/>
          </a:p>
        </p:txBody>
      </p:sp>
      <p:sp>
        <p:nvSpPr>
          <p:cNvPr id="15" name="Text 13"/>
          <p:cNvSpPr/>
          <p:nvPr/>
        </p:nvSpPr>
        <p:spPr>
          <a:xfrm>
            <a:off x="5212080" y="1645920"/>
            <a:ext cx="2286000" cy="77724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Khan Academy</a:t>
            </a:r>
            <a:endParaRPr lang="en-US" sz="1600" dirty="0"/>
          </a:p>
        </p:txBody>
      </p:sp>
      <p:sp>
        <p:nvSpPr>
          <p:cNvPr id="16" name="Shape 14"/>
          <p:cNvSpPr/>
          <p:nvPr/>
        </p:nvSpPr>
        <p:spPr>
          <a:xfrm>
            <a:off x="7589520" y="1645920"/>
            <a:ext cx="4023360" cy="777240"/>
          </a:xfrm>
          <a:prstGeom prst="rect">
            <a:avLst/>
          </a:prstGeom>
          <a:solidFill>
            <a:srgbClr val="FFFFFF"/>
          </a:solidFill>
          <a:ln w="9525">
            <a:solidFill>
              <a:srgbClr val="DCE1EA"/>
            </a:solidFill>
            <a:prstDash val="solid"/>
          </a:ln>
        </p:spPr>
        <p:txBody>
          <a:bodyPr/>
          <a:lstStyle/>
          <a:p>
            <a:endParaRPr lang="en-US" sz="1600"/>
          </a:p>
        </p:txBody>
      </p:sp>
      <p:sp>
        <p:nvSpPr>
          <p:cNvPr id="17" name="Text 15"/>
          <p:cNvSpPr/>
          <p:nvPr/>
        </p:nvSpPr>
        <p:spPr>
          <a:xfrm>
            <a:off x="7680960" y="1645920"/>
            <a:ext cx="3840480" cy="77724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Free mastery-based practice with instant feedback</a:t>
            </a:r>
            <a:endParaRPr lang="en-US" sz="1600" dirty="0"/>
          </a:p>
        </p:txBody>
      </p:sp>
      <p:sp>
        <p:nvSpPr>
          <p:cNvPr id="18" name="Shape 16"/>
          <p:cNvSpPr/>
          <p:nvPr/>
        </p:nvSpPr>
        <p:spPr>
          <a:xfrm>
            <a:off x="548640" y="2423160"/>
            <a:ext cx="4572000" cy="777240"/>
          </a:xfrm>
          <a:prstGeom prst="rect">
            <a:avLst/>
          </a:prstGeom>
          <a:solidFill>
            <a:srgbClr val="F4F6FA"/>
          </a:solidFill>
          <a:ln w="9525">
            <a:solidFill>
              <a:srgbClr val="DCE1EA"/>
            </a:solidFill>
            <a:prstDash val="solid"/>
          </a:ln>
        </p:spPr>
        <p:txBody>
          <a:bodyPr/>
          <a:lstStyle/>
          <a:p>
            <a:endParaRPr lang="en-US" sz="1600"/>
          </a:p>
        </p:txBody>
      </p:sp>
      <p:sp>
        <p:nvSpPr>
          <p:cNvPr id="19" name="Text 17"/>
          <p:cNvSpPr/>
          <p:nvPr/>
        </p:nvSpPr>
        <p:spPr>
          <a:xfrm>
            <a:off x="640080" y="2423160"/>
            <a:ext cx="4389120" cy="777240"/>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A graduate wants a job-focused certificate from a recognized provider</a:t>
            </a:r>
            <a:endParaRPr lang="en-US" sz="1600" dirty="0"/>
          </a:p>
        </p:txBody>
      </p:sp>
      <p:sp>
        <p:nvSpPr>
          <p:cNvPr id="20" name="Shape 18"/>
          <p:cNvSpPr/>
          <p:nvPr/>
        </p:nvSpPr>
        <p:spPr>
          <a:xfrm>
            <a:off x="5120640" y="2423160"/>
            <a:ext cx="2468880" cy="777240"/>
          </a:xfrm>
          <a:prstGeom prst="rect">
            <a:avLst/>
          </a:prstGeom>
          <a:solidFill>
            <a:srgbClr val="F4F6FA"/>
          </a:solidFill>
          <a:ln w="9525">
            <a:solidFill>
              <a:srgbClr val="DCE1EA"/>
            </a:solidFill>
            <a:prstDash val="solid"/>
          </a:ln>
        </p:spPr>
        <p:txBody>
          <a:bodyPr/>
          <a:lstStyle/>
          <a:p>
            <a:endParaRPr lang="en-US" sz="1600"/>
          </a:p>
        </p:txBody>
      </p:sp>
      <p:sp>
        <p:nvSpPr>
          <p:cNvPr id="21" name="Text 19"/>
          <p:cNvSpPr/>
          <p:nvPr/>
        </p:nvSpPr>
        <p:spPr>
          <a:xfrm>
            <a:off x="5212080" y="2423160"/>
            <a:ext cx="2286000" cy="77724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Coursera</a:t>
            </a:r>
            <a:endParaRPr lang="en-US" sz="1600" dirty="0"/>
          </a:p>
        </p:txBody>
      </p:sp>
      <p:sp>
        <p:nvSpPr>
          <p:cNvPr id="22" name="Shape 20"/>
          <p:cNvSpPr/>
          <p:nvPr/>
        </p:nvSpPr>
        <p:spPr>
          <a:xfrm>
            <a:off x="7589520" y="2423160"/>
            <a:ext cx="4023360" cy="777240"/>
          </a:xfrm>
          <a:prstGeom prst="rect">
            <a:avLst/>
          </a:prstGeom>
          <a:solidFill>
            <a:srgbClr val="F4F6FA"/>
          </a:solidFill>
          <a:ln w="9525">
            <a:solidFill>
              <a:srgbClr val="DCE1EA"/>
            </a:solidFill>
            <a:prstDash val="solid"/>
          </a:ln>
        </p:spPr>
        <p:txBody>
          <a:bodyPr/>
          <a:lstStyle/>
          <a:p>
            <a:endParaRPr lang="en-US" sz="1600"/>
          </a:p>
        </p:txBody>
      </p:sp>
      <p:sp>
        <p:nvSpPr>
          <p:cNvPr id="23" name="Text 21"/>
          <p:cNvSpPr/>
          <p:nvPr/>
        </p:nvSpPr>
        <p:spPr>
          <a:xfrm>
            <a:off x="7680960" y="2423160"/>
            <a:ext cx="3840480" cy="77724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Professional certificates and partner-backed programs</a:t>
            </a:r>
            <a:endParaRPr lang="en-US" sz="1600" dirty="0"/>
          </a:p>
        </p:txBody>
      </p:sp>
      <p:sp>
        <p:nvSpPr>
          <p:cNvPr id="24" name="Shape 22"/>
          <p:cNvSpPr/>
          <p:nvPr/>
        </p:nvSpPr>
        <p:spPr>
          <a:xfrm>
            <a:off x="548640" y="3200400"/>
            <a:ext cx="4572000" cy="777240"/>
          </a:xfrm>
          <a:prstGeom prst="rect">
            <a:avLst/>
          </a:prstGeom>
          <a:solidFill>
            <a:srgbClr val="FFFFFF"/>
          </a:solidFill>
          <a:ln w="9525">
            <a:solidFill>
              <a:srgbClr val="DCE1EA"/>
            </a:solidFill>
            <a:prstDash val="solid"/>
          </a:ln>
        </p:spPr>
        <p:txBody>
          <a:bodyPr/>
          <a:lstStyle/>
          <a:p>
            <a:endParaRPr lang="en-US" sz="1600"/>
          </a:p>
        </p:txBody>
      </p:sp>
      <p:sp>
        <p:nvSpPr>
          <p:cNvPr id="25" name="Text 23"/>
          <p:cNvSpPr/>
          <p:nvPr/>
        </p:nvSpPr>
        <p:spPr>
          <a:xfrm>
            <a:off x="640080" y="3200400"/>
            <a:ext cx="4389120" cy="777240"/>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A learner wants university-style content and to audit before paying</a:t>
            </a:r>
            <a:endParaRPr lang="en-US" sz="1600" dirty="0"/>
          </a:p>
        </p:txBody>
      </p:sp>
      <p:sp>
        <p:nvSpPr>
          <p:cNvPr id="26" name="Shape 24"/>
          <p:cNvSpPr/>
          <p:nvPr/>
        </p:nvSpPr>
        <p:spPr>
          <a:xfrm>
            <a:off x="5120640" y="3200400"/>
            <a:ext cx="2468880" cy="777240"/>
          </a:xfrm>
          <a:prstGeom prst="rect">
            <a:avLst/>
          </a:prstGeom>
          <a:solidFill>
            <a:srgbClr val="FFFFFF"/>
          </a:solidFill>
          <a:ln w="9525">
            <a:solidFill>
              <a:srgbClr val="DCE1EA"/>
            </a:solidFill>
            <a:prstDash val="solid"/>
          </a:ln>
        </p:spPr>
        <p:txBody>
          <a:bodyPr/>
          <a:lstStyle/>
          <a:p>
            <a:endParaRPr lang="en-US" sz="1600"/>
          </a:p>
        </p:txBody>
      </p:sp>
      <p:sp>
        <p:nvSpPr>
          <p:cNvPr id="27" name="Text 25"/>
          <p:cNvSpPr/>
          <p:nvPr/>
        </p:nvSpPr>
        <p:spPr>
          <a:xfrm>
            <a:off x="5212080" y="3200400"/>
            <a:ext cx="2286000" cy="77724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edX</a:t>
            </a:r>
            <a:endParaRPr lang="en-US" sz="1600" dirty="0"/>
          </a:p>
        </p:txBody>
      </p:sp>
      <p:sp>
        <p:nvSpPr>
          <p:cNvPr id="28" name="Shape 26"/>
          <p:cNvSpPr/>
          <p:nvPr/>
        </p:nvSpPr>
        <p:spPr>
          <a:xfrm>
            <a:off x="7589520" y="3200400"/>
            <a:ext cx="4023360" cy="777240"/>
          </a:xfrm>
          <a:prstGeom prst="rect">
            <a:avLst/>
          </a:prstGeom>
          <a:solidFill>
            <a:srgbClr val="FFFFFF"/>
          </a:solidFill>
          <a:ln w="9525">
            <a:solidFill>
              <a:srgbClr val="DCE1EA"/>
            </a:solidFill>
            <a:prstDash val="solid"/>
          </a:ln>
        </p:spPr>
        <p:txBody>
          <a:bodyPr/>
          <a:lstStyle/>
          <a:p>
            <a:endParaRPr lang="en-US" sz="1600"/>
          </a:p>
        </p:txBody>
      </p:sp>
      <p:sp>
        <p:nvSpPr>
          <p:cNvPr id="29" name="Text 27"/>
          <p:cNvSpPr/>
          <p:nvPr/>
        </p:nvSpPr>
        <p:spPr>
          <a:xfrm>
            <a:off x="7680960" y="3200400"/>
            <a:ext cx="3840480" cy="77724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Audit track and academic-style courses</a:t>
            </a:r>
            <a:endParaRPr lang="en-US" sz="1600" dirty="0"/>
          </a:p>
        </p:txBody>
      </p:sp>
      <p:sp>
        <p:nvSpPr>
          <p:cNvPr id="30" name="Shape 28"/>
          <p:cNvSpPr/>
          <p:nvPr/>
        </p:nvSpPr>
        <p:spPr>
          <a:xfrm>
            <a:off x="548640" y="3977640"/>
            <a:ext cx="4572000" cy="777240"/>
          </a:xfrm>
          <a:prstGeom prst="rect">
            <a:avLst/>
          </a:prstGeom>
          <a:solidFill>
            <a:srgbClr val="F4F6FA"/>
          </a:solidFill>
          <a:ln w="9525">
            <a:solidFill>
              <a:srgbClr val="DCE1EA"/>
            </a:solidFill>
            <a:prstDash val="solid"/>
          </a:ln>
        </p:spPr>
        <p:txBody>
          <a:bodyPr/>
          <a:lstStyle/>
          <a:p>
            <a:endParaRPr lang="en-US" sz="1600"/>
          </a:p>
        </p:txBody>
      </p:sp>
      <p:sp>
        <p:nvSpPr>
          <p:cNvPr id="31" name="Text 29"/>
          <p:cNvSpPr/>
          <p:nvPr/>
        </p:nvSpPr>
        <p:spPr>
          <a:xfrm>
            <a:off x="640080" y="3977640"/>
            <a:ext cx="4389120" cy="777240"/>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A freelancer needs a practical web design skill quickly</a:t>
            </a:r>
            <a:endParaRPr lang="en-US" sz="1600" dirty="0"/>
          </a:p>
        </p:txBody>
      </p:sp>
      <p:sp>
        <p:nvSpPr>
          <p:cNvPr id="32" name="Shape 30"/>
          <p:cNvSpPr/>
          <p:nvPr/>
        </p:nvSpPr>
        <p:spPr>
          <a:xfrm>
            <a:off x="5120640" y="3977640"/>
            <a:ext cx="2468880" cy="777240"/>
          </a:xfrm>
          <a:prstGeom prst="rect">
            <a:avLst/>
          </a:prstGeom>
          <a:solidFill>
            <a:srgbClr val="F4F6FA"/>
          </a:solidFill>
          <a:ln w="9525">
            <a:solidFill>
              <a:srgbClr val="DCE1EA"/>
            </a:solidFill>
            <a:prstDash val="solid"/>
          </a:ln>
        </p:spPr>
        <p:txBody>
          <a:bodyPr/>
          <a:lstStyle/>
          <a:p>
            <a:endParaRPr lang="en-US" sz="1600"/>
          </a:p>
        </p:txBody>
      </p:sp>
      <p:sp>
        <p:nvSpPr>
          <p:cNvPr id="33" name="Text 31"/>
          <p:cNvSpPr/>
          <p:nvPr/>
        </p:nvSpPr>
        <p:spPr>
          <a:xfrm>
            <a:off x="5212080" y="3977640"/>
            <a:ext cx="2286000" cy="77724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Udemy</a:t>
            </a:r>
            <a:endParaRPr lang="en-US" sz="1600" dirty="0"/>
          </a:p>
        </p:txBody>
      </p:sp>
      <p:sp>
        <p:nvSpPr>
          <p:cNvPr id="34" name="Shape 32"/>
          <p:cNvSpPr/>
          <p:nvPr/>
        </p:nvSpPr>
        <p:spPr>
          <a:xfrm>
            <a:off x="7589520" y="3977640"/>
            <a:ext cx="4023360" cy="777240"/>
          </a:xfrm>
          <a:prstGeom prst="rect">
            <a:avLst/>
          </a:prstGeom>
          <a:solidFill>
            <a:srgbClr val="F4F6FA"/>
          </a:solidFill>
          <a:ln w="9525">
            <a:solidFill>
              <a:srgbClr val="DCE1EA"/>
            </a:solidFill>
            <a:prstDash val="solid"/>
          </a:ln>
        </p:spPr>
        <p:txBody>
          <a:bodyPr/>
          <a:lstStyle/>
          <a:p>
            <a:endParaRPr lang="en-US" sz="1600"/>
          </a:p>
        </p:txBody>
      </p:sp>
      <p:sp>
        <p:nvSpPr>
          <p:cNvPr id="35" name="Text 33"/>
          <p:cNvSpPr/>
          <p:nvPr/>
        </p:nvSpPr>
        <p:spPr>
          <a:xfrm>
            <a:off x="7680960" y="3977640"/>
            <a:ext cx="3840480" cy="77724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Project-based, short, practical courses</a:t>
            </a:r>
            <a:endParaRPr lang="en-US" sz="1600" dirty="0"/>
          </a:p>
        </p:txBody>
      </p:sp>
      <p:sp>
        <p:nvSpPr>
          <p:cNvPr id="36" name="Shape 34"/>
          <p:cNvSpPr/>
          <p:nvPr/>
        </p:nvSpPr>
        <p:spPr>
          <a:xfrm>
            <a:off x="548640" y="4754880"/>
            <a:ext cx="4572000" cy="777240"/>
          </a:xfrm>
          <a:prstGeom prst="rect">
            <a:avLst/>
          </a:prstGeom>
          <a:solidFill>
            <a:srgbClr val="FFFFFF"/>
          </a:solidFill>
          <a:ln w="9525">
            <a:solidFill>
              <a:srgbClr val="DCE1EA"/>
            </a:solidFill>
            <a:prstDash val="solid"/>
          </a:ln>
        </p:spPr>
        <p:txBody>
          <a:bodyPr/>
          <a:lstStyle/>
          <a:p>
            <a:endParaRPr lang="en-US" sz="1600"/>
          </a:p>
        </p:txBody>
      </p:sp>
      <p:sp>
        <p:nvSpPr>
          <p:cNvPr id="37" name="Text 35"/>
          <p:cNvSpPr/>
          <p:nvPr/>
        </p:nvSpPr>
        <p:spPr>
          <a:xfrm>
            <a:off x="640080" y="4754880"/>
            <a:ext cx="4389120" cy="777240"/>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A student wants a full degree while living far from campus</a:t>
            </a:r>
            <a:endParaRPr lang="en-US" sz="1600" dirty="0"/>
          </a:p>
        </p:txBody>
      </p:sp>
      <p:sp>
        <p:nvSpPr>
          <p:cNvPr id="38" name="Shape 36"/>
          <p:cNvSpPr/>
          <p:nvPr/>
        </p:nvSpPr>
        <p:spPr>
          <a:xfrm>
            <a:off x="5120640" y="4754880"/>
            <a:ext cx="2468880" cy="777240"/>
          </a:xfrm>
          <a:prstGeom prst="rect">
            <a:avLst/>
          </a:prstGeom>
          <a:solidFill>
            <a:srgbClr val="FFFFFF"/>
          </a:solidFill>
          <a:ln w="9525">
            <a:solidFill>
              <a:srgbClr val="DCE1EA"/>
            </a:solidFill>
            <a:prstDash val="solid"/>
          </a:ln>
        </p:spPr>
        <p:txBody>
          <a:bodyPr/>
          <a:lstStyle/>
          <a:p>
            <a:endParaRPr lang="en-US" sz="1600"/>
          </a:p>
        </p:txBody>
      </p:sp>
      <p:sp>
        <p:nvSpPr>
          <p:cNvPr id="39" name="Text 37"/>
          <p:cNvSpPr/>
          <p:nvPr/>
        </p:nvSpPr>
        <p:spPr>
          <a:xfrm>
            <a:off x="5212080" y="4754880"/>
            <a:ext cx="2286000" cy="77724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Distance university or online degree</a:t>
            </a:r>
            <a:endParaRPr lang="en-US" sz="1600" dirty="0"/>
          </a:p>
        </p:txBody>
      </p:sp>
      <p:sp>
        <p:nvSpPr>
          <p:cNvPr id="40" name="Shape 38"/>
          <p:cNvSpPr/>
          <p:nvPr/>
        </p:nvSpPr>
        <p:spPr>
          <a:xfrm>
            <a:off x="7589520" y="4754880"/>
            <a:ext cx="4023360" cy="777240"/>
          </a:xfrm>
          <a:prstGeom prst="rect">
            <a:avLst/>
          </a:prstGeom>
          <a:solidFill>
            <a:srgbClr val="FFFFFF"/>
          </a:solidFill>
          <a:ln w="9525">
            <a:solidFill>
              <a:srgbClr val="DCE1EA"/>
            </a:solidFill>
            <a:prstDash val="solid"/>
          </a:ln>
        </p:spPr>
        <p:txBody>
          <a:bodyPr/>
          <a:lstStyle/>
          <a:p>
            <a:endParaRPr lang="en-US" sz="1600"/>
          </a:p>
        </p:txBody>
      </p:sp>
      <p:sp>
        <p:nvSpPr>
          <p:cNvPr id="41" name="Text 39"/>
          <p:cNvSpPr/>
          <p:nvPr/>
        </p:nvSpPr>
        <p:spPr>
          <a:xfrm>
            <a:off x="7680960" y="4754880"/>
            <a:ext cx="3840480" cy="77724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Accredited programs delivered entirely online</a:t>
            </a:r>
            <a:endParaRPr lang="en-US" sz="1600" dirty="0"/>
          </a:p>
        </p:txBody>
      </p:sp>
      <p:sp>
        <p:nvSpPr>
          <p:cNvPr id="42" name="Text 40"/>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43" name="Text 41"/>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2B4D"/>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62B4D"/>
          </a:solidFill>
          <a:ln/>
        </p:spPr>
        <p:txBody>
          <a:bodyPr/>
          <a:lstStyle/>
          <a:p>
            <a:endParaRPr lang="en-US"/>
          </a:p>
        </p:txBody>
      </p:sp>
      <p:sp>
        <p:nvSpPr>
          <p:cNvPr id="3" name="Text 1"/>
          <p:cNvSpPr/>
          <p:nvPr/>
        </p:nvSpPr>
        <p:spPr>
          <a:xfrm>
            <a:off x="0" y="1463040"/>
            <a:ext cx="12191695" cy="1188720"/>
          </a:xfrm>
          <a:prstGeom prst="rect">
            <a:avLst/>
          </a:prstGeom>
          <a:noFill/>
          <a:ln/>
        </p:spPr>
        <p:txBody>
          <a:bodyPr wrap="square" rtlCol="0" anchor="ctr"/>
          <a:lstStyle/>
          <a:p>
            <a:pPr marL="0" indent="0" algn="ctr">
              <a:buNone/>
            </a:pPr>
            <a:r>
              <a:rPr lang="en-US" sz="6000" dirty="0">
                <a:solidFill>
                  <a:srgbClr val="000000"/>
                </a:solidFill>
                <a:latin typeface="Calibri" pitchFamily="34" charset="0"/>
                <a:ea typeface="Calibri" pitchFamily="34" charset="-122"/>
                <a:cs typeface="Calibri" pitchFamily="34" charset="-120"/>
              </a:rPr>
              <a:t>☕</a:t>
            </a:r>
            <a:endParaRPr lang="en-US" sz="6000" dirty="0"/>
          </a:p>
        </p:txBody>
      </p:sp>
      <p:sp>
        <p:nvSpPr>
          <p:cNvPr id="4" name="Text 2"/>
          <p:cNvSpPr/>
          <p:nvPr/>
        </p:nvSpPr>
        <p:spPr>
          <a:xfrm>
            <a:off x="0" y="2743200"/>
            <a:ext cx="12191695" cy="548640"/>
          </a:xfrm>
          <a:prstGeom prst="rect">
            <a:avLst/>
          </a:prstGeom>
          <a:noFill/>
          <a:ln/>
        </p:spPr>
        <p:txBody>
          <a:bodyPr wrap="square" rtlCol="0" anchor="ctr"/>
          <a:lstStyle/>
          <a:p>
            <a:pPr marL="0" indent="0" algn="ctr">
              <a:buNone/>
            </a:pPr>
            <a:r>
              <a:rPr lang="en-US" sz="2000" b="1" kern="0" spc="400" dirty="0">
                <a:solidFill>
                  <a:srgbClr val="D8B84A"/>
                </a:solidFill>
                <a:latin typeface="Calibri" pitchFamily="34" charset="0"/>
                <a:ea typeface="Calibri" pitchFamily="34" charset="-122"/>
                <a:cs typeface="Calibri" pitchFamily="34" charset="-120"/>
              </a:rPr>
              <a:t>BREAK 1</a:t>
            </a:r>
            <a:endParaRPr lang="en-US" sz="2000" dirty="0"/>
          </a:p>
        </p:txBody>
      </p:sp>
      <p:sp>
        <p:nvSpPr>
          <p:cNvPr id="5" name="Text 3"/>
          <p:cNvSpPr/>
          <p:nvPr/>
        </p:nvSpPr>
        <p:spPr>
          <a:xfrm>
            <a:off x="0" y="3291840"/>
            <a:ext cx="12191695" cy="731520"/>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15 Minutes</a:t>
            </a:r>
            <a:endParaRPr lang="en-US" sz="3600" dirty="0"/>
          </a:p>
        </p:txBody>
      </p:sp>
      <p:sp>
        <p:nvSpPr>
          <p:cNvPr id="6" name="Text 4"/>
          <p:cNvSpPr/>
          <p:nvPr/>
        </p:nvSpPr>
        <p:spPr>
          <a:xfrm>
            <a:off x="0" y="4114800"/>
            <a:ext cx="12191695" cy="457200"/>
          </a:xfrm>
          <a:prstGeom prst="rect">
            <a:avLst/>
          </a:prstGeom>
          <a:noFill/>
          <a:ln/>
        </p:spPr>
        <p:txBody>
          <a:bodyPr wrap="square" rtlCol="0" anchor="ctr"/>
          <a:lstStyle/>
          <a:p>
            <a:pPr marL="0" indent="0" algn="ctr">
              <a:buNone/>
            </a:pPr>
            <a:r>
              <a:rPr lang="en-US" sz="1500" i="1" dirty="0">
                <a:solidFill>
                  <a:srgbClr val="C7D0E0"/>
                </a:solidFill>
                <a:latin typeface="Calibri" pitchFamily="34" charset="0"/>
                <a:ea typeface="Calibri" pitchFamily="34" charset="-122"/>
                <a:cs typeface="Calibri" pitchFamily="34" charset="-120"/>
              </a:rPr>
              <a:t>Back at it: interactive multimedia and virtual classrooms</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62B4D"/>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62B4D"/>
          </a:solidFill>
          <a:ln/>
        </p:spPr>
        <p:txBody>
          <a:bodyPr/>
          <a:lstStyle/>
          <a:p>
            <a:endParaRPr lang="en-US"/>
          </a:p>
        </p:txBody>
      </p:sp>
      <p:pic>
        <p:nvPicPr>
          <p:cNvPr id="3" name="Image 0" descr="logos/bbb.png"/>
          <p:cNvPicPr>
            <a:picLocks noChangeAspect="1"/>
          </p:cNvPicPr>
          <p:nvPr/>
        </p:nvPicPr>
        <p:blipFill>
          <a:blip r:embed="rId3"/>
          <a:stretch>
            <a:fillRect/>
          </a:stretch>
        </p:blipFill>
        <p:spPr>
          <a:xfrm>
            <a:off x="4568800" y="1417320"/>
            <a:ext cx="914400" cy="914400"/>
          </a:xfrm>
          <a:prstGeom prst="rect">
            <a:avLst/>
          </a:prstGeom>
        </p:spPr>
      </p:pic>
      <p:pic>
        <p:nvPicPr>
          <p:cNvPr id="4" name="Image 1" descr="logos/slides.png"/>
          <p:cNvPicPr>
            <a:picLocks noChangeAspect="1"/>
          </p:cNvPicPr>
          <p:nvPr/>
        </p:nvPicPr>
        <p:blipFill>
          <a:blip r:embed="rId4"/>
          <a:stretch>
            <a:fillRect/>
          </a:stretch>
        </p:blipFill>
        <p:spPr>
          <a:xfrm>
            <a:off x="5638648" y="1417320"/>
            <a:ext cx="914400" cy="914400"/>
          </a:xfrm>
          <a:prstGeom prst="rect">
            <a:avLst/>
          </a:prstGeom>
        </p:spPr>
      </p:pic>
      <p:pic>
        <p:nvPicPr>
          <p:cNvPr id="5" name="Image 2" descr="logos/docs.png"/>
          <p:cNvPicPr>
            <a:picLocks noChangeAspect="1"/>
          </p:cNvPicPr>
          <p:nvPr/>
        </p:nvPicPr>
        <p:blipFill>
          <a:blip r:embed="rId5"/>
          <a:stretch>
            <a:fillRect/>
          </a:stretch>
        </p:blipFill>
        <p:spPr>
          <a:xfrm>
            <a:off x="6708496" y="1417320"/>
            <a:ext cx="914400" cy="914400"/>
          </a:xfrm>
          <a:prstGeom prst="rect">
            <a:avLst/>
          </a:prstGeom>
        </p:spPr>
      </p:pic>
      <p:sp>
        <p:nvSpPr>
          <p:cNvPr id="6" name="Text 1"/>
          <p:cNvSpPr/>
          <p:nvPr/>
        </p:nvSpPr>
        <p:spPr>
          <a:xfrm>
            <a:off x="822960" y="2697480"/>
            <a:ext cx="10515600" cy="457200"/>
          </a:xfrm>
          <a:prstGeom prst="rect">
            <a:avLst/>
          </a:prstGeom>
          <a:noFill/>
          <a:ln/>
        </p:spPr>
        <p:txBody>
          <a:bodyPr wrap="square" rtlCol="0" anchor="ctr"/>
          <a:lstStyle/>
          <a:p>
            <a:pPr marL="0" indent="0" algn="ctr">
              <a:buNone/>
            </a:pPr>
            <a:r>
              <a:rPr lang="en-US" sz="1600" b="1" kern="0" spc="300" dirty="0">
                <a:solidFill>
                  <a:srgbClr val="D8B84A"/>
                </a:solidFill>
                <a:latin typeface="Calibri" pitchFamily="34" charset="0"/>
                <a:ea typeface="Calibri" pitchFamily="34" charset="-122"/>
                <a:cs typeface="Calibri" pitchFamily="34" charset="-120"/>
              </a:rPr>
              <a:t>PART 2: INTERACTIVE MULTIMEDIA &amp; VIRTUAL CLASSROOMS</a:t>
            </a:r>
            <a:endParaRPr lang="en-US" sz="1600" dirty="0"/>
          </a:p>
        </p:txBody>
      </p:sp>
      <p:sp>
        <p:nvSpPr>
          <p:cNvPr id="7" name="Text 2"/>
          <p:cNvSpPr/>
          <p:nvPr/>
        </p:nvSpPr>
        <p:spPr>
          <a:xfrm>
            <a:off x="822960" y="3154680"/>
            <a:ext cx="10515600" cy="73152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Learning That Responds to You</a:t>
            </a:r>
            <a:endParaRPr lang="en-US" sz="3000" dirty="0"/>
          </a:p>
        </p:txBody>
      </p:sp>
      <p:sp>
        <p:nvSpPr>
          <p:cNvPr id="8" name="Text 3"/>
          <p:cNvSpPr/>
          <p:nvPr/>
        </p:nvSpPr>
        <p:spPr>
          <a:xfrm>
            <a:off x="822960" y="3886200"/>
            <a:ext cx="10515600" cy="457200"/>
          </a:xfrm>
          <a:prstGeom prst="rect">
            <a:avLst/>
          </a:prstGeom>
          <a:noFill/>
          <a:ln/>
        </p:spPr>
        <p:txBody>
          <a:bodyPr wrap="square" rtlCol="0" anchor="ctr"/>
          <a:lstStyle/>
          <a:p>
            <a:pPr marL="0" indent="0" algn="ctr">
              <a:buNone/>
            </a:pPr>
            <a:r>
              <a:rPr lang="en-US" sz="1500" i="1" dirty="0">
                <a:solidFill>
                  <a:srgbClr val="C7D0E0"/>
                </a:solidFill>
                <a:latin typeface="Calibri" pitchFamily="34" charset="0"/>
                <a:ea typeface="Calibri" pitchFamily="34" charset="-122"/>
                <a:cs typeface="Calibri" pitchFamily="34" charset="-120"/>
              </a:rPr>
              <a:t>Rich media, active practice, and live online teaching</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INTERACTIVE MULTIMEDIA</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What Is Interactive Multimedia?</a:t>
            </a:r>
            <a:endParaRPr lang="en-US" sz="2400" dirty="0"/>
          </a:p>
        </p:txBody>
      </p:sp>
      <p:sp>
        <p:nvSpPr>
          <p:cNvPr id="6" name="Shape 4"/>
          <p:cNvSpPr/>
          <p:nvPr/>
        </p:nvSpPr>
        <p:spPr>
          <a:xfrm>
            <a:off x="548640" y="1234440"/>
            <a:ext cx="1817827" cy="2834640"/>
          </a:xfrm>
          <a:prstGeom prst="roundRect">
            <a:avLst>
              <a:gd name="adj" fmla="val 4024"/>
            </a:avLst>
          </a:prstGeom>
          <a:solidFill>
            <a:srgbClr val="E8EEF9"/>
          </a:solidFill>
          <a:ln w="12700">
            <a:solidFill>
              <a:srgbClr val="DCE1EA"/>
            </a:solidFill>
            <a:prstDash val="solid"/>
          </a:ln>
        </p:spPr>
        <p:txBody>
          <a:bodyPr/>
          <a:lstStyle/>
          <a:p>
            <a:endParaRPr lang="en-US" sz="1600"/>
          </a:p>
        </p:txBody>
      </p:sp>
      <p:sp>
        <p:nvSpPr>
          <p:cNvPr id="7" name="Shape 5"/>
          <p:cNvSpPr/>
          <p:nvPr/>
        </p:nvSpPr>
        <p:spPr>
          <a:xfrm>
            <a:off x="685800" y="1371600"/>
            <a:ext cx="411480" cy="411480"/>
          </a:xfrm>
          <a:prstGeom prst="ellipse">
            <a:avLst/>
          </a:prstGeom>
          <a:solidFill>
            <a:srgbClr val="1F3864"/>
          </a:solidFill>
          <a:ln/>
        </p:spPr>
        <p:txBody>
          <a:bodyPr/>
          <a:lstStyle/>
          <a:p>
            <a:endParaRPr lang="en-US" sz="1600"/>
          </a:p>
        </p:txBody>
      </p:sp>
      <p:sp>
        <p:nvSpPr>
          <p:cNvPr id="8" name="Text 6"/>
          <p:cNvSpPr/>
          <p:nvPr/>
        </p:nvSpPr>
        <p:spPr>
          <a:xfrm>
            <a:off x="685800"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658368" y="1874520"/>
            <a:ext cx="1598371"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Text &amp; Graphics</a:t>
            </a:r>
            <a:endParaRPr lang="en-US" sz="1600" dirty="0"/>
          </a:p>
        </p:txBody>
      </p:sp>
      <p:sp>
        <p:nvSpPr>
          <p:cNvPr id="10" name="Text 8"/>
          <p:cNvSpPr/>
          <p:nvPr/>
        </p:nvSpPr>
        <p:spPr>
          <a:xfrm>
            <a:off x="658368" y="2423160"/>
            <a:ext cx="1598371" cy="155448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Words, images, charts, and infographics that explain ideas visually.</a:t>
            </a:r>
            <a:endParaRPr lang="en-US" sz="1600" dirty="0"/>
          </a:p>
        </p:txBody>
      </p:sp>
      <p:sp>
        <p:nvSpPr>
          <p:cNvPr id="11" name="Shape 9"/>
          <p:cNvSpPr/>
          <p:nvPr/>
        </p:nvSpPr>
        <p:spPr>
          <a:xfrm>
            <a:off x="2476195" y="2514600"/>
            <a:ext cx="274320" cy="274320"/>
          </a:xfrm>
          <a:prstGeom prst="rightArrow">
            <a:avLst/>
          </a:prstGeom>
          <a:solidFill>
            <a:srgbClr val="B8860B"/>
          </a:solidFill>
          <a:ln/>
        </p:spPr>
        <p:txBody>
          <a:bodyPr/>
          <a:lstStyle/>
          <a:p>
            <a:endParaRPr lang="en-US" sz="1600"/>
          </a:p>
        </p:txBody>
      </p:sp>
      <p:sp>
        <p:nvSpPr>
          <p:cNvPr id="12" name="Shape 10"/>
          <p:cNvSpPr/>
          <p:nvPr/>
        </p:nvSpPr>
        <p:spPr>
          <a:xfrm>
            <a:off x="2860243" y="1234440"/>
            <a:ext cx="1817827" cy="2834640"/>
          </a:xfrm>
          <a:prstGeom prst="roundRect">
            <a:avLst>
              <a:gd name="adj" fmla="val 4024"/>
            </a:avLst>
          </a:prstGeom>
          <a:solidFill>
            <a:srgbClr val="EAF6EC"/>
          </a:solidFill>
          <a:ln w="12700">
            <a:solidFill>
              <a:srgbClr val="DCE1EA"/>
            </a:solidFill>
            <a:prstDash val="solid"/>
          </a:ln>
        </p:spPr>
        <p:txBody>
          <a:bodyPr/>
          <a:lstStyle/>
          <a:p>
            <a:endParaRPr lang="en-US" sz="1600"/>
          </a:p>
        </p:txBody>
      </p:sp>
      <p:sp>
        <p:nvSpPr>
          <p:cNvPr id="13" name="Shape 11"/>
          <p:cNvSpPr/>
          <p:nvPr/>
        </p:nvSpPr>
        <p:spPr>
          <a:xfrm>
            <a:off x="2997403" y="1371600"/>
            <a:ext cx="411480" cy="411480"/>
          </a:xfrm>
          <a:prstGeom prst="ellipse">
            <a:avLst/>
          </a:prstGeom>
          <a:solidFill>
            <a:srgbClr val="1F3864"/>
          </a:solidFill>
          <a:ln/>
        </p:spPr>
        <p:txBody>
          <a:bodyPr/>
          <a:lstStyle/>
          <a:p>
            <a:endParaRPr lang="en-US" sz="1600"/>
          </a:p>
        </p:txBody>
      </p:sp>
      <p:sp>
        <p:nvSpPr>
          <p:cNvPr id="14" name="Text 12"/>
          <p:cNvSpPr/>
          <p:nvPr/>
        </p:nvSpPr>
        <p:spPr>
          <a:xfrm>
            <a:off x="2997403"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3"/>
          <p:cNvSpPr/>
          <p:nvPr/>
        </p:nvSpPr>
        <p:spPr>
          <a:xfrm>
            <a:off x="2969971" y="1874520"/>
            <a:ext cx="1598371"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Audio</a:t>
            </a:r>
            <a:endParaRPr lang="en-US" sz="1600" dirty="0"/>
          </a:p>
        </p:txBody>
      </p:sp>
      <p:sp>
        <p:nvSpPr>
          <p:cNvPr id="16" name="Text 14"/>
          <p:cNvSpPr/>
          <p:nvPr/>
        </p:nvSpPr>
        <p:spPr>
          <a:xfrm>
            <a:off x="2969971" y="2423160"/>
            <a:ext cx="1598371" cy="155448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Narration, podcasts, and sound that help learners listen and review.</a:t>
            </a:r>
            <a:endParaRPr lang="en-US" sz="1600" dirty="0"/>
          </a:p>
        </p:txBody>
      </p:sp>
      <p:sp>
        <p:nvSpPr>
          <p:cNvPr id="17" name="Shape 15"/>
          <p:cNvSpPr/>
          <p:nvPr/>
        </p:nvSpPr>
        <p:spPr>
          <a:xfrm>
            <a:off x="4787798" y="2514600"/>
            <a:ext cx="274320" cy="274320"/>
          </a:xfrm>
          <a:prstGeom prst="rightArrow">
            <a:avLst/>
          </a:prstGeom>
          <a:solidFill>
            <a:srgbClr val="B8860B"/>
          </a:solidFill>
          <a:ln/>
        </p:spPr>
        <p:txBody>
          <a:bodyPr/>
          <a:lstStyle/>
          <a:p>
            <a:endParaRPr lang="en-US" sz="1600"/>
          </a:p>
        </p:txBody>
      </p:sp>
      <p:sp>
        <p:nvSpPr>
          <p:cNvPr id="18" name="Shape 16"/>
          <p:cNvSpPr/>
          <p:nvPr/>
        </p:nvSpPr>
        <p:spPr>
          <a:xfrm>
            <a:off x="5171846" y="1234440"/>
            <a:ext cx="1817827" cy="2834640"/>
          </a:xfrm>
          <a:prstGeom prst="roundRect">
            <a:avLst>
              <a:gd name="adj" fmla="val 4024"/>
            </a:avLst>
          </a:prstGeom>
          <a:solidFill>
            <a:srgbClr val="E8EEF9"/>
          </a:solidFill>
          <a:ln w="12700">
            <a:solidFill>
              <a:srgbClr val="DCE1EA"/>
            </a:solidFill>
            <a:prstDash val="solid"/>
          </a:ln>
        </p:spPr>
        <p:txBody>
          <a:bodyPr/>
          <a:lstStyle/>
          <a:p>
            <a:endParaRPr lang="en-US" sz="1600"/>
          </a:p>
        </p:txBody>
      </p:sp>
      <p:sp>
        <p:nvSpPr>
          <p:cNvPr id="19" name="Shape 17"/>
          <p:cNvSpPr/>
          <p:nvPr/>
        </p:nvSpPr>
        <p:spPr>
          <a:xfrm>
            <a:off x="5309006" y="1371600"/>
            <a:ext cx="411480" cy="411480"/>
          </a:xfrm>
          <a:prstGeom prst="ellipse">
            <a:avLst/>
          </a:prstGeom>
          <a:solidFill>
            <a:srgbClr val="1F3864"/>
          </a:solidFill>
          <a:ln/>
        </p:spPr>
        <p:txBody>
          <a:bodyPr/>
          <a:lstStyle/>
          <a:p>
            <a:endParaRPr lang="en-US" sz="1600"/>
          </a:p>
        </p:txBody>
      </p:sp>
      <p:sp>
        <p:nvSpPr>
          <p:cNvPr id="20" name="Text 18"/>
          <p:cNvSpPr/>
          <p:nvPr/>
        </p:nvSpPr>
        <p:spPr>
          <a:xfrm>
            <a:off x="5309006"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9"/>
          <p:cNvSpPr/>
          <p:nvPr/>
        </p:nvSpPr>
        <p:spPr>
          <a:xfrm>
            <a:off x="5281574" y="1874520"/>
            <a:ext cx="1598371"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Video</a:t>
            </a:r>
            <a:endParaRPr lang="en-US" sz="1600" dirty="0"/>
          </a:p>
        </p:txBody>
      </p:sp>
      <p:sp>
        <p:nvSpPr>
          <p:cNvPr id="22" name="Text 20"/>
          <p:cNvSpPr/>
          <p:nvPr/>
        </p:nvSpPr>
        <p:spPr>
          <a:xfrm>
            <a:off x="5281574" y="2423160"/>
            <a:ext cx="1598371" cy="155448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Recorded or live demonstrations, lectures, and short explainers.</a:t>
            </a:r>
            <a:endParaRPr lang="en-US" sz="1600" dirty="0"/>
          </a:p>
        </p:txBody>
      </p:sp>
      <p:sp>
        <p:nvSpPr>
          <p:cNvPr id="23" name="Shape 21"/>
          <p:cNvSpPr/>
          <p:nvPr/>
        </p:nvSpPr>
        <p:spPr>
          <a:xfrm>
            <a:off x="7099402" y="2514600"/>
            <a:ext cx="274320" cy="274320"/>
          </a:xfrm>
          <a:prstGeom prst="rightArrow">
            <a:avLst/>
          </a:prstGeom>
          <a:solidFill>
            <a:srgbClr val="B8860B"/>
          </a:solidFill>
          <a:ln/>
        </p:spPr>
        <p:txBody>
          <a:bodyPr/>
          <a:lstStyle/>
          <a:p>
            <a:endParaRPr lang="en-US" sz="1600"/>
          </a:p>
        </p:txBody>
      </p:sp>
      <p:sp>
        <p:nvSpPr>
          <p:cNvPr id="24" name="Shape 22"/>
          <p:cNvSpPr/>
          <p:nvPr/>
        </p:nvSpPr>
        <p:spPr>
          <a:xfrm>
            <a:off x="7483450" y="1234440"/>
            <a:ext cx="1817827" cy="2834640"/>
          </a:xfrm>
          <a:prstGeom prst="roundRect">
            <a:avLst>
              <a:gd name="adj" fmla="val 4024"/>
            </a:avLst>
          </a:prstGeom>
          <a:solidFill>
            <a:srgbClr val="EAF6EC"/>
          </a:solidFill>
          <a:ln w="12700">
            <a:solidFill>
              <a:srgbClr val="DCE1EA"/>
            </a:solidFill>
            <a:prstDash val="solid"/>
          </a:ln>
        </p:spPr>
        <p:txBody>
          <a:bodyPr/>
          <a:lstStyle/>
          <a:p>
            <a:endParaRPr lang="en-US" sz="1600"/>
          </a:p>
        </p:txBody>
      </p:sp>
      <p:sp>
        <p:nvSpPr>
          <p:cNvPr id="25" name="Shape 23"/>
          <p:cNvSpPr/>
          <p:nvPr/>
        </p:nvSpPr>
        <p:spPr>
          <a:xfrm>
            <a:off x="7620610" y="1371600"/>
            <a:ext cx="411480" cy="411480"/>
          </a:xfrm>
          <a:prstGeom prst="ellipse">
            <a:avLst/>
          </a:prstGeom>
          <a:solidFill>
            <a:srgbClr val="1F3864"/>
          </a:solidFill>
          <a:ln/>
        </p:spPr>
        <p:txBody>
          <a:bodyPr/>
          <a:lstStyle/>
          <a:p>
            <a:endParaRPr lang="en-US" sz="1600"/>
          </a:p>
        </p:txBody>
      </p:sp>
      <p:sp>
        <p:nvSpPr>
          <p:cNvPr id="26" name="Text 24"/>
          <p:cNvSpPr/>
          <p:nvPr/>
        </p:nvSpPr>
        <p:spPr>
          <a:xfrm>
            <a:off x="7620610"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5"/>
          <p:cNvSpPr/>
          <p:nvPr/>
        </p:nvSpPr>
        <p:spPr>
          <a:xfrm>
            <a:off x="7593178" y="1874520"/>
            <a:ext cx="1598371"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Animation &amp; Simulation</a:t>
            </a:r>
            <a:endParaRPr lang="en-US" sz="1600" dirty="0"/>
          </a:p>
        </p:txBody>
      </p:sp>
      <p:sp>
        <p:nvSpPr>
          <p:cNvPr id="28" name="Text 26"/>
          <p:cNvSpPr/>
          <p:nvPr/>
        </p:nvSpPr>
        <p:spPr>
          <a:xfrm>
            <a:off x="7593178" y="2423160"/>
            <a:ext cx="1598371" cy="155448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Moving diagrams and models that learners can explore and change.</a:t>
            </a:r>
            <a:endParaRPr lang="en-US" sz="1600" dirty="0"/>
          </a:p>
        </p:txBody>
      </p:sp>
      <p:sp>
        <p:nvSpPr>
          <p:cNvPr id="29" name="Shape 27"/>
          <p:cNvSpPr/>
          <p:nvPr/>
        </p:nvSpPr>
        <p:spPr>
          <a:xfrm>
            <a:off x="9411005" y="2514600"/>
            <a:ext cx="274320" cy="274320"/>
          </a:xfrm>
          <a:prstGeom prst="rightArrow">
            <a:avLst/>
          </a:prstGeom>
          <a:solidFill>
            <a:srgbClr val="B8860B"/>
          </a:solidFill>
          <a:ln/>
        </p:spPr>
        <p:txBody>
          <a:bodyPr/>
          <a:lstStyle/>
          <a:p>
            <a:endParaRPr lang="en-US" sz="1600"/>
          </a:p>
        </p:txBody>
      </p:sp>
      <p:sp>
        <p:nvSpPr>
          <p:cNvPr id="30" name="Shape 28"/>
          <p:cNvSpPr/>
          <p:nvPr/>
        </p:nvSpPr>
        <p:spPr>
          <a:xfrm>
            <a:off x="9795053" y="1234440"/>
            <a:ext cx="1817827" cy="2834640"/>
          </a:xfrm>
          <a:prstGeom prst="roundRect">
            <a:avLst>
              <a:gd name="adj" fmla="val 4024"/>
            </a:avLst>
          </a:prstGeom>
          <a:solidFill>
            <a:srgbClr val="E8EEF9"/>
          </a:solidFill>
          <a:ln w="12700">
            <a:solidFill>
              <a:srgbClr val="DCE1EA"/>
            </a:solidFill>
            <a:prstDash val="solid"/>
          </a:ln>
        </p:spPr>
        <p:txBody>
          <a:bodyPr/>
          <a:lstStyle/>
          <a:p>
            <a:endParaRPr lang="en-US" sz="1600"/>
          </a:p>
        </p:txBody>
      </p:sp>
      <p:sp>
        <p:nvSpPr>
          <p:cNvPr id="31" name="Shape 29"/>
          <p:cNvSpPr/>
          <p:nvPr/>
        </p:nvSpPr>
        <p:spPr>
          <a:xfrm>
            <a:off x="9932213" y="1371600"/>
            <a:ext cx="411480" cy="411480"/>
          </a:xfrm>
          <a:prstGeom prst="ellipse">
            <a:avLst/>
          </a:prstGeom>
          <a:solidFill>
            <a:srgbClr val="1F3864"/>
          </a:solidFill>
          <a:ln/>
        </p:spPr>
        <p:txBody>
          <a:bodyPr/>
          <a:lstStyle/>
          <a:p>
            <a:endParaRPr lang="en-US" sz="1600"/>
          </a:p>
        </p:txBody>
      </p:sp>
      <p:sp>
        <p:nvSpPr>
          <p:cNvPr id="32" name="Text 30"/>
          <p:cNvSpPr/>
          <p:nvPr/>
        </p:nvSpPr>
        <p:spPr>
          <a:xfrm>
            <a:off x="9932213"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3" name="Text 31"/>
          <p:cNvSpPr/>
          <p:nvPr/>
        </p:nvSpPr>
        <p:spPr>
          <a:xfrm>
            <a:off x="9904781" y="1874520"/>
            <a:ext cx="1598371"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Interaction</a:t>
            </a:r>
            <a:endParaRPr lang="en-US" sz="1600" dirty="0"/>
          </a:p>
        </p:txBody>
      </p:sp>
      <p:sp>
        <p:nvSpPr>
          <p:cNvPr id="34" name="Text 32"/>
          <p:cNvSpPr/>
          <p:nvPr/>
        </p:nvSpPr>
        <p:spPr>
          <a:xfrm>
            <a:off x="9904781" y="2423160"/>
            <a:ext cx="1598371" cy="155448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Quizzes, drag-and-drop, games, and feedback that need a response.</a:t>
            </a:r>
            <a:endParaRPr lang="en-US" sz="1600" dirty="0"/>
          </a:p>
        </p:txBody>
      </p:sp>
      <p:sp>
        <p:nvSpPr>
          <p:cNvPr id="35" name="Shape 33"/>
          <p:cNvSpPr/>
          <p:nvPr/>
        </p:nvSpPr>
        <p:spPr>
          <a:xfrm>
            <a:off x="548640" y="4343400"/>
            <a:ext cx="3566160" cy="1325880"/>
          </a:xfrm>
          <a:prstGeom prst="roundRect">
            <a:avLst>
              <a:gd name="adj" fmla="val 5517"/>
            </a:avLst>
          </a:prstGeom>
          <a:solidFill>
            <a:srgbClr val="E8EEF9"/>
          </a:solidFill>
          <a:ln w="12700">
            <a:solidFill>
              <a:srgbClr val="DCE1EA"/>
            </a:solidFill>
            <a:prstDash val="solid"/>
          </a:ln>
        </p:spPr>
        <p:txBody>
          <a:bodyPr/>
          <a:lstStyle/>
          <a:p>
            <a:endParaRPr lang="en-US" sz="1600"/>
          </a:p>
        </p:txBody>
      </p:sp>
      <p:sp>
        <p:nvSpPr>
          <p:cNvPr id="36" name="Text 34"/>
          <p:cNvSpPr/>
          <p:nvPr/>
        </p:nvSpPr>
        <p:spPr>
          <a:xfrm>
            <a:off x="731520" y="4453128"/>
            <a:ext cx="3200400" cy="29260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Definition</a:t>
            </a:r>
            <a:endParaRPr lang="en-US" sz="1600" dirty="0"/>
          </a:p>
        </p:txBody>
      </p:sp>
      <p:sp>
        <p:nvSpPr>
          <p:cNvPr id="37" name="Text 35"/>
          <p:cNvSpPr/>
          <p:nvPr/>
        </p:nvSpPr>
        <p:spPr>
          <a:xfrm>
            <a:off x="731520" y="4782312"/>
            <a:ext cx="3200400" cy="822960"/>
          </a:xfrm>
          <a:prstGeom prst="rect">
            <a:avLst/>
          </a:prstGeom>
          <a:noFill/>
          <a:ln/>
        </p:spPr>
        <p:txBody>
          <a:bodyPr wrap="square" rtlCol="0" anchor="t"/>
          <a:lstStyle/>
          <a:p>
            <a:pPr marL="0" indent="0">
              <a:lnSpc>
                <a:spcPts val="1500"/>
              </a:lnSpc>
              <a:buNone/>
            </a:pPr>
            <a:r>
              <a:rPr lang="en-US" sz="1600" dirty="0">
                <a:solidFill>
                  <a:srgbClr val="333333"/>
                </a:solidFill>
                <a:latin typeface="Calibri" pitchFamily="34" charset="0"/>
                <a:ea typeface="Calibri" pitchFamily="34" charset="-122"/>
                <a:cs typeface="Calibri" pitchFamily="34" charset="-120"/>
              </a:rPr>
              <a:t>Interactive multimedia combines several media types and lets the learner act — click, answer, drag, or experiment — instead of only watching.</a:t>
            </a:r>
            <a:endParaRPr lang="en-US" sz="1600" dirty="0"/>
          </a:p>
        </p:txBody>
      </p:sp>
      <p:sp>
        <p:nvSpPr>
          <p:cNvPr id="38" name="Shape 36"/>
          <p:cNvSpPr/>
          <p:nvPr/>
        </p:nvSpPr>
        <p:spPr>
          <a:xfrm>
            <a:off x="4297680" y="4343400"/>
            <a:ext cx="3566160" cy="1325880"/>
          </a:xfrm>
          <a:prstGeom prst="roundRect">
            <a:avLst>
              <a:gd name="adj" fmla="val 5517"/>
            </a:avLst>
          </a:prstGeom>
          <a:solidFill>
            <a:srgbClr val="FDF3E3"/>
          </a:solidFill>
          <a:ln w="12700">
            <a:solidFill>
              <a:srgbClr val="DCE1EA"/>
            </a:solidFill>
            <a:prstDash val="solid"/>
          </a:ln>
        </p:spPr>
        <p:txBody>
          <a:bodyPr/>
          <a:lstStyle/>
          <a:p>
            <a:endParaRPr lang="en-US" sz="1600"/>
          </a:p>
        </p:txBody>
      </p:sp>
      <p:sp>
        <p:nvSpPr>
          <p:cNvPr id="39" name="Text 37"/>
          <p:cNvSpPr/>
          <p:nvPr/>
        </p:nvSpPr>
        <p:spPr>
          <a:xfrm>
            <a:off x="4480560" y="4453128"/>
            <a:ext cx="3200400" cy="29260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Why it works</a:t>
            </a:r>
            <a:endParaRPr lang="en-US" sz="1600" dirty="0"/>
          </a:p>
        </p:txBody>
      </p:sp>
      <p:sp>
        <p:nvSpPr>
          <p:cNvPr id="40" name="Text 38"/>
          <p:cNvSpPr/>
          <p:nvPr/>
        </p:nvSpPr>
        <p:spPr>
          <a:xfrm>
            <a:off x="4480560" y="4782312"/>
            <a:ext cx="3200400" cy="822960"/>
          </a:xfrm>
          <a:prstGeom prst="rect">
            <a:avLst/>
          </a:prstGeom>
          <a:noFill/>
          <a:ln/>
        </p:spPr>
        <p:txBody>
          <a:bodyPr wrap="square" rtlCol="0" anchor="t"/>
          <a:lstStyle/>
          <a:p>
            <a:pPr marL="0" indent="0">
              <a:lnSpc>
                <a:spcPts val="1500"/>
              </a:lnSpc>
              <a:buNone/>
            </a:pPr>
            <a:r>
              <a:rPr lang="en-US" sz="1600" dirty="0">
                <a:solidFill>
                  <a:srgbClr val="333333"/>
                </a:solidFill>
                <a:latin typeface="Calibri" pitchFamily="34" charset="0"/>
                <a:ea typeface="Calibri" pitchFamily="34" charset="-122"/>
                <a:cs typeface="Calibri" pitchFamily="34" charset="-120"/>
              </a:rPr>
              <a:t>Using words with visuals, adding practice, and giving instant feedback helps attention, understanding, and memory.</a:t>
            </a:r>
            <a:endParaRPr lang="en-US" sz="1600" dirty="0"/>
          </a:p>
        </p:txBody>
      </p:sp>
      <p:sp>
        <p:nvSpPr>
          <p:cNvPr id="41" name="Shape 39"/>
          <p:cNvSpPr/>
          <p:nvPr/>
        </p:nvSpPr>
        <p:spPr>
          <a:xfrm>
            <a:off x="8046720" y="4343400"/>
            <a:ext cx="3566160" cy="1325880"/>
          </a:xfrm>
          <a:prstGeom prst="roundRect">
            <a:avLst>
              <a:gd name="adj" fmla="val 5517"/>
            </a:avLst>
          </a:prstGeom>
          <a:solidFill>
            <a:srgbClr val="E8EEF9"/>
          </a:solidFill>
          <a:ln w="12700">
            <a:solidFill>
              <a:srgbClr val="DCE1EA"/>
            </a:solidFill>
            <a:prstDash val="solid"/>
          </a:ln>
        </p:spPr>
        <p:txBody>
          <a:bodyPr/>
          <a:lstStyle/>
          <a:p>
            <a:endParaRPr lang="en-US" sz="1600"/>
          </a:p>
        </p:txBody>
      </p:sp>
      <p:sp>
        <p:nvSpPr>
          <p:cNvPr id="42" name="Text 40"/>
          <p:cNvSpPr/>
          <p:nvPr/>
        </p:nvSpPr>
        <p:spPr>
          <a:xfrm>
            <a:off x="8229600" y="4453128"/>
            <a:ext cx="3200400" cy="29260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What you need</a:t>
            </a:r>
            <a:endParaRPr lang="en-US" sz="1600" dirty="0"/>
          </a:p>
        </p:txBody>
      </p:sp>
      <p:sp>
        <p:nvSpPr>
          <p:cNvPr id="43" name="Text 41"/>
          <p:cNvSpPr/>
          <p:nvPr/>
        </p:nvSpPr>
        <p:spPr>
          <a:xfrm>
            <a:off x="8229600" y="4782312"/>
            <a:ext cx="3200400" cy="822960"/>
          </a:xfrm>
          <a:prstGeom prst="rect">
            <a:avLst/>
          </a:prstGeom>
          <a:noFill/>
          <a:ln/>
        </p:spPr>
        <p:txBody>
          <a:bodyPr wrap="square" rtlCol="0" anchor="t"/>
          <a:lstStyle/>
          <a:p>
            <a:pPr marL="0" indent="0">
              <a:lnSpc>
                <a:spcPts val="1500"/>
              </a:lnSpc>
              <a:buNone/>
            </a:pPr>
            <a:r>
              <a:rPr lang="en-US" sz="1600" dirty="0">
                <a:solidFill>
                  <a:srgbClr val="333333"/>
                </a:solidFill>
                <a:latin typeface="Calibri" pitchFamily="34" charset="0"/>
                <a:ea typeface="Calibri" pitchFamily="34" charset="-122"/>
                <a:cs typeface="Calibri" pitchFamily="34" charset="-120"/>
              </a:rPr>
              <a:t>A device and internet connection, plus tools that support interaction — often just a browser.</a:t>
            </a:r>
            <a:endParaRPr lang="en-US" sz="1600" dirty="0"/>
          </a:p>
        </p:txBody>
      </p:sp>
      <p:sp>
        <p:nvSpPr>
          <p:cNvPr id="44" name="Text 42"/>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45" name="Text 43"/>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INTERACTIVE MULTIMEDIA</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An Interactive Lesson in Action</a:t>
            </a:r>
            <a:endParaRPr lang="en-US" sz="2400" dirty="0"/>
          </a:p>
        </p:txBody>
      </p:sp>
      <p:pic>
        <p:nvPicPr>
          <p:cNvPr id="6" name="Image 0" descr="mockups/interactive_lesson.png"/>
          <p:cNvPicPr>
            <a:picLocks noChangeAspect="1"/>
          </p:cNvPicPr>
          <p:nvPr/>
        </p:nvPicPr>
        <p:blipFill>
          <a:blip r:embed="rId3"/>
          <a:stretch>
            <a:fillRect/>
          </a:stretch>
        </p:blipFill>
        <p:spPr>
          <a:xfrm>
            <a:off x="457200" y="1097280"/>
            <a:ext cx="7223760" cy="4540649"/>
          </a:xfrm>
          <a:prstGeom prst="rect">
            <a:avLst/>
          </a:prstGeom>
        </p:spPr>
      </p:pic>
      <p:sp>
        <p:nvSpPr>
          <p:cNvPr id="7" name="Shape 4"/>
          <p:cNvSpPr/>
          <p:nvPr/>
        </p:nvSpPr>
        <p:spPr>
          <a:xfrm>
            <a:off x="457200" y="1097280"/>
            <a:ext cx="7223760" cy="4540649"/>
          </a:xfrm>
          <a:prstGeom prst="rect">
            <a:avLst/>
          </a:prstGeom>
          <a:ln w="12700">
            <a:solidFill>
              <a:srgbClr val="C9D0DC"/>
            </a:solidFill>
            <a:prstDash val="solid"/>
          </a:ln>
        </p:spPr>
        <p:txBody>
          <a:bodyPr/>
          <a:lstStyle/>
          <a:p>
            <a:endParaRPr lang="en-US"/>
          </a:p>
        </p:txBody>
      </p:sp>
      <p:sp>
        <p:nvSpPr>
          <p:cNvPr id="8" name="Text 5"/>
          <p:cNvSpPr/>
          <p:nvPr/>
        </p:nvSpPr>
        <p:spPr>
          <a:xfrm>
            <a:off x="457200" y="5729369"/>
            <a:ext cx="7223760" cy="457200"/>
          </a:xfrm>
          <a:prstGeom prst="rect">
            <a:avLst/>
          </a:prstGeom>
          <a:noFill/>
          <a:ln/>
        </p:spPr>
        <p:txBody>
          <a:bodyPr wrap="square" rtlCol="0" anchor="t"/>
          <a:lstStyle/>
          <a:p>
            <a:pPr marL="0" indent="0">
              <a:lnSpc>
                <a:spcPts val="1300"/>
              </a:lnSpc>
              <a:buNone/>
            </a:pPr>
            <a:r>
              <a:rPr lang="en-US" sz="1050" i="1" dirty="0">
                <a:solidFill>
                  <a:srgbClr val="595959"/>
                </a:solidFill>
                <a:latin typeface="Calibri" pitchFamily="34" charset="0"/>
                <a:ea typeface="Calibri" pitchFamily="34" charset="-122"/>
                <a:cs typeface="Calibri" pitchFamily="34" charset="-120"/>
              </a:rPr>
              <a:t>Illustrative interface drawn for teaching — exact layout varies by version and institution.</a:t>
            </a:r>
            <a:endParaRPr lang="en-US" sz="1050" dirty="0"/>
          </a:p>
        </p:txBody>
      </p:sp>
      <p:sp>
        <p:nvSpPr>
          <p:cNvPr id="9" name="Shape 6"/>
          <p:cNvSpPr/>
          <p:nvPr/>
        </p:nvSpPr>
        <p:spPr>
          <a:xfrm>
            <a:off x="7909560" y="1097280"/>
            <a:ext cx="3794760" cy="5212080"/>
          </a:xfrm>
          <a:prstGeom prst="roundRect">
            <a:avLst>
              <a:gd name="adj" fmla="val 1928"/>
            </a:avLst>
          </a:prstGeom>
          <a:solidFill>
            <a:srgbClr val="F4F6F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10" name="Text 7"/>
          <p:cNvSpPr/>
          <p:nvPr/>
        </p:nvSpPr>
        <p:spPr>
          <a:xfrm>
            <a:off x="8138160" y="1261872"/>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IN-VIDEO QUESTIONS</a:t>
            </a:r>
            <a:endParaRPr lang="en-US" sz="1600" dirty="0"/>
          </a:p>
        </p:txBody>
      </p:sp>
      <p:sp>
        <p:nvSpPr>
          <p:cNvPr id="11" name="Text 8"/>
          <p:cNvSpPr/>
          <p:nvPr/>
        </p:nvSpPr>
        <p:spPr>
          <a:xfrm>
            <a:off x="8138160" y="1554480"/>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The video pauses at marked points so learners answer a quick check before continuing.</a:t>
            </a:r>
            <a:endParaRPr lang="en-US" sz="1600" dirty="0"/>
          </a:p>
        </p:txBody>
      </p:sp>
      <p:sp>
        <p:nvSpPr>
          <p:cNvPr id="12" name="Text 9"/>
          <p:cNvSpPr/>
          <p:nvPr/>
        </p:nvSpPr>
        <p:spPr>
          <a:xfrm>
            <a:off x="8138160" y="2383536"/>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DRAG AND DROP</a:t>
            </a:r>
            <a:endParaRPr lang="en-US" sz="1600" dirty="0"/>
          </a:p>
        </p:txBody>
      </p:sp>
      <p:sp>
        <p:nvSpPr>
          <p:cNvPr id="13" name="Text 10"/>
          <p:cNvSpPr/>
          <p:nvPr/>
        </p:nvSpPr>
        <p:spPr>
          <a:xfrm>
            <a:off x="8138160" y="2676144"/>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Learners match terms to meanings, turning passive reading into active practice with instant correction.</a:t>
            </a:r>
            <a:endParaRPr lang="en-US" sz="1600" dirty="0"/>
          </a:p>
        </p:txBody>
      </p:sp>
      <p:sp>
        <p:nvSpPr>
          <p:cNvPr id="14" name="Text 11"/>
          <p:cNvSpPr/>
          <p:nvPr/>
        </p:nvSpPr>
        <p:spPr>
          <a:xfrm>
            <a:off x="8138160" y="3505200"/>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SIMULATION</a:t>
            </a:r>
            <a:endParaRPr lang="en-US" sz="1600" dirty="0"/>
          </a:p>
        </p:txBody>
      </p:sp>
      <p:sp>
        <p:nvSpPr>
          <p:cNvPr id="15" name="Text 12"/>
          <p:cNvSpPr/>
          <p:nvPr/>
        </p:nvSpPr>
        <p:spPr>
          <a:xfrm>
            <a:off x="8138160" y="3797808"/>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A slider changes a variable (study sessions) and the chart updates, so learners see cause and effect by experimenting.</a:t>
            </a:r>
            <a:endParaRPr lang="en-US" sz="1600" dirty="0"/>
          </a:p>
        </p:txBody>
      </p:sp>
      <p:sp>
        <p:nvSpPr>
          <p:cNvPr id="16" name="Text 13"/>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17" name="Text 14"/>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INTERACTIVE MULTIMEDIA</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Types &amp; Tools of Interactive Learning</a:t>
            </a:r>
            <a:endParaRPr lang="en-US" sz="2400" dirty="0"/>
          </a:p>
        </p:txBody>
      </p:sp>
      <p:sp>
        <p:nvSpPr>
          <p:cNvPr id="6" name="Shape 4"/>
          <p:cNvSpPr/>
          <p:nvPr/>
        </p:nvSpPr>
        <p:spPr>
          <a:xfrm>
            <a:off x="548640" y="114300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7" name="Text 5"/>
          <p:cNvSpPr/>
          <p:nvPr/>
        </p:nvSpPr>
        <p:spPr>
          <a:xfrm>
            <a:off x="777240" y="128016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Interactive Video</a:t>
            </a:r>
            <a:endParaRPr lang="en-US" sz="1600" dirty="0"/>
          </a:p>
        </p:txBody>
      </p:sp>
      <p:sp>
        <p:nvSpPr>
          <p:cNvPr id="8" name="Text 6"/>
          <p:cNvSpPr/>
          <p:nvPr/>
        </p:nvSpPr>
        <p:spPr>
          <a:xfrm>
            <a:off x="77724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Videos with built-in questions and notes. Examples of tools: Edpuzzle and H5P.</a:t>
            </a:r>
            <a:endParaRPr lang="en-US" sz="1600" dirty="0"/>
          </a:p>
        </p:txBody>
      </p:sp>
      <p:sp>
        <p:nvSpPr>
          <p:cNvPr id="9" name="Shape 7"/>
          <p:cNvSpPr/>
          <p:nvPr/>
        </p:nvSpPr>
        <p:spPr>
          <a:xfrm>
            <a:off x="6172200" y="114300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10" name="Text 8"/>
          <p:cNvSpPr/>
          <p:nvPr/>
        </p:nvSpPr>
        <p:spPr>
          <a:xfrm>
            <a:off x="6400800" y="128016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Quizzes &amp; Live Polls</a:t>
            </a:r>
            <a:endParaRPr lang="en-US" sz="1600" dirty="0"/>
          </a:p>
        </p:txBody>
      </p:sp>
      <p:sp>
        <p:nvSpPr>
          <p:cNvPr id="11" name="Text 9"/>
          <p:cNvSpPr/>
          <p:nvPr/>
        </p:nvSpPr>
        <p:spPr>
          <a:xfrm>
            <a:off x="640080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Instant checks of understanding during class. Examples: Kahoot, Quizizz, Mentimeter.</a:t>
            </a:r>
            <a:endParaRPr lang="en-US" sz="1600" dirty="0"/>
          </a:p>
        </p:txBody>
      </p:sp>
      <p:sp>
        <p:nvSpPr>
          <p:cNvPr id="12" name="Shape 10"/>
          <p:cNvSpPr/>
          <p:nvPr/>
        </p:nvSpPr>
        <p:spPr>
          <a:xfrm>
            <a:off x="548640" y="288036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13" name="Text 11"/>
          <p:cNvSpPr/>
          <p:nvPr/>
        </p:nvSpPr>
        <p:spPr>
          <a:xfrm>
            <a:off x="777240" y="301752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Simulations &amp; Virtual Labs</a:t>
            </a:r>
            <a:endParaRPr lang="en-US" sz="1600" dirty="0"/>
          </a:p>
        </p:txBody>
      </p:sp>
      <p:sp>
        <p:nvSpPr>
          <p:cNvPr id="14" name="Text 12"/>
          <p:cNvSpPr/>
          <p:nvPr/>
        </p:nvSpPr>
        <p:spPr>
          <a:xfrm>
            <a:off x="77724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Models learners can change and observe — such as science simulations or online experiments.</a:t>
            </a:r>
            <a:endParaRPr lang="en-US" sz="1600" dirty="0"/>
          </a:p>
        </p:txBody>
      </p:sp>
      <p:sp>
        <p:nvSpPr>
          <p:cNvPr id="15" name="Shape 13"/>
          <p:cNvSpPr/>
          <p:nvPr/>
        </p:nvSpPr>
        <p:spPr>
          <a:xfrm>
            <a:off x="6172200" y="288036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16" name="Text 14"/>
          <p:cNvSpPr/>
          <p:nvPr/>
        </p:nvSpPr>
        <p:spPr>
          <a:xfrm>
            <a:off x="6400800" y="301752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Gamification</a:t>
            </a:r>
            <a:endParaRPr lang="en-US" sz="1600" dirty="0"/>
          </a:p>
        </p:txBody>
      </p:sp>
      <p:sp>
        <p:nvSpPr>
          <p:cNvPr id="17" name="Text 15"/>
          <p:cNvSpPr/>
          <p:nvPr/>
        </p:nvSpPr>
        <p:spPr>
          <a:xfrm>
            <a:off x="640080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Points, badges, streaks, and levels that motivate steady practice, as seen in Khan Academy.</a:t>
            </a:r>
            <a:endParaRPr lang="en-US" sz="1600" dirty="0"/>
          </a:p>
        </p:txBody>
      </p:sp>
      <p:sp>
        <p:nvSpPr>
          <p:cNvPr id="18" name="Shape 16"/>
          <p:cNvSpPr/>
          <p:nvPr/>
        </p:nvSpPr>
        <p:spPr>
          <a:xfrm>
            <a:off x="548640" y="461772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19" name="Text 17"/>
          <p:cNvSpPr/>
          <p:nvPr/>
        </p:nvSpPr>
        <p:spPr>
          <a:xfrm>
            <a:off x="777240" y="475488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Infographics &amp; Digital Storytelling</a:t>
            </a:r>
            <a:endParaRPr lang="en-US" sz="1600" dirty="0"/>
          </a:p>
        </p:txBody>
      </p:sp>
      <p:sp>
        <p:nvSpPr>
          <p:cNvPr id="20" name="Text 18"/>
          <p:cNvSpPr/>
          <p:nvPr/>
        </p:nvSpPr>
        <p:spPr>
          <a:xfrm>
            <a:off x="77724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Visual summaries and story-based lessons created with design tools such as Canva or Genially.</a:t>
            </a:r>
            <a:endParaRPr lang="en-US" sz="1600" dirty="0"/>
          </a:p>
        </p:txBody>
      </p:sp>
      <p:sp>
        <p:nvSpPr>
          <p:cNvPr id="21" name="Shape 19"/>
          <p:cNvSpPr/>
          <p:nvPr/>
        </p:nvSpPr>
        <p:spPr>
          <a:xfrm>
            <a:off x="6172200" y="461772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22" name="Text 20"/>
          <p:cNvSpPr/>
          <p:nvPr/>
        </p:nvSpPr>
        <p:spPr>
          <a:xfrm>
            <a:off x="6400800" y="475488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AR / VR Learning</a:t>
            </a:r>
            <a:endParaRPr lang="en-US" sz="1600" dirty="0"/>
          </a:p>
        </p:txBody>
      </p:sp>
      <p:sp>
        <p:nvSpPr>
          <p:cNvPr id="23" name="Text 21"/>
          <p:cNvSpPr/>
          <p:nvPr/>
        </p:nvSpPr>
        <p:spPr>
          <a:xfrm>
            <a:off x="640080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Augmented and virtual reality can place learners inside 3D models, field trips, or training scenarios.</a:t>
            </a:r>
            <a:endParaRPr lang="en-US" sz="1600" dirty="0"/>
          </a:p>
        </p:txBody>
      </p:sp>
      <p:sp>
        <p:nvSpPr>
          <p:cNvPr id="24" name="Text 22"/>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25" name="Text 23"/>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INTERACTIVE MULTIMEDIA</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Benefits, Cautions &amp; Examples for Psychology</a:t>
            </a:r>
            <a:endParaRPr lang="en-US" sz="2400" dirty="0"/>
          </a:p>
        </p:txBody>
      </p:sp>
      <p:sp>
        <p:nvSpPr>
          <p:cNvPr id="6" name="Shape 4"/>
          <p:cNvSpPr/>
          <p:nvPr/>
        </p:nvSpPr>
        <p:spPr>
          <a:xfrm>
            <a:off x="548640" y="1188720"/>
            <a:ext cx="5394960" cy="1920240"/>
          </a:xfrm>
          <a:prstGeom prst="roundRect">
            <a:avLst>
              <a:gd name="adj" fmla="val 3810"/>
            </a:avLst>
          </a:prstGeom>
          <a:solidFill>
            <a:srgbClr val="EAF6EC"/>
          </a:solidFill>
          <a:ln w="12700">
            <a:solidFill>
              <a:srgbClr val="DCE1EA"/>
            </a:solidFill>
            <a:prstDash val="solid"/>
          </a:ln>
        </p:spPr>
        <p:txBody>
          <a:bodyPr/>
          <a:lstStyle/>
          <a:p>
            <a:endParaRPr lang="en-US" sz="1600"/>
          </a:p>
        </p:txBody>
      </p:sp>
      <p:sp>
        <p:nvSpPr>
          <p:cNvPr id="7" name="Text 5"/>
          <p:cNvSpPr/>
          <p:nvPr/>
        </p:nvSpPr>
        <p:spPr>
          <a:xfrm>
            <a:off x="777240" y="132588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Benefits</a:t>
            </a:r>
            <a:endParaRPr lang="en-US" sz="1600" dirty="0"/>
          </a:p>
        </p:txBody>
      </p:sp>
      <p:sp>
        <p:nvSpPr>
          <p:cNvPr id="8" name="Text 6"/>
          <p:cNvSpPr/>
          <p:nvPr/>
        </p:nvSpPr>
        <p:spPr>
          <a:xfrm>
            <a:off x="777240" y="1691640"/>
            <a:ext cx="4937760" cy="1325880"/>
          </a:xfrm>
          <a:prstGeom prst="rect">
            <a:avLst/>
          </a:prstGeom>
          <a:noFill/>
          <a:ln/>
        </p:spPr>
        <p:txBody>
          <a:bodyPr wrap="square" rtlCol="0" anchor="t"/>
          <a:lstStyle/>
          <a:p>
            <a:pPr marL="0" indent="0">
              <a:lnSpc>
                <a:spcPts val="1792"/>
              </a:lnSpc>
              <a:buNone/>
            </a:pPr>
            <a:r>
              <a:rPr lang="en-US" sz="1600" dirty="0">
                <a:solidFill>
                  <a:srgbClr val="333333"/>
                </a:solidFill>
                <a:latin typeface="Calibri" pitchFamily="34" charset="0"/>
                <a:ea typeface="Calibri" pitchFamily="34" charset="-122"/>
                <a:cs typeface="Calibri" pitchFamily="34" charset="-120"/>
              </a:rPr>
              <a:t>Higher engagement, learning at your own pace, instant feedback, and multiple ways to understand the same idea.</a:t>
            </a:r>
            <a:endParaRPr lang="en-US" sz="1600" dirty="0"/>
          </a:p>
        </p:txBody>
      </p:sp>
      <p:sp>
        <p:nvSpPr>
          <p:cNvPr id="9" name="Shape 7"/>
          <p:cNvSpPr/>
          <p:nvPr/>
        </p:nvSpPr>
        <p:spPr>
          <a:xfrm>
            <a:off x="6172200" y="1188720"/>
            <a:ext cx="5394960" cy="1920240"/>
          </a:xfrm>
          <a:prstGeom prst="roundRect">
            <a:avLst>
              <a:gd name="adj" fmla="val 3810"/>
            </a:avLst>
          </a:prstGeom>
          <a:solidFill>
            <a:srgbClr val="FDF3E3"/>
          </a:solidFill>
          <a:ln w="12700">
            <a:solidFill>
              <a:srgbClr val="DCE1EA"/>
            </a:solidFill>
            <a:prstDash val="solid"/>
          </a:ln>
        </p:spPr>
        <p:txBody>
          <a:bodyPr/>
          <a:lstStyle/>
          <a:p>
            <a:endParaRPr lang="en-US" sz="1600"/>
          </a:p>
        </p:txBody>
      </p:sp>
      <p:sp>
        <p:nvSpPr>
          <p:cNvPr id="10" name="Text 8"/>
          <p:cNvSpPr/>
          <p:nvPr/>
        </p:nvSpPr>
        <p:spPr>
          <a:xfrm>
            <a:off x="6400800" y="132588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Cautions</a:t>
            </a:r>
            <a:endParaRPr lang="en-US" sz="1600" dirty="0"/>
          </a:p>
        </p:txBody>
      </p:sp>
      <p:sp>
        <p:nvSpPr>
          <p:cNvPr id="11" name="Text 9"/>
          <p:cNvSpPr/>
          <p:nvPr/>
        </p:nvSpPr>
        <p:spPr>
          <a:xfrm>
            <a:off x="6400800" y="1691640"/>
            <a:ext cx="4937760" cy="1325880"/>
          </a:xfrm>
          <a:prstGeom prst="rect">
            <a:avLst/>
          </a:prstGeom>
          <a:noFill/>
          <a:ln/>
        </p:spPr>
        <p:txBody>
          <a:bodyPr wrap="square" rtlCol="0" anchor="t"/>
          <a:lstStyle/>
          <a:p>
            <a:pPr marL="0" indent="0">
              <a:lnSpc>
                <a:spcPts val="1792"/>
              </a:lnSpc>
              <a:buNone/>
            </a:pPr>
            <a:r>
              <a:rPr lang="en-US" sz="1600" dirty="0">
                <a:solidFill>
                  <a:srgbClr val="333333"/>
                </a:solidFill>
                <a:latin typeface="Calibri" pitchFamily="34" charset="0"/>
                <a:ea typeface="Calibri" pitchFamily="34" charset="-122"/>
                <a:cs typeface="Calibri" pitchFamily="34" charset="-120"/>
              </a:rPr>
              <a:t>Too many effects can overload learners; poor design, slow internet, or missing captions can exclude some students.</a:t>
            </a:r>
            <a:endParaRPr lang="en-US" sz="1600" dirty="0"/>
          </a:p>
        </p:txBody>
      </p:sp>
      <p:sp>
        <p:nvSpPr>
          <p:cNvPr id="12" name="Shape 10"/>
          <p:cNvSpPr/>
          <p:nvPr/>
        </p:nvSpPr>
        <p:spPr>
          <a:xfrm>
            <a:off x="548640" y="3246120"/>
            <a:ext cx="5394960" cy="1920240"/>
          </a:xfrm>
          <a:prstGeom prst="roundRect">
            <a:avLst>
              <a:gd name="adj" fmla="val 3810"/>
            </a:avLst>
          </a:prstGeom>
          <a:solidFill>
            <a:srgbClr val="EAF6EC"/>
          </a:solidFill>
          <a:ln w="12700">
            <a:solidFill>
              <a:srgbClr val="DCE1EA"/>
            </a:solidFill>
            <a:prstDash val="solid"/>
          </a:ln>
        </p:spPr>
        <p:txBody>
          <a:bodyPr/>
          <a:lstStyle/>
          <a:p>
            <a:endParaRPr lang="en-US" sz="1600"/>
          </a:p>
        </p:txBody>
      </p:sp>
      <p:sp>
        <p:nvSpPr>
          <p:cNvPr id="13" name="Text 11"/>
          <p:cNvSpPr/>
          <p:nvPr/>
        </p:nvSpPr>
        <p:spPr>
          <a:xfrm>
            <a:off x="777240" y="338328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Design Principle</a:t>
            </a:r>
            <a:endParaRPr lang="en-US" sz="1600" dirty="0"/>
          </a:p>
        </p:txBody>
      </p:sp>
      <p:sp>
        <p:nvSpPr>
          <p:cNvPr id="14" name="Text 12"/>
          <p:cNvSpPr/>
          <p:nvPr/>
        </p:nvSpPr>
        <p:spPr>
          <a:xfrm>
            <a:off x="777240" y="3749040"/>
            <a:ext cx="4937760" cy="1325880"/>
          </a:xfrm>
          <a:prstGeom prst="rect">
            <a:avLst/>
          </a:prstGeom>
          <a:noFill/>
          <a:ln/>
        </p:spPr>
        <p:txBody>
          <a:bodyPr wrap="square" rtlCol="0" anchor="t"/>
          <a:lstStyle/>
          <a:p>
            <a:pPr marL="0" indent="0">
              <a:lnSpc>
                <a:spcPts val="1792"/>
              </a:lnSpc>
              <a:buNone/>
            </a:pPr>
            <a:r>
              <a:rPr lang="en-US" sz="1600" dirty="0">
                <a:solidFill>
                  <a:srgbClr val="333333"/>
                </a:solidFill>
                <a:latin typeface="Calibri" pitchFamily="34" charset="0"/>
                <a:ea typeface="Calibri" pitchFamily="34" charset="-122"/>
                <a:cs typeface="Calibri" pitchFamily="34" charset="-120"/>
              </a:rPr>
              <a:t>Keep it simple: relevant visuals, clear narration, short segments, and activities that match the learning goal.</a:t>
            </a:r>
            <a:endParaRPr lang="en-US" sz="1600" dirty="0"/>
          </a:p>
        </p:txBody>
      </p:sp>
      <p:sp>
        <p:nvSpPr>
          <p:cNvPr id="15" name="Shape 13"/>
          <p:cNvSpPr/>
          <p:nvPr/>
        </p:nvSpPr>
        <p:spPr>
          <a:xfrm>
            <a:off x="6172200" y="3246120"/>
            <a:ext cx="5394960" cy="1920240"/>
          </a:xfrm>
          <a:prstGeom prst="roundRect">
            <a:avLst>
              <a:gd name="adj" fmla="val 3810"/>
            </a:avLst>
          </a:prstGeom>
          <a:solidFill>
            <a:srgbClr val="FDF3E3"/>
          </a:solidFill>
          <a:ln w="12700">
            <a:solidFill>
              <a:srgbClr val="DCE1EA"/>
            </a:solidFill>
            <a:prstDash val="solid"/>
          </a:ln>
        </p:spPr>
        <p:txBody>
          <a:bodyPr/>
          <a:lstStyle/>
          <a:p>
            <a:endParaRPr lang="en-US" sz="1600"/>
          </a:p>
        </p:txBody>
      </p:sp>
      <p:sp>
        <p:nvSpPr>
          <p:cNvPr id="16" name="Text 14"/>
          <p:cNvSpPr/>
          <p:nvPr/>
        </p:nvSpPr>
        <p:spPr>
          <a:xfrm>
            <a:off x="6400800" y="338328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Examples for Psychology</a:t>
            </a:r>
            <a:endParaRPr lang="en-US" sz="1600" dirty="0"/>
          </a:p>
        </p:txBody>
      </p:sp>
      <p:sp>
        <p:nvSpPr>
          <p:cNvPr id="17" name="Text 15"/>
          <p:cNvSpPr/>
          <p:nvPr/>
        </p:nvSpPr>
        <p:spPr>
          <a:xfrm>
            <a:off x="6400800" y="3749040"/>
            <a:ext cx="4937760" cy="1325880"/>
          </a:xfrm>
          <a:prstGeom prst="rect">
            <a:avLst/>
          </a:prstGeom>
          <a:noFill/>
          <a:ln/>
        </p:spPr>
        <p:txBody>
          <a:bodyPr wrap="square" rtlCol="0" anchor="t"/>
          <a:lstStyle/>
          <a:p>
            <a:pPr marL="0" indent="0">
              <a:lnSpc>
                <a:spcPts val="1792"/>
              </a:lnSpc>
              <a:buNone/>
            </a:pPr>
            <a:r>
              <a:rPr lang="en-US" sz="1600" dirty="0">
                <a:solidFill>
                  <a:srgbClr val="333333"/>
                </a:solidFill>
                <a:latin typeface="Calibri" pitchFamily="34" charset="0"/>
                <a:ea typeface="Calibri" pitchFamily="34" charset="-122"/>
                <a:cs typeface="Calibri" pitchFamily="34" charset="-120"/>
              </a:rPr>
              <a:t>Interactive 3D brain models, online reaction-time experiments, simulated case interviews, and memory or attention demonstrations.</a:t>
            </a:r>
            <a:endParaRPr lang="en-US" sz="1600" dirty="0"/>
          </a:p>
        </p:txBody>
      </p:sp>
      <p:sp>
        <p:nvSpPr>
          <p:cNvPr id="18" name="Text 16"/>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19" name="Text 17"/>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VIRTUAL CLASSROOMS</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What Is a Virtual Classroom &amp; How Does It Work?</a:t>
            </a:r>
            <a:endParaRPr lang="en-US" sz="2400" dirty="0"/>
          </a:p>
        </p:txBody>
      </p:sp>
      <p:sp>
        <p:nvSpPr>
          <p:cNvPr id="6" name="Shape 4"/>
          <p:cNvSpPr/>
          <p:nvPr/>
        </p:nvSpPr>
        <p:spPr>
          <a:xfrm>
            <a:off x="548640" y="1234440"/>
            <a:ext cx="1817827" cy="2834640"/>
          </a:xfrm>
          <a:prstGeom prst="roundRect">
            <a:avLst>
              <a:gd name="adj" fmla="val 4024"/>
            </a:avLst>
          </a:prstGeom>
          <a:solidFill>
            <a:srgbClr val="E8EEF9"/>
          </a:solidFill>
          <a:ln w="12700">
            <a:solidFill>
              <a:srgbClr val="DCE1EA"/>
            </a:solidFill>
            <a:prstDash val="solid"/>
          </a:ln>
        </p:spPr>
        <p:txBody>
          <a:bodyPr/>
          <a:lstStyle/>
          <a:p>
            <a:endParaRPr lang="en-US" sz="1600"/>
          </a:p>
        </p:txBody>
      </p:sp>
      <p:sp>
        <p:nvSpPr>
          <p:cNvPr id="7" name="Shape 5"/>
          <p:cNvSpPr/>
          <p:nvPr/>
        </p:nvSpPr>
        <p:spPr>
          <a:xfrm>
            <a:off x="685800" y="1371600"/>
            <a:ext cx="411480" cy="411480"/>
          </a:xfrm>
          <a:prstGeom prst="ellipse">
            <a:avLst/>
          </a:prstGeom>
          <a:solidFill>
            <a:srgbClr val="1F3864"/>
          </a:solidFill>
          <a:ln/>
        </p:spPr>
        <p:txBody>
          <a:bodyPr/>
          <a:lstStyle/>
          <a:p>
            <a:endParaRPr lang="en-US" sz="1600"/>
          </a:p>
        </p:txBody>
      </p:sp>
      <p:sp>
        <p:nvSpPr>
          <p:cNvPr id="8" name="Text 6"/>
          <p:cNvSpPr/>
          <p:nvPr/>
        </p:nvSpPr>
        <p:spPr>
          <a:xfrm>
            <a:off x="685800"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658368" y="1874520"/>
            <a:ext cx="1598371"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Schedule &amp; Invite</a:t>
            </a:r>
            <a:endParaRPr lang="en-US" sz="1600" dirty="0"/>
          </a:p>
        </p:txBody>
      </p:sp>
      <p:sp>
        <p:nvSpPr>
          <p:cNvPr id="10" name="Text 8"/>
          <p:cNvSpPr/>
          <p:nvPr/>
        </p:nvSpPr>
        <p:spPr>
          <a:xfrm>
            <a:off x="658368" y="2423160"/>
            <a:ext cx="1598371" cy="155448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The teacher sets a time and shares the join link, often through the LMS.</a:t>
            </a:r>
            <a:endParaRPr lang="en-US" sz="1600" dirty="0"/>
          </a:p>
        </p:txBody>
      </p:sp>
      <p:sp>
        <p:nvSpPr>
          <p:cNvPr id="11" name="Shape 9"/>
          <p:cNvSpPr/>
          <p:nvPr/>
        </p:nvSpPr>
        <p:spPr>
          <a:xfrm>
            <a:off x="2476195" y="2514600"/>
            <a:ext cx="274320" cy="274320"/>
          </a:xfrm>
          <a:prstGeom prst="rightArrow">
            <a:avLst/>
          </a:prstGeom>
          <a:solidFill>
            <a:srgbClr val="B8860B"/>
          </a:solidFill>
          <a:ln/>
        </p:spPr>
        <p:txBody>
          <a:bodyPr/>
          <a:lstStyle/>
          <a:p>
            <a:endParaRPr lang="en-US" sz="1600"/>
          </a:p>
        </p:txBody>
      </p:sp>
      <p:sp>
        <p:nvSpPr>
          <p:cNvPr id="12" name="Shape 10"/>
          <p:cNvSpPr/>
          <p:nvPr/>
        </p:nvSpPr>
        <p:spPr>
          <a:xfrm>
            <a:off x="2860243" y="1234440"/>
            <a:ext cx="1817827" cy="2834640"/>
          </a:xfrm>
          <a:prstGeom prst="roundRect">
            <a:avLst>
              <a:gd name="adj" fmla="val 4024"/>
            </a:avLst>
          </a:prstGeom>
          <a:solidFill>
            <a:srgbClr val="FDF3E3"/>
          </a:solidFill>
          <a:ln w="12700">
            <a:solidFill>
              <a:srgbClr val="DCE1EA"/>
            </a:solidFill>
            <a:prstDash val="solid"/>
          </a:ln>
        </p:spPr>
        <p:txBody>
          <a:bodyPr/>
          <a:lstStyle/>
          <a:p>
            <a:endParaRPr lang="en-US" sz="1600"/>
          </a:p>
        </p:txBody>
      </p:sp>
      <p:sp>
        <p:nvSpPr>
          <p:cNvPr id="13" name="Shape 11"/>
          <p:cNvSpPr/>
          <p:nvPr/>
        </p:nvSpPr>
        <p:spPr>
          <a:xfrm>
            <a:off x="2997403" y="1371600"/>
            <a:ext cx="411480" cy="411480"/>
          </a:xfrm>
          <a:prstGeom prst="ellipse">
            <a:avLst/>
          </a:prstGeom>
          <a:solidFill>
            <a:srgbClr val="1F3864"/>
          </a:solidFill>
          <a:ln/>
        </p:spPr>
        <p:txBody>
          <a:bodyPr/>
          <a:lstStyle/>
          <a:p>
            <a:endParaRPr lang="en-US" sz="1600"/>
          </a:p>
        </p:txBody>
      </p:sp>
      <p:sp>
        <p:nvSpPr>
          <p:cNvPr id="14" name="Text 12"/>
          <p:cNvSpPr/>
          <p:nvPr/>
        </p:nvSpPr>
        <p:spPr>
          <a:xfrm>
            <a:off x="2997403"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3"/>
          <p:cNvSpPr/>
          <p:nvPr/>
        </p:nvSpPr>
        <p:spPr>
          <a:xfrm>
            <a:off x="2969971" y="1874520"/>
            <a:ext cx="1598371"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Join</a:t>
            </a:r>
            <a:endParaRPr lang="en-US" sz="1600" dirty="0"/>
          </a:p>
        </p:txBody>
      </p:sp>
      <p:sp>
        <p:nvSpPr>
          <p:cNvPr id="16" name="Text 14"/>
          <p:cNvSpPr/>
          <p:nvPr/>
        </p:nvSpPr>
        <p:spPr>
          <a:xfrm>
            <a:off x="2969971" y="2423160"/>
            <a:ext cx="1598371" cy="155448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Students open the link in a browser or app and check audio and video.</a:t>
            </a:r>
            <a:endParaRPr lang="en-US" sz="1600" dirty="0"/>
          </a:p>
        </p:txBody>
      </p:sp>
      <p:sp>
        <p:nvSpPr>
          <p:cNvPr id="17" name="Shape 15"/>
          <p:cNvSpPr/>
          <p:nvPr/>
        </p:nvSpPr>
        <p:spPr>
          <a:xfrm>
            <a:off x="4787798" y="2514600"/>
            <a:ext cx="274320" cy="274320"/>
          </a:xfrm>
          <a:prstGeom prst="rightArrow">
            <a:avLst/>
          </a:prstGeom>
          <a:solidFill>
            <a:srgbClr val="B8860B"/>
          </a:solidFill>
          <a:ln/>
        </p:spPr>
        <p:txBody>
          <a:bodyPr/>
          <a:lstStyle/>
          <a:p>
            <a:endParaRPr lang="en-US" sz="1600"/>
          </a:p>
        </p:txBody>
      </p:sp>
      <p:sp>
        <p:nvSpPr>
          <p:cNvPr id="18" name="Shape 16"/>
          <p:cNvSpPr/>
          <p:nvPr/>
        </p:nvSpPr>
        <p:spPr>
          <a:xfrm>
            <a:off x="5171846" y="1234440"/>
            <a:ext cx="1817827" cy="2834640"/>
          </a:xfrm>
          <a:prstGeom prst="roundRect">
            <a:avLst>
              <a:gd name="adj" fmla="val 4024"/>
            </a:avLst>
          </a:prstGeom>
          <a:solidFill>
            <a:srgbClr val="E8EEF9"/>
          </a:solidFill>
          <a:ln w="12700">
            <a:solidFill>
              <a:srgbClr val="DCE1EA"/>
            </a:solidFill>
            <a:prstDash val="solid"/>
          </a:ln>
        </p:spPr>
        <p:txBody>
          <a:bodyPr/>
          <a:lstStyle/>
          <a:p>
            <a:endParaRPr lang="en-US" sz="1600"/>
          </a:p>
        </p:txBody>
      </p:sp>
      <p:sp>
        <p:nvSpPr>
          <p:cNvPr id="19" name="Shape 17"/>
          <p:cNvSpPr/>
          <p:nvPr/>
        </p:nvSpPr>
        <p:spPr>
          <a:xfrm>
            <a:off x="5309006" y="1371600"/>
            <a:ext cx="411480" cy="411480"/>
          </a:xfrm>
          <a:prstGeom prst="ellipse">
            <a:avLst/>
          </a:prstGeom>
          <a:solidFill>
            <a:srgbClr val="1F3864"/>
          </a:solidFill>
          <a:ln/>
        </p:spPr>
        <p:txBody>
          <a:bodyPr/>
          <a:lstStyle/>
          <a:p>
            <a:endParaRPr lang="en-US" sz="1600"/>
          </a:p>
        </p:txBody>
      </p:sp>
      <p:sp>
        <p:nvSpPr>
          <p:cNvPr id="20" name="Text 18"/>
          <p:cNvSpPr/>
          <p:nvPr/>
        </p:nvSpPr>
        <p:spPr>
          <a:xfrm>
            <a:off x="5309006"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9"/>
          <p:cNvSpPr/>
          <p:nvPr/>
        </p:nvSpPr>
        <p:spPr>
          <a:xfrm>
            <a:off x="5281574" y="1874520"/>
            <a:ext cx="1598371"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Teach Live</a:t>
            </a:r>
            <a:endParaRPr lang="en-US" sz="1600" dirty="0"/>
          </a:p>
        </p:txBody>
      </p:sp>
      <p:sp>
        <p:nvSpPr>
          <p:cNvPr id="22" name="Text 20"/>
          <p:cNvSpPr/>
          <p:nvPr/>
        </p:nvSpPr>
        <p:spPr>
          <a:xfrm>
            <a:off x="5281574" y="2423160"/>
            <a:ext cx="1598371" cy="155448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The teacher presents slides, uses a whiteboard, or shares a screen.</a:t>
            </a:r>
            <a:endParaRPr lang="en-US" sz="1600" dirty="0"/>
          </a:p>
        </p:txBody>
      </p:sp>
      <p:sp>
        <p:nvSpPr>
          <p:cNvPr id="23" name="Shape 21"/>
          <p:cNvSpPr/>
          <p:nvPr/>
        </p:nvSpPr>
        <p:spPr>
          <a:xfrm>
            <a:off x="7099402" y="2514600"/>
            <a:ext cx="274320" cy="274320"/>
          </a:xfrm>
          <a:prstGeom prst="rightArrow">
            <a:avLst/>
          </a:prstGeom>
          <a:solidFill>
            <a:srgbClr val="B8860B"/>
          </a:solidFill>
          <a:ln/>
        </p:spPr>
        <p:txBody>
          <a:bodyPr/>
          <a:lstStyle/>
          <a:p>
            <a:endParaRPr lang="en-US" sz="1600"/>
          </a:p>
        </p:txBody>
      </p:sp>
      <p:sp>
        <p:nvSpPr>
          <p:cNvPr id="24" name="Shape 22"/>
          <p:cNvSpPr/>
          <p:nvPr/>
        </p:nvSpPr>
        <p:spPr>
          <a:xfrm>
            <a:off x="7483450" y="1234440"/>
            <a:ext cx="1817827" cy="2834640"/>
          </a:xfrm>
          <a:prstGeom prst="roundRect">
            <a:avLst>
              <a:gd name="adj" fmla="val 4024"/>
            </a:avLst>
          </a:prstGeom>
          <a:solidFill>
            <a:srgbClr val="FDF3E3"/>
          </a:solidFill>
          <a:ln w="12700">
            <a:solidFill>
              <a:srgbClr val="DCE1EA"/>
            </a:solidFill>
            <a:prstDash val="solid"/>
          </a:ln>
        </p:spPr>
        <p:txBody>
          <a:bodyPr/>
          <a:lstStyle/>
          <a:p>
            <a:endParaRPr lang="en-US" sz="1600"/>
          </a:p>
        </p:txBody>
      </p:sp>
      <p:sp>
        <p:nvSpPr>
          <p:cNvPr id="25" name="Shape 23"/>
          <p:cNvSpPr/>
          <p:nvPr/>
        </p:nvSpPr>
        <p:spPr>
          <a:xfrm>
            <a:off x="7620610" y="1371600"/>
            <a:ext cx="411480" cy="411480"/>
          </a:xfrm>
          <a:prstGeom prst="ellipse">
            <a:avLst/>
          </a:prstGeom>
          <a:solidFill>
            <a:srgbClr val="1F3864"/>
          </a:solidFill>
          <a:ln/>
        </p:spPr>
        <p:txBody>
          <a:bodyPr/>
          <a:lstStyle/>
          <a:p>
            <a:endParaRPr lang="en-US" sz="1600"/>
          </a:p>
        </p:txBody>
      </p:sp>
      <p:sp>
        <p:nvSpPr>
          <p:cNvPr id="26" name="Text 24"/>
          <p:cNvSpPr/>
          <p:nvPr/>
        </p:nvSpPr>
        <p:spPr>
          <a:xfrm>
            <a:off x="7620610"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5"/>
          <p:cNvSpPr/>
          <p:nvPr/>
        </p:nvSpPr>
        <p:spPr>
          <a:xfrm>
            <a:off x="7593178" y="1874520"/>
            <a:ext cx="1598371"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Interact</a:t>
            </a:r>
            <a:endParaRPr lang="en-US" sz="1600" dirty="0"/>
          </a:p>
        </p:txBody>
      </p:sp>
      <p:sp>
        <p:nvSpPr>
          <p:cNvPr id="28" name="Text 26"/>
          <p:cNvSpPr/>
          <p:nvPr/>
        </p:nvSpPr>
        <p:spPr>
          <a:xfrm>
            <a:off x="7593178" y="2423160"/>
            <a:ext cx="1598371" cy="155448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Students use chat, polls, raise hand, and breakout rooms to take part.</a:t>
            </a:r>
            <a:endParaRPr lang="en-US" sz="1600" dirty="0"/>
          </a:p>
        </p:txBody>
      </p:sp>
      <p:sp>
        <p:nvSpPr>
          <p:cNvPr id="29" name="Shape 27"/>
          <p:cNvSpPr/>
          <p:nvPr/>
        </p:nvSpPr>
        <p:spPr>
          <a:xfrm>
            <a:off x="9411005" y="2514600"/>
            <a:ext cx="274320" cy="274320"/>
          </a:xfrm>
          <a:prstGeom prst="rightArrow">
            <a:avLst/>
          </a:prstGeom>
          <a:solidFill>
            <a:srgbClr val="B8860B"/>
          </a:solidFill>
          <a:ln/>
        </p:spPr>
        <p:txBody>
          <a:bodyPr/>
          <a:lstStyle/>
          <a:p>
            <a:endParaRPr lang="en-US" sz="1600"/>
          </a:p>
        </p:txBody>
      </p:sp>
      <p:sp>
        <p:nvSpPr>
          <p:cNvPr id="30" name="Shape 28"/>
          <p:cNvSpPr/>
          <p:nvPr/>
        </p:nvSpPr>
        <p:spPr>
          <a:xfrm>
            <a:off x="9795053" y="1234440"/>
            <a:ext cx="1817827" cy="2834640"/>
          </a:xfrm>
          <a:prstGeom prst="roundRect">
            <a:avLst>
              <a:gd name="adj" fmla="val 4024"/>
            </a:avLst>
          </a:prstGeom>
          <a:solidFill>
            <a:srgbClr val="E8EEF9"/>
          </a:solidFill>
          <a:ln w="12700">
            <a:solidFill>
              <a:srgbClr val="DCE1EA"/>
            </a:solidFill>
            <a:prstDash val="solid"/>
          </a:ln>
        </p:spPr>
        <p:txBody>
          <a:bodyPr/>
          <a:lstStyle/>
          <a:p>
            <a:endParaRPr lang="en-US" sz="1600"/>
          </a:p>
        </p:txBody>
      </p:sp>
      <p:sp>
        <p:nvSpPr>
          <p:cNvPr id="31" name="Shape 29"/>
          <p:cNvSpPr/>
          <p:nvPr/>
        </p:nvSpPr>
        <p:spPr>
          <a:xfrm>
            <a:off x="9932213" y="1371600"/>
            <a:ext cx="411480" cy="411480"/>
          </a:xfrm>
          <a:prstGeom prst="ellipse">
            <a:avLst/>
          </a:prstGeom>
          <a:solidFill>
            <a:srgbClr val="1F3864"/>
          </a:solidFill>
          <a:ln/>
        </p:spPr>
        <p:txBody>
          <a:bodyPr/>
          <a:lstStyle/>
          <a:p>
            <a:endParaRPr lang="en-US" sz="1600"/>
          </a:p>
        </p:txBody>
      </p:sp>
      <p:sp>
        <p:nvSpPr>
          <p:cNvPr id="32" name="Text 30"/>
          <p:cNvSpPr/>
          <p:nvPr/>
        </p:nvSpPr>
        <p:spPr>
          <a:xfrm>
            <a:off x="9932213"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3" name="Text 31"/>
          <p:cNvSpPr/>
          <p:nvPr/>
        </p:nvSpPr>
        <p:spPr>
          <a:xfrm>
            <a:off x="9904781" y="1874520"/>
            <a:ext cx="1598371"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Record &amp; Follow Up</a:t>
            </a:r>
            <a:endParaRPr lang="en-US" sz="1600" dirty="0"/>
          </a:p>
        </p:txBody>
      </p:sp>
      <p:sp>
        <p:nvSpPr>
          <p:cNvPr id="34" name="Text 32"/>
          <p:cNvSpPr/>
          <p:nvPr/>
        </p:nvSpPr>
        <p:spPr>
          <a:xfrm>
            <a:off x="9904781" y="2423160"/>
            <a:ext cx="1598371" cy="155448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The session is recorded, and notes and tasks are shared afterwards.</a:t>
            </a:r>
            <a:endParaRPr lang="en-US" sz="1600" dirty="0"/>
          </a:p>
        </p:txBody>
      </p:sp>
      <p:sp>
        <p:nvSpPr>
          <p:cNvPr id="35" name="Shape 33"/>
          <p:cNvSpPr/>
          <p:nvPr/>
        </p:nvSpPr>
        <p:spPr>
          <a:xfrm>
            <a:off x="548640" y="4343400"/>
            <a:ext cx="3566160" cy="1325880"/>
          </a:xfrm>
          <a:prstGeom prst="roundRect">
            <a:avLst>
              <a:gd name="adj" fmla="val 5517"/>
            </a:avLst>
          </a:prstGeom>
          <a:solidFill>
            <a:srgbClr val="E8EEF9"/>
          </a:solidFill>
          <a:ln w="12700">
            <a:solidFill>
              <a:srgbClr val="DCE1EA"/>
            </a:solidFill>
            <a:prstDash val="solid"/>
          </a:ln>
        </p:spPr>
        <p:txBody>
          <a:bodyPr/>
          <a:lstStyle/>
          <a:p>
            <a:endParaRPr lang="en-US" sz="1600"/>
          </a:p>
        </p:txBody>
      </p:sp>
      <p:sp>
        <p:nvSpPr>
          <p:cNvPr id="36" name="Text 34"/>
          <p:cNvSpPr/>
          <p:nvPr/>
        </p:nvSpPr>
        <p:spPr>
          <a:xfrm>
            <a:off x="731520" y="4453128"/>
            <a:ext cx="3200400" cy="29260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Definition</a:t>
            </a:r>
            <a:endParaRPr lang="en-US" sz="1600" dirty="0"/>
          </a:p>
        </p:txBody>
      </p:sp>
      <p:sp>
        <p:nvSpPr>
          <p:cNvPr id="37" name="Text 35"/>
          <p:cNvSpPr/>
          <p:nvPr/>
        </p:nvSpPr>
        <p:spPr>
          <a:xfrm>
            <a:off x="731520" y="4782312"/>
            <a:ext cx="3200400" cy="822960"/>
          </a:xfrm>
          <a:prstGeom prst="rect">
            <a:avLst/>
          </a:prstGeom>
          <a:noFill/>
          <a:ln/>
        </p:spPr>
        <p:txBody>
          <a:bodyPr wrap="square" rtlCol="0" anchor="t"/>
          <a:lstStyle/>
          <a:p>
            <a:pPr marL="0" indent="0">
              <a:lnSpc>
                <a:spcPts val="1500"/>
              </a:lnSpc>
              <a:buNone/>
            </a:pPr>
            <a:r>
              <a:rPr lang="en-US" sz="1600" dirty="0">
                <a:solidFill>
                  <a:srgbClr val="333333"/>
                </a:solidFill>
                <a:latin typeface="Calibri" pitchFamily="34" charset="0"/>
                <a:ea typeface="Calibri" pitchFamily="34" charset="-122"/>
                <a:cs typeface="Calibri" pitchFamily="34" charset="-120"/>
              </a:rPr>
              <a:t>A virtual classroom is an online space where teacher and students meet live, with tools that copy the teaching and discussion of a physical room.</a:t>
            </a:r>
            <a:endParaRPr lang="en-US" sz="1600" dirty="0"/>
          </a:p>
        </p:txBody>
      </p:sp>
      <p:sp>
        <p:nvSpPr>
          <p:cNvPr id="38" name="Shape 36"/>
          <p:cNvSpPr/>
          <p:nvPr/>
        </p:nvSpPr>
        <p:spPr>
          <a:xfrm>
            <a:off x="4297680" y="4343400"/>
            <a:ext cx="3566160" cy="1325880"/>
          </a:xfrm>
          <a:prstGeom prst="roundRect">
            <a:avLst>
              <a:gd name="adj" fmla="val 5517"/>
            </a:avLst>
          </a:prstGeom>
          <a:solidFill>
            <a:srgbClr val="FDF3E3"/>
          </a:solidFill>
          <a:ln w="12700">
            <a:solidFill>
              <a:srgbClr val="DCE1EA"/>
            </a:solidFill>
            <a:prstDash val="solid"/>
          </a:ln>
        </p:spPr>
        <p:txBody>
          <a:bodyPr/>
          <a:lstStyle/>
          <a:p>
            <a:endParaRPr lang="en-US" sz="1600"/>
          </a:p>
        </p:txBody>
      </p:sp>
      <p:sp>
        <p:nvSpPr>
          <p:cNvPr id="39" name="Text 37"/>
          <p:cNvSpPr/>
          <p:nvPr/>
        </p:nvSpPr>
        <p:spPr>
          <a:xfrm>
            <a:off x="4480560" y="4453128"/>
            <a:ext cx="3200400" cy="29260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Synchronous vs asynchronous</a:t>
            </a:r>
            <a:endParaRPr lang="en-US" sz="1600" dirty="0"/>
          </a:p>
        </p:txBody>
      </p:sp>
      <p:sp>
        <p:nvSpPr>
          <p:cNvPr id="40" name="Text 38"/>
          <p:cNvSpPr/>
          <p:nvPr/>
        </p:nvSpPr>
        <p:spPr>
          <a:xfrm>
            <a:off x="4480560" y="4782312"/>
            <a:ext cx="3200400" cy="822960"/>
          </a:xfrm>
          <a:prstGeom prst="rect">
            <a:avLst/>
          </a:prstGeom>
          <a:noFill/>
          <a:ln/>
        </p:spPr>
        <p:txBody>
          <a:bodyPr wrap="square" rtlCol="0" anchor="t"/>
          <a:lstStyle/>
          <a:p>
            <a:pPr marL="0" indent="0">
              <a:lnSpc>
                <a:spcPts val="1500"/>
              </a:lnSpc>
              <a:buNone/>
            </a:pPr>
            <a:r>
              <a:rPr lang="en-US" sz="1600" dirty="0">
                <a:solidFill>
                  <a:srgbClr val="333333"/>
                </a:solidFill>
                <a:latin typeface="Calibri" pitchFamily="34" charset="0"/>
                <a:ea typeface="Calibri" pitchFamily="34" charset="-122"/>
                <a:cs typeface="Calibri" pitchFamily="34" charset="-120"/>
              </a:rPr>
              <a:t>Live sessions are synchronous; recorded lessons and forums are asynchronous. Good courses combine both.</a:t>
            </a:r>
            <a:endParaRPr lang="en-US" sz="1600" dirty="0"/>
          </a:p>
        </p:txBody>
      </p:sp>
      <p:sp>
        <p:nvSpPr>
          <p:cNvPr id="41" name="Shape 39"/>
          <p:cNvSpPr/>
          <p:nvPr/>
        </p:nvSpPr>
        <p:spPr>
          <a:xfrm>
            <a:off x="8046720" y="4343400"/>
            <a:ext cx="3566160" cy="1325880"/>
          </a:xfrm>
          <a:prstGeom prst="roundRect">
            <a:avLst>
              <a:gd name="adj" fmla="val 5517"/>
            </a:avLst>
          </a:prstGeom>
          <a:solidFill>
            <a:srgbClr val="E8EEF9"/>
          </a:solidFill>
          <a:ln w="12700">
            <a:solidFill>
              <a:srgbClr val="DCE1EA"/>
            </a:solidFill>
            <a:prstDash val="solid"/>
          </a:ln>
        </p:spPr>
        <p:txBody>
          <a:bodyPr/>
          <a:lstStyle/>
          <a:p>
            <a:endParaRPr lang="en-US" sz="1600"/>
          </a:p>
        </p:txBody>
      </p:sp>
      <p:sp>
        <p:nvSpPr>
          <p:cNvPr id="42" name="Text 40"/>
          <p:cNvSpPr/>
          <p:nvPr/>
        </p:nvSpPr>
        <p:spPr>
          <a:xfrm>
            <a:off x="8229600" y="4453128"/>
            <a:ext cx="3200400" cy="29260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Often linked to an LMS</a:t>
            </a:r>
            <a:endParaRPr lang="en-US" sz="1600" dirty="0"/>
          </a:p>
        </p:txBody>
      </p:sp>
      <p:sp>
        <p:nvSpPr>
          <p:cNvPr id="43" name="Text 41"/>
          <p:cNvSpPr/>
          <p:nvPr/>
        </p:nvSpPr>
        <p:spPr>
          <a:xfrm>
            <a:off x="8229600" y="4782312"/>
            <a:ext cx="3200400" cy="822960"/>
          </a:xfrm>
          <a:prstGeom prst="rect">
            <a:avLst/>
          </a:prstGeom>
          <a:noFill/>
          <a:ln/>
        </p:spPr>
        <p:txBody>
          <a:bodyPr wrap="square" rtlCol="0" anchor="t"/>
          <a:lstStyle/>
          <a:p>
            <a:pPr marL="0" indent="0">
              <a:lnSpc>
                <a:spcPts val="1500"/>
              </a:lnSpc>
              <a:buNone/>
            </a:pPr>
            <a:r>
              <a:rPr lang="en-US" sz="1600" dirty="0">
                <a:solidFill>
                  <a:srgbClr val="333333"/>
                </a:solidFill>
                <a:latin typeface="Calibri" pitchFamily="34" charset="0"/>
                <a:ea typeface="Calibri" pitchFamily="34" charset="-122"/>
                <a:cs typeface="Calibri" pitchFamily="34" charset="-120"/>
              </a:rPr>
              <a:t>The class schedule, recordings, and assignments typically live in the LMS, with live sessions launched from it.</a:t>
            </a:r>
            <a:endParaRPr lang="en-US" sz="1600" dirty="0"/>
          </a:p>
        </p:txBody>
      </p:sp>
      <p:sp>
        <p:nvSpPr>
          <p:cNvPr id="44" name="Text 42"/>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45" name="Text 43"/>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VIRTUAL CLASSROOMS</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Inside a Virtual Classroom</a:t>
            </a:r>
            <a:endParaRPr lang="en-US" sz="2400" dirty="0"/>
          </a:p>
        </p:txBody>
      </p:sp>
      <p:pic>
        <p:nvPicPr>
          <p:cNvPr id="6" name="Image 0" descr="mockups/virtual_classroom.png"/>
          <p:cNvPicPr>
            <a:picLocks noChangeAspect="1"/>
          </p:cNvPicPr>
          <p:nvPr/>
        </p:nvPicPr>
        <p:blipFill>
          <a:blip r:embed="rId3"/>
          <a:stretch>
            <a:fillRect/>
          </a:stretch>
        </p:blipFill>
        <p:spPr>
          <a:xfrm>
            <a:off x="457200" y="1097280"/>
            <a:ext cx="7223760" cy="4540649"/>
          </a:xfrm>
          <a:prstGeom prst="rect">
            <a:avLst/>
          </a:prstGeom>
        </p:spPr>
      </p:pic>
      <p:sp>
        <p:nvSpPr>
          <p:cNvPr id="7" name="Shape 4"/>
          <p:cNvSpPr/>
          <p:nvPr/>
        </p:nvSpPr>
        <p:spPr>
          <a:xfrm>
            <a:off x="457200" y="1097280"/>
            <a:ext cx="7223760" cy="4540649"/>
          </a:xfrm>
          <a:prstGeom prst="rect">
            <a:avLst/>
          </a:prstGeom>
          <a:ln w="12700">
            <a:solidFill>
              <a:srgbClr val="C9D0DC"/>
            </a:solidFill>
            <a:prstDash val="solid"/>
          </a:ln>
        </p:spPr>
        <p:txBody>
          <a:bodyPr/>
          <a:lstStyle/>
          <a:p>
            <a:endParaRPr lang="en-US"/>
          </a:p>
        </p:txBody>
      </p:sp>
      <p:sp>
        <p:nvSpPr>
          <p:cNvPr id="8" name="Text 5"/>
          <p:cNvSpPr/>
          <p:nvPr/>
        </p:nvSpPr>
        <p:spPr>
          <a:xfrm>
            <a:off x="457200" y="5729369"/>
            <a:ext cx="7223760" cy="457200"/>
          </a:xfrm>
          <a:prstGeom prst="rect">
            <a:avLst/>
          </a:prstGeom>
          <a:noFill/>
          <a:ln/>
        </p:spPr>
        <p:txBody>
          <a:bodyPr wrap="square" rtlCol="0" anchor="t"/>
          <a:lstStyle/>
          <a:p>
            <a:pPr marL="0" indent="0">
              <a:lnSpc>
                <a:spcPts val="1300"/>
              </a:lnSpc>
              <a:buNone/>
            </a:pPr>
            <a:r>
              <a:rPr lang="en-US" sz="1050" i="1" dirty="0">
                <a:solidFill>
                  <a:srgbClr val="595959"/>
                </a:solidFill>
                <a:latin typeface="Calibri" pitchFamily="34" charset="0"/>
                <a:ea typeface="Calibri" pitchFamily="34" charset="-122"/>
                <a:cs typeface="Calibri" pitchFamily="34" charset="-120"/>
              </a:rPr>
              <a:t>Illustrative interface drawn for teaching — exact layout varies by version and institution.</a:t>
            </a:r>
            <a:endParaRPr lang="en-US" sz="1050" dirty="0"/>
          </a:p>
        </p:txBody>
      </p:sp>
      <p:sp>
        <p:nvSpPr>
          <p:cNvPr id="9" name="Shape 6"/>
          <p:cNvSpPr/>
          <p:nvPr/>
        </p:nvSpPr>
        <p:spPr>
          <a:xfrm>
            <a:off x="7909560" y="1097280"/>
            <a:ext cx="3794760" cy="5212080"/>
          </a:xfrm>
          <a:prstGeom prst="roundRect">
            <a:avLst>
              <a:gd name="adj" fmla="val 1928"/>
            </a:avLst>
          </a:prstGeom>
          <a:solidFill>
            <a:srgbClr val="F4F6F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sz="1600"/>
          </a:p>
        </p:txBody>
      </p:sp>
      <p:sp>
        <p:nvSpPr>
          <p:cNvPr id="10" name="Text 7"/>
          <p:cNvSpPr/>
          <p:nvPr/>
        </p:nvSpPr>
        <p:spPr>
          <a:xfrm>
            <a:off x="8138160" y="1261872"/>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TEACHING SPACE</a:t>
            </a:r>
            <a:endParaRPr lang="en-US" sz="1600" dirty="0"/>
          </a:p>
        </p:txBody>
      </p:sp>
      <p:sp>
        <p:nvSpPr>
          <p:cNvPr id="11" name="Text 8"/>
          <p:cNvSpPr/>
          <p:nvPr/>
        </p:nvSpPr>
        <p:spPr>
          <a:xfrm>
            <a:off x="8138160" y="1554480"/>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A shared whiteboard, slides, or screen share; the teacher’s video appears in a small tile.</a:t>
            </a:r>
            <a:endParaRPr lang="en-US" sz="1600" dirty="0"/>
          </a:p>
        </p:txBody>
      </p:sp>
      <p:sp>
        <p:nvSpPr>
          <p:cNvPr id="12" name="Text 9"/>
          <p:cNvSpPr/>
          <p:nvPr/>
        </p:nvSpPr>
        <p:spPr>
          <a:xfrm>
            <a:off x="8138160" y="2383536"/>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INTERACTION TOOLS</a:t>
            </a:r>
            <a:endParaRPr lang="en-US" sz="1600" dirty="0"/>
          </a:p>
        </p:txBody>
      </p:sp>
      <p:sp>
        <p:nvSpPr>
          <p:cNvPr id="13" name="Text 10"/>
          <p:cNvSpPr/>
          <p:nvPr/>
        </p:nvSpPr>
        <p:spPr>
          <a:xfrm>
            <a:off x="8138160" y="2676144"/>
            <a:ext cx="3337560" cy="1052576"/>
          </a:xfrm>
          <a:prstGeom prst="rect">
            <a:avLst/>
          </a:prstGeom>
          <a:noFill/>
          <a:ln/>
        </p:spPr>
        <p:txBody>
          <a:bodyPr wrap="square" lIns="0" tIns="0" rIns="0" bIns="0" rtlCol="0" anchor="t"/>
          <a:lstStyle/>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Live poll with instant results</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Participant list with raised hands</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Chat for questions</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Breakout rooms for group work</a:t>
            </a:r>
            <a:endParaRPr lang="en-US" sz="1600" dirty="0"/>
          </a:p>
        </p:txBody>
      </p:sp>
      <p:sp>
        <p:nvSpPr>
          <p:cNvPr id="14" name="Text 11"/>
          <p:cNvSpPr/>
          <p:nvPr/>
        </p:nvSpPr>
        <p:spPr>
          <a:xfrm>
            <a:off x="8138160" y="3875024"/>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CONTROLS</a:t>
            </a:r>
            <a:endParaRPr lang="en-US" sz="1600" dirty="0"/>
          </a:p>
        </p:txBody>
      </p:sp>
      <p:sp>
        <p:nvSpPr>
          <p:cNvPr id="15" name="Text 12"/>
          <p:cNvSpPr/>
          <p:nvPr/>
        </p:nvSpPr>
        <p:spPr>
          <a:xfrm>
            <a:off x="8138160" y="4167632"/>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Mic, camera, share, whiteboard, poll, rooms, hand-raise, and record buttons sit in a toolbar, as in the Zoom and Teams recap.</a:t>
            </a:r>
            <a:endParaRPr lang="en-US" sz="1600" dirty="0"/>
          </a:p>
        </p:txBody>
      </p:sp>
      <p:sp>
        <p:nvSpPr>
          <p:cNvPr id="16" name="Text 13"/>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17" name="Text 14"/>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VIRTUAL CLASSROOMS</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Key Features of Virtual Classrooms</a:t>
            </a:r>
            <a:endParaRPr lang="en-US" sz="2400" dirty="0"/>
          </a:p>
        </p:txBody>
      </p:sp>
      <p:sp>
        <p:nvSpPr>
          <p:cNvPr id="6" name="Shape 4"/>
          <p:cNvSpPr/>
          <p:nvPr/>
        </p:nvSpPr>
        <p:spPr>
          <a:xfrm>
            <a:off x="548640" y="114300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7" name="Text 5"/>
          <p:cNvSpPr/>
          <p:nvPr/>
        </p:nvSpPr>
        <p:spPr>
          <a:xfrm>
            <a:off x="777240" y="128016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Live Audio &amp; Video</a:t>
            </a:r>
            <a:endParaRPr lang="en-US" sz="1600" dirty="0"/>
          </a:p>
        </p:txBody>
      </p:sp>
      <p:sp>
        <p:nvSpPr>
          <p:cNvPr id="8" name="Text 6"/>
          <p:cNvSpPr/>
          <p:nvPr/>
        </p:nvSpPr>
        <p:spPr>
          <a:xfrm>
            <a:off x="77724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Real-time lectures and discussion with the teacher and classmates.</a:t>
            </a:r>
            <a:endParaRPr lang="en-US" sz="1600" dirty="0"/>
          </a:p>
        </p:txBody>
      </p:sp>
      <p:sp>
        <p:nvSpPr>
          <p:cNvPr id="9" name="Shape 7"/>
          <p:cNvSpPr/>
          <p:nvPr/>
        </p:nvSpPr>
        <p:spPr>
          <a:xfrm>
            <a:off x="6172200" y="1143000"/>
            <a:ext cx="5394960" cy="1600200"/>
          </a:xfrm>
          <a:prstGeom prst="roundRect">
            <a:avLst>
              <a:gd name="adj" fmla="val 4571"/>
            </a:avLst>
          </a:prstGeom>
          <a:solidFill>
            <a:srgbClr val="EAF6EC"/>
          </a:solidFill>
          <a:ln w="12700">
            <a:solidFill>
              <a:srgbClr val="DCE1EA"/>
            </a:solidFill>
            <a:prstDash val="solid"/>
          </a:ln>
        </p:spPr>
        <p:txBody>
          <a:bodyPr/>
          <a:lstStyle/>
          <a:p>
            <a:endParaRPr lang="en-US" sz="1600"/>
          </a:p>
        </p:txBody>
      </p:sp>
      <p:sp>
        <p:nvSpPr>
          <p:cNvPr id="10" name="Text 8"/>
          <p:cNvSpPr/>
          <p:nvPr/>
        </p:nvSpPr>
        <p:spPr>
          <a:xfrm>
            <a:off x="6400800" y="128016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Whiteboard &amp; Screen Sharing</a:t>
            </a:r>
            <a:endParaRPr lang="en-US" sz="1600" dirty="0"/>
          </a:p>
        </p:txBody>
      </p:sp>
      <p:sp>
        <p:nvSpPr>
          <p:cNvPr id="11" name="Text 9"/>
          <p:cNvSpPr/>
          <p:nvPr/>
        </p:nvSpPr>
        <p:spPr>
          <a:xfrm>
            <a:off x="640080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Draw, annotate, and show slides, documents, or software demonstrations.</a:t>
            </a:r>
            <a:endParaRPr lang="en-US" sz="1600" dirty="0"/>
          </a:p>
        </p:txBody>
      </p:sp>
      <p:sp>
        <p:nvSpPr>
          <p:cNvPr id="12" name="Shape 10"/>
          <p:cNvSpPr/>
          <p:nvPr/>
        </p:nvSpPr>
        <p:spPr>
          <a:xfrm>
            <a:off x="548640" y="288036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13" name="Text 11"/>
          <p:cNvSpPr/>
          <p:nvPr/>
        </p:nvSpPr>
        <p:spPr>
          <a:xfrm>
            <a:off x="777240" y="301752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Polls &amp; Quizzes</a:t>
            </a:r>
            <a:endParaRPr lang="en-US" sz="1600" dirty="0"/>
          </a:p>
        </p:txBody>
      </p:sp>
      <p:sp>
        <p:nvSpPr>
          <p:cNvPr id="14" name="Text 12"/>
          <p:cNvSpPr/>
          <p:nvPr/>
        </p:nvSpPr>
        <p:spPr>
          <a:xfrm>
            <a:off x="77724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Instant questions give the teacher a quick view of who understands.</a:t>
            </a:r>
            <a:endParaRPr lang="en-US" sz="1600" dirty="0"/>
          </a:p>
        </p:txBody>
      </p:sp>
      <p:sp>
        <p:nvSpPr>
          <p:cNvPr id="15" name="Shape 13"/>
          <p:cNvSpPr/>
          <p:nvPr/>
        </p:nvSpPr>
        <p:spPr>
          <a:xfrm>
            <a:off x="6172200" y="2880360"/>
            <a:ext cx="5394960" cy="1600200"/>
          </a:xfrm>
          <a:prstGeom prst="roundRect">
            <a:avLst>
              <a:gd name="adj" fmla="val 4571"/>
            </a:avLst>
          </a:prstGeom>
          <a:solidFill>
            <a:srgbClr val="EAF6EC"/>
          </a:solidFill>
          <a:ln w="12700">
            <a:solidFill>
              <a:srgbClr val="DCE1EA"/>
            </a:solidFill>
            <a:prstDash val="solid"/>
          </a:ln>
        </p:spPr>
        <p:txBody>
          <a:bodyPr/>
          <a:lstStyle/>
          <a:p>
            <a:endParaRPr lang="en-US" sz="1600"/>
          </a:p>
        </p:txBody>
      </p:sp>
      <p:sp>
        <p:nvSpPr>
          <p:cNvPr id="16" name="Text 14"/>
          <p:cNvSpPr/>
          <p:nvPr/>
        </p:nvSpPr>
        <p:spPr>
          <a:xfrm>
            <a:off x="6400800" y="301752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Breakout Rooms</a:t>
            </a:r>
            <a:endParaRPr lang="en-US" sz="1600" dirty="0"/>
          </a:p>
        </p:txBody>
      </p:sp>
      <p:sp>
        <p:nvSpPr>
          <p:cNvPr id="17" name="Text 15"/>
          <p:cNvSpPr/>
          <p:nvPr/>
        </p:nvSpPr>
        <p:spPr>
          <a:xfrm>
            <a:off x="640080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Split the class into small groups for discussion and project work, then reunite.</a:t>
            </a:r>
            <a:endParaRPr lang="en-US" sz="1600" dirty="0"/>
          </a:p>
        </p:txBody>
      </p:sp>
      <p:sp>
        <p:nvSpPr>
          <p:cNvPr id="18" name="Shape 16"/>
          <p:cNvSpPr/>
          <p:nvPr/>
        </p:nvSpPr>
        <p:spPr>
          <a:xfrm>
            <a:off x="548640" y="461772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19" name="Text 17"/>
          <p:cNvSpPr/>
          <p:nvPr/>
        </p:nvSpPr>
        <p:spPr>
          <a:xfrm>
            <a:off x="777240" y="475488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Recording &amp; Attendance</a:t>
            </a:r>
            <a:endParaRPr lang="en-US" sz="1600" dirty="0"/>
          </a:p>
        </p:txBody>
      </p:sp>
      <p:sp>
        <p:nvSpPr>
          <p:cNvPr id="20" name="Text 18"/>
          <p:cNvSpPr/>
          <p:nvPr/>
        </p:nvSpPr>
        <p:spPr>
          <a:xfrm>
            <a:off x="77724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Sessions can be recorded for revision, and attendance can be tracked automatically.</a:t>
            </a:r>
            <a:endParaRPr lang="en-US" sz="1600" dirty="0"/>
          </a:p>
        </p:txBody>
      </p:sp>
      <p:sp>
        <p:nvSpPr>
          <p:cNvPr id="21" name="Shape 19"/>
          <p:cNvSpPr/>
          <p:nvPr/>
        </p:nvSpPr>
        <p:spPr>
          <a:xfrm>
            <a:off x="6172200" y="4617720"/>
            <a:ext cx="5394960" cy="1600200"/>
          </a:xfrm>
          <a:prstGeom prst="roundRect">
            <a:avLst>
              <a:gd name="adj" fmla="val 4571"/>
            </a:avLst>
          </a:prstGeom>
          <a:solidFill>
            <a:srgbClr val="EAF6EC"/>
          </a:solidFill>
          <a:ln w="12700">
            <a:solidFill>
              <a:srgbClr val="DCE1EA"/>
            </a:solidFill>
            <a:prstDash val="solid"/>
          </a:ln>
        </p:spPr>
        <p:txBody>
          <a:bodyPr/>
          <a:lstStyle/>
          <a:p>
            <a:endParaRPr lang="en-US" sz="1600"/>
          </a:p>
        </p:txBody>
      </p:sp>
      <p:sp>
        <p:nvSpPr>
          <p:cNvPr id="22" name="Text 20"/>
          <p:cNvSpPr/>
          <p:nvPr/>
        </p:nvSpPr>
        <p:spPr>
          <a:xfrm>
            <a:off x="6400800" y="475488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Chat, Hand Raise &amp; Files</a:t>
            </a:r>
            <a:endParaRPr lang="en-US" sz="1600" dirty="0"/>
          </a:p>
        </p:txBody>
      </p:sp>
      <p:sp>
        <p:nvSpPr>
          <p:cNvPr id="23" name="Text 21"/>
          <p:cNvSpPr/>
          <p:nvPr/>
        </p:nvSpPr>
        <p:spPr>
          <a:xfrm>
            <a:off x="640080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Ask questions without interrupting, signal you want to speak, and share files with the class.</a:t>
            </a:r>
            <a:endParaRPr lang="en-US" sz="1600" dirty="0"/>
          </a:p>
        </p:txBody>
      </p:sp>
      <p:sp>
        <p:nvSpPr>
          <p:cNvPr id="24" name="Text 22"/>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25" name="Text 23"/>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VIRTUAL CLASSROOMS</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Virtual Classroom Tools</a:t>
            </a:r>
            <a:endParaRPr lang="en-US" sz="2400" dirty="0"/>
          </a:p>
        </p:txBody>
      </p:sp>
      <p:sp>
        <p:nvSpPr>
          <p:cNvPr id="6" name="Shape 4"/>
          <p:cNvSpPr/>
          <p:nvPr/>
        </p:nvSpPr>
        <p:spPr>
          <a:xfrm>
            <a:off x="548640" y="1188720"/>
            <a:ext cx="3200400" cy="457200"/>
          </a:xfrm>
          <a:prstGeom prst="rect">
            <a:avLst/>
          </a:prstGeom>
          <a:solidFill>
            <a:srgbClr val="1F3864"/>
          </a:solidFill>
          <a:ln/>
        </p:spPr>
        <p:txBody>
          <a:bodyPr/>
          <a:lstStyle/>
          <a:p>
            <a:endParaRPr lang="en-US" sz="1600"/>
          </a:p>
        </p:txBody>
      </p:sp>
      <p:sp>
        <p:nvSpPr>
          <p:cNvPr id="7" name="Text 5"/>
          <p:cNvSpPr/>
          <p:nvPr/>
        </p:nvSpPr>
        <p:spPr>
          <a:xfrm>
            <a:off x="548640" y="1188720"/>
            <a:ext cx="32004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Tool</a:t>
            </a:r>
            <a:endParaRPr lang="en-US" sz="1600" dirty="0"/>
          </a:p>
        </p:txBody>
      </p:sp>
      <p:sp>
        <p:nvSpPr>
          <p:cNvPr id="8" name="Shape 6"/>
          <p:cNvSpPr/>
          <p:nvPr/>
        </p:nvSpPr>
        <p:spPr>
          <a:xfrm>
            <a:off x="3749040" y="1188720"/>
            <a:ext cx="3291840" cy="457200"/>
          </a:xfrm>
          <a:prstGeom prst="rect">
            <a:avLst/>
          </a:prstGeom>
          <a:solidFill>
            <a:srgbClr val="B8860B"/>
          </a:solidFill>
          <a:ln/>
        </p:spPr>
        <p:txBody>
          <a:bodyPr/>
          <a:lstStyle/>
          <a:p>
            <a:endParaRPr lang="en-US" sz="1600"/>
          </a:p>
        </p:txBody>
      </p:sp>
      <p:sp>
        <p:nvSpPr>
          <p:cNvPr id="9" name="Text 7"/>
          <p:cNvSpPr/>
          <p:nvPr/>
        </p:nvSpPr>
        <p:spPr>
          <a:xfrm>
            <a:off x="3749040" y="1188720"/>
            <a:ext cx="32918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Type</a:t>
            </a:r>
            <a:endParaRPr lang="en-US" sz="1600" dirty="0"/>
          </a:p>
        </p:txBody>
      </p:sp>
      <p:sp>
        <p:nvSpPr>
          <p:cNvPr id="10" name="Shape 8"/>
          <p:cNvSpPr/>
          <p:nvPr/>
        </p:nvSpPr>
        <p:spPr>
          <a:xfrm>
            <a:off x="7040880" y="1188720"/>
            <a:ext cx="4572000" cy="457200"/>
          </a:xfrm>
          <a:prstGeom prst="rect">
            <a:avLst/>
          </a:prstGeom>
          <a:solidFill>
            <a:srgbClr val="1F3864"/>
          </a:solidFill>
          <a:ln/>
        </p:spPr>
        <p:txBody>
          <a:bodyPr/>
          <a:lstStyle/>
          <a:p>
            <a:endParaRPr lang="en-US" sz="1600"/>
          </a:p>
        </p:txBody>
      </p:sp>
      <p:sp>
        <p:nvSpPr>
          <p:cNvPr id="11" name="Text 9"/>
          <p:cNvSpPr/>
          <p:nvPr/>
        </p:nvSpPr>
        <p:spPr>
          <a:xfrm>
            <a:off x="7040880" y="1188720"/>
            <a:ext cx="45720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Notable strength</a:t>
            </a:r>
            <a:endParaRPr lang="en-US" sz="1600" dirty="0"/>
          </a:p>
        </p:txBody>
      </p:sp>
      <p:sp>
        <p:nvSpPr>
          <p:cNvPr id="12" name="Shape 10"/>
          <p:cNvSpPr/>
          <p:nvPr/>
        </p:nvSpPr>
        <p:spPr>
          <a:xfrm>
            <a:off x="548640" y="1645920"/>
            <a:ext cx="3200400" cy="777240"/>
          </a:xfrm>
          <a:prstGeom prst="rect">
            <a:avLst/>
          </a:prstGeom>
          <a:solidFill>
            <a:srgbClr val="FFFFFF"/>
          </a:solidFill>
          <a:ln w="9525">
            <a:solidFill>
              <a:srgbClr val="DCE1EA"/>
            </a:solidFill>
            <a:prstDash val="solid"/>
          </a:ln>
        </p:spPr>
        <p:txBody>
          <a:bodyPr/>
          <a:lstStyle/>
          <a:p>
            <a:endParaRPr lang="en-US" sz="1600"/>
          </a:p>
        </p:txBody>
      </p:sp>
      <p:sp>
        <p:nvSpPr>
          <p:cNvPr id="13" name="Text 11"/>
          <p:cNvSpPr/>
          <p:nvPr/>
        </p:nvSpPr>
        <p:spPr>
          <a:xfrm>
            <a:off x="640080" y="1645920"/>
            <a:ext cx="3017520" cy="777240"/>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Zoom, Google Meet, Microsoft Teams</a:t>
            </a:r>
            <a:endParaRPr lang="en-US" sz="1600" dirty="0"/>
          </a:p>
        </p:txBody>
      </p:sp>
      <p:sp>
        <p:nvSpPr>
          <p:cNvPr id="14" name="Shape 12"/>
          <p:cNvSpPr/>
          <p:nvPr/>
        </p:nvSpPr>
        <p:spPr>
          <a:xfrm>
            <a:off x="3749040" y="1645920"/>
            <a:ext cx="3291840" cy="777240"/>
          </a:xfrm>
          <a:prstGeom prst="rect">
            <a:avLst/>
          </a:prstGeom>
          <a:solidFill>
            <a:srgbClr val="FFFFFF"/>
          </a:solidFill>
          <a:ln w="9525">
            <a:solidFill>
              <a:srgbClr val="DCE1EA"/>
            </a:solidFill>
            <a:prstDash val="solid"/>
          </a:ln>
        </p:spPr>
        <p:txBody>
          <a:bodyPr/>
          <a:lstStyle/>
          <a:p>
            <a:endParaRPr lang="en-US" sz="1600"/>
          </a:p>
        </p:txBody>
      </p:sp>
      <p:sp>
        <p:nvSpPr>
          <p:cNvPr id="15" name="Text 13"/>
          <p:cNvSpPr/>
          <p:nvPr/>
        </p:nvSpPr>
        <p:spPr>
          <a:xfrm>
            <a:off x="3840480" y="1645920"/>
            <a:ext cx="3108960" cy="77724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General video meeting tools</a:t>
            </a:r>
            <a:endParaRPr lang="en-US" sz="1600" dirty="0"/>
          </a:p>
        </p:txBody>
      </p:sp>
      <p:sp>
        <p:nvSpPr>
          <p:cNvPr id="16" name="Shape 14"/>
          <p:cNvSpPr/>
          <p:nvPr/>
        </p:nvSpPr>
        <p:spPr>
          <a:xfrm>
            <a:off x="7040880" y="1645920"/>
            <a:ext cx="4572000" cy="777240"/>
          </a:xfrm>
          <a:prstGeom prst="rect">
            <a:avLst/>
          </a:prstGeom>
          <a:solidFill>
            <a:srgbClr val="FFFFFF"/>
          </a:solidFill>
          <a:ln w="9525">
            <a:solidFill>
              <a:srgbClr val="DCE1EA"/>
            </a:solidFill>
            <a:prstDash val="solid"/>
          </a:ln>
        </p:spPr>
        <p:txBody>
          <a:bodyPr/>
          <a:lstStyle/>
          <a:p>
            <a:endParaRPr lang="en-US" sz="1600"/>
          </a:p>
        </p:txBody>
      </p:sp>
      <p:sp>
        <p:nvSpPr>
          <p:cNvPr id="17" name="Text 15"/>
          <p:cNvSpPr/>
          <p:nvPr/>
        </p:nvSpPr>
        <p:spPr>
          <a:xfrm>
            <a:off x="7132320" y="1645920"/>
            <a:ext cx="4389120" cy="77724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Familiar, easy to join, and widely used for classes (see Week 6)</a:t>
            </a:r>
            <a:endParaRPr lang="en-US" sz="1600" dirty="0"/>
          </a:p>
        </p:txBody>
      </p:sp>
      <p:sp>
        <p:nvSpPr>
          <p:cNvPr id="18" name="Shape 16"/>
          <p:cNvSpPr/>
          <p:nvPr/>
        </p:nvSpPr>
        <p:spPr>
          <a:xfrm>
            <a:off x="548640" y="2423160"/>
            <a:ext cx="3200400" cy="777240"/>
          </a:xfrm>
          <a:prstGeom prst="rect">
            <a:avLst/>
          </a:prstGeom>
          <a:solidFill>
            <a:srgbClr val="F4F6FA"/>
          </a:solidFill>
          <a:ln w="9525">
            <a:solidFill>
              <a:srgbClr val="DCE1EA"/>
            </a:solidFill>
            <a:prstDash val="solid"/>
          </a:ln>
        </p:spPr>
        <p:txBody>
          <a:bodyPr/>
          <a:lstStyle/>
          <a:p>
            <a:endParaRPr lang="en-US" sz="1600"/>
          </a:p>
        </p:txBody>
      </p:sp>
      <p:sp>
        <p:nvSpPr>
          <p:cNvPr id="19" name="Text 17"/>
          <p:cNvSpPr/>
          <p:nvPr/>
        </p:nvSpPr>
        <p:spPr>
          <a:xfrm>
            <a:off x="640080" y="2423160"/>
            <a:ext cx="3017520" cy="777240"/>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BigBlueButton</a:t>
            </a:r>
            <a:endParaRPr lang="en-US" sz="1600" dirty="0"/>
          </a:p>
        </p:txBody>
      </p:sp>
      <p:sp>
        <p:nvSpPr>
          <p:cNvPr id="20" name="Shape 18"/>
          <p:cNvSpPr/>
          <p:nvPr/>
        </p:nvSpPr>
        <p:spPr>
          <a:xfrm>
            <a:off x="3749040" y="2423160"/>
            <a:ext cx="3291840" cy="777240"/>
          </a:xfrm>
          <a:prstGeom prst="rect">
            <a:avLst/>
          </a:prstGeom>
          <a:solidFill>
            <a:srgbClr val="F4F6FA"/>
          </a:solidFill>
          <a:ln w="9525">
            <a:solidFill>
              <a:srgbClr val="DCE1EA"/>
            </a:solidFill>
            <a:prstDash val="solid"/>
          </a:ln>
        </p:spPr>
        <p:txBody>
          <a:bodyPr/>
          <a:lstStyle/>
          <a:p>
            <a:endParaRPr lang="en-US" sz="1600"/>
          </a:p>
        </p:txBody>
      </p:sp>
      <p:sp>
        <p:nvSpPr>
          <p:cNvPr id="21" name="Text 19"/>
          <p:cNvSpPr/>
          <p:nvPr/>
        </p:nvSpPr>
        <p:spPr>
          <a:xfrm>
            <a:off x="3840480" y="2423160"/>
            <a:ext cx="3108960" cy="77724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Open-source virtual classroom built for teaching</a:t>
            </a:r>
            <a:endParaRPr lang="en-US" sz="1600" dirty="0"/>
          </a:p>
        </p:txBody>
      </p:sp>
      <p:sp>
        <p:nvSpPr>
          <p:cNvPr id="22" name="Shape 20"/>
          <p:cNvSpPr/>
          <p:nvPr/>
        </p:nvSpPr>
        <p:spPr>
          <a:xfrm>
            <a:off x="7040880" y="2423160"/>
            <a:ext cx="4572000" cy="777240"/>
          </a:xfrm>
          <a:prstGeom prst="rect">
            <a:avLst/>
          </a:prstGeom>
          <a:solidFill>
            <a:srgbClr val="F4F6FA"/>
          </a:solidFill>
          <a:ln w="9525">
            <a:solidFill>
              <a:srgbClr val="DCE1EA"/>
            </a:solidFill>
            <a:prstDash val="solid"/>
          </a:ln>
        </p:spPr>
        <p:txBody>
          <a:bodyPr/>
          <a:lstStyle/>
          <a:p>
            <a:endParaRPr lang="en-US" sz="1600"/>
          </a:p>
        </p:txBody>
      </p:sp>
      <p:sp>
        <p:nvSpPr>
          <p:cNvPr id="23" name="Text 21"/>
          <p:cNvSpPr/>
          <p:nvPr/>
        </p:nvSpPr>
        <p:spPr>
          <a:xfrm>
            <a:off x="7132320" y="2423160"/>
            <a:ext cx="4389120" cy="77724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Whiteboard, polls, and breakout rooms; often connects to Moodle</a:t>
            </a:r>
            <a:endParaRPr lang="en-US" sz="1600" dirty="0"/>
          </a:p>
        </p:txBody>
      </p:sp>
      <p:sp>
        <p:nvSpPr>
          <p:cNvPr id="24" name="Shape 22"/>
          <p:cNvSpPr/>
          <p:nvPr/>
        </p:nvSpPr>
        <p:spPr>
          <a:xfrm>
            <a:off x="548640" y="3200400"/>
            <a:ext cx="3200400" cy="777240"/>
          </a:xfrm>
          <a:prstGeom prst="rect">
            <a:avLst/>
          </a:prstGeom>
          <a:solidFill>
            <a:srgbClr val="FFFFFF"/>
          </a:solidFill>
          <a:ln w="9525">
            <a:solidFill>
              <a:srgbClr val="DCE1EA"/>
            </a:solidFill>
            <a:prstDash val="solid"/>
          </a:ln>
        </p:spPr>
        <p:txBody>
          <a:bodyPr/>
          <a:lstStyle/>
          <a:p>
            <a:endParaRPr lang="en-US" sz="1600"/>
          </a:p>
        </p:txBody>
      </p:sp>
      <p:sp>
        <p:nvSpPr>
          <p:cNvPr id="25" name="Text 23"/>
          <p:cNvSpPr/>
          <p:nvPr/>
        </p:nvSpPr>
        <p:spPr>
          <a:xfrm>
            <a:off x="640080" y="3200400"/>
            <a:ext cx="3017520" cy="777240"/>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Adobe Connect</a:t>
            </a:r>
            <a:endParaRPr lang="en-US" sz="1600" dirty="0"/>
          </a:p>
        </p:txBody>
      </p:sp>
      <p:sp>
        <p:nvSpPr>
          <p:cNvPr id="26" name="Shape 24"/>
          <p:cNvSpPr/>
          <p:nvPr/>
        </p:nvSpPr>
        <p:spPr>
          <a:xfrm>
            <a:off x="3749040" y="3200400"/>
            <a:ext cx="3291840" cy="777240"/>
          </a:xfrm>
          <a:prstGeom prst="rect">
            <a:avLst/>
          </a:prstGeom>
          <a:solidFill>
            <a:srgbClr val="FFFFFF"/>
          </a:solidFill>
          <a:ln w="9525">
            <a:solidFill>
              <a:srgbClr val="DCE1EA"/>
            </a:solidFill>
            <a:prstDash val="solid"/>
          </a:ln>
        </p:spPr>
        <p:txBody>
          <a:bodyPr/>
          <a:lstStyle/>
          <a:p>
            <a:endParaRPr lang="en-US" sz="1600"/>
          </a:p>
        </p:txBody>
      </p:sp>
      <p:sp>
        <p:nvSpPr>
          <p:cNvPr id="27" name="Text 25"/>
          <p:cNvSpPr/>
          <p:nvPr/>
        </p:nvSpPr>
        <p:spPr>
          <a:xfrm>
            <a:off x="3840480" y="3200400"/>
            <a:ext cx="3108960" cy="77724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Commercial virtual classroom and webinar tool</a:t>
            </a:r>
            <a:endParaRPr lang="en-US" sz="1600" dirty="0"/>
          </a:p>
        </p:txBody>
      </p:sp>
      <p:sp>
        <p:nvSpPr>
          <p:cNvPr id="28" name="Shape 26"/>
          <p:cNvSpPr/>
          <p:nvPr/>
        </p:nvSpPr>
        <p:spPr>
          <a:xfrm>
            <a:off x="7040880" y="3200400"/>
            <a:ext cx="4572000" cy="777240"/>
          </a:xfrm>
          <a:prstGeom prst="rect">
            <a:avLst/>
          </a:prstGeom>
          <a:solidFill>
            <a:srgbClr val="FFFFFF"/>
          </a:solidFill>
          <a:ln w="9525">
            <a:solidFill>
              <a:srgbClr val="DCE1EA"/>
            </a:solidFill>
            <a:prstDash val="solid"/>
          </a:ln>
        </p:spPr>
        <p:txBody>
          <a:bodyPr/>
          <a:lstStyle/>
          <a:p>
            <a:endParaRPr lang="en-US" sz="1600"/>
          </a:p>
        </p:txBody>
      </p:sp>
      <p:sp>
        <p:nvSpPr>
          <p:cNvPr id="29" name="Text 27"/>
          <p:cNvSpPr/>
          <p:nvPr/>
        </p:nvSpPr>
        <p:spPr>
          <a:xfrm>
            <a:off x="7132320" y="3200400"/>
            <a:ext cx="4389120" cy="77724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Customizable rooms and strong training and webinar features</a:t>
            </a:r>
            <a:endParaRPr lang="en-US" sz="1600" dirty="0"/>
          </a:p>
        </p:txBody>
      </p:sp>
      <p:sp>
        <p:nvSpPr>
          <p:cNvPr id="30" name="Shape 28"/>
          <p:cNvSpPr/>
          <p:nvPr/>
        </p:nvSpPr>
        <p:spPr>
          <a:xfrm>
            <a:off x="548640" y="3977640"/>
            <a:ext cx="3200400" cy="777240"/>
          </a:xfrm>
          <a:prstGeom prst="rect">
            <a:avLst/>
          </a:prstGeom>
          <a:solidFill>
            <a:srgbClr val="F4F6FA"/>
          </a:solidFill>
          <a:ln w="9525">
            <a:solidFill>
              <a:srgbClr val="DCE1EA"/>
            </a:solidFill>
            <a:prstDash val="solid"/>
          </a:ln>
        </p:spPr>
        <p:txBody>
          <a:bodyPr/>
          <a:lstStyle/>
          <a:p>
            <a:endParaRPr lang="en-US" sz="1600"/>
          </a:p>
        </p:txBody>
      </p:sp>
      <p:sp>
        <p:nvSpPr>
          <p:cNvPr id="31" name="Text 29"/>
          <p:cNvSpPr/>
          <p:nvPr/>
        </p:nvSpPr>
        <p:spPr>
          <a:xfrm>
            <a:off x="640080" y="3977640"/>
            <a:ext cx="3017520" cy="777240"/>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Blackboard Collaborate</a:t>
            </a:r>
            <a:endParaRPr lang="en-US" sz="1600" dirty="0"/>
          </a:p>
        </p:txBody>
      </p:sp>
      <p:sp>
        <p:nvSpPr>
          <p:cNvPr id="32" name="Shape 30"/>
          <p:cNvSpPr/>
          <p:nvPr/>
        </p:nvSpPr>
        <p:spPr>
          <a:xfrm>
            <a:off x="3749040" y="3977640"/>
            <a:ext cx="3291840" cy="777240"/>
          </a:xfrm>
          <a:prstGeom prst="rect">
            <a:avLst/>
          </a:prstGeom>
          <a:solidFill>
            <a:srgbClr val="F4F6FA"/>
          </a:solidFill>
          <a:ln w="9525">
            <a:solidFill>
              <a:srgbClr val="DCE1EA"/>
            </a:solidFill>
            <a:prstDash val="solid"/>
          </a:ln>
        </p:spPr>
        <p:txBody>
          <a:bodyPr/>
          <a:lstStyle/>
          <a:p>
            <a:endParaRPr lang="en-US" sz="1600"/>
          </a:p>
        </p:txBody>
      </p:sp>
      <p:sp>
        <p:nvSpPr>
          <p:cNvPr id="33" name="Text 31"/>
          <p:cNvSpPr/>
          <p:nvPr/>
        </p:nvSpPr>
        <p:spPr>
          <a:xfrm>
            <a:off x="3840480" y="3977640"/>
            <a:ext cx="3108960" cy="77724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Virtual classroom linked to Blackboard LMS</a:t>
            </a:r>
            <a:endParaRPr lang="en-US" sz="1600" dirty="0"/>
          </a:p>
        </p:txBody>
      </p:sp>
      <p:sp>
        <p:nvSpPr>
          <p:cNvPr id="34" name="Shape 32"/>
          <p:cNvSpPr/>
          <p:nvPr/>
        </p:nvSpPr>
        <p:spPr>
          <a:xfrm>
            <a:off x="7040880" y="3977640"/>
            <a:ext cx="4572000" cy="777240"/>
          </a:xfrm>
          <a:prstGeom prst="rect">
            <a:avLst/>
          </a:prstGeom>
          <a:solidFill>
            <a:srgbClr val="F4F6FA"/>
          </a:solidFill>
          <a:ln w="9525">
            <a:solidFill>
              <a:srgbClr val="DCE1EA"/>
            </a:solidFill>
            <a:prstDash val="solid"/>
          </a:ln>
        </p:spPr>
        <p:txBody>
          <a:bodyPr/>
          <a:lstStyle/>
          <a:p>
            <a:endParaRPr lang="en-US" sz="1600"/>
          </a:p>
        </p:txBody>
      </p:sp>
      <p:sp>
        <p:nvSpPr>
          <p:cNvPr id="35" name="Text 33"/>
          <p:cNvSpPr/>
          <p:nvPr/>
        </p:nvSpPr>
        <p:spPr>
          <a:xfrm>
            <a:off x="7132320" y="3977640"/>
            <a:ext cx="4389120" cy="77724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Built-in whiteboard, polls, and recording within the LMS</a:t>
            </a:r>
            <a:endParaRPr lang="en-US" sz="1600" dirty="0"/>
          </a:p>
        </p:txBody>
      </p:sp>
      <p:sp>
        <p:nvSpPr>
          <p:cNvPr id="36" name="Shape 34"/>
          <p:cNvSpPr/>
          <p:nvPr/>
        </p:nvSpPr>
        <p:spPr>
          <a:xfrm>
            <a:off x="548640" y="4754880"/>
            <a:ext cx="3200400" cy="777240"/>
          </a:xfrm>
          <a:prstGeom prst="rect">
            <a:avLst/>
          </a:prstGeom>
          <a:solidFill>
            <a:srgbClr val="FFFFFF"/>
          </a:solidFill>
          <a:ln w="9525">
            <a:solidFill>
              <a:srgbClr val="DCE1EA"/>
            </a:solidFill>
            <a:prstDash val="solid"/>
          </a:ln>
        </p:spPr>
        <p:txBody>
          <a:bodyPr/>
          <a:lstStyle/>
          <a:p>
            <a:endParaRPr lang="en-US" sz="1600"/>
          </a:p>
        </p:txBody>
      </p:sp>
      <p:sp>
        <p:nvSpPr>
          <p:cNvPr id="37" name="Text 35"/>
          <p:cNvSpPr/>
          <p:nvPr/>
        </p:nvSpPr>
        <p:spPr>
          <a:xfrm>
            <a:off x="640080" y="4754880"/>
            <a:ext cx="3017520" cy="777240"/>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Immersive VR classrooms</a:t>
            </a:r>
            <a:endParaRPr lang="en-US" sz="1600" dirty="0"/>
          </a:p>
        </p:txBody>
      </p:sp>
      <p:sp>
        <p:nvSpPr>
          <p:cNvPr id="38" name="Shape 36"/>
          <p:cNvSpPr/>
          <p:nvPr/>
        </p:nvSpPr>
        <p:spPr>
          <a:xfrm>
            <a:off x="3749040" y="4754880"/>
            <a:ext cx="3291840" cy="777240"/>
          </a:xfrm>
          <a:prstGeom prst="rect">
            <a:avLst/>
          </a:prstGeom>
          <a:solidFill>
            <a:srgbClr val="FFFFFF"/>
          </a:solidFill>
          <a:ln w="9525">
            <a:solidFill>
              <a:srgbClr val="DCE1EA"/>
            </a:solidFill>
            <a:prstDash val="solid"/>
          </a:ln>
        </p:spPr>
        <p:txBody>
          <a:bodyPr/>
          <a:lstStyle/>
          <a:p>
            <a:endParaRPr lang="en-US" sz="1600"/>
          </a:p>
        </p:txBody>
      </p:sp>
      <p:sp>
        <p:nvSpPr>
          <p:cNvPr id="39" name="Text 37"/>
          <p:cNvSpPr/>
          <p:nvPr/>
        </p:nvSpPr>
        <p:spPr>
          <a:xfrm>
            <a:off x="3840480" y="4754880"/>
            <a:ext cx="3108960" cy="77724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Virtual reality learning spaces</a:t>
            </a:r>
            <a:endParaRPr lang="en-US" sz="1600" dirty="0"/>
          </a:p>
        </p:txBody>
      </p:sp>
      <p:sp>
        <p:nvSpPr>
          <p:cNvPr id="40" name="Shape 38"/>
          <p:cNvSpPr/>
          <p:nvPr/>
        </p:nvSpPr>
        <p:spPr>
          <a:xfrm>
            <a:off x="7040880" y="4754880"/>
            <a:ext cx="4572000" cy="777240"/>
          </a:xfrm>
          <a:prstGeom prst="rect">
            <a:avLst/>
          </a:prstGeom>
          <a:solidFill>
            <a:srgbClr val="FFFFFF"/>
          </a:solidFill>
          <a:ln w="9525">
            <a:solidFill>
              <a:srgbClr val="DCE1EA"/>
            </a:solidFill>
            <a:prstDash val="solid"/>
          </a:ln>
        </p:spPr>
        <p:txBody>
          <a:bodyPr/>
          <a:lstStyle/>
          <a:p>
            <a:endParaRPr lang="en-US" sz="1600"/>
          </a:p>
        </p:txBody>
      </p:sp>
      <p:sp>
        <p:nvSpPr>
          <p:cNvPr id="41" name="Text 39"/>
          <p:cNvSpPr/>
          <p:nvPr/>
        </p:nvSpPr>
        <p:spPr>
          <a:xfrm>
            <a:off x="7132320" y="4754880"/>
            <a:ext cx="4389120" cy="77724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Students meet as avatars inside 3D spaces — still emerging</a:t>
            </a:r>
            <a:endParaRPr lang="en-US" sz="1600" dirty="0"/>
          </a:p>
        </p:txBody>
      </p:sp>
      <p:sp>
        <p:nvSpPr>
          <p:cNvPr id="42" name="Text 40"/>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43" name="Text 41"/>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VIRTUAL CLASSROOMS</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Physical vs Virtual Classroom</a:t>
            </a:r>
            <a:endParaRPr lang="en-US" sz="2400" dirty="0"/>
          </a:p>
        </p:txBody>
      </p:sp>
      <p:sp>
        <p:nvSpPr>
          <p:cNvPr id="6" name="Shape 4"/>
          <p:cNvSpPr/>
          <p:nvPr/>
        </p:nvSpPr>
        <p:spPr>
          <a:xfrm>
            <a:off x="548640" y="1188720"/>
            <a:ext cx="2560320" cy="457200"/>
          </a:xfrm>
          <a:prstGeom prst="rect">
            <a:avLst/>
          </a:prstGeom>
          <a:solidFill>
            <a:srgbClr val="1F3864"/>
          </a:solidFill>
          <a:ln/>
        </p:spPr>
        <p:txBody>
          <a:bodyPr/>
          <a:lstStyle/>
          <a:p>
            <a:endParaRPr lang="en-US" sz="1600"/>
          </a:p>
        </p:txBody>
      </p:sp>
      <p:sp>
        <p:nvSpPr>
          <p:cNvPr id="7" name="Text 5"/>
          <p:cNvSpPr/>
          <p:nvPr/>
        </p:nvSpPr>
        <p:spPr>
          <a:xfrm>
            <a:off x="548640" y="1188720"/>
            <a:ext cx="256032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Aspect</a:t>
            </a:r>
            <a:endParaRPr lang="en-US" sz="1600" dirty="0"/>
          </a:p>
        </p:txBody>
      </p:sp>
      <p:sp>
        <p:nvSpPr>
          <p:cNvPr id="8" name="Shape 6"/>
          <p:cNvSpPr/>
          <p:nvPr/>
        </p:nvSpPr>
        <p:spPr>
          <a:xfrm>
            <a:off x="3108960" y="1188720"/>
            <a:ext cx="4206240" cy="457200"/>
          </a:xfrm>
          <a:prstGeom prst="rect">
            <a:avLst/>
          </a:prstGeom>
          <a:solidFill>
            <a:srgbClr val="B8860B"/>
          </a:solidFill>
          <a:ln/>
        </p:spPr>
        <p:txBody>
          <a:bodyPr/>
          <a:lstStyle/>
          <a:p>
            <a:endParaRPr lang="en-US" sz="1600"/>
          </a:p>
        </p:txBody>
      </p:sp>
      <p:sp>
        <p:nvSpPr>
          <p:cNvPr id="9" name="Text 7"/>
          <p:cNvSpPr/>
          <p:nvPr/>
        </p:nvSpPr>
        <p:spPr>
          <a:xfrm>
            <a:off x="3108960" y="1188720"/>
            <a:ext cx="42062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Physical classroom</a:t>
            </a:r>
            <a:endParaRPr lang="en-US" sz="1600" dirty="0"/>
          </a:p>
        </p:txBody>
      </p:sp>
      <p:sp>
        <p:nvSpPr>
          <p:cNvPr id="10" name="Shape 8"/>
          <p:cNvSpPr/>
          <p:nvPr/>
        </p:nvSpPr>
        <p:spPr>
          <a:xfrm>
            <a:off x="7315200" y="1188720"/>
            <a:ext cx="4297680" cy="457200"/>
          </a:xfrm>
          <a:prstGeom prst="rect">
            <a:avLst/>
          </a:prstGeom>
          <a:solidFill>
            <a:srgbClr val="1F3864"/>
          </a:solidFill>
          <a:ln/>
        </p:spPr>
        <p:txBody>
          <a:bodyPr/>
          <a:lstStyle/>
          <a:p>
            <a:endParaRPr lang="en-US" sz="1600"/>
          </a:p>
        </p:txBody>
      </p:sp>
      <p:sp>
        <p:nvSpPr>
          <p:cNvPr id="11" name="Text 9"/>
          <p:cNvSpPr/>
          <p:nvPr/>
        </p:nvSpPr>
        <p:spPr>
          <a:xfrm>
            <a:off x="7315200" y="1188720"/>
            <a:ext cx="429768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Virtual classroom</a:t>
            </a:r>
            <a:endParaRPr lang="en-US" sz="1600" dirty="0"/>
          </a:p>
        </p:txBody>
      </p:sp>
      <p:sp>
        <p:nvSpPr>
          <p:cNvPr id="12" name="Shape 10"/>
          <p:cNvSpPr/>
          <p:nvPr/>
        </p:nvSpPr>
        <p:spPr>
          <a:xfrm>
            <a:off x="548640" y="1645920"/>
            <a:ext cx="2560320" cy="713232"/>
          </a:xfrm>
          <a:prstGeom prst="rect">
            <a:avLst/>
          </a:prstGeom>
          <a:solidFill>
            <a:srgbClr val="FFFFFF"/>
          </a:solidFill>
          <a:ln w="9525">
            <a:solidFill>
              <a:srgbClr val="DCE1EA"/>
            </a:solidFill>
            <a:prstDash val="solid"/>
          </a:ln>
        </p:spPr>
        <p:txBody>
          <a:bodyPr/>
          <a:lstStyle/>
          <a:p>
            <a:endParaRPr lang="en-US" sz="1600"/>
          </a:p>
        </p:txBody>
      </p:sp>
      <p:sp>
        <p:nvSpPr>
          <p:cNvPr id="13" name="Text 11"/>
          <p:cNvSpPr/>
          <p:nvPr/>
        </p:nvSpPr>
        <p:spPr>
          <a:xfrm>
            <a:off x="640080" y="1645920"/>
            <a:ext cx="2377440" cy="713232"/>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Location &amp; access</a:t>
            </a:r>
            <a:endParaRPr lang="en-US" sz="1600" dirty="0"/>
          </a:p>
        </p:txBody>
      </p:sp>
      <p:sp>
        <p:nvSpPr>
          <p:cNvPr id="14" name="Shape 12"/>
          <p:cNvSpPr/>
          <p:nvPr/>
        </p:nvSpPr>
        <p:spPr>
          <a:xfrm>
            <a:off x="3108960" y="1645920"/>
            <a:ext cx="4206240" cy="713232"/>
          </a:xfrm>
          <a:prstGeom prst="rect">
            <a:avLst/>
          </a:prstGeom>
          <a:solidFill>
            <a:srgbClr val="FFFFFF"/>
          </a:solidFill>
          <a:ln w="9525">
            <a:solidFill>
              <a:srgbClr val="DCE1EA"/>
            </a:solidFill>
            <a:prstDash val="solid"/>
          </a:ln>
        </p:spPr>
        <p:txBody>
          <a:bodyPr/>
          <a:lstStyle/>
          <a:p>
            <a:endParaRPr lang="en-US" sz="1600"/>
          </a:p>
        </p:txBody>
      </p:sp>
      <p:sp>
        <p:nvSpPr>
          <p:cNvPr id="15" name="Text 13"/>
          <p:cNvSpPr/>
          <p:nvPr/>
        </p:nvSpPr>
        <p:spPr>
          <a:xfrm>
            <a:off x="3200400" y="1645920"/>
            <a:ext cx="4023360" cy="71323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Everyone travels to one room</a:t>
            </a:r>
            <a:endParaRPr lang="en-US" sz="1600" dirty="0"/>
          </a:p>
        </p:txBody>
      </p:sp>
      <p:sp>
        <p:nvSpPr>
          <p:cNvPr id="16" name="Shape 14"/>
          <p:cNvSpPr/>
          <p:nvPr/>
        </p:nvSpPr>
        <p:spPr>
          <a:xfrm>
            <a:off x="7315200" y="1645920"/>
            <a:ext cx="4297680" cy="713232"/>
          </a:xfrm>
          <a:prstGeom prst="rect">
            <a:avLst/>
          </a:prstGeom>
          <a:solidFill>
            <a:srgbClr val="FFFFFF"/>
          </a:solidFill>
          <a:ln w="9525">
            <a:solidFill>
              <a:srgbClr val="DCE1EA"/>
            </a:solidFill>
            <a:prstDash val="solid"/>
          </a:ln>
        </p:spPr>
        <p:txBody>
          <a:bodyPr/>
          <a:lstStyle/>
          <a:p>
            <a:endParaRPr lang="en-US" sz="1600"/>
          </a:p>
        </p:txBody>
      </p:sp>
      <p:sp>
        <p:nvSpPr>
          <p:cNvPr id="17" name="Text 15"/>
          <p:cNvSpPr/>
          <p:nvPr/>
        </p:nvSpPr>
        <p:spPr>
          <a:xfrm>
            <a:off x="7406640" y="1645920"/>
            <a:ext cx="4114800" cy="71323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Join from anywhere with internet</a:t>
            </a:r>
            <a:endParaRPr lang="en-US" sz="1600" dirty="0"/>
          </a:p>
        </p:txBody>
      </p:sp>
      <p:sp>
        <p:nvSpPr>
          <p:cNvPr id="18" name="Shape 16"/>
          <p:cNvSpPr/>
          <p:nvPr/>
        </p:nvSpPr>
        <p:spPr>
          <a:xfrm>
            <a:off x="548640" y="2359152"/>
            <a:ext cx="2560320" cy="713232"/>
          </a:xfrm>
          <a:prstGeom prst="rect">
            <a:avLst/>
          </a:prstGeom>
          <a:solidFill>
            <a:srgbClr val="F4F6FA"/>
          </a:solidFill>
          <a:ln w="9525">
            <a:solidFill>
              <a:srgbClr val="DCE1EA"/>
            </a:solidFill>
            <a:prstDash val="solid"/>
          </a:ln>
        </p:spPr>
        <p:txBody>
          <a:bodyPr/>
          <a:lstStyle/>
          <a:p>
            <a:endParaRPr lang="en-US" sz="1600"/>
          </a:p>
        </p:txBody>
      </p:sp>
      <p:sp>
        <p:nvSpPr>
          <p:cNvPr id="19" name="Text 17"/>
          <p:cNvSpPr/>
          <p:nvPr/>
        </p:nvSpPr>
        <p:spPr>
          <a:xfrm>
            <a:off x="640080" y="2359152"/>
            <a:ext cx="2377440" cy="713232"/>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Interaction</a:t>
            </a:r>
            <a:endParaRPr lang="en-US" sz="1600" dirty="0"/>
          </a:p>
        </p:txBody>
      </p:sp>
      <p:sp>
        <p:nvSpPr>
          <p:cNvPr id="20" name="Shape 18"/>
          <p:cNvSpPr/>
          <p:nvPr/>
        </p:nvSpPr>
        <p:spPr>
          <a:xfrm>
            <a:off x="3108960" y="2359152"/>
            <a:ext cx="4206240" cy="713232"/>
          </a:xfrm>
          <a:prstGeom prst="rect">
            <a:avLst/>
          </a:prstGeom>
          <a:solidFill>
            <a:srgbClr val="F4F6FA"/>
          </a:solidFill>
          <a:ln w="9525">
            <a:solidFill>
              <a:srgbClr val="DCE1EA"/>
            </a:solidFill>
            <a:prstDash val="solid"/>
          </a:ln>
        </p:spPr>
        <p:txBody>
          <a:bodyPr/>
          <a:lstStyle/>
          <a:p>
            <a:endParaRPr lang="en-US" sz="1600"/>
          </a:p>
        </p:txBody>
      </p:sp>
      <p:sp>
        <p:nvSpPr>
          <p:cNvPr id="21" name="Text 19"/>
          <p:cNvSpPr/>
          <p:nvPr/>
        </p:nvSpPr>
        <p:spPr>
          <a:xfrm>
            <a:off x="3200400" y="2359152"/>
            <a:ext cx="4023360" cy="71323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Natural face-to-face and body language</a:t>
            </a:r>
            <a:endParaRPr lang="en-US" sz="1600" dirty="0"/>
          </a:p>
        </p:txBody>
      </p:sp>
      <p:sp>
        <p:nvSpPr>
          <p:cNvPr id="22" name="Shape 20"/>
          <p:cNvSpPr/>
          <p:nvPr/>
        </p:nvSpPr>
        <p:spPr>
          <a:xfrm>
            <a:off x="7315200" y="2359152"/>
            <a:ext cx="4297680" cy="713232"/>
          </a:xfrm>
          <a:prstGeom prst="rect">
            <a:avLst/>
          </a:prstGeom>
          <a:solidFill>
            <a:srgbClr val="F4F6FA"/>
          </a:solidFill>
          <a:ln w="9525">
            <a:solidFill>
              <a:srgbClr val="DCE1EA"/>
            </a:solidFill>
            <a:prstDash val="solid"/>
          </a:ln>
        </p:spPr>
        <p:txBody>
          <a:bodyPr/>
          <a:lstStyle/>
          <a:p>
            <a:endParaRPr lang="en-US" sz="1600"/>
          </a:p>
        </p:txBody>
      </p:sp>
      <p:sp>
        <p:nvSpPr>
          <p:cNvPr id="23" name="Text 21"/>
          <p:cNvSpPr/>
          <p:nvPr/>
        </p:nvSpPr>
        <p:spPr>
          <a:xfrm>
            <a:off x="7406640" y="2359152"/>
            <a:ext cx="4114800" cy="71323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Chat, polls, and video; less body language</a:t>
            </a:r>
            <a:endParaRPr lang="en-US" sz="1600" dirty="0"/>
          </a:p>
        </p:txBody>
      </p:sp>
      <p:sp>
        <p:nvSpPr>
          <p:cNvPr id="24" name="Shape 22"/>
          <p:cNvSpPr/>
          <p:nvPr/>
        </p:nvSpPr>
        <p:spPr>
          <a:xfrm>
            <a:off x="548640" y="3072384"/>
            <a:ext cx="2560320" cy="713232"/>
          </a:xfrm>
          <a:prstGeom prst="rect">
            <a:avLst/>
          </a:prstGeom>
          <a:solidFill>
            <a:srgbClr val="FFFFFF"/>
          </a:solidFill>
          <a:ln w="9525">
            <a:solidFill>
              <a:srgbClr val="DCE1EA"/>
            </a:solidFill>
            <a:prstDash val="solid"/>
          </a:ln>
        </p:spPr>
        <p:txBody>
          <a:bodyPr/>
          <a:lstStyle/>
          <a:p>
            <a:endParaRPr lang="en-US" sz="1600"/>
          </a:p>
        </p:txBody>
      </p:sp>
      <p:sp>
        <p:nvSpPr>
          <p:cNvPr id="25" name="Text 23"/>
          <p:cNvSpPr/>
          <p:nvPr/>
        </p:nvSpPr>
        <p:spPr>
          <a:xfrm>
            <a:off x="640080" y="3072384"/>
            <a:ext cx="2377440" cy="713232"/>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Resources</a:t>
            </a:r>
            <a:endParaRPr lang="en-US" sz="1600" dirty="0"/>
          </a:p>
        </p:txBody>
      </p:sp>
      <p:sp>
        <p:nvSpPr>
          <p:cNvPr id="26" name="Shape 24"/>
          <p:cNvSpPr/>
          <p:nvPr/>
        </p:nvSpPr>
        <p:spPr>
          <a:xfrm>
            <a:off x="3108960" y="3072384"/>
            <a:ext cx="4206240" cy="713232"/>
          </a:xfrm>
          <a:prstGeom prst="rect">
            <a:avLst/>
          </a:prstGeom>
          <a:solidFill>
            <a:srgbClr val="FFFFFF"/>
          </a:solidFill>
          <a:ln w="9525">
            <a:solidFill>
              <a:srgbClr val="DCE1EA"/>
            </a:solidFill>
            <a:prstDash val="solid"/>
          </a:ln>
        </p:spPr>
        <p:txBody>
          <a:bodyPr/>
          <a:lstStyle/>
          <a:p>
            <a:endParaRPr lang="en-US" sz="1600"/>
          </a:p>
        </p:txBody>
      </p:sp>
      <p:sp>
        <p:nvSpPr>
          <p:cNvPr id="27" name="Text 25"/>
          <p:cNvSpPr/>
          <p:nvPr/>
        </p:nvSpPr>
        <p:spPr>
          <a:xfrm>
            <a:off x="3200400" y="3072384"/>
            <a:ext cx="4023360" cy="71323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Whiteboard, printed handouts</a:t>
            </a:r>
            <a:endParaRPr lang="en-US" sz="1600" dirty="0"/>
          </a:p>
        </p:txBody>
      </p:sp>
      <p:sp>
        <p:nvSpPr>
          <p:cNvPr id="28" name="Shape 26"/>
          <p:cNvSpPr/>
          <p:nvPr/>
        </p:nvSpPr>
        <p:spPr>
          <a:xfrm>
            <a:off x="7315200" y="3072384"/>
            <a:ext cx="4297680" cy="713232"/>
          </a:xfrm>
          <a:prstGeom prst="rect">
            <a:avLst/>
          </a:prstGeom>
          <a:solidFill>
            <a:srgbClr val="FFFFFF"/>
          </a:solidFill>
          <a:ln w="9525">
            <a:solidFill>
              <a:srgbClr val="DCE1EA"/>
            </a:solidFill>
            <a:prstDash val="solid"/>
          </a:ln>
        </p:spPr>
        <p:txBody>
          <a:bodyPr/>
          <a:lstStyle/>
          <a:p>
            <a:endParaRPr lang="en-US" sz="1600"/>
          </a:p>
        </p:txBody>
      </p:sp>
      <p:sp>
        <p:nvSpPr>
          <p:cNvPr id="29" name="Text 27"/>
          <p:cNvSpPr/>
          <p:nvPr/>
        </p:nvSpPr>
        <p:spPr>
          <a:xfrm>
            <a:off x="7406640" y="3072384"/>
            <a:ext cx="4114800" cy="71323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Screen sharing, files, recordings, online tools</a:t>
            </a:r>
            <a:endParaRPr lang="en-US" sz="1600" dirty="0"/>
          </a:p>
        </p:txBody>
      </p:sp>
      <p:sp>
        <p:nvSpPr>
          <p:cNvPr id="30" name="Shape 28"/>
          <p:cNvSpPr/>
          <p:nvPr/>
        </p:nvSpPr>
        <p:spPr>
          <a:xfrm>
            <a:off x="548640" y="3785616"/>
            <a:ext cx="2560320" cy="713232"/>
          </a:xfrm>
          <a:prstGeom prst="rect">
            <a:avLst/>
          </a:prstGeom>
          <a:solidFill>
            <a:srgbClr val="F4F6FA"/>
          </a:solidFill>
          <a:ln w="9525">
            <a:solidFill>
              <a:srgbClr val="DCE1EA"/>
            </a:solidFill>
            <a:prstDash val="solid"/>
          </a:ln>
        </p:spPr>
        <p:txBody>
          <a:bodyPr/>
          <a:lstStyle/>
          <a:p>
            <a:endParaRPr lang="en-US" sz="1600"/>
          </a:p>
        </p:txBody>
      </p:sp>
      <p:sp>
        <p:nvSpPr>
          <p:cNvPr id="31" name="Text 29"/>
          <p:cNvSpPr/>
          <p:nvPr/>
        </p:nvSpPr>
        <p:spPr>
          <a:xfrm>
            <a:off x="640080" y="3785616"/>
            <a:ext cx="2377440" cy="713232"/>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Record of class</a:t>
            </a:r>
            <a:endParaRPr lang="en-US" sz="1600" dirty="0"/>
          </a:p>
        </p:txBody>
      </p:sp>
      <p:sp>
        <p:nvSpPr>
          <p:cNvPr id="32" name="Shape 30"/>
          <p:cNvSpPr/>
          <p:nvPr/>
        </p:nvSpPr>
        <p:spPr>
          <a:xfrm>
            <a:off x="3108960" y="3785616"/>
            <a:ext cx="4206240" cy="713232"/>
          </a:xfrm>
          <a:prstGeom prst="rect">
            <a:avLst/>
          </a:prstGeom>
          <a:solidFill>
            <a:srgbClr val="F4F6FA"/>
          </a:solidFill>
          <a:ln w="9525">
            <a:solidFill>
              <a:srgbClr val="DCE1EA"/>
            </a:solidFill>
            <a:prstDash val="solid"/>
          </a:ln>
        </p:spPr>
        <p:txBody>
          <a:bodyPr/>
          <a:lstStyle/>
          <a:p>
            <a:endParaRPr lang="en-US" sz="1600"/>
          </a:p>
        </p:txBody>
      </p:sp>
      <p:sp>
        <p:nvSpPr>
          <p:cNvPr id="33" name="Text 31"/>
          <p:cNvSpPr/>
          <p:nvPr/>
        </p:nvSpPr>
        <p:spPr>
          <a:xfrm>
            <a:off x="3200400" y="3785616"/>
            <a:ext cx="4023360" cy="71323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Notes only, unless the teacher records</a:t>
            </a:r>
            <a:endParaRPr lang="en-US" sz="1600" dirty="0"/>
          </a:p>
        </p:txBody>
      </p:sp>
      <p:sp>
        <p:nvSpPr>
          <p:cNvPr id="34" name="Shape 32"/>
          <p:cNvSpPr/>
          <p:nvPr/>
        </p:nvSpPr>
        <p:spPr>
          <a:xfrm>
            <a:off x="7315200" y="3785616"/>
            <a:ext cx="4297680" cy="713232"/>
          </a:xfrm>
          <a:prstGeom prst="rect">
            <a:avLst/>
          </a:prstGeom>
          <a:solidFill>
            <a:srgbClr val="F4F6FA"/>
          </a:solidFill>
          <a:ln w="9525">
            <a:solidFill>
              <a:srgbClr val="DCE1EA"/>
            </a:solidFill>
            <a:prstDash val="solid"/>
          </a:ln>
        </p:spPr>
        <p:txBody>
          <a:bodyPr/>
          <a:lstStyle/>
          <a:p>
            <a:endParaRPr lang="en-US" sz="1600"/>
          </a:p>
        </p:txBody>
      </p:sp>
      <p:sp>
        <p:nvSpPr>
          <p:cNvPr id="35" name="Text 33"/>
          <p:cNvSpPr/>
          <p:nvPr/>
        </p:nvSpPr>
        <p:spPr>
          <a:xfrm>
            <a:off x="7406640" y="3785616"/>
            <a:ext cx="4114800" cy="71323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Recording and chat history easy to keep</a:t>
            </a:r>
            <a:endParaRPr lang="en-US" sz="1600" dirty="0"/>
          </a:p>
        </p:txBody>
      </p:sp>
      <p:sp>
        <p:nvSpPr>
          <p:cNvPr id="36" name="Shape 34"/>
          <p:cNvSpPr/>
          <p:nvPr/>
        </p:nvSpPr>
        <p:spPr>
          <a:xfrm>
            <a:off x="548640" y="4498848"/>
            <a:ext cx="2560320" cy="713232"/>
          </a:xfrm>
          <a:prstGeom prst="rect">
            <a:avLst/>
          </a:prstGeom>
          <a:solidFill>
            <a:srgbClr val="FFFFFF"/>
          </a:solidFill>
          <a:ln w="9525">
            <a:solidFill>
              <a:srgbClr val="DCE1EA"/>
            </a:solidFill>
            <a:prstDash val="solid"/>
          </a:ln>
        </p:spPr>
        <p:txBody>
          <a:bodyPr/>
          <a:lstStyle/>
          <a:p>
            <a:endParaRPr lang="en-US" sz="1600"/>
          </a:p>
        </p:txBody>
      </p:sp>
      <p:sp>
        <p:nvSpPr>
          <p:cNvPr id="37" name="Text 35"/>
          <p:cNvSpPr/>
          <p:nvPr/>
        </p:nvSpPr>
        <p:spPr>
          <a:xfrm>
            <a:off x="640080" y="4498848"/>
            <a:ext cx="2377440" cy="713232"/>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Main challenges</a:t>
            </a:r>
            <a:endParaRPr lang="en-US" sz="1600" dirty="0"/>
          </a:p>
        </p:txBody>
      </p:sp>
      <p:sp>
        <p:nvSpPr>
          <p:cNvPr id="38" name="Shape 36"/>
          <p:cNvSpPr/>
          <p:nvPr/>
        </p:nvSpPr>
        <p:spPr>
          <a:xfrm>
            <a:off x="3108960" y="4498848"/>
            <a:ext cx="4206240" cy="713232"/>
          </a:xfrm>
          <a:prstGeom prst="rect">
            <a:avLst/>
          </a:prstGeom>
          <a:solidFill>
            <a:srgbClr val="FFFFFF"/>
          </a:solidFill>
          <a:ln w="9525">
            <a:solidFill>
              <a:srgbClr val="DCE1EA"/>
            </a:solidFill>
            <a:prstDash val="solid"/>
          </a:ln>
        </p:spPr>
        <p:txBody>
          <a:bodyPr/>
          <a:lstStyle/>
          <a:p>
            <a:endParaRPr lang="en-US" sz="1600"/>
          </a:p>
        </p:txBody>
      </p:sp>
      <p:sp>
        <p:nvSpPr>
          <p:cNvPr id="39" name="Text 37"/>
          <p:cNvSpPr/>
          <p:nvPr/>
        </p:nvSpPr>
        <p:spPr>
          <a:xfrm>
            <a:off x="3200400" y="4498848"/>
            <a:ext cx="4023360" cy="71323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Travel, fixed room capacity</a:t>
            </a:r>
            <a:endParaRPr lang="en-US" sz="1600" dirty="0"/>
          </a:p>
        </p:txBody>
      </p:sp>
      <p:sp>
        <p:nvSpPr>
          <p:cNvPr id="40" name="Shape 38"/>
          <p:cNvSpPr/>
          <p:nvPr/>
        </p:nvSpPr>
        <p:spPr>
          <a:xfrm>
            <a:off x="7315200" y="4498848"/>
            <a:ext cx="4297680" cy="713232"/>
          </a:xfrm>
          <a:prstGeom prst="rect">
            <a:avLst/>
          </a:prstGeom>
          <a:solidFill>
            <a:srgbClr val="FFFFFF"/>
          </a:solidFill>
          <a:ln w="9525">
            <a:solidFill>
              <a:srgbClr val="DCE1EA"/>
            </a:solidFill>
            <a:prstDash val="solid"/>
          </a:ln>
        </p:spPr>
        <p:txBody>
          <a:bodyPr/>
          <a:lstStyle/>
          <a:p>
            <a:endParaRPr lang="en-US" sz="1600"/>
          </a:p>
        </p:txBody>
      </p:sp>
      <p:sp>
        <p:nvSpPr>
          <p:cNvPr id="41" name="Text 39"/>
          <p:cNvSpPr/>
          <p:nvPr/>
        </p:nvSpPr>
        <p:spPr>
          <a:xfrm>
            <a:off x="7406640" y="4498848"/>
            <a:ext cx="4114800" cy="71323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Internet problems, distractions, screen fatigue</a:t>
            </a:r>
            <a:endParaRPr lang="en-US" sz="1600" dirty="0"/>
          </a:p>
        </p:txBody>
      </p:sp>
      <p:sp>
        <p:nvSpPr>
          <p:cNvPr id="42" name="Shape 40"/>
          <p:cNvSpPr/>
          <p:nvPr/>
        </p:nvSpPr>
        <p:spPr>
          <a:xfrm>
            <a:off x="548640" y="5212080"/>
            <a:ext cx="2560320" cy="713232"/>
          </a:xfrm>
          <a:prstGeom prst="rect">
            <a:avLst/>
          </a:prstGeom>
          <a:solidFill>
            <a:srgbClr val="F4F6FA"/>
          </a:solidFill>
          <a:ln w="9525">
            <a:solidFill>
              <a:srgbClr val="DCE1EA"/>
            </a:solidFill>
            <a:prstDash val="solid"/>
          </a:ln>
        </p:spPr>
        <p:txBody>
          <a:bodyPr/>
          <a:lstStyle/>
          <a:p>
            <a:endParaRPr lang="en-US" sz="1600"/>
          </a:p>
        </p:txBody>
      </p:sp>
      <p:sp>
        <p:nvSpPr>
          <p:cNvPr id="43" name="Text 41"/>
          <p:cNvSpPr/>
          <p:nvPr/>
        </p:nvSpPr>
        <p:spPr>
          <a:xfrm>
            <a:off x="640080" y="5212080"/>
            <a:ext cx="2377440" cy="713232"/>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Best used for</a:t>
            </a:r>
            <a:endParaRPr lang="en-US" sz="1600" dirty="0"/>
          </a:p>
        </p:txBody>
      </p:sp>
      <p:sp>
        <p:nvSpPr>
          <p:cNvPr id="44" name="Shape 42"/>
          <p:cNvSpPr/>
          <p:nvPr/>
        </p:nvSpPr>
        <p:spPr>
          <a:xfrm>
            <a:off x="3108960" y="5212080"/>
            <a:ext cx="4206240" cy="713232"/>
          </a:xfrm>
          <a:prstGeom prst="rect">
            <a:avLst/>
          </a:prstGeom>
          <a:solidFill>
            <a:srgbClr val="F4F6FA"/>
          </a:solidFill>
          <a:ln w="9525">
            <a:solidFill>
              <a:srgbClr val="DCE1EA"/>
            </a:solidFill>
            <a:prstDash val="solid"/>
          </a:ln>
        </p:spPr>
        <p:txBody>
          <a:bodyPr/>
          <a:lstStyle/>
          <a:p>
            <a:endParaRPr lang="en-US" sz="1600"/>
          </a:p>
        </p:txBody>
      </p:sp>
      <p:sp>
        <p:nvSpPr>
          <p:cNvPr id="45" name="Text 43"/>
          <p:cNvSpPr/>
          <p:nvPr/>
        </p:nvSpPr>
        <p:spPr>
          <a:xfrm>
            <a:off x="3200400" y="5212080"/>
            <a:ext cx="4023360" cy="71323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Hands-on labs and social learning</a:t>
            </a:r>
            <a:endParaRPr lang="en-US" sz="1600" dirty="0"/>
          </a:p>
        </p:txBody>
      </p:sp>
      <p:sp>
        <p:nvSpPr>
          <p:cNvPr id="46" name="Shape 44"/>
          <p:cNvSpPr/>
          <p:nvPr/>
        </p:nvSpPr>
        <p:spPr>
          <a:xfrm>
            <a:off x="7315200" y="5212080"/>
            <a:ext cx="4297680" cy="713232"/>
          </a:xfrm>
          <a:prstGeom prst="rect">
            <a:avLst/>
          </a:prstGeom>
          <a:solidFill>
            <a:srgbClr val="F4F6FA"/>
          </a:solidFill>
          <a:ln w="9525">
            <a:solidFill>
              <a:srgbClr val="DCE1EA"/>
            </a:solidFill>
            <a:prstDash val="solid"/>
          </a:ln>
        </p:spPr>
        <p:txBody>
          <a:bodyPr/>
          <a:lstStyle/>
          <a:p>
            <a:endParaRPr lang="en-US" sz="1600"/>
          </a:p>
        </p:txBody>
      </p:sp>
      <p:sp>
        <p:nvSpPr>
          <p:cNvPr id="47" name="Text 45"/>
          <p:cNvSpPr/>
          <p:nvPr/>
        </p:nvSpPr>
        <p:spPr>
          <a:xfrm>
            <a:off x="7406640" y="5212080"/>
            <a:ext cx="4114800" cy="71323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Flexible, remote, and recorded teaching</a:t>
            </a:r>
            <a:endParaRPr lang="en-US" sz="1600" dirty="0"/>
          </a:p>
        </p:txBody>
      </p:sp>
      <p:sp>
        <p:nvSpPr>
          <p:cNvPr id="48" name="Text 46"/>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49" name="Text 47"/>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sz="1600"/>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VIRTUAL CLASSROOMS</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Benefits, Challenges &amp; Best Practices</a:t>
            </a:r>
            <a:endParaRPr lang="en-US" sz="2400" dirty="0"/>
          </a:p>
        </p:txBody>
      </p:sp>
      <p:sp>
        <p:nvSpPr>
          <p:cNvPr id="6" name="Shape 4"/>
          <p:cNvSpPr/>
          <p:nvPr/>
        </p:nvSpPr>
        <p:spPr>
          <a:xfrm>
            <a:off x="548640" y="1143000"/>
            <a:ext cx="5394960" cy="1600200"/>
          </a:xfrm>
          <a:prstGeom prst="roundRect">
            <a:avLst>
              <a:gd name="adj" fmla="val 4571"/>
            </a:avLst>
          </a:prstGeom>
          <a:solidFill>
            <a:srgbClr val="EAF6EC"/>
          </a:solidFill>
          <a:ln w="12700">
            <a:solidFill>
              <a:srgbClr val="DCE1EA"/>
            </a:solidFill>
            <a:prstDash val="solid"/>
          </a:ln>
        </p:spPr>
        <p:txBody>
          <a:bodyPr/>
          <a:lstStyle/>
          <a:p>
            <a:endParaRPr lang="en-US" sz="1600"/>
          </a:p>
        </p:txBody>
      </p:sp>
      <p:sp>
        <p:nvSpPr>
          <p:cNvPr id="7" name="Text 5"/>
          <p:cNvSpPr/>
          <p:nvPr/>
        </p:nvSpPr>
        <p:spPr>
          <a:xfrm>
            <a:off x="777240" y="128016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Benefits</a:t>
            </a:r>
            <a:endParaRPr lang="en-US" sz="1600" dirty="0"/>
          </a:p>
        </p:txBody>
      </p:sp>
      <p:sp>
        <p:nvSpPr>
          <p:cNvPr id="8" name="Text 6"/>
          <p:cNvSpPr/>
          <p:nvPr/>
        </p:nvSpPr>
        <p:spPr>
          <a:xfrm>
            <a:off x="777240" y="164592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Flexible access, lower travel cost, recordings for revision, and the ability to bring in experts from anywhere.</a:t>
            </a:r>
            <a:endParaRPr lang="en-US" sz="1600" dirty="0"/>
          </a:p>
        </p:txBody>
      </p:sp>
      <p:sp>
        <p:nvSpPr>
          <p:cNvPr id="9" name="Shape 7"/>
          <p:cNvSpPr/>
          <p:nvPr/>
        </p:nvSpPr>
        <p:spPr>
          <a:xfrm>
            <a:off x="6172200" y="114300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10" name="Text 8"/>
          <p:cNvSpPr/>
          <p:nvPr/>
        </p:nvSpPr>
        <p:spPr>
          <a:xfrm>
            <a:off x="6400800" y="128016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Challenges</a:t>
            </a:r>
            <a:endParaRPr lang="en-US" sz="1600" dirty="0"/>
          </a:p>
        </p:txBody>
      </p:sp>
      <p:sp>
        <p:nvSpPr>
          <p:cNvPr id="11" name="Text 9"/>
          <p:cNvSpPr/>
          <p:nvPr/>
        </p:nvSpPr>
        <p:spPr>
          <a:xfrm>
            <a:off x="6400800" y="164592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Unequal internet and device access (the digital divide), distractions at home, and “screen fatigue” from long sessions.</a:t>
            </a:r>
            <a:endParaRPr lang="en-US" sz="1600" dirty="0"/>
          </a:p>
        </p:txBody>
      </p:sp>
      <p:sp>
        <p:nvSpPr>
          <p:cNvPr id="12" name="Shape 10"/>
          <p:cNvSpPr/>
          <p:nvPr/>
        </p:nvSpPr>
        <p:spPr>
          <a:xfrm>
            <a:off x="548640" y="2880360"/>
            <a:ext cx="5394960" cy="1600200"/>
          </a:xfrm>
          <a:prstGeom prst="roundRect">
            <a:avLst>
              <a:gd name="adj" fmla="val 4571"/>
            </a:avLst>
          </a:prstGeom>
          <a:solidFill>
            <a:srgbClr val="EAF6EC"/>
          </a:solidFill>
          <a:ln w="12700">
            <a:solidFill>
              <a:srgbClr val="DCE1EA"/>
            </a:solidFill>
            <a:prstDash val="solid"/>
          </a:ln>
        </p:spPr>
        <p:txBody>
          <a:bodyPr/>
          <a:lstStyle/>
          <a:p>
            <a:endParaRPr lang="en-US" sz="1600"/>
          </a:p>
        </p:txBody>
      </p:sp>
      <p:sp>
        <p:nvSpPr>
          <p:cNvPr id="13" name="Text 11"/>
          <p:cNvSpPr/>
          <p:nvPr/>
        </p:nvSpPr>
        <p:spPr>
          <a:xfrm>
            <a:off x="777240" y="301752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Best Practices: Teachers</a:t>
            </a:r>
            <a:endParaRPr lang="en-US" sz="1600" dirty="0"/>
          </a:p>
        </p:txBody>
      </p:sp>
      <p:sp>
        <p:nvSpPr>
          <p:cNvPr id="14" name="Text 12"/>
          <p:cNvSpPr/>
          <p:nvPr/>
        </p:nvSpPr>
        <p:spPr>
          <a:xfrm>
            <a:off x="777240" y="338328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Keep sessions interactive, change activity every few minutes, share notes, and record for absent students.</a:t>
            </a:r>
            <a:endParaRPr lang="en-US" sz="1600" dirty="0"/>
          </a:p>
        </p:txBody>
      </p:sp>
      <p:sp>
        <p:nvSpPr>
          <p:cNvPr id="15" name="Shape 13"/>
          <p:cNvSpPr/>
          <p:nvPr/>
        </p:nvSpPr>
        <p:spPr>
          <a:xfrm>
            <a:off x="6172200" y="288036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16" name="Text 14"/>
          <p:cNvSpPr/>
          <p:nvPr/>
        </p:nvSpPr>
        <p:spPr>
          <a:xfrm>
            <a:off x="6400800" y="301752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Best Practices: Students</a:t>
            </a:r>
            <a:endParaRPr lang="en-US" sz="1600" dirty="0"/>
          </a:p>
        </p:txBody>
      </p:sp>
      <p:sp>
        <p:nvSpPr>
          <p:cNvPr id="17" name="Text 15"/>
          <p:cNvSpPr/>
          <p:nvPr/>
        </p:nvSpPr>
        <p:spPr>
          <a:xfrm>
            <a:off x="6400800" y="338328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Join early, mute when not speaking, use chat and raise hand, and keep a quiet, distraction-free space.</a:t>
            </a:r>
            <a:endParaRPr lang="en-US" sz="1600" dirty="0"/>
          </a:p>
        </p:txBody>
      </p:sp>
      <p:sp>
        <p:nvSpPr>
          <p:cNvPr id="18" name="Shape 16"/>
          <p:cNvSpPr/>
          <p:nvPr/>
        </p:nvSpPr>
        <p:spPr>
          <a:xfrm>
            <a:off x="548640" y="4617720"/>
            <a:ext cx="5394960" cy="1600200"/>
          </a:xfrm>
          <a:prstGeom prst="roundRect">
            <a:avLst>
              <a:gd name="adj" fmla="val 4571"/>
            </a:avLst>
          </a:prstGeom>
          <a:solidFill>
            <a:srgbClr val="EAF6EC"/>
          </a:solidFill>
          <a:ln w="12700">
            <a:solidFill>
              <a:srgbClr val="DCE1EA"/>
            </a:solidFill>
            <a:prstDash val="solid"/>
          </a:ln>
        </p:spPr>
        <p:txBody>
          <a:bodyPr/>
          <a:lstStyle/>
          <a:p>
            <a:endParaRPr lang="en-US" sz="1600"/>
          </a:p>
        </p:txBody>
      </p:sp>
      <p:sp>
        <p:nvSpPr>
          <p:cNvPr id="19" name="Text 17"/>
          <p:cNvSpPr/>
          <p:nvPr/>
        </p:nvSpPr>
        <p:spPr>
          <a:xfrm>
            <a:off x="777240" y="475488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Netiquette</a:t>
            </a:r>
            <a:endParaRPr lang="en-US" sz="1600" dirty="0"/>
          </a:p>
        </p:txBody>
      </p:sp>
      <p:sp>
        <p:nvSpPr>
          <p:cNvPr id="20" name="Text 18"/>
          <p:cNvSpPr/>
          <p:nvPr/>
        </p:nvSpPr>
        <p:spPr>
          <a:xfrm>
            <a:off x="777240" y="512064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Be respectful, keep your name visible, and never record or share a session without permission.</a:t>
            </a:r>
            <a:endParaRPr lang="en-US" sz="1600" dirty="0"/>
          </a:p>
        </p:txBody>
      </p:sp>
      <p:sp>
        <p:nvSpPr>
          <p:cNvPr id="21" name="Shape 19"/>
          <p:cNvSpPr/>
          <p:nvPr/>
        </p:nvSpPr>
        <p:spPr>
          <a:xfrm>
            <a:off x="6172200" y="461772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22" name="Text 20"/>
          <p:cNvSpPr/>
          <p:nvPr/>
        </p:nvSpPr>
        <p:spPr>
          <a:xfrm>
            <a:off x="6400800" y="475488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Support Equity</a:t>
            </a:r>
            <a:endParaRPr lang="en-US" sz="1600" dirty="0"/>
          </a:p>
        </p:txBody>
      </p:sp>
      <p:sp>
        <p:nvSpPr>
          <p:cNvPr id="23" name="Text 21"/>
          <p:cNvSpPr/>
          <p:nvPr/>
        </p:nvSpPr>
        <p:spPr>
          <a:xfrm>
            <a:off x="6400800" y="512064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Offer low-bandwidth options, recordings, and clear materials so students with weaker connections are not left behind.</a:t>
            </a:r>
            <a:endParaRPr lang="en-US" sz="1600" dirty="0"/>
          </a:p>
        </p:txBody>
      </p:sp>
      <p:sp>
        <p:nvSpPr>
          <p:cNvPr id="24" name="Text 22"/>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25" name="Text 23"/>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62B4D"/>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62B4D"/>
          </a:solidFill>
          <a:ln/>
        </p:spPr>
        <p:txBody>
          <a:bodyPr/>
          <a:lstStyle/>
          <a:p>
            <a:endParaRPr lang="en-US"/>
          </a:p>
        </p:txBody>
      </p:sp>
      <p:pic>
        <p:nvPicPr>
          <p:cNvPr id="3" name="Image 0" descr="logos/docs.png"/>
          <p:cNvPicPr>
            <a:picLocks noChangeAspect="1"/>
          </p:cNvPicPr>
          <p:nvPr/>
        </p:nvPicPr>
        <p:blipFill>
          <a:blip r:embed="rId3"/>
          <a:stretch>
            <a:fillRect/>
          </a:stretch>
        </p:blipFill>
        <p:spPr>
          <a:xfrm>
            <a:off x="4568800" y="1417320"/>
            <a:ext cx="914400" cy="914400"/>
          </a:xfrm>
          <a:prstGeom prst="rect">
            <a:avLst/>
          </a:prstGeom>
        </p:spPr>
      </p:pic>
      <p:pic>
        <p:nvPicPr>
          <p:cNvPr id="4" name="Image 1" descr="logos/sheets.png"/>
          <p:cNvPicPr>
            <a:picLocks noChangeAspect="1"/>
          </p:cNvPicPr>
          <p:nvPr/>
        </p:nvPicPr>
        <p:blipFill>
          <a:blip r:embed="rId4"/>
          <a:stretch>
            <a:fillRect/>
          </a:stretch>
        </p:blipFill>
        <p:spPr>
          <a:xfrm>
            <a:off x="5638648" y="1417320"/>
            <a:ext cx="914400" cy="914400"/>
          </a:xfrm>
          <a:prstGeom prst="rect">
            <a:avLst/>
          </a:prstGeom>
        </p:spPr>
      </p:pic>
      <p:pic>
        <p:nvPicPr>
          <p:cNvPr id="5" name="Image 2" descr="logos/slides.png"/>
          <p:cNvPicPr>
            <a:picLocks noChangeAspect="1"/>
          </p:cNvPicPr>
          <p:nvPr/>
        </p:nvPicPr>
        <p:blipFill>
          <a:blip r:embed="rId5"/>
          <a:stretch>
            <a:fillRect/>
          </a:stretch>
        </p:blipFill>
        <p:spPr>
          <a:xfrm>
            <a:off x="6708496" y="1417320"/>
            <a:ext cx="914400" cy="914400"/>
          </a:xfrm>
          <a:prstGeom prst="rect">
            <a:avLst/>
          </a:prstGeom>
        </p:spPr>
      </p:pic>
      <p:sp>
        <p:nvSpPr>
          <p:cNvPr id="6" name="Text 1"/>
          <p:cNvSpPr/>
          <p:nvPr/>
        </p:nvSpPr>
        <p:spPr>
          <a:xfrm>
            <a:off x="822960" y="2697480"/>
            <a:ext cx="10515600" cy="457200"/>
          </a:xfrm>
          <a:prstGeom prst="rect">
            <a:avLst/>
          </a:prstGeom>
          <a:noFill/>
          <a:ln/>
        </p:spPr>
        <p:txBody>
          <a:bodyPr wrap="square" rtlCol="0" anchor="ctr"/>
          <a:lstStyle/>
          <a:p>
            <a:pPr marL="0" indent="0" algn="ctr">
              <a:buNone/>
            </a:pPr>
            <a:r>
              <a:rPr lang="en-US" sz="1600" b="1" kern="0" spc="300" dirty="0">
                <a:solidFill>
                  <a:srgbClr val="D8B84A"/>
                </a:solidFill>
                <a:latin typeface="Calibri" pitchFamily="34" charset="0"/>
                <a:ea typeface="Calibri" pitchFamily="34" charset="-122"/>
                <a:cs typeface="Calibri" pitchFamily="34" charset="-120"/>
              </a:rPr>
              <a:t>PART 3 — WEEK 4 CATCH-UP: GOOGLE WORKSPACE</a:t>
            </a:r>
            <a:endParaRPr lang="en-US" sz="1600" dirty="0"/>
          </a:p>
        </p:txBody>
      </p:sp>
      <p:sp>
        <p:nvSpPr>
          <p:cNvPr id="7" name="Text 2"/>
          <p:cNvSpPr/>
          <p:nvPr/>
        </p:nvSpPr>
        <p:spPr>
          <a:xfrm>
            <a:off x="822960" y="3154680"/>
            <a:ext cx="10515600" cy="73152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Google Docs, Sheets &amp; Slides</a:t>
            </a:r>
            <a:endParaRPr lang="en-US" sz="3000" dirty="0"/>
          </a:p>
        </p:txBody>
      </p:sp>
      <p:sp>
        <p:nvSpPr>
          <p:cNvPr id="8" name="Text 3"/>
          <p:cNvSpPr/>
          <p:nvPr/>
        </p:nvSpPr>
        <p:spPr>
          <a:xfrm>
            <a:off x="822960" y="3886200"/>
            <a:ext cx="10515600" cy="457200"/>
          </a:xfrm>
          <a:prstGeom prst="rect">
            <a:avLst/>
          </a:prstGeom>
          <a:noFill/>
          <a:ln/>
        </p:spPr>
        <p:txBody>
          <a:bodyPr wrap="square" rtlCol="0" anchor="ctr"/>
          <a:lstStyle/>
          <a:p>
            <a:pPr marL="0" indent="0" algn="ctr">
              <a:buNone/>
            </a:pPr>
            <a:r>
              <a:rPr lang="en-US" sz="1500" i="1" dirty="0">
                <a:solidFill>
                  <a:srgbClr val="C7D0E0"/>
                </a:solidFill>
                <a:latin typeface="Calibri" pitchFamily="34" charset="0"/>
                <a:ea typeface="Calibri" pitchFamily="34" charset="-122"/>
                <a:cs typeface="Calibri" pitchFamily="34" charset="-120"/>
              </a:rPr>
              <a:t>Write, calculate, and present — together, in the cloud</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WEEK 4 CATCH-UP — GOOGLE WORKSPACE</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What Is Google Workspace?</a:t>
            </a:r>
            <a:endParaRPr lang="en-US" sz="2400" dirty="0"/>
          </a:p>
        </p:txBody>
      </p:sp>
      <p:sp>
        <p:nvSpPr>
          <p:cNvPr id="6" name="Shape 4"/>
          <p:cNvSpPr/>
          <p:nvPr/>
        </p:nvSpPr>
        <p:spPr>
          <a:xfrm>
            <a:off x="548640" y="114300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7" name="Text 5"/>
          <p:cNvSpPr/>
          <p:nvPr/>
        </p:nvSpPr>
        <p:spPr>
          <a:xfrm>
            <a:off x="777240" y="128016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The Idea</a:t>
            </a:r>
            <a:endParaRPr lang="en-US" sz="1600" dirty="0"/>
          </a:p>
        </p:txBody>
      </p:sp>
      <p:sp>
        <p:nvSpPr>
          <p:cNvPr id="8" name="Text 6"/>
          <p:cNvSpPr/>
          <p:nvPr/>
        </p:nvSpPr>
        <p:spPr>
          <a:xfrm>
            <a:off x="77724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A set of online productivity apps that run in a browser; files are saved automatically in the cloud and can be shared instantly.</a:t>
            </a:r>
            <a:endParaRPr lang="en-US" sz="1600" dirty="0"/>
          </a:p>
        </p:txBody>
      </p:sp>
      <p:sp>
        <p:nvSpPr>
          <p:cNvPr id="9" name="Shape 7"/>
          <p:cNvSpPr/>
          <p:nvPr/>
        </p:nvSpPr>
        <p:spPr>
          <a:xfrm>
            <a:off x="6172200" y="1143000"/>
            <a:ext cx="5394960" cy="1600200"/>
          </a:xfrm>
          <a:prstGeom prst="roundRect">
            <a:avLst>
              <a:gd name="adj" fmla="val 4571"/>
            </a:avLst>
          </a:prstGeom>
          <a:solidFill>
            <a:srgbClr val="EAF6EC"/>
          </a:solidFill>
          <a:ln w="12700">
            <a:solidFill>
              <a:srgbClr val="DCE1EA"/>
            </a:solidFill>
            <a:prstDash val="solid"/>
          </a:ln>
        </p:spPr>
        <p:txBody>
          <a:bodyPr/>
          <a:lstStyle/>
          <a:p>
            <a:endParaRPr lang="en-US" sz="1600"/>
          </a:p>
        </p:txBody>
      </p:sp>
      <p:sp>
        <p:nvSpPr>
          <p:cNvPr id="10" name="Text 8"/>
          <p:cNvSpPr/>
          <p:nvPr/>
        </p:nvSpPr>
        <p:spPr>
          <a:xfrm>
            <a:off x="6400800" y="128016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Docs, Sheets, Slides</a:t>
            </a:r>
            <a:endParaRPr lang="en-US" sz="1600" dirty="0"/>
          </a:p>
        </p:txBody>
      </p:sp>
      <p:sp>
        <p:nvSpPr>
          <p:cNvPr id="11" name="Text 9"/>
          <p:cNvSpPr/>
          <p:nvPr/>
        </p:nvSpPr>
        <p:spPr>
          <a:xfrm>
            <a:off x="640080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Word processing, spreadsheets, and presentations — the online counterparts of Word, Excel, and PowerPoint.</a:t>
            </a:r>
            <a:endParaRPr lang="en-US" sz="1600" dirty="0"/>
          </a:p>
        </p:txBody>
      </p:sp>
      <p:sp>
        <p:nvSpPr>
          <p:cNvPr id="12" name="Shape 10"/>
          <p:cNvSpPr/>
          <p:nvPr/>
        </p:nvSpPr>
        <p:spPr>
          <a:xfrm>
            <a:off x="548640" y="288036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13" name="Text 11"/>
          <p:cNvSpPr/>
          <p:nvPr/>
        </p:nvSpPr>
        <p:spPr>
          <a:xfrm>
            <a:off x="777240" y="301752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Connected Services</a:t>
            </a:r>
            <a:endParaRPr lang="en-US" sz="1600" dirty="0"/>
          </a:p>
        </p:txBody>
      </p:sp>
      <p:sp>
        <p:nvSpPr>
          <p:cNvPr id="14" name="Text 12"/>
          <p:cNvSpPr/>
          <p:nvPr/>
        </p:nvSpPr>
        <p:spPr>
          <a:xfrm>
            <a:off x="77724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Works with Gmail, Drive, Calendar, Meet, and Forms so mail, files, meetings, and surveys fit together.</a:t>
            </a:r>
            <a:endParaRPr lang="en-US" sz="1600" dirty="0"/>
          </a:p>
        </p:txBody>
      </p:sp>
      <p:sp>
        <p:nvSpPr>
          <p:cNvPr id="15" name="Shape 13"/>
          <p:cNvSpPr/>
          <p:nvPr/>
        </p:nvSpPr>
        <p:spPr>
          <a:xfrm>
            <a:off x="6172200" y="2880360"/>
            <a:ext cx="5394960" cy="1600200"/>
          </a:xfrm>
          <a:prstGeom prst="roundRect">
            <a:avLst>
              <a:gd name="adj" fmla="val 4571"/>
            </a:avLst>
          </a:prstGeom>
          <a:solidFill>
            <a:srgbClr val="EAF6EC"/>
          </a:solidFill>
          <a:ln w="12700">
            <a:solidFill>
              <a:srgbClr val="DCE1EA"/>
            </a:solidFill>
            <a:prstDash val="solid"/>
          </a:ln>
        </p:spPr>
        <p:txBody>
          <a:bodyPr/>
          <a:lstStyle/>
          <a:p>
            <a:endParaRPr lang="en-US" sz="1600"/>
          </a:p>
        </p:txBody>
      </p:sp>
      <p:sp>
        <p:nvSpPr>
          <p:cNvPr id="16" name="Text 14"/>
          <p:cNvSpPr/>
          <p:nvPr/>
        </p:nvSpPr>
        <p:spPr>
          <a:xfrm>
            <a:off x="6400800" y="301752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Real-Time Collaboration</a:t>
            </a:r>
            <a:endParaRPr lang="en-US" sz="1600" dirty="0"/>
          </a:p>
        </p:txBody>
      </p:sp>
      <p:sp>
        <p:nvSpPr>
          <p:cNvPr id="17" name="Text 15"/>
          <p:cNvSpPr/>
          <p:nvPr/>
        </p:nvSpPr>
        <p:spPr>
          <a:xfrm>
            <a:off x="640080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Several people edit the same file at once, see each other’s cursors, and discuss through comments.</a:t>
            </a:r>
            <a:endParaRPr lang="en-US" sz="1600" dirty="0"/>
          </a:p>
        </p:txBody>
      </p:sp>
      <p:sp>
        <p:nvSpPr>
          <p:cNvPr id="18" name="Shape 16"/>
          <p:cNvSpPr/>
          <p:nvPr/>
        </p:nvSpPr>
        <p:spPr>
          <a:xfrm>
            <a:off x="548640" y="461772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19" name="Text 17"/>
          <p:cNvSpPr/>
          <p:nvPr/>
        </p:nvSpPr>
        <p:spPr>
          <a:xfrm>
            <a:off x="777240" y="475488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Free and Paid Options</a:t>
            </a:r>
            <a:endParaRPr lang="en-US" sz="1600" dirty="0"/>
          </a:p>
        </p:txBody>
      </p:sp>
      <p:sp>
        <p:nvSpPr>
          <p:cNvPr id="20" name="Text 18"/>
          <p:cNvSpPr/>
          <p:nvPr/>
        </p:nvSpPr>
        <p:spPr>
          <a:xfrm>
            <a:off x="77724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A free Google account includes the apps with shared storage; Workspace plans add business and education features.</a:t>
            </a:r>
            <a:endParaRPr lang="en-US" sz="1600" dirty="0"/>
          </a:p>
        </p:txBody>
      </p:sp>
      <p:sp>
        <p:nvSpPr>
          <p:cNvPr id="21" name="Shape 19"/>
          <p:cNvSpPr/>
          <p:nvPr/>
        </p:nvSpPr>
        <p:spPr>
          <a:xfrm>
            <a:off x="6172200" y="4617720"/>
            <a:ext cx="5394960" cy="1600200"/>
          </a:xfrm>
          <a:prstGeom prst="roundRect">
            <a:avLst>
              <a:gd name="adj" fmla="val 4571"/>
            </a:avLst>
          </a:prstGeom>
          <a:solidFill>
            <a:srgbClr val="EAF6EC"/>
          </a:solidFill>
          <a:ln w="12700">
            <a:solidFill>
              <a:srgbClr val="DCE1EA"/>
            </a:solidFill>
            <a:prstDash val="solid"/>
          </a:ln>
        </p:spPr>
        <p:txBody>
          <a:bodyPr/>
          <a:lstStyle/>
          <a:p>
            <a:endParaRPr lang="en-US" sz="1600"/>
          </a:p>
        </p:txBody>
      </p:sp>
      <p:sp>
        <p:nvSpPr>
          <p:cNvPr id="22" name="Text 20"/>
          <p:cNvSpPr/>
          <p:nvPr/>
        </p:nvSpPr>
        <p:spPr>
          <a:xfrm>
            <a:off x="6400800" y="475488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Compatible with Microsoft Office</a:t>
            </a:r>
            <a:endParaRPr lang="en-US" sz="1600" dirty="0"/>
          </a:p>
        </p:txBody>
      </p:sp>
      <p:sp>
        <p:nvSpPr>
          <p:cNvPr id="23" name="Text 21"/>
          <p:cNvSpPr/>
          <p:nvPr/>
        </p:nvSpPr>
        <p:spPr>
          <a:xfrm>
            <a:off x="640080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Files can be downloaded as Word, Excel, PowerPoint, or PDF, and Office files can be opened and edited.</a:t>
            </a:r>
            <a:endParaRPr lang="en-US" sz="1600" dirty="0"/>
          </a:p>
        </p:txBody>
      </p:sp>
      <p:sp>
        <p:nvSpPr>
          <p:cNvPr id="24" name="Text 22"/>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25" name="Text 23"/>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WEEK 4 CATCH-UP — GOOGLE DOCS</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Google Docs — Writing Together</a:t>
            </a:r>
            <a:endParaRPr lang="en-US" sz="2400" dirty="0"/>
          </a:p>
        </p:txBody>
      </p:sp>
      <p:pic>
        <p:nvPicPr>
          <p:cNvPr id="6" name="Image 0" descr="mockups/gdocs_editor.png"/>
          <p:cNvPicPr>
            <a:picLocks noChangeAspect="1"/>
          </p:cNvPicPr>
          <p:nvPr/>
        </p:nvPicPr>
        <p:blipFill>
          <a:blip r:embed="rId3"/>
          <a:stretch>
            <a:fillRect/>
          </a:stretch>
        </p:blipFill>
        <p:spPr>
          <a:xfrm>
            <a:off x="457200" y="1097280"/>
            <a:ext cx="7223760" cy="4540649"/>
          </a:xfrm>
          <a:prstGeom prst="rect">
            <a:avLst/>
          </a:prstGeom>
        </p:spPr>
      </p:pic>
      <p:sp>
        <p:nvSpPr>
          <p:cNvPr id="7" name="Shape 4"/>
          <p:cNvSpPr/>
          <p:nvPr/>
        </p:nvSpPr>
        <p:spPr>
          <a:xfrm>
            <a:off x="457200" y="1097280"/>
            <a:ext cx="7223760" cy="4540649"/>
          </a:xfrm>
          <a:prstGeom prst="rect">
            <a:avLst/>
          </a:prstGeom>
          <a:ln w="12700">
            <a:solidFill>
              <a:srgbClr val="C9D0DC"/>
            </a:solidFill>
            <a:prstDash val="solid"/>
          </a:ln>
        </p:spPr>
        <p:txBody>
          <a:bodyPr/>
          <a:lstStyle/>
          <a:p>
            <a:endParaRPr lang="en-US"/>
          </a:p>
        </p:txBody>
      </p:sp>
      <p:sp>
        <p:nvSpPr>
          <p:cNvPr id="8" name="Text 5"/>
          <p:cNvSpPr/>
          <p:nvPr/>
        </p:nvSpPr>
        <p:spPr>
          <a:xfrm>
            <a:off x="457200" y="5729369"/>
            <a:ext cx="7223760" cy="457200"/>
          </a:xfrm>
          <a:prstGeom prst="rect">
            <a:avLst/>
          </a:prstGeom>
          <a:noFill/>
          <a:ln/>
        </p:spPr>
        <p:txBody>
          <a:bodyPr wrap="square" rtlCol="0" anchor="t"/>
          <a:lstStyle/>
          <a:p>
            <a:pPr marL="0" indent="0">
              <a:lnSpc>
                <a:spcPts val="1300"/>
              </a:lnSpc>
              <a:buNone/>
            </a:pPr>
            <a:r>
              <a:rPr lang="en-US" sz="1050" i="1" dirty="0">
                <a:solidFill>
                  <a:srgbClr val="595959"/>
                </a:solidFill>
                <a:latin typeface="Calibri" pitchFamily="34" charset="0"/>
                <a:ea typeface="Calibri" pitchFamily="34" charset="-122"/>
                <a:cs typeface="Calibri" pitchFamily="34" charset="-120"/>
              </a:rPr>
              <a:t>Illustrative interface drawn for teaching — exact layout varies by version and institution.</a:t>
            </a:r>
            <a:endParaRPr lang="en-US" sz="1050" dirty="0"/>
          </a:p>
        </p:txBody>
      </p:sp>
      <p:sp>
        <p:nvSpPr>
          <p:cNvPr id="9" name="Shape 6"/>
          <p:cNvSpPr/>
          <p:nvPr/>
        </p:nvSpPr>
        <p:spPr>
          <a:xfrm>
            <a:off x="7909560" y="1097280"/>
            <a:ext cx="3794760" cy="5212080"/>
          </a:xfrm>
          <a:prstGeom prst="roundRect">
            <a:avLst>
              <a:gd name="adj" fmla="val 1928"/>
            </a:avLst>
          </a:prstGeom>
          <a:solidFill>
            <a:srgbClr val="F4F6F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10" name="Text 7"/>
          <p:cNvSpPr/>
          <p:nvPr/>
        </p:nvSpPr>
        <p:spPr>
          <a:xfrm>
            <a:off x="8138160" y="1261872"/>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WHAT IT IS</a:t>
            </a:r>
            <a:endParaRPr lang="en-US" sz="1600" dirty="0"/>
          </a:p>
        </p:txBody>
      </p:sp>
      <p:sp>
        <p:nvSpPr>
          <p:cNvPr id="11" name="Text 8"/>
          <p:cNvSpPr/>
          <p:nvPr/>
        </p:nvSpPr>
        <p:spPr>
          <a:xfrm>
            <a:off x="8138160" y="1554480"/>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An online word processor for reports, assignments, letters, and notes, with changes saved automatically.</a:t>
            </a:r>
            <a:endParaRPr lang="en-US" sz="1600" dirty="0"/>
          </a:p>
        </p:txBody>
      </p:sp>
      <p:sp>
        <p:nvSpPr>
          <p:cNvPr id="12" name="Text 9"/>
          <p:cNvSpPr/>
          <p:nvPr/>
        </p:nvSpPr>
        <p:spPr>
          <a:xfrm>
            <a:off x="8138160" y="2383536"/>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COLLABORATION SHOWN</a:t>
            </a:r>
            <a:endParaRPr lang="en-US" sz="1600" dirty="0"/>
          </a:p>
        </p:txBody>
      </p:sp>
      <p:sp>
        <p:nvSpPr>
          <p:cNvPr id="13" name="Text 10"/>
          <p:cNvSpPr/>
          <p:nvPr/>
        </p:nvSpPr>
        <p:spPr>
          <a:xfrm>
            <a:off x="8138160" y="2676144"/>
            <a:ext cx="3337560" cy="1052576"/>
          </a:xfrm>
          <a:prstGeom prst="rect">
            <a:avLst/>
          </a:prstGeom>
          <a:noFill/>
          <a:ln/>
        </p:spPr>
        <p:txBody>
          <a:bodyPr wrap="square" lIns="0" tIns="0" rIns="0" bIns="0" rtlCol="0" anchor="t"/>
          <a:lstStyle/>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Collaborator cursors with names</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Suggesting mode (edits to approve)</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Comments with replies</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Version history by person and time</a:t>
            </a:r>
            <a:endParaRPr lang="en-US" sz="1600" dirty="0"/>
          </a:p>
        </p:txBody>
      </p:sp>
      <p:sp>
        <p:nvSpPr>
          <p:cNvPr id="14" name="Text 11"/>
          <p:cNvSpPr/>
          <p:nvPr/>
        </p:nvSpPr>
        <p:spPr>
          <a:xfrm>
            <a:off x="8138160" y="3875024"/>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SHARING</a:t>
            </a:r>
            <a:endParaRPr lang="en-US" sz="1600" dirty="0"/>
          </a:p>
        </p:txBody>
      </p:sp>
      <p:sp>
        <p:nvSpPr>
          <p:cNvPr id="15" name="Text 12"/>
          <p:cNvSpPr/>
          <p:nvPr/>
        </p:nvSpPr>
        <p:spPr>
          <a:xfrm>
            <a:off x="8138160" y="4167632"/>
            <a:ext cx="3337560" cy="4429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The Share button gives people Viewer, Commenter, or Editor access.</a:t>
            </a:r>
            <a:endParaRPr lang="en-US" sz="1600" dirty="0"/>
          </a:p>
        </p:txBody>
      </p:sp>
      <p:sp>
        <p:nvSpPr>
          <p:cNvPr id="16" name="Text 13"/>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17" name="Text 14"/>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WEEK 4 CATCH-UP — GOOGLE DOCS</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Google Docs — Main Features</a:t>
            </a:r>
            <a:endParaRPr lang="en-US" sz="2400" dirty="0"/>
          </a:p>
        </p:txBody>
      </p:sp>
      <p:sp>
        <p:nvSpPr>
          <p:cNvPr id="6" name="Shape 4"/>
          <p:cNvSpPr/>
          <p:nvPr/>
        </p:nvSpPr>
        <p:spPr>
          <a:xfrm>
            <a:off x="548640" y="1143000"/>
            <a:ext cx="5394960" cy="1600200"/>
          </a:xfrm>
          <a:prstGeom prst="roundRect">
            <a:avLst>
              <a:gd name="adj" fmla="val 4571"/>
            </a:avLst>
          </a:prstGeom>
          <a:solidFill>
            <a:srgbClr val="E6EEFE"/>
          </a:solidFill>
          <a:ln w="12700">
            <a:solidFill>
              <a:srgbClr val="DCE1EA"/>
            </a:solidFill>
            <a:prstDash val="solid"/>
          </a:ln>
        </p:spPr>
        <p:txBody>
          <a:bodyPr/>
          <a:lstStyle/>
          <a:p>
            <a:endParaRPr lang="en-US" sz="1600"/>
          </a:p>
        </p:txBody>
      </p:sp>
      <p:sp>
        <p:nvSpPr>
          <p:cNvPr id="7" name="Text 5"/>
          <p:cNvSpPr/>
          <p:nvPr/>
        </p:nvSpPr>
        <p:spPr>
          <a:xfrm>
            <a:off x="777240" y="128016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Formatting &amp; Styles</a:t>
            </a:r>
            <a:endParaRPr lang="en-US" sz="1600" dirty="0"/>
          </a:p>
        </p:txBody>
      </p:sp>
      <p:sp>
        <p:nvSpPr>
          <p:cNvPr id="8" name="Text 6"/>
          <p:cNvSpPr/>
          <p:nvPr/>
        </p:nvSpPr>
        <p:spPr>
          <a:xfrm>
            <a:off x="77724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Headings, fonts, lists, tables, images, and a clickable outline that is built from your headings.</a:t>
            </a:r>
            <a:endParaRPr lang="en-US" sz="1600" dirty="0"/>
          </a:p>
        </p:txBody>
      </p:sp>
      <p:sp>
        <p:nvSpPr>
          <p:cNvPr id="9" name="Shape 7"/>
          <p:cNvSpPr/>
          <p:nvPr/>
        </p:nvSpPr>
        <p:spPr>
          <a:xfrm>
            <a:off x="6172200" y="114300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10" name="Text 8"/>
          <p:cNvSpPr/>
          <p:nvPr/>
        </p:nvSpPr>
        <p:spPr>
          <a:xfrm>
            <a:off x="6400800" y="128016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Suggesting Mode</a:t>
            </a:r>
            <a:endParaRPr lang="en-US" sz="1600" dirty="0"/>
          </a:p>
        </p:txBody>
      </p:sp>
      <p:sp>
        <p:nvSpPr>
          <p:cNvPr id="11" name="Text 9"/>
          <p:cNvSpPr/>
          <p:nvPr/>
        </p:nvSpPr>
        <p:spPr>
          <a:xfrm>
            <a:off x="640080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Proposed edits appear as suggestions that the owner can accept or reject — ideal for feedback and proofreading.</a:t>
            </a:r>
            <a:endParaRPr lang="en-US" sz="1600" dirty="0"/>
          </a:p>
        </p:txBody>
      </p:sp>
      <p:sp>
        <p:nvSpPr>
          <p:cNvPr id="12" name="Shape 10"/>
          <p:cNvSpPr/>
          <p:nvPr/>
        </p:nvSpPr>
        <p:spPr>
          <a:xfrm>
            <a:off x="548640" y="2880360"/>
            <a:ext cx="5394960" cy="1600200"/>
          </a:xfrm>
          <a:prstGeom prst="roundRect">
            <a:avLst>
              <a:gd name="adj" fmla="val 4571"/>
            </a:avLst>
          </a:prstGeom>
          <a:solidFill>
            <a:srgbClr val="E6EEFE"/>
          </a:solidFill>
          <a:ln w="12700">
            <a:solidFill>
              <a:srgbClr val="DCE1EA"/>
            </a:solidFill>
            <a:prstDash val="solid"/>
          </a:ln>
        </p:spPr>
        <p:txBody>
          <a:bodyPr/>
          <a:lstStyle/>
          <a:p>
            <a:endParaRPr lang="en-US" sz="1600"/>
          </a:p>
        </p:txBody>
      </p:sp>
      <p:sp>
        <p:nvSpPr>
          <p:cNvPr id="13" name="Text 11"/>
          <p:cNvSpPr/>
          <p:nvPr/>
        </p:nvSpPr>
        <p:spPr>
          <a:xfrm>
            <a:off x="777240" y="301752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Comments &amp; Mentions</a:t>
            </a:r>
            <a:endParaRPr lang="en-US" sz="1600" dirty="0"/>
          </a:p>
        </p:txBody>
      </p:sp>
      <p:sp>
        <p:nvSpPr>
          <p:cNvPr id="14" name="Text 12"/>
          <p:cNvSpPr/>
          <p:nvPr/>
        </p:nvSpPr>
        <p:spPr>
          <a:xfrm>
            <a:off x="77724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Leave comments on any text and mention a person to notify them and assign follow-up.</a:t>
            </a:r>
            <a:endParaRPr lang="en-US" sz="1600" dirty="0"/>
          </a:p>
        </p:txBody>
      </p:sp>
      <p:sp>
        <p:nvSpPr>
          <p:cNvPr id="15" name="Shape 13"/>
          <p:cNvSpPr/>
          <p:nvPr/>
        </p:nvSpPr>
        <p:spPr>
          <a:xfrm>
            <a:off x="6172200" y="288036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16" name="Text 14"/>
          <p:cNvSpPr/>
          <p:nvPr/>
        </p:nvSpPr>
        <p:spPr>
          <a:xfrm>
            <a:off x="6400800" y="301752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Version History</a:t>
            </a:r>
            <a:endParaRPr lang="en-US" sz="1600" dirty="0"/>
          </a:p>
        </p:txBody>
      </p:sp>
      <p:sp>
        <p:nvSpPr>
          <p:cNvPr id="17" name="Text 15"/>
          <p:cNvSpPr/>
          <p:nvPr/>
        </p:nvSpPr>
        <p:spPr>
          <a:xfrm>
            <a:off x="640080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See who changed what and when, and restore an earlier version if something goes wrong.</a:t>
            </a:r>
            <a:endParaRPr lang="en-US" sz="1600" dirty="0"/>
          </a:p>
        </p:txBody>
      </p:sp>
      <p:sp>
        <p:nvSpPr>
          <p:cNvPr id="18" name="Shape 16"/>
          <p:cNvSpPr/>
          <p:nvPr/>
        </p:nvSpPr>
        <p:spPr>
          <a:xfrm>
            <a:off x="548640" y="4617720"/>
            <a:ext cx="5394960" cy="1600200"/>
          </a:xfrm>
          <a:prstGeom prst="roundRect">
            <a:avLst>
              <a:gd name="adj" fmla="val 4571"/>
            </a:avLst>
          </a:prstGeom>
          <a:solidFill>
            <a:srgbClr val="E6EEFE"/>
          </a:solidFill>
          <a:ln w="12700">
            <a:solidFill>
              <a:srgbClr val="DCE1EA"/>
            </a:solidFill>
            <a:prstDash val="solid"/>
          </a:ln>
        </p:spPr>
        <p:txBody>
          <a:bodyPr/>
          <a:lstStyle/>
          <a:p>
            <a:endParaRPr lang="en-US" sz="1600"/>
          </a:p>
        </p:txBody>
      </p:sp>
      <p:sp>
        <p:nvSpPr>
          <p:cNvPr id="19" name="Text 17"/>
          <p:cNvSpPr/>
          <p:nvPr/>
        </p:nvSpPr>
        <p:spPr>
          <a:xfrm>
            <a:off x="777240" y="475488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Voice Typing &amp; Add-ons</a:t>
            </a:r>
            <a:endParaRPr lang="en-US" sz="1600" dirty="0"/>
          </a:p>
        </p:txBody>
      </p:sp>
      <p:sp>
        <p:nvSpPr>
          <p:cNvPr id="20" name="Text 18"/>
          <p:cNvSpPr/>
          <p:nvPr/>
        </p:nvSpPr>
        <p:spPr>
          <a:xfrm>
            <a:off x="77724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Dictate text, check spelling and grammar, and add extra tools such as citation helpers.</a:t>
            </a:r>
            <a:endParaRPr lang="en-US" sz="1600" dirty="0"/>
          </a:p>
        </p:txBody>
      </p:sp>
      <p:sp>
        <p:nvSpPr>
          <p:cNvPr id="21" name="Shape 19"/>
          <p:cNvSpPr/>
          <p:nvPr/>
        </p:nvSpPr>
        <p:spPr>
          <a:xfrm>
            <a:off x="6172200" y="461772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22" name="Text 20"/>
          <p:cNvSpPr/>
          <p:nvPr/>
        </p:nvSpPr>
        <p:spPr>
          <a:xfrm>
            <a:off x="6400800" y="475488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Offline, Export &amp; Print</a:t>
            </a:r>
            <a:endParaRPr lang="en-US" sz="1600" dirty="0"/>
          </a:p>
        </p:txBody>
      </p:sp>
      <p:sp>
        <p:nvSpPr>
          <p:cNvPr id="23" name="Text 21"/>
          <p:cNvSpPr/>
          <p:nvPr/>
        </p:nvSpPr>
        <p:spPr>
          <a:xfrm>
            <a:off x="640080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Work offline when enabled, then export to Word or PDF for submission or printing.</a:t>
            </a:r>
            <a:endParaRPr lang="en-US" sz="1600" dirty="0"/>
          </a:p>
        </p:txBody>
      </p:sp>
      <p:sp>
        <p:nvSpPr>
          <p:cNvPr id="24" name="Text 22"/>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25" name="Text 23"/>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WEEK 4 CATCH-UP — GOOGLE SHEETS</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Google Sheets — Calculations &amp; Charts</a:t>
            </a:r>
            <a:endParaRPr lang="en-US" sz="2400" dirty="0"/>
          </a:p>
        </p:txBody>
      </p:sp>
      <p:pic>
        <p:nvPicPr>
          <p:cNvPr id="6" name="Image 0" descr="mockups/gsheets_editor.png"/>
          <p:cNvPicPr>
            <a:picLocks noChangeAspect="1"/>
          </p:cNvPicPr>
          <p:nvPr/>
        </p:nvPicPr>
        <p:blipFill>
          <a:blip r:embed="rId3"/>
          <a:stretch>
            <a:fillRect/>
          </a:stretch>
        </p:blipFill>
        <p:spPr>
          <a:xfrm>
            <a:off x="457200" y="1097280"/>
            <a:ext cx="7223760" cy="4540649"/>
          </a:xfrm>
          <a:prstGeom prst="rect">
            <a:avLst/>
          </a:prstGeom>
        </p:spPr>
      </p:pic>
      <p:sp>
        <p:nvSpPr>
          <p:cNvPr id="7" name="Shape 4"/>
          <p:cNvSpPr/>
          <p:nvPr/>
        </p:nvSpPr>
        <p:spPr>
          <a:xfrm>
            <a:off x="457200" y="1097280"/>
            <a:ext cx="7223760" cy="4540649"/>
          </a:xfrm>
          <a:prstGeom prst="rect">
            <a:avLst/>
          </a:prstGeom>
          <a:ln w="12700">
            <a:solidFill>
              <a:srgbClr val="C9D0DC"/>
            </a:solidFill>
            <a:prstDash val="solid"/>
          </a:ln>
        </p:spPr>
        <p:txBody>
          <a:bodyPr/>
          <a:lstStyle/>
          <a:p>
            <a:endParaRPr lang="en-US"/>
          </a:p>
        </p:txBody>
      </p:sp>
      <p:sp>
        <p:nvSpPr>
          <p:cNvPr id="8" name="Text 5"/>
          <p:cNvSpPr/>
          <p:nvPr/>
        </p:nvSpPr>
        <p:spPr>
          <a:xfrm>
            <a:off x="457200" y="5729369"/>
            <a:ext cx="7223760" cy="457200"/>
          </a:xfrm>
          <a:prstGeom prst="rect">
            <a:avLst/>
          </a:prstGeom>
          <a:noFill/>
          <a:ln/>
        </p:spPr>
        <p:txBody>
          <a:bodyPr wrap="square" rtlCol="0" anchor="t"/>
          <a:lstStyle/>
          <a:p>
            <a:pPr marL="0" indent="0">
              <a:lnSpc>
                <a:spcPts val="1300"/>
              </a:lnSpc>
              <a:buNone/>
            </a:pPr>
            <a:r>
              <a:rPr lang="en-US" sz="1050" i="1" dirty="0">
                <a:solidFill>
                  <a:srgbClr val="595959"/>
                </a:solidFill>
                <a:latin typeface="Calibri" pitchFamily="34" charset="0"/>
                <a:ea typeface="Calibri" pitchFamily="34" charset="-122"/>
                <a:cs typeface="Calibri" pitchFamily="34" charset="-120"/>
              </a:rPr>
              <a:t>Illustrative interface drawn for teaching — exact layout varies by version and institution.</a:t>
            </a:r>
            <a:endParaRPr lang="en-US" sz="1050" dirty="0"/>
          </a:p>
        </p:txBody>
      </p:sp>
      <p:sp>
        <p:nvSpPr>
          <p:cNvPr id="9" name="Shape 6"/>
          <p:cNvSpPr/>
          <p:nvPr/>
        </p:nvSpPr>
        <p:spPr>
          <a:xfrm>
            <a:off x="7909560" y="1097280"/>
            <a:ext cx="3794760" cy="5212080"/>
          </a:xfrm>
          <a:prstGeom prst="roundRect">
            <a:avLst>
              <a:gd name="adj" fmla="val 1928"/>
            </a:avLst>
          </a:prstGeom>
          <a:solidFill>
            <a:srgbClr val="F4F6F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10" name="Text 7"/>
          <p:cNvSpPr/>
          <p:nvPr/>
        </p:nvSpPr>
        <p:spPr>
          <a:xfrm>
            <a:off x="8138160" y="1261872"/>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WHAT IT IS</a:t>
            </a:r>
            <a:endParaRPr lang="en-US" sz="1600" dirty="0"/>
          </a:p>
        </p:txBody>
      </p:sp>
      <p:sp>
        <p:nvSpPr>
          <p:cNvPr id="11" name="Text 8"/>
          <p:cNvSpPr/>
          <p:nvPr/>
        </p:nvSpPr>
        <p:spPr>
          <a:xfrm>
            <a:off x="8138160" y="1554480"/>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An online spreadsheet for lists, marks, budgets, and data analysis, with formulas and charts.</a:t>
            </a:r>
            <a:endParaRPr lang="en-US" sz="1600" dirty="0"/>
          </a:p>
        </p:txBody>
      </p:sp>
      <p:sp>
        <p:nvSpPr>
          <p:cNvPr id="12" name="Text 9"/>
          <p:cNvSpPr/>
          <p:nvPr/>
        </p:nvSpPr>
        <p:spPr>
          <a:xfrm>
            <a:off x="8138160" y="2383536"/>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SHOWN HERE</a:t>
            </a:r>
            <a:endParaRPr lang="en-US" sz="1600" dirty="0"/>
          </a:p>
        </p:txBody>
      </p:sp>
      <p:sp>
        <p:nvSpPr>
          <p:cNvPr id="13" name="Text 10"/>
          <p:cNvSpPr/>
          <p:nvPr/>
        </p:nvSpPr>
        <p:spPr>
          <a:xfrm>
            <a:off x="8138160" y="2676144"/>
            <a:ext cx="3337560" cy="1255776"/>
          </a:xfrm>
          <a:prstGeom prst="rect">
            <a:avLst/>
          </a:prstGeom>
          <a:noFill/>
          <a:ln/>
        </p:spPr>
        <p:txBody>
          <a:bodyPr wrap="square" lIns="0" tIns="0" rIns="0" bIns="0" rtlCol="0" anchor="t"/>
          <a:lstStyle/>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Formula bar with =AVERAGE</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Highlighted low scores (conditional formatting)</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A chart built from the data</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Handy functions panel</a:t>
            </a:r>
            <a:endParaRPr lang="en-US" sz="1600" dirty="0"/>
          </a:p>
        </p:txBody>
      </p:sp>
      <p:sp>
        <p:nvSpPr>
          <p:cNvPr id="14" name="Text 11"/>
          <p:cNvSpPr/>
          <p:nvPr/>
        </p:nvSpPr>
        <p:spPr>
          <a:xfrm>
            <a:off x="8138160" y="4078224"/>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WHY USEFUL</a:t>
            </a:r>
            <a:endParaRPr lang="en-US" sz="1600" dirty="0"/>
          </a:p>
        </p:txBody>
      </p:sp>
      <p:sp>
        <p:nvSpPr>
          <p:cNvPr id="15" name="Text 12"/>
          <p:cNvSpPr/>
          <p:nvPr/>
        </p:nvSpPr>
        <p:spPr>
          <a:xfrm>
            <a:off x="8138160" y="4370832"/>
            <a:ext cx="3337560" cy="4429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Change a number and every formula and chart updates instantly.</a:t>
            </a:r>
            <a:endParaRPr lang="en-US" sz="1600" dirty="0"/>
          </a:p>
        </p:txBody>
      </p:sp>
      <p:sp>
        <p:nvSpPr>
          <p:cNvPr id="16" name="Text 13"/>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17" name="Text 14"/>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WEEK 4 CATCH-UP — GOOGLE SHEETS</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Google Sheets — Main Features</a:t>
            </a:r>
            <a:endParaRPr lang="en-US" sz="2400" dirty="0"/>
          </a:p>
        </p:txBody>
      </p:sp>
      <p:sp>
        <p:nvSpPr>
          <p:cNvPr id="6" name="Shape 4"/>
          <p:cNvSpPr/>
          <p:nvPr/>
        </p:nvSpPr>
        <p:spPr>
          <a:xfrm>
            <a:off x="548640" y="1143000"/>
            <a:ext cx="5394960" cy="1600200"/>
          </a:xfrm>
          <a:prstGeom prst="roundRect">
            <a:avLst>
              <a:gd name="adj" fmla="val 4571"/>
            </a:avLst>
          </a:prstGeom>
          <a:solidFill>
            <a:srgbClr val="E6F5EA"/>
          </a:solidFill>
          <a:ln w="12700">
            <a:solidFill>
              <a:srgbClr val="DCE1EA"/>
            </a:solidFill>
            <a:prstDash val="solid"/>
          </a:ln>
        </p:spPr>
        <p:txBody>
          <a:bodyPr/>
          <a:lstStyle/>
          <a:p>
            <a:endParaRPr lang="en-US" sz="1600"/>
          </a:p>
        </p:txBody>
      </p:sp>
      <p:sp>
        <p:nvSpPr>
          <p:cNvPr id="7" name="Text 5"/>
          <p:cNvSpPr/>
          <p:nvPr/>
        </p:nvSpPr>
        <p:spPr>
          <a:xfrm>
            <a:off x="777240" y="128016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Formulas &amp; Functions</a:t>
            </a:r>
            <a:endParaRPr lang="en-US" sz="1600" dirty="0"/>
          </a:p>
        </p:txBody>
      </p:sp>
      <p:sp>
        <p:nvSpPr>
          <p:cNvPr id="8" name="Text 6"/>
          <p:cNvSpPr/>
          <p:nvPr/>
        </p:nvSpPr>
        <p:spPr>
          <a:xfrm>
            <a:off x="77724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Use SUM, AVERAGE, IF, and lookup functions to calculate totals, grades, and comparisons automatically.</a:t>
            </a:r>
            <a:endParaRPr lang="en-US" sz="1600" dirty="0"/>
          </a:p>
        </p:txBody>
      </p:sp>
      <p:sp>
        <p:nvSpPr>
          <p:cNvPr id="9" name="Shape 7"/>
          <p:cNvSpPr/>
          <p:nvPr/>
        </p:nvSpPr>
        <p:spPr>
          <a:xfrm>
            <a:off x="6172200" y="114300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10" name="Text 8"/>
          <p:cNvSpPr/>
          <p:nvPr/>
        </p:nvSpPr>
        <p:spPr>
          <a:xfrm>
            <a:off x="6400800" y="128016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Charts &amp; Pivot Tables</a:t>
            </a:r>
            <a:endParaRPr lang="en-US" sz="1600" dirty="0"/>
          </a:p>
        </p:txBody>
      </p:sp>
      <p:sp>
        <p:nvSpPr>
          <p:cNvPr id="11" name="Text 9"/>
          <p:cNvSpPr/>
          <p:nvPr/>
        </p:nvSpPr>
        <p:spPr>
          <a:xfrm>
            <a:off x="640080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Turn rows of data into bar, line, or pie charts, and summarize large tables with pivot tables.</a:t>
            </a:r>
            <a:endParaRPr lang="en-US" sz="1600" dirty="0"/>
          </a:p>
        </p:txBody>
      </p:sp>
      <p:sp>
        <p:nvSpPr>
          <p:cNvPr id="12" name="Shape 10"/>
          <p:cNvSpPr/>
          <p:nvPr/>
        </p:nvSpPr>
        <p:spPr>
          <a:xfrm>
            <a:off x="548640" y="2880360"/>
            <a:ext cx="5394960" cy="1600200"/>
          </a:xfrm>
          <a:prstGeom prst="roundRect">
            <a:avLst>
              <a:gd name="adj" fmla="val 4571"/>
            </a:avLst>
          </a:prstGeom>
          <a:solidFill>
            <a:srgbClr val="E6F5EA"/>
          </a:solidFill>
          <a:ln w="12700">
            <a:solidFill>
              <a:srgbClr val="DCE1EA"/>
            </a:solidFill>
            <a:prstDash val="solid"/>
          </a:ln>
        </p:spPr>
        <p:txBody>
          <a:bodyPr/>
          <a:lstStyle/>
          <a:p>
            <a:endParaRPr lang="en-US" sz="1600"/>
          </a:p>
        </p:txBody>
      </p:sp>
      <p:sp>
        <p:nvSpPr>
          <p:cNvPr id="13" name="Text 11"/>
          <p:cNvSpPr/>
          <p:nvPr/>
        </p:nvSpPr>
        <p:spPr>
          <a:xfrm>
            <a:off x="777240" y="301752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Conditional Formatting</a:t>
            </a:r>
            <a:endParaRPr lang="en-US" sz="1600" dirty="0"/>
          </a:p>
        </p:txBody>
      </p:sp>
      <p:sp>
        <p:nvSpPr>
          <p:cNvPr id="14" name="Text 12"/>
          <p:cNvSpPr/>
          <p:nvPr/>
        </p:nvSpPr>
        <p:spPr>
          <a:xfrm>
            <a:off x="77724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Color cells automatically by rule — for example, highlight scores below a pass mark.</a:t>
            </a:r>
            <a:endParaRPr lang="en-US" sz="1600" dirty="0"/>
          </a:p>
        </p:txBody>
      </p:sp>
      <p:sp>
        <p:nvSpPr>
          <p:cNvPr id="15" name="Shape 13"/>
          <p:cNvSpPr/>
          <p:nvPr/>
        </p:nvSpPr>
        <p:spPr>
          <a:xfrm>
            <a:off x="6172200" y="288036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16" name="Text 14"/>
          <p:cNvSpPr/>
          <p:nvPr/>
        </p:nvSpPr>
        <p:spPr>
          <a:xfrm>
            <a:off x="6400800" y="301752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Data Validation &amp; Filters</a:t>
            </a:r>
            <a:endParaRPr lang="en-US" sz="1600" dirty="0"/>
          </a:p>
        </p:txBody>
      </p:sp>
      <p:sp>
        <p:nvSpPr>
          <p:cNvPr id="17" name="Text 15"/>
          <p:cNvSpPr/>
          <p:nvPr/>
        </p:nvSpPr>
        <p:spPr>
          <a:xfrm>
            <a:off x="640080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Limit entries to valid values, and sort or filter to focus on the rows you need.</a:t>
            </a:r>
            <a:endParaRPr lang="en-US" sz="1600" dirty="0"/>
          </a:p>
        </p:txBody>
      </p:sp>
      <p:sp>
        <p:nvSpPr>
          <p:cNvPr id="18" name="Shape 16"/>
          <p:cNvSpPr/>
          <p:nvPr/>
        </p:nvSpPr>
        <p:spPr>
          <a:xfrm>
            <a:off x="548640" y="4617720"/>
            <a:ext cx="5394960" cy="1600200"/>
          </a:xfrm>
          <a:prstGeom prst="roundRect">
            <a:avLst>
              <a:gd name="adj" fmla="val 4571"/>
            </a:avLst>
          </a:prstGeom>
          <a:solidFill>
            <a:srgbClr val="E6F5EA"/>
          </a:solidFill>
          <a:ln w="12700">
            <a:solidFill>
              <a:srgbClr val="DCE1EA"/>
            </a:solidFill>
            <a:prstDash val="solid"/>
          </a:ln>
        </p:spPr>
        <p:txBody>
          <a:bodyPr/>
          <a:lstStyle/>
          <a:p>
            <a:endParaRPr lang="en-US" sz="1600"/>
          </a:p>
        </p:txBody>
      </p:sp>
      <p:sp>
        <p:nvSpPr>
          <p:cNvPr id="19" name="Text 17"/>
          <p:cNvSpPr/>
          <p:nvPr/>
        </p:nvSpPr>
        <p:spPr>
          <a:xfrm>
            <a:off x="777240" y="475488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Google Forms Link</a:t>
            </a:r>
            <a:endParaRPr lang="en-US" sz="1600" dirty="0"/>
          </a:p>
        </p:txBody>
      </p:sp>
      <p:sp>
        <p:nvSpPr>
          <p:cNvPr id="20" name="Text 18"/>
          <p:cNvSpPr/>
          <p:nvPr/>
        </p:nvSpPr>
        <p:spPr>
          <a:xfrm>
            <a:off x="77724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Survey responses from Google Forms flow straight into a sheet for analysis — useful for research projects.</a:t>
            </a:r>
            <a:endParaRPr lang="en-US" sz="1600" dirty="0"/>
          </a:p>
        </p:txBody>
      </p:sp>
      <p:sp>
        <p:nvSpPr>
          <p:cNvPr id="21" name="Shape 19"/>
          <p:cNvSpPr/>
          <p:nvPr/>
        </p:nvSpPr>
        <p:spPr>
          <a:xfrm>
            <a:off x="6172200" y="461772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22" name="Text 20"/>
          <p:cNvSpPr/>
          <p:nvPr/>
        </p:nvSpPr>
        <p:spPr>
          <a:xfrm>
            <a:off x="6400800" y="475488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Collaboration &amp; Sharing</a:t>
            </a:r>
            <a:endParaRPr lang="en-US" sz="1600" dirty="0"/>
          </a:p>
        </p:txBody>
      </p:sp>
      <p:sp>
        <p:nvSpPr>
          <p:cNvPr id="23" name="Text 21"/>
          <p:cNvSpPr/>
          <p:nvPr/>
        </p:nvSpPr>
        <p:spPr>
          <a:xfrm>
            <a:off x="640080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Multiple people can edit at once, with comments and protected ranges to guard important cells.</a:t>
            </a:r>
            <a:endParaRPr lang="en-US" sz="1600" dirty="0"/>
          </a:p>
        </p:txBody>
      </p:sp>
      <p:sp>
        <p:nvSpPr>
          <p:cNvPr id="24" name="Text 22"/>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25" name="Text 23"/>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WEEK 4 CATCH-UP — GOOGLE SLIDES</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Google Slides — Building Presentations</a:t>
            </a:r>
            <a:endParaRPr lang="en-US" sz="2400" dirty="0"/>
          </a:p>
        </p:txBody>
      </p:sp>
      <p:pic>
        <p:nvPicPr>
          <p:cNvPr id="6" name="Image 0" descr="mockups/gslides_editor.png"/>
          <p:cNvPicPr>
            <a:picLocks noChangeAspect="1"/>
          </p:cNvPicPr>
          <p:nvPr/>
        </p:nvPicPr>
        <p:blipFill>
          <a:blip r:embed="rId3"/>
          <a:stretch>
            <a:fillRect/>
          </a:stretch>
        </p:blipFill>
        <p:spPr>
          <a:xfrm>
            <a:off x="457200" y="1097280"/>
            <a:ext cx="7223760" cy="4540649"/>
          </a:xfrm>
          <a:prstGeom prst="rect">
            <a:avLst/>
          </a:prstGeom>
        </p:spPr>
      </p:pic>
      <p:sp>
        <p:nvSpPr>
          <p:cNvPr id="7" name="Shape 4"/>
          <p:cNvSpPr/>
          <p:nvPr/>
        </p:nvSpPr>
        <p:spPr>
          <a:xfrm>
            <a:off x="457200" y="1097280"/>
            <a:ext cx="7223760" cy="4540649"/>
          </a:xfrm>
          <a:prstGeom prst="rect">
            <a:avLst/>
          </a:prstGeom>
          <a:ln w="12700">
            <a:solidFill>
              <a:srgbClr val="C9D0DC"/>
            </a:solidFill>
            <a:prstDash val="solid"/>
          </a:ln>
        </p:spPr>
        <p:txBody>
          <a:bodyPr/>
          <a:lstStyle/>
          <a:p>
            <a:endParaRPr lang="en-US"/>
          </a:p>
        </p:txBody>
      </p:sp>
      <p:sp>
        <p:nvSpPr>
          <p:cNvPr id="8" name="Text 5"/>
          <p:cNvSpPr/>
          <p:nvPr/>
        </p:nvSpPr>
        <p:spPr>
          <a:xfrm>
            <a:off x="457200" y="5729369"/>
            <a:ext cx="7223760" cy="457200"/>
          </a:xfrm>
          <a:prstGeom prst="rect">
            <a:avLst/>
          </a:prstGeom>
          <a:noFill/>
          <a:ln/>
        </p:spPr>
        <p:txBody>
          <a:bodyPr wrap="square" rtlCol="0" anchor="t"/>
          <a:lstStyle/>
          <a:p>
            <a:pPr marL="0" indent="0">
              <a:lnSpc>
                <a:spcPts val="1300"/>
              </a:lnSpc>
              <a:buNone/>
            </a:pPr>
            <a:r>
              <a:rPr lang="en-US" sz="1050" i="1" dirty="0">
                <a:solidFill>
                  <a:srgbClr val="595959"/>
                </a:solidFill>
                <a:latin typeface="Calibri" pitchFamily="34" charset="0"/>
                <a:ea typeface="Calibri" pitchFamily="34" charset="-122"/>
                <a:cs typeface="Calibri" pitchFamily="34" charset="-120"/>
              </a:rPr>
              <a:t>Illustrative interface drawn for teaching — exact layout varies by version and institution.</a:t>
            </a:r>
            <a:endParaRPr lang="en-US" sz="1050" dirty="0"/>
          </a:p>
        </p:txBody>
      </p:sp>
      <p:sp>
        <p:nvSpPr>
          <p:cNvPr id="9" name="Shape 6"/>
          <p:cNvSpPr/>
          <p:nvPr/>
        </p:nvSpPr>
        <p:spPr>
          <a:xfrm>
            <a:off x="7909560" y="1097280"/>
            <a:ext cx="3794760" cy="5212080"/>
          </a:xfrm>
          <a:prstGeom prst="roundRect">
            <a:avLst>
              <a:gd name="adj" fmla="val 1928"/>
            </a:avLst>
          </a:prstGeom>
          <a:solidFill>
            <a:srgbClr val="F4F6F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10" name="Text 7"/>
          <p:cNvSpPr/>
          <p:nvPr/>
        </p:nvSpPr>
        <p:spPr>
          <a:xfrm>
            <a:off x="8138160" y="1261872"/>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WHAT IT IS</a:t>
            </a:r>
            <a:endParaRPr lang="en-US" sz="1600" dirty="0"/>
          </a:p>
        </p:txBody>
      </p:sp>
      <p:sp>
        <p:nvSpPr>
          <p:cNvPr id="11" name="Text 8"/>
          <p:cNvSpPr/>
          <p:nvPr/>
        </p:nvSpPr>
        <p:spPr>
          <a:xfrm>
            <a:off x="8138160" y="1554480"/>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An online presentation tool for lectures, project talks, and pitches, built and edited together in the cloud.</a:t>
            </a:r>
            <a:endParaRPr lang="en-US" sz="1600" dirty="0"/>
          </a:p>
        </p:txBody>
      </p:sp>
      <p:sp>
        <p:nvSpPr>
          <p:cNvPr id="12" name="Text 9"/>
          <p:cNvSpPr/>
          <p:nvPr/>
        </p:nvSpPr>
        <p:spPr>
          <a:xfrm>
            <a:off x="8138160" y="2383536"/>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SHOWN HERE</a:t>
            </a:r>
            <a:endParaRPr lang="en-US" sz="1600" dirty="0"/>
          </a:p>
        </p:txBody>
      </p:sp>
      <p:sp>
        <p:nvSpPr>
          <p:cNvPr id="13" name="Text 10"/>
          <p:cNvSpPr/>
          <p:nvPr/>
        </p:nvSpPr>
        <p:spPr>
          <a:xfrm>
            <a:off x="8138160" y="2676144"/>
            <a:ext cx="3337560" cy="1052576"/>
          </a:xfrm>
          <a:prstGeom prst="rect">
            <a:avLst/>
          </a:prstGeom>
          <a:noFill/>
          <a:ln/>
        </p:spPr>
        <p:txBody>
          <a:bodyPr wrap="square" lIns="0" tIns="0" rIns="0" bIns="0" rtlCol="0" anchor="t"/>
          <a:lstStyle/>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Slide filmstrip on the left</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Main slide canvas with text and image</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Speaker notes under the slide</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Themes and collaborator list</a:t>
            </a:r>
            <a:endParaRPr lang="en-US" sz="1600" dirty="0"/>
          </a:p>
        </p:txBody>
      </p:sp>
      <p:sp>
        <p:nvSpPr>
          <p:cNvPr id="14" name="Text 11"/>
          <p:cNvSpPr/>
          <p:nvPr/>
        </p:nvSpPr>
        <p:spPr>
          <a:xfrm>
            <a:off x="8138160" y="3875024"/>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SHARING A PRESENTATION</a:t>
            </a:r>
            <a:endParaRPr lang="en-US" sz="1600" dirty="0"/>
          </a:p>
        </p:txBody>
      </p:sp>
      <p:sp>
        <p:nvSpPr>
          <p:cNvPr id="15" name="Text 12"/>
          <p:cNvSpPr/>
          <p:nvPr/>
        </p:nvSpPr>
        <p:spPr>
          <a:xfrm>
            <a:off x="8138160" y="4167632"/>
            <a:ext cx="3337560" cy="4429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Present from the browser, publish to the web, or download as PowerPoint or PDF.</a:t>
            </a:r>
            <a:endParaRPr lang="en-US" sz="1600" dirty="0"/>
          </a:p>
        </p:txBody>
      </p:sp>
      <p:sp>
        <p:nvSpPr>
          <p:cNvPr id="16" name="Text 13"/>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17" name="Text 14"/>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WEEK 4 CATCH-UP — GOOGLE SLIDES</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Google Slides — Main Features</a:t>
            </a:r>
            <a:endParaRPr lang="en-US" sz="2400" dirty="0"/>
          </a:p>
        </p:txBody>
      </p:sp>
      <p:sp>
        <p:nvSpPr>
          <p:cNvPr id="6" name="Shape 4"/>
          <p:cNvSpPr/>
          <p:nvPr/>
        </p:nvSpPr>
        <p:spPr>
          <a:xfrm>
            <a:off x="548640" y="1143000"/>
            <a:ext cx="5394960" cy="1600200"/>
          </a:xfrm>
          <a:prstGeom prst="roundRect">
            <a:avLst>
              <a:gd name="adj" fmla="val 4571"/>
            </a:avLst>
          </a:prstGeom>
          <a:solidFill>
            <a:srgbClr val="FFF4D6"/>
          </a:solidFill>
          <a:ln w="12700">
            <a:solidFill>
              <a:srgbClr val="DCE1EA"/>
            </a:solidFill>
            <a:prstDash val="solid"/>
          </a:ln>
        </p:spPr>
        <p:txBody>
          <a:bodyPr/>
          <a:lstStyle/>
          <a:p>
            <a:endParaRPr lang="en-US" sz="1600"/>
          </a:p>
        </p:txBody>
      </p:sp>
      <p:sp>
        <p:nvSpPr>
          <p:cNvPr id="7" name="Text 5"/>
          <p:cNvSpPr/>
          <p:nvPr/>
        </p:nvSpPr>
        <p:spPr>
          <a:xfrm>
            <a:off x="777240" y="128016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Themes &amp; Layouts</a:t>
            </a:r>
            <a:endParaRPr lang="en-US" sz="1600" dirty="0"/>
          </a:p>
        </p:txBody>
      </p:sp>
      <p:sp>
        <p:nvSpPr>
          <p:cNvPr id="8" name="Text 6"/>
          <p:cNvSpPr/>
          <p:nvPr/>
        </p:nvSpPr>
        <p:spPr>
          <a:xfrm>
            <a:off x="77724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Ready-made themes and layouts keep fonts, colors, and spacing consistent across the deck.</a:t>
            </a:r>
            <a:endParaRPr lang="en-US" sz="1600" dirty="0"/>
          </a:p>
        </p:txBody>
      </p:sp>
      <p:sp>
        <p:nvSpPr>
          <p:cNvPr id="9" name="Shape 7"/>
          <p:cNvSpPr/>
          <p:nvPr/>
        </p:nvSpPr>
        <p:spPr>
          <a:xfrm>
            <a:off x="6172200" y="114300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10" name="Text 8"/>
          <p:cNvSpPr/>
          <p:nvPr/>
        </p:nvSpPr>
        <p:spPr>
          <a:xfrm>
            <a:off x="6400800" y="128016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Media &amp; Shapes</a:t>
            </a:r>
            <a:endParaRPr lang="en-US" sz="1600" dirty="0"/>
          </a:p>
        </p:txBody>
      </p:sp>
      <p:sp>
        <p:nvSpPr>
          <p:cNvPr id="11" name="Text 9"/>
          <p:cNvSpPr/>
          <p:nvPr/>
        </p:nvSpPr>
        <p:spPr>
          <a:xfrm>
            <a:off x="640080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Insert images, videos, shapes, charts, and diagrams, and link charts from Sheets.</a:t>
            </a:r>
            <a:endParaRPr lang="en-US" sz="1600" dirty="0"/>
          </a:p>
        </p:txBody>
      </p:sp>
      <p:sp>
        <p:nvSpPr>
          <p:cNvPr id="12" name="Shape 10"/>
          <p:cNvSpPr/>
          <p:nvPr/>
        </p:nvSpPr>
        <p:spPr>
          <a:xfrm>
            <a:off x="548640" y="2880360"/>
            <a:ext cx="5394960" cy="1600200"/>
          </a:xfrm>
          <a:prstGeom prst="roundRect">
            <a:avLst>
              <a:gd name="adj" fmla="val 4571"/>
            </a:avLst>
          </a:prstGeom>
          <a:solidFill>
            <a:srgbClr val="FFF4D6"/>
          </a:solidFill>
          <a:ln w="12700">
            <a:solidFill>
              <a:srgbClr val="DCE1EA"/>
            </a:solidFill>
            <a:prstDash val="solid"/>
          </a:ln>
        </p:spPr>
        <p:txBody>
          <a:bodyPr/>
          <a:lstStyle/>
          <a:p>
            <a:endParaRPr lang="en-US" sz="1600"/>
          </a:p>
        </p:txBody>
      </p:sp>
      <p:sp>
        <p:nvSpPr>
          <p:cNvPr id="13" name="Text 11"/>
          <p:cNvSpPr/>
          <p:nvPr/>
        </p:nvSpPr>
        <p:spPr>
          <a:xfrm>
            <a:off x="777240" y="301752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Animations &amp; Transitions</a:t>
            </a:r>
            <a:endParaRPr lang="en-US" sz="1600" dirty="0"/>
          </a:p>
        </p:txBody>
      </p:sp>
      <p:sp>
        <p:nvSpPr>
          <p:cNvPr id="14" name="Text 12"/>
          <p:cNvSpPr/>
          <p:nvPr/>
        </p:nvSpPr>
        <p:spPr>
          <a:xfrm>
            <a:off x="77724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Add simple motion to slides and objects to guide the audience’s attention.</a:t>
            </a:r>
            <a:endParaRPr lang="en-US" sz="1600" dirty="0"/>
          </a:p>
        </p:txBody>
      </p:sp>
      <p:sp>
        <p:nvSpPr>
          <p:cNvPr id="15" name="Shape 13"/>
          <p:cNvSpPr/>
          <p:nvPr/>
        </p:nvSpPr>
        <p:spPr>
          <a:xfrm>
            <a:off x="6172200" y="288036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16" name="Text 14"/>
          <p:cNvSpPr/>
          <p:nvPr/>
        </p:nvSpPr>
        <p:spPr>
          <a:xfrm>
            <a:off x="6400800" y="301752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Speaker Notes &amp; Presenter View</a:t>
            </a:r>
            <a:endParaRPr lang="en-US" sz="1600" dirty="0"/>
          </a:p>
        </p:txBody>
      </p:sp>
      <p:sp>
        <p:nvSpPr>
          <p:cNvPr id="17" name="Text 15"/>
          <p:cNvSpPr/>
          <p:nvPr/>
        </p:nvSpPr>
        <p:spPr>
          <a:xfrm>
            <a:off x="640080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Keep notes visible only to you while the audience sees the slides.</a:t>
            </a:r>
            <a:endParaRPr lang="en-US" sz="1600" dirty="0"/>
          </a:p>
        </p:txBody>
      </p:sp>
      <p:sp>
        <p:nvSpPr>
          <p:cNvPr id="18" name="Shape 16"/>
          <p:cNvSpPr/>
          <p:nvPr/>
        </p:nvSpPr>
        <p:spPr>
          <a:xfrm>
            <a:off x="548640" y="4617720"/>
            <a:ext cx="5394960" cy="1600200"/>
          </a:xfrm>
          <a:prstGeom prst="roundRect">
            <a:avLst>
              <a:gd name="adj" fmla="val 4571"/>
            </a:avLst>
          </a:prstGeom>
          <a:solidFill>
            <a:srgbClr val="FFF4D6"/>
          </a:solidFill>
          <a:ln w="12700">
            <a:solidFill>
              <a:srgbClr val="DCE1EA"/>
            </a:solidFill>
            <a:prstDash val="solid"/>
          </a:ln>
        </p:spPr>
        <p:txBody>
          <a:bodyPr/>
          <a:lstStyle/>
          <a:p>
            <a:endParaRPr lang="en-US" sz="1600"/>
          </a:p>
        </p:txBody>
      </p:sp>
      <p:sp>
        <p:nvSpPr>
          <p:cNvPr id="19" name="Text 17"/>
          <p:cNvSpPr/>
          <p:nvPr/>
        </p:nvSpPr>
        <p:spPr>
          <a:xfrm>
            <a:off x="777240" y="475488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Q&amp;A and Audience Tools</a:t>
            </a:r>
            <a:endParaRPr lang="en-US" sz="1600" dirty="0"/>
          </a:p>
        </p:txBody>
      </p:sp>
      <p:sp>
        <p:nvSpPr>
          <p:cNvPr id="20" name="Text 18"/>
          <p:cNvSpPr/>
          <p:nvPr/>
        </p:nvSpPr>
        <p:spPr>
          <a:xfrm>
            <a:off x="77724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Let the audience submit questions during a presentation, or share a view-only link.</a:t>
            </a:r>
            <a:endParaRPr lang="en-US" sz="1600" dirty="0"/>
          </a:p>
        </p:txBody>
      </p:sp>
      <p:sp>
        <p:nvSpPr>
          <p:cNvPr id="21" name="Shape 19"/>
          <p:cNvSpPr/>
          <p:nvPr/>
        </p:nvSpPr>
        <p:spPr>
          <a:xfrm>
            <a:off x="6172200" y="461772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22" name="Text 20"/>
          <p:cNvSpPr/>
          <p:nvPr/>
        </p:nvSpPr>
        <p:spPr>
          <a:xfrm>
            <a:off x="6400800" y="475488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Download &amp; Compatibility</a:t>
            </a:r>
            <a:endParaRPr lang="en-US" sz="1600" dirty="0"/>
          </a:p>
        </p:txBody>
      </p:sp>
      <p:sp>
        <p:nvSpPr>
          <p:cNvPr id="23" name="Text 21"/>
          <p:cNvSpPr/>
          <p:nvPr/>
        </p:nvSpPr>
        <p:spPr>
          <a:xfrm>
            <a:off x="640080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Export to PowerPoint (.pptx) or PDF so the file opens anywhere.</a:t>
            </a:r>
            <a:endParaRPr lang="en-US" sz="1600" dirty="0"/>
          </a:p>
        </p:txBody>
      </p:sp>
      <p:sp>
        <p:nvSpPr>
          <p:cNvPr id="24" name="Text 22"/>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25" name="Text 23"/>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62B4D"/>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62B4D"/>
          </a:solidFill>
          <a:ln/>
        </p:spPr>
        <p:txBody>
          <a:bodyPr/>
          <a:lstStyle/>
          <a:p>
            <a:endParaRPr lang="en-US"/>
          </a:p>
        </p:txBody>
      </p:sp>
      <p:sp>
        <p:nvSpPr>
          <p:cNvPr id="3" name="Text 1"/>
          <p:cNvSpPr/>
          <p:nvPr/>
        </p:nvSpPr>
        <p:spPr>
          <a:xfrm>
            <a:off x="0" y="1463040"/>
            <a:ext cx="12191695" cy="1188720"/>
          </a:xfrm>
          <a:prstGeom prst="rect">
            <a:avLst/>
          </a:prstGeom>
          <a:noFill/>
          <a:ln/>
        </p:spPr>
        <p:txBody>
          <a:bodyPr wrap="square" rtlCol="0" anchor="ctr"/>
          <a:lstStyle/>
          <a:p>
            <a:pPr marL="0" indent="0" algn="ctr">
              <a:buNone/>
            </a:pPr>
            <a:r>
              <a:rPr lang="en-US" sz="6000" dirty="0">
                <a:solidFill>
                  <a:srgbClr val="000000"/>
                </a:solidFill>
                <a:latin typeface="Calibri" pitchFamily="34" charset="0"/>
                <a:ea typeface="Calibri" pitchFamily="34" charset="-122"/>
                <a:cs typeface="Calibri" pitchFamily="34" charset="-120"/>
              </a:rPr>
              <a:t>☕</a:t>
            </a:r>
            <a:endParaRPr lang="en-US" sz="6000" dirty="0"/>
          </a:p>
        </p:txBody>
      </p:sp>
      <p:sp>
        <p:nvSpPr>
          <p:cNvPr id="4" name="Text 2"/>
          <p:cNvSpPr/>
          <p:nvPr/>
        </p:nvSpPr>
        <p:spPr>
          <a:xfrm>
            <a:off x="0" y="2743200"/>
            <a:ext cx="12191695" cy="548640"/>
          </a:xfrm>
          <a:prstGeom prst="rect">
            <a:avLst/>
          </a:prstGeom>
          <a:noFill/>
          <a:ln/>
        </p:spPr>
        <p:txBody>
          <a:bodyPr wrap="square" rtlCol="0" anchor="ctr"/>
          <a:lstStyle/>
          <a:p>
            <a:pPr marL="0" indent="0" algn="ctr">
              <a:buNone/>
            </a:pPr>
            <a:r>
              <a:rPr lang="en-US" sz="2000" b="1" kern="0" spc="400" dirty="0">
                <a:solidFill>
                  <a:srgbClr val="D8B84A"/>
                </a:solidFill>
                <a:latin typeface="Calibri" pitchFamily="34" charset="0"/>
                <a:ea typeface="Calibri" pitchFamily="34" charset="-122"/>
                <a:cs typeface="Calibri" pitchFamily="34" charset="-120"/>
              </a:rPr>
              <a:t>BREAK 2</a:t>
            </a:r>
            <a:endParaRPr lang="en-US" sz="2000" dirty="0"/>
          </a:p>
        </p:txBody>
      </p:sp>
      <p:sp>
        <p:nvSpPr>
          <p:cNvPr id="5" name="Text 3"/>
          <p:cNvSpPr/>
          <p:nvPr/>
        </p:nvSpPr>
        <p:spPr>
          <a:xfrm>
            <a:off x="0" y="3291840"/>
            <a:ext cx="12191695" cy="731520"/>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10 Minutes</a:t>
            </a:r>
            <a:endParaRPr lang="en-US" sz="3600" dirty="0"/>
          </a:p>
        </p:txBody>
      </p:sp>
      <p:sp>
        <p:nvSpPr>
          <p:cNvPr id="6" name="Text 4"/>
          <p:cNvSpPr/>
          <p:nvPr/>
        </p:nvSpPr>
        <p:spPr>
          <a:xfrm>
            <a:off x="0" y="4114800"/>
            <a:ext cx="12191695" cy="457200"/>
          </a:xfrm>
          <a:prstGeom prst="rect">
            <a:avLst/>
          </a:prstGeom>
          <a:noFill/>
          <a:ln/>
        </p:spPr>
        <p:txBody>
          <a:bodyPr wrap="square" rtlCol="0" anchor="ctr"/>
          <a:lstStyle/>
          <a:p>
            <a:pPr marL="0" indent="0" algn="ctr">
              <a:buNone/>
            </a:pPr>
            <a:r>
              <a:rPr lang="en-US" sz="1500" i="1" dirty="0">
                <a:solidFill>
                  <a:srgbClr val="C7D0E0"/>
                </a:solidFill>
                <a:latin typeface="Calibri" pitchFamily="34" charset="0"/>
                <a:ea typeface="Calibri" pitchFamily="34" charset="-122"/>
                <a:cs typeface="Calibri" pitchFamily="34" charset="-120"/>
              </a:rPr>
              <a:t>Back at it: cloud storage — Google Drive, Dropbox and OneDrive</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62B4D"/>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62B4D"/>
          </a:solidFill>
          <a:ln/>
        </p:spPr>
        <p:txBody>
          <a:bodyPr/>
          <a:lstStyle/>
          <a:p>
            <a:endParaRPr lang="en-US"/>
          </a:p>
        </p:txBody>
      </p:sp>
      <p:pic>
        <p:nvPicPr>
          <p:cNvPr id="3" name="Image 0" descr="logos/drive.png"/>
          <p:cNvPicPr>
            <a:picLocks noChangeAspect="1"/>
          </p:cNvPicPr>
          <p:nvPr/>
        </p:nvPicPr>
        <p:blipFill>
          <a:blip r:embed="rId3"/>
          <a:stretch>
            <a:fillRect/>
          </a:stretch>
        </p:blipFill>
        <p:spPr>
          <a:xfrm>
            <a:off x="4568800" y="1417320"/>
            <a:ext cx="914400" cy="914400"/>
          </a:xfrm>
          <a:prstGeom prst="rect">
            <a:avLst/>
          </a:prstGeom>
        </p:spPr>
      </p:pic>
      <p:pic>
        <p:nvPicPr>
          <p:cNvPr id="4" name="Image 1" descr="logos/dropbox.png"/>
          <p:cNvPicPr>
            <a:picLocks noChangeAspect="1"/>
          </p:cNvPicPr>
          <p:nvPr/>
        </p:nvPicPr>
        <p:blipFill>
          <a:blip r:embed="rId4"/>
          <a:stretch>
            <a:fillRect/>
          </a:stretch>
        </p:blipFill>
        <p:spPr>
          <a:xfrm>
            <a:off x="5638648" y="1417320"/>
            <a:ext cx="914400" cy="914400"/>
          </a:xfrm>
          <a:prstGeom prst="rect">
            <a:avLst/>
          </a:prstGeom>
        </p:spPr>
      </p:pic>
      <p:pic>
        <p:nvPicPr>
          <p:cNvPr id="5" name="Image 2" descr="logos/onedrive.png"/>
          <p:cNvPicPr>
            <a:picLocks noChangeAspect="1"/>
          </p:cNvPicPr>
          <p:nvPr/>
        </p:nvPicPr>
        <p:blipFill>
          <a:blip r:embed="rId5"/>
          <a:stretch>
            <a:fillRect/>
          </a:stretch>
        </p:blipFill>
        <p:spPr>
          <a:xfrm>
            <a:off x="6708496" y="1417320"/>
            <a:ext cx="914400" cy="914400"/>
          </a:xfrm>
          <a:prstGeom prst="rect">
            <a:avLst/>
          </a:prstGeom>
        </p:spPr>
      </p:pic>
      <p:sp>
        <p:nvSpPr>
          <p:cNvPr id="6" name="Text 1"/>
          <p:cNvSpPr/>
          <p:nvPr/>
        </p:nvSpPr>
        <p:spPr>
          <a:xfrm>
            <a:off x="822960" y="2697480"/>
            <a:ext cx="10515600" cy="457200"/>
          </a:xfrm>
          <a:prstGeom prst="rect">
            <a:avLst/>
          </a:prstGeom>
          <a:noFill/>
          <a:ln/>
        </p:spPr>
        <p:txBody>
          <a:bodyPr wrap="square" rtlCol="0" anchor="ctr"/>
          <a:lstStyle/>
          <a:p>
            <a:pPr marL="0" indent="0" algn="ctr">
              <a:buNone/>
            </a:pPr>
            <a:r>
              <a:rPr lang="en-US" sz="1600" b="1" kern="0" spc="300" dirty="0">
                <a:solidFill>
                  <a:srgbClr val="D8B84A"/>
                </a:solidFill>
                <a:latin typeface="Calibri" pitchFamily="34" charset="0"/>
                <a:ea typeface="Calibri" pitchFamily="34" charset="-122"/>
                <a:cs typeface="Calibri" pitchFamily="34" charset="-120"/>
              </a:rPr>
              <a:t>PART 3 — WEEK 4 CATCH-UP: CLOUD STORAGE</a:t>
            </a:r>
            <a:endParaRPr lang="en-US" sz="1600" dirty="0"/>
          </a:p>
        </p:txBody>
      </p:sp>
      <p:sp>
        <p:nvSpPr>
          <p:cNvPr id="7" name="Text 2"/>
          <p:cNvSpPr/>
          <p:nvPr/>
        </p:nvSpPr>
        <p:spPr>
          <a:xfrm>
            <a:off x="822960" y="3154680"/>
            <a:ext cx="10515600" cy="73152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Google Drive, Dropbox &amp; Microsoft OneDrive</a:t>
            </a:r>
            <a:endParaRPr lang="en-US" sz="3000" dirty="0"/>
          </a:p>
        </p:txBody>
      </p:sp>
      <p:sp>
        <p:nvSpPr>
          <p:cNvPr id="8" name="Text 3"/>
          <p:cNvSpPr/>
          <p:nvPr/>
        </p:nvSpPr>
        <p:spPr>
          <a:xfrm>
            <a:off x="822960" y="3886200"/>
            <a:ext cx="10515600" cy="457200"/>
          </a:xfrm>
          <a:prstGeom prst="rect">
            <a:avLst/>
          </a:prstGeom>
          <a:noFill/>
          <a:ln/>
        </p:spPr>
        <p:txBody>
          <a:bodyPr wrap="square" rtlCol="0" anchor="ctr"/>
          <a:lstStyle/>
          <a:p>
            <a:pPr marL="0" indent="0" algn="ctr">
              <a:buNone/>
            </a:pPr>
            <a:r>
              <a:rPr lang="en-US" sz="1500" i="1" dirty="0">
                <a:solidFill>
                  <a:srgbClr val="C7D0E0"/>
                </a:solidFill>
                <a:latin typeface="Calibri" pitchFamily="34" charset="0"/>
                <a:ea typeface="Calibri" pitchFamily="34" charset="-122"/>
                <a:cs typeface="Calibri" pitchFamily="34" charset="-120"/>
              </a:rPr>
              <a:t>Store, sync, and share files from anywhere</a:t>
            </a:r>
            <a:endParaRPr lang="en-US" sz="15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CLOUD STORAGE</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What Is Cloud Storage &amp; How Does It Work?</a:t>
            </a:r>
            <a:endParaRPr lang="en-US" sz="2400" dirty="0"/>
          </a:p>
        </p:txBody>
      </p:sp>
      <p:sp>
        <p:nvSpPr>
          <p:cNvPr id="6" name="Shape 4"/>
          <p:cNvSpPr/>
          <p:nvPr/>
        </p:nvSpPr>
        <p:spPr>
          <a:xfrm>
            <a:off x="548640" y="1234440"/>
            <a:ext cx="1432560" cy="2926080"/>
          </a:xfrm>
          <a:prstGeom prst="roundRect">
            <a:avLst>
              <a:gd name="adj" fmla="val 5106"/>
            </a:avLst>
          </a:prstGeom>
          <a:solidFill>
            <a:srgbClr val="E8EEF9"/>
          </a:solidFill>
          <a:ln w="12700">
            <a:solidFill>
              <a:srgbClr val="DCE1EA"/>
            </a:solidFill>
            <a:prstDash val="solid"/>
          </a:ln>
        </p:spPr>
        <p:txBody>
          <a:bodyPr/>
          <a:lstStyle/>
          <a:p>
            <a:endParaRPr lang="en-US" sz="1600"/>
          </a:p>
        </p:txBody>
      </p:sp>
      <p:sp>
        <p:nvSpPr>
          <p:cNvPr id="7" name="Shape 5"/>
          <p:cNvSpPr/>
          <p:nvPr/>
        </p:nvSpPr>
        <p:spPr>
          <a:xfrm>
            <a:off x="685800" y="1371600"/>
            <a:ext cx="411480" cy="411480"/>
          </a:xfrm>
          <a:prstGeom prst="ellipse">
            <a:avLst/>
          </a:prstGeom>
          <a:solidFill>
            <a:srgbClr val="1F3864"/>
          </a:solidFill>
          <a:ln/>
        </p:spPr>
        <p:txBody>
          <a:bodyPr/>
          <a:lstStyle/>
          <a:p>
            <a:endParaRPr lang="en-US" sz="1600"/>
          </a:p>
        </p:txBody>
      </p:sp>
      <p:sp>
        <p:nvSpPr>
          <p:cNvPr id="8" name="Text 6"/>
          <p:cNvSpPr/>
          <p:nvPr/>
        </p:nvSpPr>
        <p:spPr>
          <a:xfrm>
            <a:off x="685800"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658368" y="1874520"/>
            <a:ext cx="1213104"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Save a File</a:t>
            </a:r>
            <a:endParaRPr lang="en-US" sz="1600" dirty="0"/>
          </a:p>
        </p:txBody>
      </p:sp>
      <p:sp>
        <p:nvSpPr>
          <p:cNvPr id="10" name="Text 8"/>
          <p:cNvSpPr/>
          <p:nvPr/>
        </p:nvSpPr>
        <p:spPr>
          <a:xfrm>
            <a:off x="658368" y="2423160"/>
            <a:ext cx="1213104" cy="164592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You save or drag a file into your cloud folder on a device.</a:t>
            </a:r>
            <a:endParaRPr lang="en-US" sz="1600" dirty="0"/>
          </a:p>
        </p:txBody>
      </p:sp>
      <p:sp>
        <p:nvSpPr>
          <p:cNvPr id="11" name="Shape 9"/>
          <p:cNvSpPr/>
          <p:nvPr/>
        </p:nvSpPr>
        <p:spPr>
          <a:xfrm>
            <a:off x="2090928" y="2560320"/>
            <a:ext cx="274320" cy="274320"/>
          </a:xfrm>
          <a:prstGeom prst="rightArrow">
            <a:avLst/>
          </a:prstGeom>
          <a:solidFill>
            <a:srgbClr val="B8860B"/>
          </a:solidFill>
          <a:ln/>
        </p:spPr>
        <p:txBody>
          <a:bodyPr/>
          <a:lstStyle/>
          <a:p>
            <a:endParaRPr lang="en-US" sz="1600"/>
          </a:p>
        </p:txBody>
      </p:sp>
      <p:sp>
        <p:nvSpPr>
          <p:cNvPr id="12" name="Shape 10"/>
          <p:cNvSpPr/>
          <p:nvPr/>
        </p:nvSpPr>
        <p:spPr>
          <a:xfrm>
            <a:off x="2474976" y="1234440"/>
            <a:ext cx="1432560" cy="2926080"/>
          </a:xfrm>
          <a:prstGeom prst="roundRect">
            <a:avLst>
              <a:gd name="adj" fmla="val 5106"/>
            </a:avLst>
          </a:prstGeom>
          <a:solidFill>
            <a:srgbClr val="FDF3E3"/>
          </a:solidFill>
          <a:ln w="12700">
            <a:solidFill>
              <a:srgbClr val="DCE1EA"/>
            </a:solidFill>
            <a:prstDash val="solid"/>
          </a:ln>
        </p:spPr>
        <p:txBody>
          <a:bodyPr/>
          <a:lstStyle/>
          <a:p>
            <a:endParaRPr lang="en-US" sz="1600"/>
          </a:p>
        </p:txBody>
      </p:sp>
      <p:sp>
        <p:nvSpPr>
          <p:cNvPr id="13" name="Shape 11"/>
          <p:cNvSpPr/>
          <p:nvPr/>
        </p:nvSpPr>
        <p:spPr>
          <a:xfrm>
            <a:off x="2612136" y="1371600"/>
            <a:ext cx="411480" cy="411480"/>
          </a:xfrm>
          <a:prstGeom prst="ellipse">
            <a:avLst/>
          </a:prstGeom>
          <a:solidFill>
            <a:srgbClr val="1F3864"/>
          </a:solidFill>
          <a:ln/>
        </p:spPr>
        <p:txBody>
          <a:bodyPr/>
          <a:lstStyle/>
          <a:p>
            <a:endParaRPr lang="en-US" sz="1600"/>
          </a:p>
        </p:txBody>
      </p:sp>
      <p:sp>
        <p:nvSpPr>
          <p:cNvPr id="14" name="Text 12"/>
          <p:cNvSpPr/>
          <p:nvPr/>
        </p:nvSpPr>
        <p:spPr>
          <a:xfrm>
            <a:off x="2612136"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3"/>
          <p:cNvSpPr/>
          <p:nvPr/>
        </p:nvSpPr>
        <p:spPr>
          <a:xfrm>
            <a:off x="2584704" y="1874520"/>
            <a:ext cx="1213104"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Upload</a:t>
            </a:r>
            <a:endParaRPr lang="en-US" sz="1600" dirty="0"/>
          </a:p>
        </p:txBody>
      </p:sp>
      <p:sp>
        <p:nvSpPr>
          <p:cNvPr id="16" name="Text 14"/>
          <p:cNvSpPr/>
          <p:nvPr/>
        </p:nvSpPr>
        <p:spPr>
          <a:xfrm>
            <a:off x="2584704" y="2423160"/>
            <a:ext cx="1213104" cy="164592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The file is sent over the internet to the provider.</a:t>
            </a:r>
            <a:endParaRPr lang="en-US" sz="1600" dirty="0"/>
          </a:p>
        </p:txBody>
      </p:sp>
      <p:sp>
        <p:nvSpPr>
          <p:cNvPr id="17" name="Shape 15"/>
          <p:cNvSpPr/>
          <p:nvPr/>
        </p:nvSpPr>
        <p:spPr>
          <a:xfrm>
            <a:off x="4017264" y="2560320"/>
            <a:ext cx="274320" cy="274320"/>
          </a:xfrm>
          <a:prstGeom prst="rightArrow">
            <a:avLst/>
          </a:prstGeom>
          <a:solidFill>
            <a:srgbClr val="B8860B"/>
          </a:solidFill>
          <a:ln/>
        </p:spPr>
        <p:txBody>
          <a:bodyPr/>
          <a:lstStyle/>
          <a:p>
            <a:endParaRPr lang="en-US" sz="1600"/>
          </a:p>
        </p:txBody>
      </p:sp>
      <p:sp>
        <p:nvSpPr>
          <p:cNvPr id="18" name="Shape 16"/>
          <p:cNvSpPr/>
          <p:nvPr/>
        </p:nvSpPr>
        <p:spPr>
          <a:xfrm>
            <a:off x="4401312" y="1234440"/>
            <a:ext cx="1432560" cy="2926080"/>
          </a:xfrm>
          <a:prstGeom prst="roundRect">
            <a:avLst>
              <a:gd name="adj" fmla="val 5106"/>
            </a:avLst>
          </a:prstGeom>
          <a:solidFill>
            <a:srgbClr val="E8EEF9"/>
          </a:solidFill>
          <a:ln w="12700">
            <a:solidFill>
              <a:srgbClr val="DCE1EA"/>
            </a:solidFill>
            <a:prstDash val="solid"/>
          </a:ln>
        </p:spPr>
        <p:txBody>
          <a:bodyPr/>
          <a:lstStyle/>
          <a:p>
            <a:endParaRPr lang="en-US" sz="1600"/>
          </a:p>
        </p:txBody>
      </p:sp>
      <p:sp>
        <p:nvSpPr>
          <p:cNvPr id="19" name="Shape 17"/>
          <p:cNvSpPr/>
          <p:nvPr/>
        </p:nvSpPr>
        <p:spPr>
          <a:xfrm>
            <a:off x="4538472" y="1371600"/>
            <a:ext cx="411480" cy="411480"/>
          </a:xfrm>
          <a:prstGeom prst="ellipse">
            <a:avLst/>
          </a:prstGeom>
          <a:solidFill>
            <a:srgbClr val="1F3864"/>
          </a:solidFill>
          <a:ln/>
        </p:spPr>
        <p:txBody>
          <a:bodyPr/>
          <a:lstStyle/>
          <a:p>
            <a:endParaRPr lang="en-US" sz="1600"/>
          </a:p>
        </p:txBody>
      </p:sp>
      <p:sp>
        <p:nvSpPr>
          <p:cNvPr id="20" name="Text 18"/>
          <p:cNvSpPr/>
          <p:nvPr/>
        </p:nvSpPr>
        <p:spPr>
          <a:xfrm>
            <a:off x="4538472"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9"/>
          <p:cNvSpPr/>
          <p:nvPr/>
        </p:nvSpPr>
        <p:spPr>
          <a:xfrm>
            <a:off x="4511040" y="1874520"/>
            <a:ext cx="1213104"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Stored Securely</a:t>
            </a:r>
            <a:endParaRPr lang="en-US" sz="1600" dirty="0"/>
          </a:p>
        </p:txBody>
      </p:sp>
      <p:sp>
        <p:nvSpPr>
          <p:cNvPr id="22" name="Text 20"/>
          <p:cNvSpPr/>
          <p:nvPr/>
        </p:nvSpPr>
        <p:spPr>
          <a:xfrm>
            <a:off x="4511040" y="2423160"/>
            <a:ext cx="1213104" cy="164592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Copies are kept on servers in data centers.</a:t>
            </a:r>
            <a:endParaRPr lang="en-US" sz="1600" dirty="0"/>
          </a:p>
        </p:txBody>
      </p:sp>
      <p:sp>
        <p:nvSpPr>
          <p:cNvPr id="23" name="Shape 21"/>
          <p:cNvSpPr/>
          <p:nvPr/>
        </p:nvSpPr>
        <p:spPr>
          <a:xfrm>
            <a:off x="5943600" y="2560320"/>
            <a:ext cx="274320" cy="274320"/>
          </a:xfrm>
          <a:prstGeom prst="rightArrow">
            <a:avLst/>
          </a:prstGeom>
          <a:solidFill>
            <a:srgbClr val="B8860B"/>
          </a:solidFill>
          <a:ln/>
        </p:spPr>
        <p:txBody>
          <a:bodyPr/>
          <a:lstStyle/>
          <a:p>
            <a:endParaRPr lang="en-US" sz="1600"/>
          </a:p>
        </p:txBody>
      </p:sp>
      <p:sp>
        <p:nvSpPr>
          <p:cNvPr id="24" name="Shape 22"/>
          <p:cNvSpPr/>
          <p:nvPr/>
        </p:nvSpPr>
        <p:spPr>
          <a:xfrm>
            <a:off x="6327648" y="1234440"/>
            <a:ext cx="1432560" cy="2926080"/>
          </a:xfrm>
          <a:prstGeom prst="roundRect">
            <a:avLst>
              <a:gd name="adj" fmla="val 5106"/>
            </a:avLst>
          </a:prstGeom>
          <a:solidFill>
            <a:srgbClr val="FDF3E3"/>
          </a:solidFill>
          <a:ln w="12700">
            <a:solidFill>
              <a:srgbClr val="DCE1EA"/>
            </a:solidFill>
            <a:prstDash val="solid"/>
          </a:ln>
        </p:spPr>
        <p:txBody>
          <a:bodyPr/>
          <a:lstStyle/>
          <a:p>
            <a:endParaRPr lang="en-US" sz="1600"/>
          </a:p>
        </p:txBody>
      </p:sp>
      <p:sp>
        <p:nvSpPr>
          <p:cNvPr id="25" name="Shape 23"/>
          <p:cNvSpPr/>
          <p:nvPr/>
        </p:nvSpPr>
        <p:spPr>
          <a:xfrm>
            <a:off x="6464808" y="1371600"/>
            <a:ext cx="411480" cy="411480"/>
          </a:xfrm>
          <a:prstGeom prst="ellipse">
            <a:avLst/>
          </a:prstGeom>
          <a:solidFill>
            <a:srgbClr val="1F3864"/>
          </a:solidFill>
          <a:ln/>
        </p:spPr>
        <p:txBody>
          <a:bodyPr/>
          <a:lstStyle/>
          <a:p>
            <a:endParaRPr lang="en-US" sz="1600"/>
          </a:p>
        </p:txBody>
      </p:sp>
      <p:sp>
        <p:nvSpPr>
          <p:cNvPr id="26" name="Text 24"/>
          <p:cNvSpPr/>
          <p:nvPr/>
        </p:nvSpPr>
        <p:spPr>
          <a:xfrm>
            <a:off x="6464808"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5"/>
          <p:cNvSpPr/>
          <p:nvPr/>
        </p:nvSpPr>
        <p:spPr>
          <a:xfrm>
            <a:off x="6437376" y="1874520"/>
            <a:ext cx="1213104"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Synced</a:t>
            </a:r>
            <a:endParaRPr lang="en-US" sz="1600" dirty="0"/>
          </a:p>
        </p:txBody>
      </p:sp>
      <p:sp>
        <p:nvSpPr>
          <p:cNvPr id="28" name="Text 26"/>
          <p:cNvSpPr/>
          <p:nvPr/>
        </p:nvSpPr>
        <p:spPr>
          <a:xfrm>
            <a:off x="6437376" y="2423160"/>
            <a:ext cx="1213104" cy="164592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Other devices signed into your account receive the file.</a:t>
            </a:r>
            <a:endParaRPr lang="en-US" sz="1600" dirty="0"/>
          </a:p>
        </p:txBody>
      </p:sp>
      <p:sp>
        <p:nvSpPr>
          <p:cNvPr id="29" name="Shape 27"/>
          <p:cNvSpPr/>
          <p:nvPr/>
        </p:nvSpPr>
        <p:spPr>
          <a:xfrm>
            <a:off x="7869936" y="2560320"/>
            <a:ext cx="274320" cy="274320"/>
          </a:xfrm>
          <a:prstGeom prst="rightArrow">
            <a:avLst/>
          </a:prstGeom>
          <a:solidFill>
            <a:srgbClr val="B8860B"/>
          </a:solidFill>
          <a:ln/>
        </p:spPr>
        <p:txBody>
          <a:bodyPr/>
          <a:lstStyle/>
          <a:p>
            <a:endParaRPr lang="en-US" sz="1600"/>
          </a:p>
        </p:txBody>
      </p:sp>
      <p:sp>
        <p:nvSpPr>
          <p:cNvPr id="30" name="Shape 28"/>
          <p:cNvSpPr/>
          <p:nvPr/>
        </p:nvSpPr>
        <p:spPr>
          <a:xfrm>
            <a:off x="8253984" y="1234440"/>
            <a:ext cx="1432560" cy="2926080"/>
          </a:xfrm>
          <a:prstGeom prst="roundRect">
            <a:avLst>
              <a:gd name="adj" fmla="val 5106"/>
            </a:avLst>
          </a:prstGeom>
          <a:solidFill>
            <a:srgbClr val="E8EEF9"/>
          </a:solidFill>
          <a:ln w="12700">
            <a:solidFill>
              <a:srgbClr val="DCE1EA"/>
            </a:solidFill>
            <a:prstDash val="solid"/>
          </a:ln>
        </p:spPr>
        <p:txBody>
          <a:bodyPr/>
          <a:lstStyle/>
          <a:p>
            <a:endParaRPr lang="en-US" sz="1600"/>
          </a:p>
        </p:txBody>
      </p:sp>
      <p:sp>
        <p:nvSpPr>
          <p:cNvPr id="31" name="Shape 29"/>
          <p:cNvSpPr/>
          <p:nvPr/>
        </p:nvSpPr>
        <p:spPr>
          <a:xfrm>
            <a:off x="8391144" y="1371600"/>
            <a:ext cx="411480" cy="411480"/>
          </a:xfrm>
          <a:prstGeom prst="ellipse">
            <a:avLst/>
          </a:prstGeom>
          <a:solidFill>
            <a:srgbClr val="1F3864"/>
          </a:solidFill>
          <a:ln/>
        </p:spPr>
        <p:txBody>
          <a:bodyPr/>
          <a:lstStyle/>
          <a:p>
            <a:endParaRPr lang="en-US" sz="1600"/>
          </a:p>
        </p:txBody>
      </p:sp>
      <p:sp>
        <p:nvSpPr>
          <p:cNvPr id="32" name="Text 30"/>
          <p:cNvSpPr/>
          <p:nvPr/>
        </p:nvSpPr>
        <p:spPr>
          <a:xfrm>
            <a:off x="8391144"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3" name="Text 31"/>
          <p:cNvSpPr/>
          <p:nvPr/>
        </p:nvSpPr>
        <p:spPr>
          <a:xfrm>
            <a:off x="8363712" y="1874520"/>
            <a:ext cx="1213104"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Shared</a:t>
            </a:r>
            <a:endParaRPr lang="en-US" sz="1600" dirty="0"/>
          </a:p>
        </p:txBody>
      </p:sp>
      <p:sp>
        <p:nvSpPr>
          <p:cNvPr id="34" name="Text 32"/>
          <p:cNvSpPr/>
          <p:nvPr/>
        </p:nvSpPr>
        <p:spPr>
          <a:xfrm>
            <a:off x="8363712" y="2423160"/>
            <a:ext cx="1213104" cy="164592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You send a link or invite people with chosen permissions.</a:t>
            </a:r>
            <a:endParaRPr lang="en-US" sz="1600" dirty="0"/>
          </a:p>
        </p:txBody>
      </p:sp>
      <p:sp>
        <p:nvSpPr>
          <p:cNvPr id="35" name="Shape 33"/>
          <p:cNvSpPr/>
          <p:nvPr/>
        </p:nvSpPr>
        <p:spPr>
          <a:xfrm>
            <a:off x="9796272" y="2560320"/>
            <a:ext cx="274320" cy="274320"/>
          </a:xfrm>
          <a:prstGeom prst="rightArrow">
            <a:avLst/>
          </a:prstGeom>
          <a:solidFill>
            <a:srgbClr val="B8860B"/>
          </a:solidFill>
          <a:ln/>
        </p:spPr>
        <p:txBody>
          <a:bodyPr/>
          <a:lstStyle/>
          <a:p>
            <a:endParaRPr lang="en-US" sz="1600"/>
          </a:p>
        </p:txBody>
      </p:sp>
      <p:sp>
        <p:nvSpPr>
          <p:cNvPr id="36" name="Shape 34"/>
          <p:cNvSpPr/>
          <p:nvPr/>
        </p:nvSpPr>
        <p:spPr>
          <a:xfrm>
            <a:off x="10180320" y="1234440"/>
            <a:ext cx="1432560" cy="2926080"/>
          </a:xfrm>
          <a:prstGeom prst="roundRect">
            <a:avLst>
              <a:gd name="adj" fmla="val 5106"/>
            </a:avLst>
          </a:prstGeom>
          <a:solidFill>
            <a:srgbClr val="FDF3E3"/>
          </a:solidFill>
          <a:ln w="12700">
            <a:solidFill>
              <a:srgbClr val="DCE1EA"/>
            </a:solidFill>
            <a:prstDash val="solid"/>
          </a:ln>
        </p:spPr>
        <p:txBody>
          <a:bodyPr/>
          <a:lstStyle/>
          <a:p>
            <a:endParaRPr lang="en-US" sz="1600"/>
          </a:p>
        </p:txBody>
      </p:sp>
      <p:sp>
        <p:nvSpPr>
          <p:cNvPr id="37" name="Shape 35"/>
          <p:cNvSpPr/>
          <p:nvPr/>
        </p:nvSpPr>
        <p:spPr>
          <a:xfrm>
            <a:off x="10317480" y="1371600"/>
            <a:ext cx="411480" cy="411480"/>
          </a:xfrm>
          <a:prstGeom prst="ellipse">
            <a:avLst/>
          </a:prstGeom>
          <a:solidFill>
            <a:srgbClr val="1F3864"/>
          </a:solidFill>
          <a:ln/>
        </p:spPr>
        <p:txBody>
          <a:bodyPr/>
          <a:lstStyle/>
          <a:p>
            <a:endParaRPr lang="en-US" sz="1600"/>
          </a:p>
        </p:txBody>
      </p:sp>
      <p:sp>
        <p:nvSpPr>
          <p:cNvPr id="38" name="Text 36"/>
          <p:cNvSpPr/>
          <p:nvPr/>
        </p:nvSpPr>
        <p:spPr>
          <a:xfrm>
            <a:off x="10317480"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9" name="Text 37"/>
          <p:cNvSpPr/>
          <p:nvPr/>
        </p:nvSpPr>
        <p:spPr>
          <a:xfrm>
            <a:off x="10290048" y="1874520"/>
            <a:ext cx="1213104"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Versions Kept</a:t>
            </a:r>
            <a:endParaRPr lang="en-US" sz="1600" dirty="0"/>
          </a:p>
        </p:txBody>
      </p:sp>
      <p:sp>
        <p:nvSpPr>
          <p:cNvPr id="40" name="Text 38"/>
          <p:cNvSpPr/>
          <p:nvPr/>
        </p:nvSpPr>
        <p:spPr>
          <a:xfrm>
            <a:off x="10290048" y="2423160"/>
            <a:ext cx="1213104" cy="164592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Earlier versions and deleted files can often be recovered.</a:t>
            </a:r>
            <a:endParaRPr lang="en-US" sz="1600" dirty="0"/>
          </a:p>
        </p:txBody>
      </p:sp>
      <p:sp>
        <p:nvSpPr>
          <p:cNvPr id="41" name="Shape 39"/>
          <p:cNvSpPr/>
          <p:nvPr/>
        </p:nvSpPr>
        <p:spPr>
          <a:xfrm>
            <a:off x="548640" y="4434840"/>
            <a:ext cx="3566160" cy="1325880"/>
          </a:xfrm>
          <a:prstGeom prst="roundRect">
            <a:avLst>
              <a:gd name="adj" fmla="val 5517"/>
            </a:avLst>
          </a:prstGeom>
          <a:solidFill>
            <a:srgbClr val="E8EEF9"/>
          </a:solidFill>
          <a:ln w="12700">
            <a:solidFill>
              <a:srgbClr val="DCE1EA"/>
            </a:solidFill>
            <a:prstDash val="solid"/>
          </a:ln>
        </p:spPr>
        <p:txBody>
          <a:bodyPr/>
          <a:lstStyle/>
          <a:p>
            <a:endParaRPr lang="en-US" sz="1600"/>
          </a:p>
        </p:txBody>
      </p:sp>
      <p:sp>
        <p:nvSpPr>
          <p:cNvPr id="42" name="Text 40"/>
          <p:cNvSpPr/>
          <p:nvPr/>
        </p:nvSpPr>
        <p:spPr>
          <a:xfrm>
            <a:off x="731520" y="4544568"/>
            <a:ext cx="3200400" cy="29260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Benefits</a:t>
            </a:r>
            <a:endParaRPr lang="en-US" sz="1600" dirty="0"/>
          </a:p>
        </p:txBody>
      </p:sp>
      <p:sp>
        <p:nvSpPr>
          <p:cNvPr id="43" name="Text 41"/>
          <p:cNvSpPr/>
          <p:nvPr/>
        </p:nvSpPr>
        <p:spPr>
          <a:xfrm>
            <a:off x="731520" y="4873752"/>
            <a:ext cx="3200400" cy="822960"/>
          </a:xfrm>
          <a:prstGeom prst="rect">
            <a:avLst/>
          </a:prstGeom>
          <a:noFill/>
          <a:ln/>
        </p:spPr>
        <p:txBody>
          <a:bodyPr wrap="square" rtlCol="0" anchor="t"/>
          <a:lstStyle/>
          <a:p>
            <a:pPr marL="0" indent="0">
              <a:lnSpc>
                <a:spcPts val="1500"/>
              </a:lnSpc>
              <a:buNone/>
            </a:pPr>
            <a:r>
              <a:rPr lang="en-US" sz="1600" dirty="0">
                <a:solidFill>
                  <a:srgbClr val="333333"/>
                </a:solidFill>
                <a:latin typeface="Calibri" pitchFamily="34" charset="0"/>
                <a:ea typeface="Calibri" pitchFamily="34" charset="-122"/>
                <a:cs typeface="Calibri" pitchFamily="34" charset="-120"/>
              </a:rPr>
              <a:t>Access files from any device, automatic backup, easy sharing, and fewer lost USB drives.</a:t>
            </a:r>
            <a:endParaRPr lang="en-US" sz="1600" dirty="0"/>
          </a:p>
        </p:txBody>
      </p:sp>
      <p:sp>
        <p:nvSpPr>
          <p:cNvPr id="44" name="Shape 42"/>
          <p:cNvSpPr/>
          <p:nvPr/>
        </p:nvSpPr>
        <p:spPr>
          <a:xfrm>
            <a:off x="4297680" y="4434840"/>
            <a:ext cx="3566160" cy="1325880"/>
          </a:xfrm>
          <a:prstGeom prst="roundRect">
            <a:avLst>
              <a:gd name="adj" fmla="val 5517"/>
            </a:avLst>
          </a:prstGeom>
          <a:solidFill>
            <a:srgbClr val="FDF3E3"/>
          </a:solidFill>
          <a:ln w="12700">
            <a:solidFill>
              <a:srgbClr val="DCE1EA"/>
            </a:solidFill>
            <a:prstDash val="solid"/>
          </a:ln>
        </p:spPr>
        <p:txBody>
          <a:bodyPr/>
          <a:lstStyle/>
          <a:p>
            <a:endParaRPr lang="en-US" sz="1600"/>
          </a:p>
        </p:txBody>
      </p:sp>
      <p:sp>
        <p:nvSpPr>
          <p:cNvPr id="45" name="Text 43"/>
          <p:cNvSpPr/>
          <p:nvPr/>
        </p:nvSpPr>
        <p:spPr>
          <a:xfrm>
            <a:off x="4480560" y="4544568"/>
            <a:ext cx="3200400" cy="29260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Risks</a:t>
            </a:r>
            <a:endParaRPr lang="en-US" sz="1600" dirty="0"/>
          </a:p>
        </p:txBody>
      </p:sp>
      <p:sp>
        <p:nvSpPr>
          <p:cNvPr id="46" name="Text 44"/>
          <p:cNvSpPr/>
          <p:nvPr/>
        </p:nvSpPr>
        <p:spPr>
          <a:xfrm>
            <a:off x="4480560" y="4873752"/>
            <a:ext cx="3200400" cy="822960"/>
          </a:xfrm>
          <a:prstGeom prst="rect">
            <a:avLst/>
          </a:prstGeom>
          <a:noFill/>
          <a:ln/>
        </p:spPr>
        <p:txBody>
          <a:bodyPr wrap="square" rtlCol="0" anchor="t"/>
          <a:lstStyle/>
          <a:p>
            <a:pPr marL="0" indent="0">
              <a:lnSpc>
                <a:spcPts val="1500"/>
              </a:lnSpc>
              <a:buNone/>
            </a:pPr>
            <a:r>
              <a:rPr lang="en-US" sz="1600" dirty="0">
                <a:solidFill>
                  <a:srgbClr val="333333"/>
                </a:solidFill>
                <a:latin typeface="Calibri" pitchFamily="34" charset="0"/>
                <a:ea typeface="Calibri" pitchFamily="34" charset="-122"/>
                <a:cs typeface="Calibri" pitchFamily="34" charset="-120"/>
              </a:rPr>
              <a:t>Needs internet, depends on the provider, and can be exposed if an account is hacked or shared carelessly.</a:t>
            </a:r>
            <a:endParaRPr lang="en-US" sz="1600" dirty="0"/>
          </a:p>
        </p:txBody>
      </p:sp>
      <p:sp>
        <p:nvSpPr>
          <p:cNvPr id="47" name="Shape 45"/>
          <p:cNvSpPr/>
          <p:nvPr/>
        </p:nvSpPr>
        <p:spPr>
          <a:xfrm>
            <a:off x="8046720" y="4434840"/>
            <a:ext cx="3566160" cy="1325880"/>
          </a:xfrm>
          <a:prstGeom prst="roundRect">
            <a:avLst>
              <a:gd name="adj" fmla="val 5517"/>
            </a:avLst>
          </a:prstGeom>
          <a:solidFill>
            <a:srgbClr val="E8EEF9"/>
          </a:solidFill>
          <a:ln w="12700">
            <a:solidFill>
              <a:srgbClr val="DCE1EA"/>
            </a:solidFill>
            <a:prstDash val="solid"/>
          </a:ln>
        </p:spPr>
        <p:txBody>
          <a:bodyPr/>
          <a:lstStyle/>
          <a:p>
            <a:endParaRPr lang="en-US" sz="1600"/>
          </a:p>
        </p:txBody>
      </p:sp>
      <p:sp>
        <p:nvSpPr>
          <p:cNvPr id="48" name="Text 46"/>
          <p:cNvSpPr/>
          <p:nvPr/>
        </p:nvSpPr>
        <p:spPr>
          <a:xfrm>
            <a:off x="8229600" y="4544568"/>
            <a:ext cx="3200400" cy="29260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Free vs paid</a:t>
            </a:r>
            <a:endParaRPr lang="en-US" sz="1600" dirty="0"/>
          </a:p>
        </p:txBody>
      </p:sp>
      <p:sp>
        <p:nvSpPr>
          <p:cNvPr id="49" name="Text 47"/>
          <p:cNvSpPr/>
          <p:nvPr/>
        </p:nvSpPr>
        <p:spPr>
          <a:xfrm>
            <a:off x="8229600" y="4873752"/>
            <a:ext cx="3200400" cy="822960"/>
          </a:xfrm>
          <a:prstGeom prst="rect">
            <a:avLst/>
          </a:prstGeom>
          <a:noFill/>
          <a:ln/>
        </p:spPr>
        <p:txBody>
          <a:bodyPr wrap="square" rtlCol="0" anchor="t"/>
          <a:lstStyle/>
          <a:p>
            <a:pPr marL="0" indent="0">
              <a:lnSpc>
                <a:spcPts val="1500"/>
              </a:lnSpc>
              <a:buNone/>
            </a:pPr>
            <a:r>
              <a:rPr lang="en-US" sz="1600" dirty="0">
                <a:solidFill>
                  <a:srgbClr val="333333"/>
                </a:solidFill>
                <a:latin typeface="Calibri" pitchFamily="34" charset="0"/>
                <a:ea typeface="Calibri" pitchFamily="34" charset="-122"/>
                <a:cs typeface="Calibri" pitchFamily="34" charset="-120"/>
              </a:rPr>
              <a:t>Providers give limited free space and sell more storage and features through paid plans.</a:t>
            </a:r>
            <a:endParaRPr lang="en-US" sz="1600" dirty="0"/>
          </a:p>
        </p:txBody>
      </p:sp>
      <p:sp>
        <p:nvSpPr>
          <p:cNvPr id="50" name="Text 48"/>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51" name="Text 49"/>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CLOUD STORAGE — GOOGLE DRIVE</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Google Drive — My Drive</a:t>
            </a:r>
            <a:endParaRPr lang="en-US" sz="2400" dirty="0"/>
          </a:p>
        </p:txBody>
      </p:sp>
      <p:pic>
        <p:nvPicPr>
          <p:cNvPr id="6" name="Image 0" descr="mockups/gdrive_main.png"/>
          <p:cNvPicPr>
            <a:picLocks noChangeAspect="1"/>
          </p:cNvPicPr>
          <p:nvPr/>
        </p:nvPicPr>
        <p:blipFill>
          <a:blip r:embed="rId3"/>
          <a:stretch>
            <a:fillRect/>
          </a:stretch>
        </p:blipFill>
        <p:spPr>
          <a:xfrm>
            <a:off x="457200" y="1097280"/>
            <a:ext cx="7223760" cy="4540649"/>
          </a:xfrm>
          <a:prstGeom prst="rect">
            <a:avLst/>
          </a:prstGeom>
        </p:spPr>
      </p:pic>
      <p:sp>
        <p:nvSpPr>
          <p:cNvPr id="7" name="Shape 4"/>
          <p:cNvSpPr/>
          <p:nvPr/>
        </p:nvSpPr>
        <p:spPr>
          <a:xfrm>
            <a:off x="457200" y="1097280"/>
            <a:ext cx="7223760" cy="4540649"/>
          </a:xfrm>
          <a:prstGeom prst="rect">
            <a:avLst/>
          </a:prstGeom>
          <a:ln w="12700">
            <a:solidFill>
              <a:srgbClr val="C9D0DC"/>
            </a:solidFill>
            <a:prstDash val="solid"/>
          </a:ln>
        </p:spPr>
        <p:txBody>
          <a:bodyPr/>
          <a:lstStyle/>
          <a:p>
            <a:endParaRPr lang="en-US"/>
          </a:p>
        </p:txBody>
      </p:sp>
      <p:sp>
        <p:nvSpPr>
          <p:cNvPr id="8" name="Text 5"/>
          <p:cNvSpPr/>
          <p:nvPr/>
        </p:nvSpPr>
        <p:spPr>
          <a:xfrm>
            <a:off x="457200" y="5729369"/>
            <a:ext cx="7223760" cy="457200"/>
          </a:xfrm>
          <a:prstGeom prst="rect">
            <a:avLst/>
          </a:prstGeom>
          <a:noFill/>
          <a:ln/>
        </p:spPr>
        <p:txBody>
          <a:bodyPr wrap="square" rtlCol="0" anchor="t"/>
          <a:lstStyle/>
          <a:p>
            <a:pPr marL="0" indent="0">
              <a:lnSpc>
                <a:spcPts val="1300"/>
              </a:lnSpc>
              <a:buNone/>
            </a:pPr>
            <a:r>
              <a:rPr lang="en-US" sz="1050" i="1" dirty="0">
                <a:solidFill>
                  <a:srgbClr val="595959"/>
                </a:solidFill>
                <a:latin typeface="Calibri" pitchFamily="34" charset="0"/>
                <a:ea typeface="Calibri" pitchFamily="34" charset="-122"/>
                <a:cs typeface="Calibri" pitchFamily="34" charset="-120"/>
              </a:rPr>
              <a:t>Illustrative interface drawn for teaching — exact layout varies by version and institution.</a:t>
            </a:r>
            <a:endParaRPr lang="en-US" sz="1050" dirty="0"/>
          </a:p>
        </p:txBody>
      </p:sp>
      <p:sp>
        <p:nvSpPr>
          <p:cNvPr id="9" name="Shape 6"/>
          <p:cNvSpPr/>
          <p:nvPr/>
        </p:nvSpPr>
        <p:spPr>
          <a:xfrm>
            <a:off x="7909560" y="1097280"/>
            <a:ext cx="3794760" cy="5212080"/>
          </a:xfrm>
          <a:prstGeom prst="roundRect">
            <a:avLst>
              <a:gd name="adj" fmla="val 1928"/>
            </a:avLst>
          </a:prstGeom>
          <a:solidFill>
            <a:srgbClr val="F4F6F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sz="1600"/>
          </a:p>
        </p:txBody>
      </p:sp>
      <p:sp>
        <p:nvSpPr>
          <p:cNvPr id="10" name="Text 7"/>
          <p:cNvSpPr/>
          <p:nvPr/>
        </p:nvSpPr>
        <p:spPr>
          <a:xfrm>
            <a:off x="8138160" y="1261872"/>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WHAT IT IS</a:t>
            </a:r>
            <a:endParaRPr lang="en-US" sz="1600" dirty="0"/>
          </a:p>
        </p:txBody>
      </p:sp>
      <p:sp>
        <p:nvSpPr>
          <p:cNvPr id="11" name="Text 8"/>
          <p:cNvSpPr/>
          <p:nvPr/>
        </p:nvSpPr>
        <p:spPr>
          <a:xfrm>
            <a:off x="8138160" y="1554480"/>
            <a:ext cx="3337560" cy="8493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Google’s cloud storage, built into Gmail, Docs, Sheets, and Slides. A free account includes 15 GB shared across Google services.</a:t>
            </a:r>
            <a:endParaRPr lang="en-US" sz="1600" dirty="0"/>
          </a:p>
        </p:txBody>
      </p:sp>
      <p:sp>
        <p:nvSpPr>
          <p:cNvPr id="12" name="Text 9"/>
          <p:cNvSpPr/>
          <p:nvPr/>
        </p:nvSpPr>
        <p:spPr>
          <a:xfrm>
            <a:off x="8138160" y="2586736"/>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SHOWN HERE</a:t>
            </a:r>
            <a:endParaRPr lang="en-US" sz="1600" dirty="0"/>
          </a:p>
        </p:txBody>
      </p:sp>
      <p:sp>
        <p:nvSpPr>
          <p:cNvPr id="13" name="Text 10"/>
          <p:cNvSpPr/>
          <p:nvPr/>
        </p:nvSpPr>
        <p:spPr>
          <a:xfrm>
            <a:off x="8138160" y="2879344"/>
            <a:ext cx="3337560" cy="1052576"/>
          </a:xfrm>
          <a:prstGeom prst="rect">
            <a:avLst/>
          </a:prstGeom>
          <a:noFill/>
          <a:ln/>
        </p:spPr>
        <p:txBody>
          <a:bodyPr wrap="square" lIns="0" tIns="0" rIns="0" bIns="0" rtlCol="0" anchor="t"/>
          <a:lstStyle/>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New button for upload or create</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My Drive, Shared with me, Recent</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Folders and files with type icons</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Storage meter</a:t>
            </a:r>
            <a:endParaRPr lang="en-US" sz="1600" dirty="0"/>
          </a:p>
        </p:txBody>
      </p:sp>
      <p:sp>
        <p:nvSpPr>
          <p:cNvPr id="14" name="Text 11"/>
          <p:cNvSpPr/>
          <p:nvPr/>
        </p:nvSpPr>
        <p:spPr>
          <a:xfrm>
            <a:off x="8138160" y="4078224"/>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WHY USEFUL</a:t>
            </a:r>
            <a:endParaRPr lang="en-US" sz="1600" dirty="0"/>
          </a:p>
        </p:txBody>
      </p:sp>
      <p:sp>
        <p:nvSpPr>
          <p:cNvPr id="15" name="Text 12"/>
          <p:cNvSpPr/>
          <p:nvPr/>
        </p:nvSpPr>
        <p:spPr>
          <a:xfrm>
            <a:off x="8138160" y="4370832"/>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Docs, Sheets, and Slides you create are saved straight into Drive — no uploading needed.</a:t>
            </a:r>
            <a:endParaRPr lang="en-US" sz="1600" dirty="0"/>
          </a:p>
        </p:txBody>
      </p:sp>
      <p:sp>
        <p:nvSpPr>
          <p:cNvPr id="16" name="Text 13"/>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17" name="Text 14"/>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CLOUD STORAGE — GOOGLE DRIVE</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Google Drive — Features &amp; Strengths</a:t>
            </a:r>
            <a:endParaRPr lang="en-US" sz="2400" dirty="0"/>
          </a:p>
        </p:txBody>
      </p:sp>
      <p:sp>
        <p:nvSpPr>
          <p:cNvPr id="6" name="Shape 4"/>
          <p:cNvSpPr/>
          <p:nvPr/>
        </p:nvSpPr>
        <p:spPr>
          <a:xfrm>
            <a:off x="548640" y="1143000"/>
            <a:ext cx="5394960" cy="1600200"/>
          </a:xfrm>
          <a:prstGeom prst="roundRect">
            <a:avLst>
              <a:gd name="adj" fmla="val 4571"/>
            </a:avLst>
          </a:prstGeom>
          <a:solidFill>
            <a:srgbClr val="E6EEFE"/>
          </a:solidFill>
          <a:ln w="12700">
            <a:solidFill>
              <a:srgbClr val="DCE1EA"/>
            </a:solidFill>
            <a:prstDash val="solid"/>
          </a:ln>
        </p:spPr>
        <p:txBody>
          <a:bodyPr/>
          <a:lstStyle/>
          <a:p>
            <a:endParaRPr lang="en-US" sz="1600"/>
          </a:p>
        </p:txBody>
      </p:sp>
      <p:sp>
        <p:nvSpPr>
          <p:cNvPr id="7" name="Text 5"/>
          <p:cNvSpPr/>
          <p:nvPr/>
        </p:nvSpPr>
        <p:spPr>
          <a:xfrm>
            <a:off x="777240" y="128016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Deep Docs Integration</a:t>
            </a:r>
            <a:endParaRPr lang="en-US" sz="1600" dirty="0"/>
          </a:p>
        </p:txBody>
      </p:sp>
      <p:sp>
        <p:nvSpPr>
          <p:cNvPr id="8" name="Text 6"/>
          <p:cNvSpPr/>
          <p:nvPr/>
        </p:nvSpPr>
        <p:spPr>
          <a:xfrm>
            <a:off x="77724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Create and edit Docs, Sheets, and Slides directly, and open Office files in the same place.</a:t>
            </a:r>
            <a:endParaRPr lang="en-US" sz="1600" dirty="0"/>
          </a:p>
        </p:txBody>
      </p:sp>
      <p:sp>
        <p:nvSpPr>
          <p:cNvPr id="9" name="Shape 7"/>
          <p:cNvSpPr/>
          <p:nvPr/>
        </p:nvSpPr>
        <p:spPr>
          <a:xfrm>
            <a:off x="6172200" y="114300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10" name="Text 8"/>
          <p:cNvSpPr/>
          <p:nvPr/>
        </p:nvSpPr>
        <p:spPr>
          <a:xfrm>
            <a:off x="6400800" y="128016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Powerful Search</a:t>
            </a:r>
            <a:endParaRPr lang="en-US" sz="1600" dirty="0"/>
          </a:p>
        </p:txBody>
      </p:sp>
      <p:sp>
        <p:nvSpPr>
          <p:cNvPr id="11" name="Text 9"/>
          <p:cNvSpPr/>
          <p:nvPr/>
        </p:nvSpPr>
        <p:spPr>
          <a:xfrm>
            <a:off x="640080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Search by name, content inside files, file type, owner, or date to find things fast.</a:t>
            </a:r>
            <a:endParaRPr lang="en-US" sz="1600" dirty="0"/>
          </a:p>
        </p:txBody>
      </p:sp>
      <p:sp>
        <p:nvSpPr>
          <p:cNvPr id="12" name="Shape 10"/>
          <p:cNvSpPr/>
          <p:nvPr/>
        </p:nvSpPr>
        <p:spPr>
          <a:xfrm>
            <a:off x="548640" y="2880360"/>
            <a:ext cx="5394960" cy="1600200"/>
          </a:xfrm>
          <a:prstGeom prst="roundRect">
            <a:avLst>
              <a:gd name="adj" fmla="val 4571"/>
            </a:avLst>
          </a:prstGeom>
          <a:solidFill>
            <a:srgbClr val="E6EEFE"/>
          </a:solidFill>
          <a:ln w="12700">
            <a:solidFill>
              <a:srgbClr val="DCE1EA"/>
            </a:solidFill>
            <a:prstDash val="solid"/>
          </a:ln>
        </p:spPr>
        <p:txBody>
          <a:bodyPr/>
          <a:lstStyle/>
          <a:p>
            <a:endParaRPr lang="en-US" sz="1600"/>
          </a:p>
        </p:txBody>
      </p:sp>
      <p:sp>
        <p:nvSpPr>
          <p:cNvPr id="13" name="Text 11"/>
          <p:cNvSpPr/>
          <p:nvPr/>
        </p:nvSpPr>
        <p:spPr>
          <a:xfrm>
            <a:off x="777240" y="301752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Sharing Controls</a:t>
            </a:r>
            <a:endParaRPr lang="en-US" sz="1600" dirty="0"/>
          </a:p>
        </p:txBody>
      </p:sp>
      <p:sp>
        <p:nvSpPr>
          <p:cNvPr id="14" name="Text 12"/>
          <p:cNvSpPr/>
          <p:nvPr/>
        </p:nvSpPr>
        <p:spPr>
          <a:xfrm>
            <a:off x="77724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Share with specific people or by link, with Viewer, Commenter, or Editor roles.</a:t>
            </a:r>
            <a:endParaRPr lang="en-US" sz="1600" dirty="0"/>
          </a:p>
        </p:txBody>
      </p:sp>
      <p:sp>
        <p:nvSpPr>
          <p:cNvPr id="15" name="Shape 13"/>
          <p:cNvSpPr/>
          <p:nvPr/>
        </p:nvSpPr>
        <p:spPr>
          <a:xfrm>
            <a:off x="6172200" y="288036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16" name="Text 14"/>
          <p:cNvSpPr/>
          <p:nvPr/>
        </p:nvSpPr>
        <p:spPr>
          <a:xfrm>
            <a:off x="6400800" y="301752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Version History</a:t>
            </a:r>
            <a:endParaRPr lang="en-US" sz="1600" dirty="0"/>
          </a:p>
        </p:txBody>
      </p:sp>
      <p:sp>
        <p:nvSpPr>
          <p:cNvPr id="17" name="Text 15"/>
          <p:cNvSpPr/>
          <p:nvPr/>
        </p:nvSpPr>
        <p:spPr>
          <a:xfrm>
            <a:off x="640080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View and restore earlier versions of files, especially useful for shared documents.</a:t>
            </a:r>
            <a:endParaRPr lang="en-US" sz="1600" dirty="0"/>
          </a:p>
        </p:txBody>
      </p:sp>
      <p:sp>
        <p:nvSpPr>
          <p:cNvPr id="18" name="Shape 16"/>
          <p:cNvSpPr/>
          <p:nvPr/>
        </p:nvSpPr>
        <p:spPr>
          <a:xfrm>
            <a:off x="548640" y="4617720"/>
            <a:ext cx="5394960" cy="1600200"/>
          </a:xfrm>
          <a:prstGeom prst="roundRect">
            <a:avLst>
              <a:gd name="adj" fmla="val 4571"/>
            </a:avLst>
          </a:prstGeom>
          <a:solidFill>
            <a:srgbClr val="E6EEFE"/>
          </a:solidFill>
          <a:ln w="12700">
            <a:solidFill>
              <a:srgbClr val="DCE1EA"/>
            </a:solidFill>
            <a:prstDash val="solid"/>
          </a:ln>
        </p:spPr>
        <p:txBody>
          <a:bodyPr/>
          <a:lstStyle/>
          <a:p>
            <a:endParaRPr lang="en-US" sz="1600"/>
          </a:p>
        </p:txBody>
      </p:sp>
      <p:sp>
        <p:nvSpPr>
          <p:cNvPr id="19" name="Text 17"/>
          <p:cNvSpPr/>
          <p:nvPr/>
        </p:nvSpPr>
        <p:spPr>
          <a:xfrm>
            <a:off x="777240" y="475488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Drive for Desktop &amp; Offline</a:t>
            </a:r>
            <a:endParaRPr lang="en-US" sz="1600" dirty="0"/>
          </a:p>
        </p:txBody>
      </p:sp>
      <p:sp>
        <p:nvSpPr>
          <p:cNvPr id="20" name="Text 18"/>
          <p:cNvSpPr/>
          <p:nvPr/>
        </p:nvSpPr>
        <p:spPr>
          <a:xfrm>
            <a:off x="77724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Sync selected folders to your computer and mark files for offline use.</a:t>
            </a:r>
            <a:endParaRPr lang="en-US" sz="1600" dirty="0"/>
          </a:p>
        </p:txBody>
      </p:sp>
      <p:sp>
        <p:nvSpPr>
          <p:cNvPr id="21" name="Shape 19"/>
          <p:cNvSpPr/>
          <p:nvPr/>
        </p:nvSpPr>
        <p:spPr>
          <a:xfrm>
            <a:off x="6172200" y="461772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22" name="Text 20"/>
          <p:cNvSpPr/>
          <p:nvPr/>
        </p:nvSpPr>
        <p:spPr>
          <a:xfrm>
            <a:off x="6400800" y="475488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Shared Drives (Workspace)</a:t>
            </a:r>
            <a:endParaRPr lang="en-US" sz="1600" dirty="0"/>
          </a:p>
        </p:txBody>
      </p:sp>
      <p:sp>
        <p:nvSpPr>
          <p:cNvPr id="23" name="Text 21"/>
          <p:cNvSpPr/>
          <p:nvPr/>
        </p:nvSpPr>
        <p:spPr>
          <a:xfrm>
            <a:off x="640080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Team-owned spaces for institutions, where files stay even if a member leaves (available on Workspace plans).</a:t>
            </a:r>
            <a:endParaRPr lang="en-US" sz="1600" dirty="0"/>
          </a:p>
        </p:txBody>
      </p:sp>
      <p:sp>
        <p:nvSpPr>
          <p:cNvPr id="24" name="Text 22"/>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25" name="Text 23"/>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CLOUD STORAGE — DROPBOX</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Dropbox — Files &amp; Sharing</a:t>
            </a:r>
            <a:endParaRPr lang="en-US" sz="2400" dirty="0"/>
          </a:p>
        </p:txBody>
      </p:sp>
      <p:pic>
        <p:nvPicPr>
          <p:cNvPr id="6" name="Image 0" descr="mockups/dropbox_main.png"/>
          <p:cNvPicPr>
            <a:picLocks noChangeAspect="1"/>
          </p:cNvPicPr>
          <p:nvPr/>
        </p:nvPicPr>
        <p:blipFill>
          <a:blip r:embed="rId3"/>
          <a:stretch>
            <a:fillRect/>
          </a:stretch>
        </p:blipFill>
        <p:spPr>
          <a:xfrm>
            <a:off x="457200" y="1097280"/>
            <a:ext cx="7223760" cy="4540649"/>
          </a:xfrm>
          <a:prstGeom prst="rect">
            <a:avLst/>
          </a:prstGeom>
        </p:spPr>
      </p:pic>
      <p:sp>
        <p:nvSpPr>
          <p:cNvPr id="7" name="Shape 4"/>
          <p:cNvSpPr/>
          <p:nvPr/>
        </p:nvSpPr>
        <p:spPr>
          <a:xfrm>
            <a:off x="457200" y="1097280"/>
            <a:ext cx="7223760" cy="4540649"/>
          </a:xfrm>
          <a:prstGeom prst="rect">
            <a:avLst/>
          </a:prstGeom>
          <a:ln w="12700">
            <a:solidFill>
              <a:srgbClr val="C9D0DC"/>
            </a:solidFill>
            <a:prstDash val="solid"/>
          </a:ln>
        </p:spPr>
        <p:txBody>
          <a:bodyPr/>
          <a:lstStyle/>
          <a:p>
            <a:endParaRPr lang="en-US"/>
          </a:p>
        </p:txBody>
      </p:sp>
      <p:sp>
        <p:nvSpPr>
          <p:cNvPr id="8" name="Text 5"/>
          <p:cNvSpPr/>
          <p:nvPr/>
        </p:nvSpPr>
        <p:spPr>
          <a:xfrm>
            <a:off x="457200" y="5729369"/>
            <a:ext cx="7223760" cy="457200"/>
          </a:xfrm>
          <a:prstGeom prst="rect">
            <a:avLst/>
          </a:prstGeom>
          <a:noFill/>
          <a:ln/>
        </p:spPr>
        <p:txBody>
          <a:bodyPr wrap="square" rtlCol="0" anchor="t"/>
          <a:lstStyle/>
          <a:p>
            <a:pPr marL="0" indent="0">
              <a:lnSpc>
                <a:spcPts val="1300"/>
              </a:lnSpc>
              <a:buNone/>
            </a:pPr>
            <a:r>
              <a:rPr lang="en-US" sz="1050" i="1" dirty="0">
                <a:solidFill>
                  <a:srgbClr val="595959"/>
                </a:solidFill>
                <a:latin typeface="Calibri" pitchFamily="34" charset="0"/>
                <a:ea typeface="Calibri" pitchFamily="34" charset="-122"/>
                <a:cs typeface="Calibri" pitchFamily="34" charset="-120"/>
              </a:rPr>
              <a:t>Illustrative interface drawn for teaching — exact layout varies by version and institution.</a:t>
            </a:r>
            <a:endParaRPr lang="en-US" sz="1050" dirty="0"/>
          </a:p>
        </p:txBody>
      </p:sp>
      <p:sp>
        <p:nvSpPr>
          <p:cNvPr id="9" name="Shape 6"/>
          <p:cNvSpPr/>
          <p:nvPr/>
        </p:nvSpPr>
        <p:spPr>
          <a:xfrm>
            <a:off x="7909560" y="1097280"/>
            <a:ext cx="3794760" cy="5212080"/>
          </a:xfrm>
          <a:prstGeom prst="roundRect">
            <a:avLst>
              <a:gd name="adj" fmla="val 1928"/>
            </a:avLst>
          </a:prstGeom>
          <a:solidFill>
            <a:srgbClr val="F4F6F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sz="1600"/>
          </a:p>
        </p:txBody>
      </p:sp>
      <p:sp>
        <p:nvSpPr>
          <p:cNvPr id="10" name="Text 7"/>
          <p:cNvSpPr/>
          <p:nvPr/>
        </p:nvSpPr>
        <p:spPr>
          <a:xfrm>
            <a:off x="8138160" y="1261872"/>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WHAT IT IS</a:t>
            </a:r>
            <a:endParaRPr lang="en-US" sz="1600" dirty="0"/>
          </a:p>
        </p:txBody>
      </p:sp>
      <p:sp>
        <p:nvSpPr>
          <p:cNvPr id="11" name="Text 8"/>
          <p:cNvSpPr/>
          <p:nvPr/>
        </p:nvSpPr>
        <p:spPr>
          <a:xfrm>
            <a:off x="8138160" y="1554480"/>
            <a:ext cx="3337560" cy="8493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A pioneer of cloud file sync, known for simple folders that stay identical on all your devices. The free plan is small (about 2 GB).</a:t>
            </a:r>
            <a:endParaRPr lang="en-US" sz="1600" dirty="0"/>
          </a:p>
        </p:txBody>
      </p:sp>
      <p:sp>
        <p:nvSpPr>
          <p:cNvPr id="12" name="Text 9"/>
          <p:cNvSpPr/>
          <p:nvPr/>
        </p:nvSpPr>
        <p:spPr>
          <a:xfrm>
            <a:off x="8138160" y="2586736"/>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SHOWN HERE</a:t>
            </a:r>
            <a:endParaRPr lang="en-US" sz="1600" dirty="0"/>
          </a:p>
        </p:txBody>
      </p:sp>
      <p:sp>
        <p:nvSpPr>
          <p:cNvPr id="13" name="Text 10"/>
          <p:cNvSpPr/>
          <p:nvPr/>
        </p:nvSpPr>
        <p:spPr>
          <a:xfrm>
            <a:off x="8138160" y="2879344"/>
            <a:ext cx="3337560" cy="1052576"/>
          </a:xfrm>
          <a:prstGeom prst="rect">
            <a:avLst/>
          </a:prstGeom>
          <a:noFill/>
          <a:ln/>
        </p:spPr>
        <p:txBody>
          <a:bodyPr wrap="square" lIns="0" tIns="0" rIns="0" bIns="0" rtlCol="0" anchor="t"/>
          <a:lstStyle/>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All files list with sharing status</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Upload and Create buttons</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Share panel with permissions</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Link settings and file requests</a:t>
            </a:r>
            <a:endParaRPr lang="en-US" sz="1600" dirty="0"/>
          </a:p>
        </p:txBody>
      </p:sp>
      <p:sp>
        <p:nvSpPr>
          <p:cNvPr id="14" name="Text 11"/>
          <p:cNvSpPr/>
          <p:nvPr/>
        </p:nvSpPr>
        <p:spPr>
          <a:xfrm>
            <a:off x="8138160" y="4078224"/>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WHY USEFUL</a:t>
            </a:r>
            <a:endParaRPr lang="en-US" sz="1600" dirty="0"/>
          </a:p>
        </p:txBody>
      </p:sp>
      <p:sp>
        <p:nvSpPr>
          <p:cNvPr id="15" name="Text 12"/>
          <p:cNvSpPr/>
          <p:nvPr/>
        </p:nvSpPr>
        <p:spPr>
          <a:xfrm>
            <a:off x="8138160" y="4370832"/>
            <a:ext cx="3337560" cy="4429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Works with any computer or ecosystem and connects to many third-party apps.</a:t>
            </a:r>
            <a:endParaRPr lang="en-US" sz="1600" dirty="0"/>
          </a:p>
        </p:txBody>
      </p:sp>
      <p:sp>
        <p:nvSpPr>
          <p:cNvPr id="16" name="Text 13"/>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17" name="Text 14"/>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CLOUD STORAGE — DROPBOX</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Dropbox — Features &amp; Strengths</a:t>
            </a:r>
            <a:endParaRPr lang="en-US" sz="2400" dirty="0"/>
          </a:p>
        </p:txBody>
      </p:sp>
      <p:sp>
        <p:nvSpPr>
          <p:cNvPr id="6" name="Shape 4"/>
          <p:cNvSpPr/>
          <p:nvPr/>
        </p:nvSpPr>
        <p:spPr>
          <a:xfrm>
            <a:off x="548640" y="1143000"/>
            <a:ext cx="5394960" cy="1600200"/>
          </a:xfrm>
          <a:prstGeom prst="roundRect">
            <a:avLst>
              <a:gd name="adj" fmla="val 4571"/>
            </a:avLst>
          </a:prstGeom>
          <a:solidFill>
            <a:srgbClr val="E5EEFF"/>
          </a:solidFill>
          <a:ln w="12700">
            <a:solidFill>
              <a:srgbClr val="DCE1EA"/>
            </a:solidFill>
            <a:prstDash val="solid"/>
          </a:ln>
        </p:spPr>
        <p:txBody>
          <a:bodyPr/>
          <a:lstStyle/>
          <a:p>
            <a:endParaRPr lang="en-US" sz="1600"/>
          </a:p>
        </p:txBody>
      </p:sp>
      <p:sp>
        <p:nvSpPr>
          <p:cNvPr id="7" name="Text 5"/>
          <p:cNvSpPr/>
          <p:nvPr/>
        </p:nvSpPr>
        <p:spPr>
          <a:xfrm>
            <a:off x="777240" y="128016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Reliable Sync</a:t>
            </a:r>
            <a:endParaRPr lang="en-US" sz="1600" dirty="0"/>
          </a:p>
        </p:txBody>
      </p:sp>
      <p:sp>
        <p:nvSpPr>
          <p:cNvPr id="8" name="Text 6"/>
          <p:cNvSpPr/>
          <p:nvPr/>
        </p:nvSpPr>
        <p:spPr>
          <a:xfrm>
            <a:off x="77724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Changes made on one device appear quickly on the others, and files sync in the background.</a:t>
            </a:r>
            <a:endParaRPr lang="en-US" sz="1600" dirty="0"/>
          </a:p>
        </p:txBody>
      </p:sp>
      <p:sp>
        <p:nvSpPr>
          <p:cNvPr id="9" name="Shape 7"/>
          <p:cNvSpPr/>
          <p:nvPr/>
        </p:nvSpPr>
        <p:spPr>
          <a:xfrm>
            <a:off x="6172200" y="114300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10" name="Text 8"/>
          <p:cNvSpPr/>
          <p:nvPr/>
        </p:nvSpPr>
        <p:spPr>
          <a:xfrm>
            <a:off x="6400800" y="128016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Simple, Platform-Independent</a:t>
            </a:r>
            <a:endParaRPr lang="en-US" sz="1600" dirty="0"/>
          </a:p>
        </p:txBody>
      </p:sp>
      <p:sp>
        <p:nvSpPr>
          <p:cNvPr id="11" name="Text 9"/>
          <p:cNvSpPr/>
          <p:nvPr/>
        </p:nvSpPr>
        <p:spPr>
          <a:xfrm>
            <a:off x="640080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Works well on Windows, macOS, mobile, and the web without tying you to one ecosystem.</a:t>
            </a:r>
            <a:endParaRPr lang="en-US" sz="1600" dirty="0"/>
          </a:p>
        </p:txBody>
      </p:sp>
      <p:sp>
        <p:nvSpPr>
          <p:cNvPr id="12" name="Shape 10"/>
          <p:cNvSpPr/>
          <p:nvPr/>
        </p:nvSpPr>
        <p:spPr>
          <a:xfrm>
            <a:off x="548640" y="2880360"/>
            <a:ext cx="5394960" cy="1600200"/>
          </a:xfrm>
          <a:prstGeom prst="roundRect">
            <a:avLst>
              <a:gd name="adj" fmla="val 4571"/>
            </a:avLst>
          </a:prstGeom>
          <a:solidFill>
            <a:srgbClr val="E5EEFF"/>
          </a:solidFill>
          <a:ln w="12700">
            <a:solidFill>
              <a:srgbClr val="DCE1EA"/>
            </a:solidFill>
            <a:prstDash val="solid"/>
          </a:ln>
        </p:spPr>
        <p:txBody>
          <a:bodyPr/>
          <a:lstStyle/>
          <a:p>
            <a:endParaRPr lang="en-US" sz="1600"/>
          </a:p>
        </p:txBody>
      </p:sp>
      <p:sp>
        <p:nvSpPr>
          <p:cNvPr id="13" name="Text 11"/>
          <p:cNvSpPr/>
          <p:nvPr/>
        </p:nvSpPr>
        <p:spPr>
          <a:xfrm>
            <a:off x="777240" y="301752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File Requests</a:t>
            </a:r>
            <a:endParaRPr lang="en-US" sz="1600" dirty="0"/>
          </a:p>
        </p:txBody>
      </p:sp>
      <p:sp>
        <p:nvSpPr>
          <p:cNvPr id="14" name="Text 12"/>
          <p:cNvSpPr/>
          <p:nvPr/>
        </p:nvSpPr>
        <p:spPr>
          <a:xfrm>
            <a:off x="77724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Ask anyone to send you files directly into a folder, even if they do not have a Dropbox account.</a:t>
            </a:r>
            <a:endParaRPr lang="en-US" sz="1600" dirty="0"/>
          </a:p>
        </p:txBody>
      </p:sp>
      <p:sp>
        <p:nvSpPr>
          <p:cNvPr id="15" name="Shape 13"/>
          <p:cNvSpPr/>
          <p:nvPr/>
        </p:nvSpPr>
        <p:spPr>
          <a:xfrm>
            <a:off x="6172200" y="288036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16" name="Text 14"/>
          <p:cNvSpPr/>
          <p:nvPr/>
        </p:nvSpPr>
        <p:spPr>
          <a:xfrm>
            <a:off x="6400800" y="301752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Link Sharing &amp; Permissions</a:t>
            </a:r>
            <a:endParaRPr lang="en-US" sz="1600" dirty="0"/>
          </a:p>
        </p:txBody>
      </p:sp>
      <p:sp>
        <p:nvSpPr>
          <p:cNvPr id="17" name="Text 15"/>
          <p:cNvSpPr/>
          <p:nvPr/>
        </p:nvSpPr>
        <p:spPr>
          <a:xfrm>
            <a:off x="640080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Share files and folders by link or invitation with view or edit rights.</a:t>
            </a:r>
            <a:endParaRPr lang="en-US" sz="1600" dirty="0"/>
          </a:p>
        </p:txBody>
      </p:sp>
      <p:sp>
        <p:nvSpPr>
          <p:cNvPr id="18" name="Shape 16"/>
          <p:cNvSpPr/>
          <p:nvPr/>
        </p:nvSpPr>
        <p:spPr>
          <a:xfrm>
            <a:off x="548640" y="4617720"/>
            <a:ext cx="5394960" cy="1600200"/>
          </a:xfrm>
          <a:prstGeom prst="roundRect">
            <a:avLst>
              <a:gd name="adj" fmla="val 4571"/>
            </a:avLst>
          </a:prstGeom>
          <a:solidFill>
            <a:srgbClr val="E5EEFF"/>
          </a:solidFill>
          <a:ln w="12700">
            <a:solidFill>
              <a:srgbClr val="DCE1EA"/>
            </a:solidFill>
            <a:prstDash val="solid"/>
          </a:ln>
        </p:spPr>
        <p:txBody>
          <a:bodyPr/>
          <a:lstStyle/>
          <a:p>
            <a:endParaRPr lang="en-US" sz="1600"/>
          </a:p>
        </p:txBody>
      </p:sp>
      <p:sp>
        <p:nvSpPr>
          <p:cNvPr id="19" name="Text 17"/>
          <p:cNvSpPr/>
          <p:nvPr/>
        </p:nvSpPr>
        <p:spPr>
          <a:xfrm>
            <a:off x="777240" y="475488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Recovery &amp; Version History</a:t>
            </a:r>
            <a:endParaRPr lang="en-US" sz="1600" dirty="0"/>
          </a:p>
        </p:txBody>
      </p:sp>
      <p:sp>
        <p:nvSpPr>
          <p:cNvPr id="20" name="Text 18"/>
          <p:cNvSpPr/>
          <p:nvPr/>
        </p:nvSpPr>
        <p:spPr>
          <a:xfrm>
            <a:off x="77724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Deleted files and earlier versions can be recovered for a limited time, depending on the plan.</a:t>
            </a:r>
            <a:endParaRPr lang="en-US" sz="1600" dirty="0"/>
          </a:p>
        </p:txBody>
      </p:sp>
      <p:sp>
        <p:nvSpPr>
          <p:cNvPr id="21" name="Shape 19"/>
          <p:cNvSpPr/>
          <p:nvPr/>
        </p:nvSpPr>
        <p:spPr>
          <a:xfrm>
            <a:off x="6172200" y="461772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22" name="Text 20"/>
          <p:cNvSpPr/>
          <p:nvPr/>
        </p:nvSpPr>
        <p:spPr>
          <a:xfrm>
            <a:off x="6400800" y="475488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App Integrations</a:t>
            </a:r>
            <a:endParaRPr lang="en-US" sz="1600" dirty="0"/>
          </a:p>
        </p:txBody>
      </p:sp>
      <p:sp>
        <p:nvSpPr>
          <p:cNvPr id="23" name="Text 21"/>
          <p:cNvSpPr/>
          <p:nvPr/>
        </p:nvSpPr>
        <p:spPr>
          <a:xfrm>
            <a:off x="640080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Connects with many tools, such as video meetings, messaging, and Microsoft or Google apps.</a:t>
            </a:r>
            <a:endParaRPr lang="en-US" sz="1600" dirty="0"/>
          </a:p>
        </p:txBody>
      </p:sp>
      <p:sp>
        <p:nvSpPr>
          <p:cNvPr id="24" name="Text 22"/>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25" name="Text 23"/>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CLOUD STORAGE — ONEDRIVE</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Microsoft OneDrive — Files On-Demand</a:t>
            </a:r>
            <a:endParaRPr lang="en-US" sz="2400" dirty="0"/>
          </a:p>
        </p:txBody>
      </p:sp>
      <p:pic>
        <p:nvPicPr>
          <p:cNvPr id="6" name="Image 0" descr="mockups/onedrive_main.png"/>
          <p:cNvPicPr>
            <a:picLocks noChangeAspect="1"/>
          </p:cNvPicPr>
          <p:nvPr/>
        </p:nvPicPr>
        <p:blipFill>
          <a:blip r:embed="rId3"/>
          <a:stretch>
            <a:fillRect/>
          </a:stretch>
        </p:blipFill>
        <p:spPr>
          <a:xfrm>
            <a:off x="457200" y="1097280"/>
            <a:ext cx="7223760" cy="4540649"/>
          </a:xfrm>
          <a:prstGeom prst="rect">
            <a:avLst/>
          </a:prstGeom>
        </p:spPr>
      </p:pic>
      <p:sp>
        <p:nvSpPr>
          <p:cNvPr id="7" name="Shape 4"/>
          <p:cNvSpPr/>
          <p:nvPr/>
        </p:nvSpPr>
        <p:spPr>
          <a:xfrm>
            <a:off x="457200" y="1097280"/>
            <a:ext cx="7223760" cy="4540649"/>
          </a:xfrm>
          <a:prstGeom prst="rect">
            <a:avLst/>
          </a:prstGeom>
          <a:ln w="12700">
            <a:solidFill>
              <a:srgbClr val="C9D0DC"/>
            </a:solidFill>
            <a:prstDash val="solid"/>
          </a:ln>
        </p:spPr>
        <p:txBody>
          <a:bodyPr/>
          <a:lstStyle/>
          <a:p>
            <a:endParaRPr lang="en-US"/>
          </a:p>
        </p:txBody>
      </p:sp>
      <p:sp>
        <p:nvSpPr>
          <p:cNvPr id="8" name="Text 5"/>
          <p:cNvSpPr/>
          <p:nvPr/>
        </p:nvSpPr>
        <p:spPr>
          <a:xfrm>
            <a:off x="457200" y="5729369"/>
            <a:ext cx="7223760" cy="457200"/>
          </a:xfrm>
          <a:prstGeom prst="rect">
            <a:avLst/>
          </a:prstGeom>
          <a:noFill/>
          <a:ln/>
        </p:spPr>
        <p:txBody>
          <a:bodyPr wrap="square" rtlCol="0" anchor="t"/>
          <a:lstStyle/>
          <a:p>
            <a:pPr marL="0" indent="0">
              <a:lnSpc>
                <a:spcPts val="1300"/>
              </a:lnSpc>
              <a:buNone/>
            </a:pPr>
            <a:r>
              <a:rPr lang="en-US" sz="1050" i="1" dirty="0">
                <a:solidFill>
                  <a:srgbClr val="595959"/>
                </a:solidFill>
                <a:latin typeface="Calibri" pitchFamily="34" charset="0"/>
                <a:ea typeface="Calibri" pitchFamily="34" charset="-122"/>
                <a:cs typeface="Calibri" pitchFamily="34" charset="-120"/>
              </a:rPr>
              <a:t>Illustrative interface drawn for teaching — exact layout varies by version and institution.</a:t>
            </a:r>
            <a:endParaRPr lang="en-US" sz="1050" dirty="0"/>
          </a:p>
        </p:txBody>
      </p:sp>
      <p:sp>
        <p:nvSpPr>
          <p:cNvPr id="9" name="Shape 6"/>
          <p:cNvSpPr/>
          <p:nvPr/>
        </p:nvSpPr>
        <p:spPr>
          <a:xfrm>
            <a:off x="7909560" y="1097280"/>
            <a:ext cx="3794760" cy="5212080"/>
          </a:xfrm>
          <a:prstGeom prst="roundRect">
            <a:avLst>
              <a:gd name="adj" fmla="val 1928"/>
            </a:avLst>
          </a:prstGeom>
          <a:solidFill>
            <a:srgbClr val="F4F6F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sz="1600"/>
          </a:p>
        </p:txBody>
      </p:sp>
      <p:sp>
        <p:nvSpPr>
          <p:cNvPr id="10" name="Text 7"/>
          <p:cNvSpPr/>
          <p:nvPr/>
        </p:nvSpPr>
        <p:spPr>
          <a:xfrm>
            <a:off x="8138160" y="1261872"/>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WHAT IT IS</a:t>
            </a:r>
            <a:endParaRPr lang="en-US" sz="1600" dirty="0"/>
          </a:p>
        </p:txBody>
      </p:sp>
      <p:sp>
        <p:nvSpPr>
          <p:cNvPr id="11" name="Text 8"/>
          <p:cNvSpPr/>
          <p:nvPr/>
        </p:nvSpPr>
        <p:spPr>
          <a:xfrm>
            <a:off x="8138160" y="1554480"/>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Microsoft’s cloud storage, built into Windows and Microsoft 365. A free personal account starts at about 5 GB.</a:t>
            </a:r>
            <a:endParaRPr lang="en-US" sz="1600" dirty="0"/>
          </a:p>
        </p:txBody>
      </p:sp>
      <p:sp>
        <p:nvSpPr>
          <p:cNvPr id="12" name="Text 9"/>
          <p:cNvSpPr/>
          <p:nvPr/>
        </p:nvSpPr>
        <p:spPr>
          <a:xfrm>
            <a:off x="8138160" y="2383536"/>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SHOWN HERE</a:t>
            </a:r>
            <a:endParaRPr lang="en-US" sz="1600" dirty="0"/>
          </a:p>
        </p:txBody>
      </p:sp>
      <p:sp>
        <p:nvSpPr>
          <p:cNvPr id="13" name="Text 10"/>
          <p:cNvSpPr/>
          <p:nvPr/>
        </p:nvSpPr>
        <p:spPr>
          <a:xfrm>
            <a:off x="8138160" y="2676144"/>
            <a:ext cx="3337560" cy="1052576"/>
          </a:xfrm>
          <a:prstGeom prst="rect">
            <a:avLst/>
          </a:prstGeom>
          <a:noFill/>
          <a:ln/>
        </p:spPr>
        <p:txBody>
          <a:bodyPr wrap="square" lIns="0" tIns="0" rIns="0" bIns="0" rtlCol="0" anchor="t"/>
          <a:lstStyle/>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My files, Recent, Shared</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Online-only vs on-device files</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Personal Vault (extra protection)</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Toolbar for share and copy link</a:t>
            </a:r>
            <a:endParaRPr lang="en-US" sz="1600" dirty="0"/>
          </a:p>
        </p:txBody>
      </p:sp>
      <p:sp>
        <p:nvSpPr>
          <p:cNvPr id="14" name="Text 11"/>
          <p:cNvSpPr/>
          <p:nvPr/>
        </p:nvSpPr>
        <p:spPr>
          <a:xfrm>
            <a:off x="8138160" y="3875024"/>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WHY USEFUL</a:t>
            </a:r>
            <a:endParaRPr lang="en-US" sz="1600" dirty="0"/>
          </a:p>
        </p:txBody>
      </p:sp>
      <p:sp>
        <p:nvSpPr>
          <p:cNvPr id="15" name="Text 12"/>
          <p:cNvSpPr/>
          <p:nvPr/>
        </p:nvSpPr>
        <p:spPr>
          <a:xfrm>
            <a:off x="8138160" y="4167632"/>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Word, Excel, and PowerPoint files open and can be co-edited online, and your folders can back up automatically.</a:t>
            </a:r>
            <a:endParaRPr lang="en-US" sz="1600" dirty="0"/>
          </a:p>
        </p:txBody>
      </p:sp>
      <p:sp>
        <p:nvSpPr>
          <p:cNvPr id="16" name="Text 13"/>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17" name="Text 14"/>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CLOUD STORAGE — ONEDRIVE</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OneDrive — Features &amp; Strengths</a:t>
            </a:r>
            <a:endParaRPr lang="en-US" sz="2400" dirty="0"/>
          </a:p>
        </p:txBody>
      </p:sp>
      <p:sp>
        <p:nvSpPr>
          <p:cNvPr id="6" name="Shape 4"/>
          <p:cNvSpPr/>
          <p:nvPr/>
        </p:nvSpPr>
        <p:spPr>
          <a:xfrm>
            <a:off x="548640" y="1143000"/>
            <a:ext cx="5394960" cy="1600200"/>
          </a:xfrm>
          <a:prstGeom prst="roundRect">
            <a:avLst>
              <a:gd name="adj" fmla="val 4571"/>
            </a:avLst>
          </a:prstGeom>
          <a:solidFill>
            <a:srgbClr val="E3F1FB"/>
          </a:solidFill>
          <a:ln w="12700">
            <a:solidFill>
              <a:srgbClr val="DCE1EA"/>
            </a:solidFill>
            <a:prstDash val="solid"/>
          </a:ln>
        </p:spPr>
        <p:txBody>
          <a:bodyPr/>
          <a:lstStyle/>
          <a:p>
            <a:endParaRPr lang="en-US" sz="1600"/>
          </a:p>
        </p:txBody>
      </p:sp>
      <p:sp>
        <p:nvSpPr>
          <p:cNvPr id="7" name="Text 5"/>
          <p:cNvSpPr/>
          <p:nvPr/>
        </p:nvSpPr>
        <p:spPr>
          <a:xfrm>
            <a:off x="777240" y="128016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Microsoft Office Integration</a:t>
            </a:r>
            <a:endParaRPr lang="en-US" sz="1600" dirty="0"/>
          </a:p>
        </p:txBody>
      </p:sp>
      <p:sp>
        <p:nvSpPr>
          <p:cNvPr id="8" name="Text 6"/>
          <p:cNvSpPr/>
          <p:nvPr/>
        </p:nvSpPr>
        <p:spPr>
          <a:xfrm>
            <a:off x="77724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Open, edit, and co-author Word, Excel, and PowerPoint files in the browser or desktop apps.</a:t>
            </a:r>
            <a:endParaRPr lang="en-US" sz="1600" dirty="0"/>
          </a:p>
        </p:txBody>
      </p:sp>
      <p:sp>
        <p:nvSpPr>
          <p:cNvPr id="9" name="Shape 7"/>
          <p:cNvSpPr/>
          <p:nvPr/>
        </p:nvSpPr>
        <p:spPr>
          <a:xfrm>
            <a:off x="6172200" y="114300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10" name="Text 8"/>
          <p:cNvSpPr/>
          <p:nvPr/>
        </p:nvSpPr>
        <p:spPr>
          <a:xfrm>
            <a:off x="6400800" y="128016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Built into Windows</a:t>
            </a:r>
            <a:endParaRPr lang="en-US" sz="1600" dirty="0"/>
          </a:p>
        </p:txBody>
      </p:sp>
      <p:sp>
        <p:nvSpPr>
          <p:cNvPr id="11" name="Text 9"/>
          <p:cNvSpPr/>
          <p:nvPr/>
        </p:nvSpPr>
        <p:spPr>
          <a:xfrm>
            <a:off x="640080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Appears in File Explorer and can back up the Desktop, Documents, and Pictures folders automatically.</a:t>
            </a:r>
            <a:endParaRPr lang="en-US" sz="1600" dirty="0"/>
          </a:p>
        </p:txBody>
      </p:sp>
      <p:sp>
        <p:nvSpPr>
          <p:cNvPr id="12" name="Shape 10"/>
          <p:cNvSpPr/>
          <p:nvPr/>
        </p:nvSpPr>
        <p:spPr>
          <a:xfrm>
            <a:off x="548640" y="2880360"/>
            <a:ext cx="5394960" cy="1600200"/>
          </a:xfrm>
          <a:prstGeom prst="roundRect">
            <a:avLst>
              <a:gd name="adj" fmla="val 4571"/>
            </a:avLst>
          </a:prstGeom>
          <a:solidFill>
            <a:srgbClr val="E3F1FB"/>
          </a:solidFill>
          <a:ln w="12700">
            <a:solidFill>
              <a:srgbClr val="DCE1EA"/>
            </a:solidFill>
            <a:prstDash val="solid"/>
          </a:ln>
        </p:spPr>
        <p:txBody>
          <a:bodyPr/>
          <a:lstStyle/>
          <a:p>
            <a:endParaRPr lang="en-US" sz="1600"/>
          </a:p>
        </p:txBody>
      </p:sp>
      <p:sp>
        <p:nvSpPr>
          <p:cNvPr id="13" name="Text 11"/>
          <p:cNvSpPr/>
          <p:nvPr/>
        </p:nvSpPr>
        <p:spPr>
          <a:xfrm>
            <a:off x="777240" y="301752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Files On-Demand</a:t>
            </a:r>
            <a:endParaRPr lang="en-US" sz="1600" dirty="0"/>
          </a:p>
        </p:txBody>
      </p:sp>
      <p:sp>
        <p:nvSpPr>
          <p:cNvPr id="14" name="Text 12"/>
          <p:cNvSpPr/>
          <p:nvPr/>
        </p:nvSpPr>
        <p:spPr>
          <a:xfrm>
            <a:off x="77724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See all your files without using disk space; online-only files download when you open them.</a:t>
            </a:r>
            <a:endParaRPr lang="en-US" sz="1600" dirty="0"/>
          </a:p>
        </p:txBody>
      </p:sp>
      <p:sp>
        <p:nvSpPr>
          <p:cNvPr id="15" name="Shape 13"/>
          <p:cNvSpPr/>
          <p:nvPr/>
        </p:nvSpPr>
        <p:spPr>
          <a:xfrm>
            <a:off x="6172200" y="288036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16" name="Text 14"/>
          <p:cNvSpPr/>
          <p:nvPr/>
        </p:nvSpPr>
        <p:spPr>
          <a:xfrm>
            <a:off x="6400800" y="301752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Personal Vault</a:t>
            </a:r>
            <a:endParaRPr lang="en-US" sz="1600" dirty="0"/>
          </a:p>
        </p:txBody>
      </p:sp>
      <p:sp>
        <p:nvSpPr>
          <p:cNvPr id="17" name="Text 15"/>
          <p:cNvSpPr/>
          <p:nvPr/>
        </p:nvSpPr>
        <p:spPr>
          <a:xfrm>
            <a:off x="640080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An extra-protected area that needs additional identity verification to open, for sensitive documents.</a:t>
            </a:r>
            <a:endParaRPr lang="en-US" sz="1600" dirty="0"/>
          </a:p>
        </p:txBody>
      </p:sp>
      <p:sp>
        <p:nvSpPr>
          <p:cNvPr id="18" name="Shape 16"/>
          <p:cNvSpPr/>
          <p:nvPr/>
        </p:nvSpPr>
        <p:spPr>
          <a:xfrm>
            <a:off x="548640" y="4617720"/>
            <a:ext cx="5394960" cy="1600200"/>
          </a:xfrm>
          <a:prstGeom prst="roundRect">
            <a:avLst>
              <a:gd name="adj" fmla="val 4571"/>
            </a:avLst>
          </a:prstGeom>
          <a:solidFill>
            <a:srgbClr val="E3F1FB"/>
          </a:solidFill>
          <a:ln w="12700">
            <a:solidFill>
              <a:srgbClr val="DCE1EA"/>
            </a:solidFill>
            <a:prstDash val="solid"/>
          </a:ln>
        </p:spPr>
        <p:txBody>
          <a:bodyPr/>
          <a:lstStyle/>
          <a:p>
            <a:endParaRPr lang="en-US" sz="1600"/>
          </a:p>
        </p:txBody>
      </p:sp>
      <p:sp>
        <p:nvSpPr>
          <p:cNvPr id="19" name="Text 17"/>
          <p:cNvSpPr/>
          <p:nvPr/>
        </p:nvSpPr>
        <p:spPr>
          <a:xfrm>
            <a:off x="777240" y="475488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Sharing &amp; Link Settings</a:t>
            </a:r>
            <a:endParaRPr lang="en-US" sz="1600" dirty="0"/>
          </a:p>
        </p:txBody>
      </p:sp>
      <p:sp>
        <p:nvSpPr>
          <p:cNvPr id="20" name="Text 18"/>
          <p:cNvSpPr/>
          <p:nvPr/>
        </p:nvSpPr>
        <p:spPr>
          <a:xfrm>
            <a:off x="77724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Share by link or invitation; some link controls, such as expiry or passwords, depend on the plan.</a:t>
            </a:r>
            <a:endParaRPr lang="en-US" sz="1600" dirty="0"/>
          </a:p>
        </p:txBody>
      </p:sp>
      <p:sp>
        <p:nvSpPr>
          <p:cNvPr id="21" name="Shape 19"/>
          <p:cNvSpPr/>
          <p:nvPr/>
        </p:nvSpPr>
        <p:spPr>
          <a:xfrm>
            <a:off x="6172200" y="461772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22" name="Text 20"/>
          <p:cNvSpPr/>
          <p:nvPr/>
        </p:nvSpPr>
        <p:spPr>
          <a:xfrm>
            <a:off x="6400800" y="4754880"/>
            <a:ext cx="4937760" cy="32004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Recycle Bin &amp; Restore</a:t>
            </a:r>
            <a:endParaRPr lang="en-US" sz="1600" dirty="0"/>
          </a:p>
        </p:txBody>
      </p:sp>
      <p:sp>
        <p:nvSpPr>
          <p:cNvPr id="23" name="Text 21"/>
          <p:cNvSpPr/>
          <p:nvPr/>
        </p:nvSpPr>
        <p:spPr>
          <a:xfrm>
            <a:off x="640080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Recover deleted files and restore earlier states, helping recover from mistakes or malware.</a:t>
            </a:r>
            <a:endParaRPr lang="en-US" sz="1600" dirty="0"/>
          </a:p>
        </p:txBody>
      </p:sp>
      <p:sp>
        <p:nvSpPr>
          <p:cNvPr id="24" name="Text 22"/>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25" name="Text 23"/>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CLOUD STORAGE — COMPARISON</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Google Drive vs Dropbox vs OneDrive</a:t>
            </a:r>
            <a:endParaRPr lang="en-US" sz="2400" dirty="0"/>
          </a:p>
        </p:txBody>
      </p:sp>
      <p:sp>
        <p:nvSpPr>
          <p:cNvPr id="6" name="Shape 4"/>
          <p:cNvSpPr/>
          <p:nvPr/>
        </p:nvSpPr>
        <p:spPr>
          <a:xfrm>
            <a:off x="548640" y="1188720"/>
            <a:ext cx="2103120" cy="457200"/>
          </a:xfrm>
          <a:prstGeom prst="rect">
            <a:avLst/>
          </a:prstGeom>
          <a:solidFill>
            <a:srgbClr val="1F3864"/>
          </a:solidFill>
          <a:ln/>
        </p:spPr>
        <p:txBody>
          <a:bodyPr/>
          <a:lstStyle/>
          <a:p>
            <a:endParaRPr lang="en-US" sz="1600"/>
          </a:p>
        </p:txBody>
      </p:sp>
      <p:sp>
        <p:nvSpPr>
          <p:cNvPr id="7" name="Text 5"/>
          <p:cNvSpPr/>
          <p:nvPr/>
        </p:nvSpPr>
        <p:spPr>
          <a:xfrm>
            <a:off x="548640" y="1188720"/>
            <a:ext cx="210312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Aspect</a:t>
            </a:r>
            <a:endParaRPr lang="en-US" sz="1600" dirty="0"/>
          </a:p>
        </p:txBody>
      </p:sp>
      <p:sp>
        <p:nvSpPr>
          <p:cNvPr id="8" name="Shape 6"/>
          <p:cNvSpPr/>
          <p:nvPr/>
        </p:nvSpPr>
        <p:spPr>
          <a:xfrm>
            <a:off x="2651760" y="1188720"/>
            <a:ext cx="3017520" cy="457200"/>
          </a:xfrm>
          <a:prstGeom prst="rect">
            <a:avLst/>
          </a:prstGeom>
          <a:solidFill>
            <a:srgbClr val="0066DA"/>
          </a:solidFill>
          <a:ln/>
        </p:spPr>
        <p:txBody>
          <a:bodyPr/>
          <a:lstStyle/>
          <a:p>
            <a:endParaRPr lang="en-US" sz="1600"/>
          </a:p>
        </p:txBody>
      </p:sp>
      <p:sp>
        <p:nvSpPr>
          <p:cNvPr id="9" name="Text 7"/>
          <p:cNvSpPr/>
          <p:nvPr/>
        </p:nvSpPr>
        <p:spPr>
          <a:xfrm>
            <a:off x="2651760" y="1188720"/>
            <a:ext cx="301752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Google Drive</a:t>
            </a:r>
            <a:endParaRPr lang="en-US" sz="1600" dirty="0"/>
          </a:p>
        </p:txBody>
      </p:sp>
      <p:sp>
        <p:nvSpPr>
          <p:cNvPr id="10" name="Shape 8"/>
          <p:cNvSpPr/>
          <p:nvPr/>
        </p:nvSpPr>
        <p:spPr>
          <a:xfrm>
            <a:off x="5669280" y="1188720"/>
            <a:ext cx="3017520" cy="457200"/>
          </a:xfrm>
          <a:prstGeom prst="rect">
            <a:avLst/>
          </a:prstGeom>
          <a:solidFill>
            <a:srgbClr val="0061FF"/>
          </a:solidFill>
          <a:ln/>
        </p:spPr>
        <p:txBody>
          <a:bodyPr/>
          <a:lstStyle/>
          <a:p>
            <a:endParaRPr lang="en-US" sz="1600"/>
          </a:p>
        </p:txBody>
      </p:sp>
      <p:sp>
        <p:nvSpPr>
          <p:cNvPr id="11" name="Text 9"/>
          <p:cNvSpPr/>
          <p:nvPr/>
        </p:nvSpPr>
        <p:spPr>
          <a:xfrm>
            <a:off x="5669280" y="1188720"/>
            <a:ext cx="301752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Dropbox</a:t>
            </a:r>
            <a:endParaRPr lang="en-US" sz="1600" dirty="0"/>
          </a:p>
        </p:txBody>
      </p:sp>
      <p:sp>
        <p:nvSpPr>
          <p:cNvPr id="12" name="Shape 10"/>
          <p:cNvSpPr/>
          <p:nvPr/>
        </p:nvSpPr>
        <p:spPr>
          <a:xfrm>
            <a:off x="8686800" y="1188720"/>
            <a:ext cx="2926080" cy="457200"/>
          </a:xfrm>
          <a:prstGeom prst="rect">
            <a:avLst/>
          </a:prstGeom>
          <a:solidFill>
            <a:srgbClr val="0078D4"/>
          </a:solidFill>
          <a:ln/>
        </p:spPr>
        <p:txBody>
          <a:bodyPr/>
          <a:lstStyle/>
          <a:p>
            <a:endParaRPr lang="en-US" sz="1600"/>
          </a:p>
        </p:txBody>
      </p:sp>
      <p:sp>
        <p:nvSpPr>
          <p:cNvPr id="13" name="Text 11"/>
          <p:cNvSpPr/>
          <p:nvPr/>
        </p:nvSpPr>
        <p:spPr>
          <a:xfrm>
            <a:off x="8686800" y="1188720"/>
            <a:ext cx="292608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OneDrive</a:t>
            </a:r>
            <a:endParaRPr lang="en-US" sz="1600" dirty="0"/>
          </a:p>
        </p:txBody>
      </p:sp>
      <p:sp>
        <p:nvSpPr>
          <p:cNvPr id="14" name="Shape 12"/>
          <p:cNvSpPr/>
          <p:nvPr/>
        </p:nvSpPr>
        <p:spPr>
          <a:xfrm>
            <a:off x="548640" y="1645920"/>
            <a:ext cx="2103120" cy="713232"/>
          </a:xfrm>
          <a:prstGeom prst="rect">
            <a:avLst/>
          </a:prstGeom>
          <a:solidFill>
            <a:srgbClr val="FFFFFF"/>
          </a:solidFill>
          <a:ln w="9525">
            <a:solidFill>
              <a:srgbClr val="DCE1EA"/>
            </a:solidFill>
            <a:prstDash val="solid"/>
          </a:ln>
        </p:spPr>
        <p:txBody>
          <a:bodyPr/>
          <a:lstStyle/>
          <a:p>
            <a:endParaRPr lang="en-US" sz="1600"/>
          </a:p>
        </p:txBody>
      </p:sp>
      <p:sp>
        <p:nvSpPr>
          <p:cNvPr id="15" name="Text 13"/>
          <p:cNvSpPr/>
          <p:nvPr/>
        </p:nvSpPr>
        <p:spPr>
          <a:xfrm>
            <a:off x="640080" y="1645920"/>
            <a:ext cx="1920240" cy="713232"/>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Free storage (typical)</a:t>
            </a:r>
            <a:endParaRPr lang="en-US" sz="1600" dirty="0"/>
          </a:p>
        </p:txBody>
      </p:sp>
      <p:sp>
        <p:nvSpPr>
          <p:cNvPr id="16" name="Shape 14"/>
          <p:cNvSpPr/>
          <p:nvPr/>
        </p:nvSpPr>
        <p:spPr>
          <a:xfrm>
            <a:off x="2651760" y="1645920"/>
            <a:ext cx="3017520" cy="713232"/>
          </a:xfrm>
          <a:prstGeom prst="rect">
            <a:avLst/>
          </a:prstGeom>
          <a:solidFill>
            <a:srgbClr val="FFFFFF"/>
          </a:solidFill>
          <a:ln w="9525">
            <a:solidFill>
              <a:srgbClr val="DCE1EA"/>
            </a:solidFill>
            <a:prstDash val="solid"/>
          </a:ln>
        </p:spPr>
        <p:txBody>
          <a:bodyPr/>
          <a:lstStyle/>
          <a:p>
            <a:endParaRPr lang="en-US" sz="1600"/>
          </a:p>
        </p:txBody>
      </p:sp>
      <p:sp>
        <p:nvSpPr>
          <p:cNvPr id="17" name="Text 15"/>
          <p:cNvSpPr/>
          <p:nvPr/>
        </p:nvSpPr>
        <p:spPr>
          <a:xfrm>
            <a:off x="2743200" y="1645920"/>
            <a:ext cx="2834640" cy="71323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15 GB shared with Gmail and Photos</a:t>
            </a:r>
            <a:endParaRPr lang="en-US" sz="1600" dirty="0"/>
          </a:p>
        </p:txBody>
      </p:sp>
      <p:sp>
        <p:nvSpPr>
          <p:cNvPr id="18" name="Shape 16"/>
          <p:cNvSpPr/>
          <p:nvPr/>
        </p:nvSpPr>
        <p:spPr>
          <a:xfrm>
            <a:off x="5669280" y="1645920"/>
            <a:ext cx="3017520" cy="713232"/>
          </a:xfrm>
          <a:prstGeom prst="rect">
            <a:avLst/>
          </a:prstGeom>
          <a:solidFill>
            <a:srgbClr val="FFFFFF"/>
          </a:solidFill>
          <a:ln w="9525">
            <a:solidFill>
              <a:srgbClr val="DCE1EA"/>
            </a:solidFill>
            <a:prstDash val="solid"/>
          </a:ln>
        </p:spPr>
        <p:txBody>
          <a:bodyPr/>
          <a:lstStyle/>
          <a:p>
            <a:endParaRPr lang="en-US" sz="1600"/>
          </a:p>
        </p:txBody>
      </p:sp>
      <p:sp>
        <p:nvSpPr>
          <p:cNvPr id="19" name="Text 17"/>
          <p:cNvSpPr/>
          <p:nvPr/>
        </p:nvSpPr>
        <p:spPr>
          <a:xfrm>
            <a:off x="5760720" y="1645920"/>
            <a:ext cx="2834640" cy="71323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About 2 GB</a:t>
            </a:r>
            <a:endParaRPr lang="en-US" sz="1600" dirty="0"/>
          </a:p>
        </p:txBody>
      </p:sp>
      <p:sp>
        <p:nvSpPr>
          <p:cNvPr id="20" name="Shape 18"/>
          <p:cNvSpPr/>
          <p:nvPr/>
        </p:nvSpPr>
        <p:spPr>
          <a:xfrm>
            <a:off x="8686800" y="1645920"/>
            <a:ext cx="2926080" cy="713232"/>
          </a:xfrm>
          <a:prstGeom prst="rect">
            <a:avLst/>
          </a:prstGeom>
          <a:solidFill>
            <a:srgbClr val="FFFFFF"/>
          </a:solidFill>
          <a:ln w="9525">
            <a:solidFill>
              <a:srgbClr val="DCE1EA"/>
            </a:solidFill>
            <a:prstDash val="solid"/>
          </a:ln>
        </p:spPr>
        <p:txBody>
          <a:bodyPr/>
          <a:lstStyle/>
          <a:p>
            <a:endParaRPr lang="en-US" sz="1600"/>
          </a:p>
        </p:txBody>
      </p:sp>
      <p:sp>
        <p:nvSpPr>
          <p:cNvPr id="21" name="Text 19"/>
          <p:cNvSpPr/>
          <p:nvPr/>
        </p:nvSpPr>
        <p:spPr>
          <a:xfrm>
            <a:off x="8778240" y="1645920"/>
            <a:ext cx="2743200" cy="71323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About 5 GB</a:t>
            </a:r>
            <a:endParaRPr lang="en-US" sz="1600" dirty="0"/>
          </a:p>
        </p:txBody>
      </p:sp>
      <p:sp>
        <p:nvSpPr>
          <p:cNvPr id="22" name="Shape 20"/>
          <p:cNvSpPr/>
          <p:nvPr/>
        </p:nvSpPr>
        <p:spPr>
          <a:xfrm>
            <a:off x="548640" y="2359152"/>
            <a:ext cx="2103120" cy="713232"/>
          </a:xfrm>
          <a:prstGeom prst="rect">
            <a:avLst/>
          </a:prstGeom>
          <a:solidFill>
            <a:srgbClr val="F4F6FA"/>
          </a:solidFill>
          <a:ln w="9525">
            <a:solidFill>
              <a:srgbClr val="DCE1EA"/>
            </a:solidFill>
            <a:prstDash val="solid"/>
          </a:ln>
        </p:spPr>
        <p:txBody>
          <a:bodyPr/>
          <a:lstStyle/>
          <a:p>
            <a:endParaRPr lang="en-US" sz="1600"/>
          </a:p>
        </p:txBody>
      </p:sp>
      <p:sp>
        <p:nvSpPr>
          <p:cNvPr id="23" name="Text 21"/>
          <p:cNvSpPr/>
          <p:nvPr/>
        </p:nvSpPr>
        <p:spPr>
          <a:xfrm>
            <a:off x="640080" y="2359152"/>
            <a:ext cx="1920240" cy="713232"/>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Best integration</a:t>
            </a:r>
            <a:endParaRPr lang="en-US" sz="1600" dirty="0"/>
          </a:p>
        </p:txBody>
      </p:sp>
      <p:sp>
        <p:nvSpPr>
          <p:cNvPr id="24" name="Shape 22"/>
          <p:cNvSpPr/>
          <p:nvPr/>
        </p:nvSpPr>
        <p:spPr>
          <a:xfrm>
            <a:off x="2651760" y="2359152"/>
            <a:ext cx="3017520" cy="713232"/>
          </a:xfrm>
          <a:prstGeom prst="rect">
            <a:avLst/>
          </a:prstGeom>
          <a:solidFill>
            <a:srgbClr val="F4F6FA"/>
          </a:solidFill>
          <a:ln w="9525">
            <a:solidFill>
              <a:srgbClr val="DCE1EA"/>
            </a:solidFill>
            <a:prstDash val="solid"/>
          </a:ln>
        </p:spPr>
        <p:txBody>
          <a:bodyPr/>
          <a:lstStyle/>
          <a:p>
            <a:endParaRPr lang="en-US" sz="1600"/>
          </a:p>
        </p:txBody>
      </p:sp>
      <p:sp>
        <p:nvSpPr>
          <p:cNvPr id="25" name="Text 23"/>
          <p:cNvSpPr/>
          <p:nvPr/>
        </p:nvSpPr>
        <p:spPr>
          <a:xfrm>
            <a:off x="2743200" y="2359152"/>
            <a:ext cx="2834640" cy="71323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Docs, Sheets, Slides, Gmail, Meet</a:t>
            </a:r>
            <a:endParaRPr lang="en-US" sz="1600" dirty="0"/>
          </a:p>
        </p:txBody>
      </p:sp>
      <p:sp>
        <p:nvSpPr>
          <p:cNvPr id="26" name="Shape 24"/>
          <p:cNvSpPr/>
          <p:nvPr/>
        </p:nvSpPr>
        <p:spPr>
          <a:xfrm>
            <a:off x="5669280" y="2359152"/>
            <a:ext cx="3017520" cy="713232"/>
          </a:xfrm>
          <a:prstGeom prst="rect">
            <a:avLst/>
          </a:prstGeom>
          <a:solidFill>
            <a:srgbClr val="F4F6FA"/>
          </a:solidFill>
          <a:ln w="9525">
            <a:solidFill>
              <a:srgbClr val="DCE1EA"/>
            </a:solidFill>
            <a:prstDash val="solid"/>
          </a:ln>
        </p:spPr>
        <p:txBody>
          <a:bodyPr/>
          <a:lstStyle/>
          <a:p>
            <a:endParaRPr lang="en-US" sz="1600"/>
          </a:p>
        </p:txBody>
      </p:sp>
      <p:sp>
        <p:nvSpPr>
          <p:cNvPr id="27" name="Text 25"/>
          <p:cNvSpPr/>
          <p:nvPr/>
        </p:nvSpPr>
        <p:spPr>
          <a:xfrm>
            <a:off x="5760720" y="2359152"/>
            <a:ext cx="2834640" cy="71323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Third-party apps, any ecosystem</a:t>
            </a:r>
            <a:endParaRPr lang="en-US" sz="1600" dirty="0"/>
          </a:p>
        </p:txBody>
      </p:sp>
      <p:sp>
        <p:nvSpPr>
          <p:cNvPr id="28" name="Shape 26"/>
          <p:cNvSpPr/>
          <p:nvPr/>
        </p:nvSpPr>
        <p:spPr>
          <a:xfrm>
            <a:off x="8686800" y="2359152"/>
            <a:ext cx="2926080" cy="713232"/>
          </a:xfrm>
          <a:prstGeom prst="rect">
            <a:avLst/>
          </a:prstGeom>
          <a:solidFill>
            <a:srgbClr val="F4F6FA"/>
          </a:solidFill>
          <a:ln w="9525">
            <a:solidFill>
              <a:srgbClr val="DCE1EA"/>
            </a:solidFill>
            <a:prstDash val="solid"/>
          </a:ln>
        </p:spPr>
        <p:txBody>
          <a:bodyPr/>
          <a:lstStyle/>
          <a:p>
            <a:endParaRPr lang="en-US" sz="1600"/>
          </a:p>
        </p:txBody>
      </p:sp>
      <p:sp>
        <p:nvSpPr>
          <p:cNvPr id="29" name="Text 27"/>
          <p:cNvSpPr/>
          <p:nvPr/>
        </p:nvSpPr>
        <p:spPr>
          <a:xfrm>
            <a:off x="8778240" y="2359152"/>
            <a:ext cx="2743200" cy="71323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Windows and Microsoft 365 apps</a:t>
            </a:r>
            <a:endParaRPr lang="en-US" sz="1600" dirty="0"/>
          </a:p>
        </p:txBody>
      </p:sp>
      <p:sp>
        <p:nvSpPr>
          <p:cNvPr id="30" name="Shape 28"/>
          <p:cNvSpPr/>
          <p:nvPr/>
        </p:nvSpPr>
        <p:spPr>
          <a:xfrm>
            <a:off x="548640" y="3072384"/>
            <a:ext cx="2103120" cy="713232"/>
          </a:xfrm>
          <a:prstGeom prst="rect">
            <a:avLst/>
          </a:prstGeom>
          <a:solidFill>
            <a:srgbClr val="FFFFFF"/>
          </a:solidFill>
          <a:ln w="9525">
            <a:solidFill>
              <a:srgbClr val="DCE1EA"/>
            </a:solidFill>
            <a:prstDash val="solid"/>
          </a:ln>
        </p:spPr>
        <p:txBody>
          <a:bodyPr/>
          <a:lstStyle/>
          <a:p>
            <a:endParaRPr lang="en-US" sz="1600"/>
          </a:p>
        </p:txBody>
      </p:sp>
      <p:sp>
        <p:nvSpPr>
          <p:cNvPr id="31" name="Text 29"/>
          <p:cNvSpPr/>
          <p:nvPr/>
        </p:nvSpPr>
        <p:spPr>
          <a:xfrm>
            <a:off x="640080" y="3072384"/>
            <a:ext cx="1920240" cy="713232"/>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Signature feature</a:t>
            </a:r>
            <a:endParaRPr lang="en-US" sz="1600" dirty="0"/>
          </a:p>
        </p:txBody>
      </p:sp>
      <p:sp>
        <p:nvSpPr>
          <p:cNvPr id="32" name="Shape 30"/>
          <p:cNvSpPr/>
          <p:nvPr/>
        </p:nvSpPr>
        <p:spPr>
          <a:xfrm>
            <a:off x="2651760" y="3072384"/>
            <a:ext cx="3017520" cy="713232"/>
          </a:xfrm>
          <a:prstGeom prst="rect">
            <a:avLst/>
          </a:prstGeom>
          <a:solidFill>
            <a:srgbClr val="FFFFFF"/>
          </a:solidFill>
          <a:ln w="9525">
            <a:solidFill>
              <a:srgbClr val="DCE1EA"/>
            </a:solidFill>
            <a:prstDash val="solid"/>
          </a:ln>
        </p:spPr>
        <p:txBody>
          <a:bodyPr/>
          <a:lstStyle/>
          <a:p>
            <a:endParaRPr lang="en-US" sz="1600"/>
          </a:p>
        </p:txBody>
      </p:sp>
      <p:sp>
        <p:nvSpPr>
          <p:cNvPr id="33" name="Text 31"/>
          <p:cNvSpPr/>
          <p:nvPr/>
        </p:nvSpPr>
        <p:spPr>
          <a:xfrm>
            <a:off x="2743200" y="3072384"/>
            <a:ext cx="2834640" cy="71323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Search and real-time Google editing</a:t>
            </a:r>
            <a:endParaRPr lang="en-US" sz="1600" dirty="0"/>
          </a:p>
        </p:txBody>
      </p:sp>
      <p:sp>
        <p:nvSpPr>
          <p:cNvPr id="34" name="Shape 32"/>
          <p:cNvSpPr/>
          <p:nvPr/>
        </p:nvSpPr>
        <p:spPr>
          <a:xfrm>
            <a:off x="5669280" y="3072384"/>
            <a:ext cx="3017520" cy="713232"/>
          </a:xfrm>
          <a:prstGeom prst="rect">
            <a:avLst/>
          </a:prstGeom>
          <a:solidFill>
            <a:srgbClr val="FFFFFF"/>
          </a:solidFill>
          <a:ln w="9525">
            <a:solidFill>
              <a:srgbClr val="DCE1EA"/>
            </a:solidFill>
            <a:prstDash val="solid"/>
          </a:ln>
        </p:spPr>
        <p:txBody>
          <a:bodyPr/>
          <a:lstStyle/>
          <a:p>
            <a:endParaRPr lang="en-US" sz="1600"/>
          </a:p>
        </p:txBody>
      </p:sp>
      <p:sp>
        <p:nvSpPr>
          <p:cNvPr id="35" name="Text 33"/>
          <p:cNvSpPr/>
          <p:nvPr/>
        </p:nvSpPr>
        <p:spPr>
          <a:xfrm>
            <a:off x="5760720" y="3072384"/>
            <a:ext cx="2834640" cy="71323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Simple, reliable sync and file requests</a:t>
            </a:r>
            <a:endParaRPr lang="en-US" sz="1600" dirty="0"/>
          </a:p>
        </p:txBody>
      </p:sp>
      <p:sp>
        <p:nvSpPr>
          <p:cNvPr id="36" name="Shape 34"/>
          <p:cNvSpPr/>
          <p:nvPr/>
        </p:nvSpPr>
        <p:spPr>
          <a:xfrm>
            <a:off x="8686800" y="3072384"/>
            <a:ext cx="2926080" cy="713232"/>
          </a:xfrm>
          <a:prstGeom prst="rect">
            <a:avLst/>
          </a:prstGeom>
          <a:solidFill>
            <a:srgbClr val="FFFFFF"/>
          </a:solidFill>
          <a:ln w="9525">
            <a:solidFill>
              <a:srgbClr val="DCE1EA"/>
            </a:solidFill>
            <a:prstDash val="solid"/>
          </a:ln>
        </p:spPr>
        <p:txBody>
          <a:bodyPr/>
          <a:lstStyle/>
          <a:p>
            <a:endParaRPr lang="en-US" sz="1600"/>
          </a:p>
        </p:txBody>
      </p:sp>
      <p:sp>
        <p:nvSpPr>
          <p:cNvPr id="37" name="Text 35"/>
          <p:cNvSpPr/>
          <p:nvPr/>
        </p:nvSpPr>
        <p:spPr>
          <a:xfrm>
            <a:off x="8778240" y="3072384"/>
            <a:ext cx="2743200" cy="71323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Files On-Demand and Personal Vault</a:t>
            </a:r>
            <a:endParaRPr lang="en-US" sz="1600" dirty="0"/>
          </a:p>
        </p:txBody>
      </p:sp>
      <p:sp>
        <p:nvSpPr>
          <p:cNvPr id="38" name="Shape 36"/>
          <p:cNvSpPr/>
          <p:nvPr/>
        </p:nvSpPr>
        <p:spPr>
          <a:xfrm>
            <a:off x="548640" y="3785616"/>
            <a:ext cx="2103120" cy="713232"/>
          </a:xfrm>
          <a:prstGeom prst="rect">
            <a:avLst/>
          </a:prstGeom>
          <a:solidFill>
            <a:srgbClr val="F4F6FA"/>
          </a:solidFill>
          <a:ln w="9525">
            <a:solidFill>
              <a:srgbClr val="DCE1EA"/>
            </a:solidFill>
            <a:prstDash val="solid"/>
          </a:ln>
        </p:spPr>
        <p:txBody>
          <a:bodyPr/>
          <a:lstStyle/>
          <a:p>
            <a:endParaRPr lang="en-US" sz="1600"/>
          </a:p>
        </p:txBody>
      </p:sp>
      <p:sp>
        <p:nvSpPr>
          <p:cNvPr id="39" name="Text 37"/>
          <p:cNvSpPr/>
          <p:nvPr/>
        </p:nvSpPr>
        <p:spPr>
          <a:xfrm>
            <a:off x="640080" y="3785616"/>
            <a:ext cx="1920240" cy="713232"/>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Collaboration</a:t>
            </a:r>
            <a:endParaRPr lang="en-US" sz="1600" dirty="0"/>
          </a:p>
        </p:txBody>
      </p:sp>
      <p:sp>
        <p:nvSpPr>
          <p:cNvPr id="40" name="Shape 38"/>
          <p:cNvSpPr/>
          <p:nvPr/>
        </p:nvSpPr>
        <p:spPr>
          <a:xfrm>
            <a:off x="2651760" y="3785616"/>
            <a:ext cx="3017520" cy="713232"/>
          </a:xfrm>
          <a:prstGeom prst="rect">
            <a:avLst/>
          </a:prstGeom>
          <a:solidFill>
            <a:srgbClr val="F4F6FA"/>
          </a:solidFill>
          <a:ln w="9525">
            <a:solidFill>
              <a:srgbClr val="DCE1EA"/>
            </a:solidFill>
            <a:prstDash val="solid"/>
          </a:ln>
        </p:spPr>
        <p:txBody>
          <a:bodyPr/>
          <a:lstStyle/>
          <a:p>
            <a:endParaRPr lang="en-US" sz="1600"/>
          </a:p>
        </p:txBody>
      </p:sp>
      <p:sp>
        <p:nvSpPr>
          <p:cNvPr id="41" name="Text 39"/>
          <p:cNvSpPr/>
          <p:nvPr/>
        </p:nvSpPr>
        <p:spPr>
          <a:xfrm>
            <a:off x="2743200" y="3785616"/>
            <a:ext cx="2834640" cy="71323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Strongest live co-editing in browser</a:t>
            </a:r>
            <a:endParaRPr lang="en-US" sz="1600" dirty="0"/>
          </a:p>
        </p:txBody>
      </p:sp>
      <p:sp>
        <p:nvSpPr>
          <p:cNvPr id="42" name="Shape 40"/>
          <p:cNvSpPr/>
          <p:nvPr/>
        </p:nvSpPr>
        <p:spPr>
          <a:xfrm>
            <a:off x="5669280" y="3785616"/>
            <a:ext cx="3017520" cy="713232"/>
          </a:xfrm>
          <a:prstGeom prst="rect">
            <a:avLst/>
          </a:prstGeom>
          <a:solidFill>
            <a:srgbClr val="F4F6FA"/>
          </a:solidFill>
          <a:ln w="9525">
            <a:solidFill>
              <a:srgbClr val="DCE1EA"/>
            </a:solidFill>
            <a:prstDash val="solid"/>
          </a:ln>
        </p:spPr>
        <p:txBody>
          <a:bodyPr/>
          <a:lstStyle/>
          <a:p>
            <a:endParaRPr lang="en-US" sz="1600"/>
          </a:p>
        </p:txBody>
      </p:sp>
      <p:sp>
        <p:nvSpPr>
          <p:cNvPr id="43" name="Text 41"/>
          <p:cNvSpPr/>
          <p:nvPr/>
        </p:nvSpPr>
        <p:spPr>
          <a:xfrm>
            <a:off x="5760720" y="3785616"/>
            <a:ext cx="2834640" cy="71323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Sharing with comments; relies on other apps</a:t>
            </a:r>
            <a:endParaRPr lang="en-US" sz="1600" dirty="0"/>
          </a:p>
        </p:txBody>
      </p:sp>
      <p:sp>
        <p:nvSpPr>
          <p:cNvPr id="44" name="Shape 42"/>
          <p:cNvSpPr/>
          <p:nvPr/>
        </p:nvSpPr>
        <p:spPr>
          <a:xfrm>
            <a:off x="8686800" y="3785616"/>
            <a:ext cx="2926080" cy="713232"/>
          </a:xfrm>
          <a:prstGeom prst="rect">
            <a:avLst/>
          </a:prstGeom>
          <a:solidFill>
            <a:srgbClr val="F4F6FA"/>
          </a:solidFill>
          <a:ln w="9525">
            <a:solidFill>
              <a:srgbClr val="DCE1EA"/>
            </a:solidFill>
            <a:prstDash val="solid"/>
          </a:ln>
        </p:spPr>
        <p:txBody>
          <a:bodyPr/>
          <a:lstStyle/>
          <a:p>
            <a:endParaRPr lang="en-US" sz="1600"/>
          </a:p>
        </p:txBody>
      </p:sp>
      <p:sp>
        <p:nvSpPr>
          <p:cNvPr id="45" name="Text 43"/>
          <p:cNvSpPr/>
          <p:nvPr/>
        </p:nvSpPr>
        <p:spPr>
          <a:xfrm>
            <a:off x="8778240" y="3785616"/>
            <a:ext cx="2743200" cy="71323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Co-authoring in Office apps</a:t>
            </a:r>
            <a:endParaRPr lang="en-US" sz="1600" dirty="0"/>
          </a:p>
        </p:txBody>
      </p:sp>
      <p:sp>
        <p:nvSpPr>
          <p:cNvPr id="46" name="Shape 44"/>
          <p:cNvSpPr/>
          <p:nvPr/>
        </p:nvSpPr>
        <p:spPr>
          <a:xfrm>
            <a:off x="548640" y="4498848"/>
            <a:ext cx="2103120" cy="713232"/>
          </a:xfrm>
          <a:prstGeom prst="rect">
            <a:avLst/>
          </a:prstGeom>
          <a:solidFill>
            <a:srgbClr val="FFFFFF"/>
          </a:solidFill>
          <a:ln w="9525">
            <a:solidFill>
              <a:srgbClr val="DCE1EA"/>
            </a:solidFill>
            <a:prstDash val="solid"/>
          </a:ln>
        </p:spPr>
        <p:txBody>
          <a:bodyPr/>
          <a:lstStyle/>
          <a:p>
            <a:endParaRPr lang="en-US" sz="1600"/>
          </a:p>
        </p:txBody>
      </p:sp>
      <p:sp>
        <p:nvSpPr>
          <p:cNvPr id="47" name="Text 45"/>
          <p:cNvSpPr/>
          <p:nvPr/>
        </p:nvSpPr>
        <p:spPr>
          <a:xfrm>
            <a:off x="640080" y="4498848"/>
            <a:ext cx="1920240" cy="713232"/>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Works best for</a:t>
            </a:r>
            <a:endParaRPr lang="en-US" sz="1600" dirty="0"/>
          </a:p>
        </p:txBody>
      </p:sp>
      <p:sp>
        <p:nvSpPr>
          <p:cNvPr id="48" name="Shape 46"/>
          <p:cNvSpPr/>
          <p:nvPr/>
        </p:nvSpPr>
        <p:spPr>
          <a:xfrm>
            <a:off x="2651760" y="4498848"/>
            <a:ext cx="3017520" cy="713232"/>
          </a:xfrm>
          <a:prstGeom prst="rect">
            <a:avLst/>
          </a:prstGeom>
          <a:solidFill>
            <a:srgbClr val="FFFFFF"/>
          </a:solidFill>
          <a:ln w="9525">
            <a:solidFill>
              <a:srgbClr val="DCE1EA"/>
            </a:solidFill>
            <a:prstDash val="solid"/>
          </a:ln>
        </p:spPr>
        <p:txBody>
          <a:bodyPr/>
          <a:lstStyle/>
          <a:p>
            <a:endParaRPr lang="en-US" sz="1600"/>
          </a:p>
        </p:txBody>
      </p:sp>
      <p:sp>
        <p:nvSpPr>
          <p:cNvPr id="49" name="Text 47"/>
          <p:cNvSpPr/>
          <p:nvPr/>
        </p:nvSpPr>
        <p:spPr>
          <a:xfrm>
            <a:off x="2743200" y="4498848"/>
            <a:ext cx="2834640" cy="71323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Students and teams using Google tools</a:t>
            </a:r>
            <a:endParaRPr lang="en-US" sz="1600" dirty="0"/>
          </a:p>
        </p:txBody>
      </p:sp>
      <p:sp>
        <p:nvSpPr>
          <p:cNvPr id="50" name="Shape 48"/>
          <p:cNvSpPr/>
          <p:nvPr/>
        </p:nvSpPr>
        <p:spPr>
          <a:xfrm>
            <a:off x="5669280" y="4498848"/>
            <a:ext cx="3017520" cy="713232"/>
          </a:xfrm>
          <a:prstGeom prst="rect">
            <a:avLst/>
          </a:prstGeom>
          <a:solidFill>
            <a:srgbClr val="FFFFFF"/>
          </a:solidFill>
          <a:ln w="9525">
            <a:solidFill>
              <a:srgbClr val="DCE1EA"/>
            </a:solidFill>
            <a:prstDash val="solid"/>
          </a:ln>
        </p:spPr>
        <p:txBody>
          <a:bodyPr/>
          <a:lstStyle/>
          <a:p>
            <a:endParaRPr lang="en-US" sz="1600"/>
          </a:p>
        </p:txBody>
      </p:sp>
      <p:sp>
        <p:nvSpPr>
          <p:cNvPr id="51" name="Text 49"/>
          <p:cNvSpPr/>
          <p:nvPr/>
        </p:nvSpPr>
        <p:spPr>
          <a:xfrm>
            <a:off x="5760720" y="4498848"/>
            <a:ext cx="2834640" cy="71323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Cross-platform users and sharing with outsiders</a:t>
            </a:r>
            <a:endParaRPr lang="en-US" sz="1600" dirty="0"/>
          </a:p>
        </p:txBody>
      </p:sp>
      <p:sp>
        <p:nvSpPr>
          <p:cNvPr id="52" name="Shape 50"/>
          <p:cNvSpPr/>
          <p:nvPr/>
        </p:nvSpPr>
        <p:spPr>
          <a:xfrm>
            <a:off x="8686800" y="4498848"/>
            <a:ext cx="2926080" cy="713232"/>
          </a:xfrm>
          <a:prstGeom prst="rect">
            <a:avLst/>
          </a:prstGeom>
          <a:solidFill>
            <a:srgbClr val="FFFFFF"/>
          </a:solidFill>
          <a:ln w="9525">
            <a:solidFill>
              <a:srgbClr val="DCE1EA"/>
            </a:solidFill>
            <a:prstDash val="solid"/>
          </a:ln>
        </p:spPr>
        <p:txBody>
          <a:bodyPr/>
          <a:lstStyle/>
          <a:p>
            <a:endParaRPr lang="en-US" sz="1600"/>
          </a:p>
        </p:txBody>
      </p:sp>
      <p:sp>
        <p:nvSpPr>
          <p:cNvPr id="53" name="Text 51"/>
          <p:cNvSpPr/>
          <p:nvPr/>
        </p:nvSpPr>
        <p:spPr>
          <a:xfrm>
            <a:off x="8778240" y="4498848"/>
            <a:ext cx="2743200" cy="71323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Windows and Microsoft 365 users</a:t>
            </a:r>
            <a:endParaRPr lang="en-US" sz="1600" dirty="0"/>
          </a:p>
        </p:txBody>
      </p:sp>
      <p:sp>
        <p:nvSpPr>
          <p:cNvPr id="54" name="Shape 52"/>
          <p:cNvSpPr/>
          <p:nvPr/>
        </p:nvSpPr>
        <p:spPr>
          <a:xfrm>
            <a:off x="548640" y="5212080"/>
            <a:ext cx="2103120" cy="713232"/>
          </a:xfrm>
          <a:prstGeom prst="rect">
            <a:avLst/>
          </a:prstGeom>
          <a:solidFill>
            <a:srgbClr val="F4F6FA"/>
          </a:solidFill>
          <a:ln w="9525">
            <a:solidFill>
              <a:srgbClr val="DCE1EA"/>
            </a:solidFill>
            <a:prstDash val="solid"/>
          </a:ln>
        </p:spPr>
        <p:txBody>
          <a:bodyPr/>
          <a:lstStyle/>
          <a:p>
            <a:endParaRPr lang="en-US" sz="1600"/>
          </a:p>
        </p:txBody>
      </p:sp>
      <p:sp>
        <p:nvSpPr>
          <p:cNvPr id="55" name="Text 53"/>
          <p:cNvSpPr/>
          <p:nvPr/>
        </p:nvSpPr>
        <p:spPr>
          <a:xfrm>
            <a:off x="640080" y="5212080"/>
            <a:ext cx="1920240" cy="713232"/>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Watch out for</a:t>
            </a:r>
            <a:endParaRPr lang="en-US" sz="1600" dirty="0"/>
          </a:p>
        </p:txBody>
      </p:sp>
      <p:sp>
        <p:nvSpPr>
          <p:cNvPr id="56" name="Shape 54"/>
          <p:cNvSpPr/>
          <p:nvPr/>
        </p:nvSpPr>
        <p:spPr>
          <a:xfrm>
            <a:off x="2651760" y="5212080"/>
            <a:ext cx="3017520" cy="713232"/>
          </a:xfrm>
          <a:prstGeom prst="rect">
            <a:avLst/>
          </a:prstGeom>
          <a:solidFill>
            <a:srgbClr val="F4F6FA"/>
          </a:solidFill>
          <a:ln w="9525">
            <a:solidFill>
              <a:srgbClr val="DCE1EA"/>
            </a:solidFill>
            <a:prstDash val="solid"/>
          </a:ln>
        </p:spPr>
        <p:txBody>
          <a:bodyPr/>
          <a:lstStyle/>
          <a:p>
            <a:endParaRPr lang="en-US" sz="1600"/>
          </a:p>
        </p:txBody>
      </p:sp>
      <p:sp>
        <p:nvSpPr>
          <p:cNvPr id="57" name="Text 55"/>
          <p:cNvSpPr/>
          <p:nvPr/>
        </p:nvSpPr>
        <p:spPr>
          <a:xfrm>
            <a:off x="2743200" y="5212080"/>
            <a:ext cx="2834640" cy="71323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Storage shared across services</a:t>
            </a:r>
            <a:endParaRPr lang="en-US" sz="1600" dirty="0"/>
          </a:p>
        </p:txBody>
      </p:sp>
      <p:sp>
        <p:nvSpPr>
          <p:cNvPr id="58" name="Shape 56"/>
          <p:cNvSpPr/>
          <p:nvPr/>
        </p:nvSpPr>
        <p:spPr>
          <a:xfrm>
            <a:off x="5669280" y="5212080"/>
            <a:ext cx="3017520" cy="713232"/>
          </a:xfrm>
          <a:prstGeom prst="rect">
            <a:avLst/>
          </a:prstGeom>
          <a:solidFill>
            <a:srgbClr val="F4F6FA"/>
          </a:solidFill>
          <a:ln w="9525">
            <a:solidFill>
              <a:srgbClr val="DCE1EA"/>
            </a:solidFill>
            <a:prstDash val="solid"/>
          </a:ln>
        </p:spPr>
        <p:txBody>
          <a:bodyPr/>
          <a:lstStyle/>
          <a:p>
            <a:endParaRPr lang="en-US" sz="1600"/>
          </a:p>
        </p:txBody>
      </p:sp>
      <p:sp>
        <p:nvSpPr>
          <p:cNvPr id="59" name="Text 57"/>
          <p:cNvSpPr/>
          <p:nvPr/>
        </p:nvSpPr>
        <p:spPr>
          <a:xfrm>
            <a:off x="5760720" y="5212080"/>
            <a:ext cx="2834640" cy="71323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Small free space</a:t>
            </a:r>
            <a:endParaRPr lang="en-US" sz="1600" dirty="0"/>
          </a:p>
        </p:txBody>
      </p:sp>
      <p:sp>
        <p:nvSpPr>
          <p:cNvPr id="60" name="Shape 58"/>
          <p:cNvSpPr/>
          <p:nvPr/>
        </p:nvSpPr>
        <p:spPr>
          <a:xfrm>
            <a:off x="8686800" y="5212080"/>
            <a:ext cx="2926080" cy="713232"/>
          </a:xfrm>
          <a:prstGeom prst="rect">
            <a:avLst/>
          </a:prstGeom>
          <a:solidFill>
            <a:srgbClr val="F4F6FA"/>
          </a:solidFill>
          <a:ln w="9525">
            <a:solidFill>
              <a:srgbClr val="DCE1EA"/>
            </a:solidFill>
            <a:prstDash val="solid"/>
          </a:ln>
        </p:spPr>
        <p:txBody>
          <a:bodyPr/>
          <a:lstStyle/>
          <a:p>
            <a:endParaRPr lang="en-US" sz="1600"/>
          </a:p>
        </p:txBody>
      </p:sp>
      <p:sp>
        <p:nvSpPr>
          <p:cNvPr id="61" name="Text 59"/>
          <p:cNvSpPr/>
          <p:nvPr/>
        </p:nvSpPr>
        <p:spPr>
          <a:xfrm>
            <a:off x="8778240" y="5212080"/>
            <a:ext cx="2743200" cy="71323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Best features need Microsoft 365</a:t>
            </a:r>
            <a:endParaRPr lang="en-US" sz="1600" dirty="0"/>
          </a:p>
        </p:txBody>
      </p:sp>
      <p:sp>
        <p:nvSpPr>
          <p:cNvPr id="62" name="Text 60"/>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63" name="Text 61"/>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CLOUD STORAGE — SHARING &amp; PERMISSIONS</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Sharing Files Safely — Permissions Explained</a:t>
            </a:r>
            <a:endParaRPr lang="en-US" sz="2400" dirty="0"/>
          </a:p>
        </p:txBody>
      </p:sp>
      <p:pic>
        <p:nvPicPr>
          <p:cNvPr id="6" name="Image 0" descr="mockups/gdrive_share.png"/>
          <p:cNvPicPr>
            <a:picLocks noChangeAspect="1"/>
          </p:cNvPicPr>
          <p:nvPr/>
        </p:nvPicPr>
        <p:blipFill>
          <a:blip r:embed="rId3"/>
          <a:stretch>
            <a:fillRect/>
          </a:stretch>
        </p:blipFill>
        <p:spPr>
          <a:xfrm>
            <a:off x="457200" y="1097280"/>
            <a:ext cx="7223760" cy="4540649"/>
          </a:xfrm>
          <a:prstGeom prst="rect">
            <a:avLst/>
          </a:prstGeom>
        </p:spPr>
      </p:pic>
      <p:sp>
        <p:nvSpPr>
          <p:cNvPr id="7" name="Shape 4"/>
          <p:cNvSpPr/>
          <p:nvPr/>
        </p:nvSpPr>
        <p:spPr>
          <a:xfrm>
            <a:off x="457200" y="1097280"/>
            <a:ext cx="7223760" cy="4540649"/>
          </a:xfrm>
          <a:prstGeom prst="rect">
            <a:avLst/>
          </a:prstGeom>
          <a:ln w="12700">
            <a:solidFill>
              <a:srgbClr val="C9D0DC"/>
            </a:solidFill>
            <a:prstDash val="solid"/>
          </a:ln>
        </p:spPr>
        <p:txBody>
          <a:bodyPr/>
          <a:lstStyle/>
          <a:p>
            <a:endParaRPr lang="en-US" sz="1600"/>
          </a:p>
        </p:txBody>
      </p:sp>
      <p:sp>
        <p:nvSpPr>
          <p:cNvPr id="8" name="Text 5"/>
          <p:cNvSpPr/>
          <p:nvPr/>
        </p:nvSpPr>
        <p:spPr>
          <a:xfrm>
            <a:off x="457200" y="5729369"/>
            <a:ext cx="7223760" cy="457200"/>
          </a:xfrm>
          <a:prstGeom prst="rect">
            <a:avLst/>
          </a:prstGeom>
          <a:noFill/>
          <a:ln/>
        </p:spPr>
        <p:txBody>
          <a:bodyPr wrap="square" rtlCol="0" anchor="t"/>
          <a:lstStyle/>
          <a:p>
            <a:pPr marL="0" indent="0">
              <a:lnSpc>
                <a:spcPts val="1300"/>
              </a:lnSpc>
              <a:buNone/>
            </a:pPr>
            <a:r>
              <a:rPr lang="en-US" sz="1600" i="1" dirty="0">
                <a:solidFill>
                  <a:srgbClr val="595959"/>
                </a:solidFill>
                <a:latin typeface="Calibri" pitchFamily="34" charset="0"/>
                <a:ea typeface="Calibri" pitchFamily="34" charset="-122"/>
                <a:cs typeface="Calibri" pitchFamily="34" charset="-120"/>
              </a:rPr>
              <a:t>Illustrative interface drawn for teaching — exact layout varies by version and institution.</a:t>
            </a:r>
            <a:endParaRPr lang="en-US" sz="1600" dirty="0"/>
          </a:p>
        </p:txBody>
      </p:sp>
      <p:sp>
        <p:nvSpPr>
          <p:cNvPr id="9" name="Shape 6"/>
          <p:cNvSpPr/>
          <p:nvPr/>
        </p:nvSpPr>
        <p:spPr>
          <a:xfrm>
            <a:off x="7909560" y="1097280"/>
            <a:ext cx="3794760" cy="5212080"/>
          </a:xfrm>
          <a:prstGeom prst="roundRect">
            <a:avLst>
              <a:gd name="adj" fmla="val 1928"/>
            </a:avLst>
          </a:prstGeom>
          <a:solidFill>
            <a:srgbClr val="F4F6F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10" name="Text 7"/>
          <p:cNvSpPr/>
          <p:nvPr/>
        </p:nvSpPr>
        <p:spPr>
          <a:xfrm>
            <a:off x="8138160" y="1261872"/>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PEOPLE WITH ACCESS</a:t>
            </a:r>
            <a:endParaRPr lang="en-US" sz="1600" dirty="0"/>
          </a:p>
        </p:txBody>
      </p:sp>
      <p:sp>
        <p:nvSpPr>
          <p:cNvPr id="11" name="Text 8"/>
          <p:cNvSpPr/>
          <p:nvPr/>
        </p:nvSpPr>
        <p:spPr>
          <a:xfrm>
            <a:off x="8138160" y="1554480"/>
            <a:ext cx="3337560" cy="1052576"/>
          </a:xfrm>
          <a:prstGeom prst="rect">
            <a:avLst/>
          </a:prstGeom>
          <a:noFill/>
          <a:ln/>
        </p:spPr>
        <p:txBody>
          <a:bodyPr wrap="square" lIns="0" tIns="0" rIns="0" bIns="0" rtlCol="0" anchor="t"/>
          <a:lstStyle/>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Owner — full control</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Editor — can change the file</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Commenter — can only comment</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Viewer — can only read</a:t>
            </a:r>
            <a:endParaRPr lang="en-US" sz="1600" dirty="0"/>
          </a:p>
        </p:txBody>
      </p:sp>
      <p:sp>
        <p:nvSpPr>
          <p:cNvPr id="12" name="Text 9"/>
          <p:cNvSpPr/>
          <p:nvPr/>
        </p:nvSpPr>
        <p:spPr>
          <a:xfrm>
            <a:off x="8138160" y="2753360"/>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GENERAL ACCESS</a:t>
            </a:r>
            <a:endParaRPr lang="en-US" sz="1600" dirty="0"/>
          </a:p>
        </p:txBody>
      </p:sp>
      <p:sp>
        <p:nvSpPr>
          <p:cNvPr id="13" name="Text 10"/>
          <p:cNvSpPr/>
          <p:nvPr/>
        </p:nvSpPr>
        <p:spPr>
          <a:xfrm>
            <a:off x="8138160" y="3045968"/>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Restricted means only invited people can open the link; “anyone with the link” is convenient but less private.</a:t>
            </a:r>
            <a:endParaRPr lang="en-US" sz="1600" dirty="0"/>
          </a:p>
        </p:txBody>
      </p:sp>
      <p:sp>
        <p:nvSpPr>
          <p:cNvPr id="14" name="Text 11"/>
          <p:cNvSpPr/>
          <p:nvPr/>
        </p:nvSpPr>
        <p:spPr>
          <a:xfrm>
            <a:off x="8138160" y="3875024"/>
            <a:ext cx="3337560" cy="256032"/>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RULE OF THUMB</a:t>
            </a:r>
            <a:endParaRPr lang="en-US" sz="1600" dirty="0"/>
          </a:p>
        </p:txBody>
      </p:sp>
      <p:sp>
        <p:nvSpPr>
          <p:cNvPr id="15" name="Text 12"/>
          <p:cNvSpPr/>
          <p:nvPr/>
        </p:nvSpPr>
        <p:spPr>
          <a:xfrm>
            <a:off x="8138160" y="4167632"/>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Give the lowest role that still lets each person do their job, and review sharing from time to time.</a:t>
            </a:r>
            <a:endParaRPr lang="en-US" sz="1600" dirty="0"/>
          </a:p>
        </p:txBody>
      </p:sp>
      <p:sp>
        <p:nvSpPr>
          <p:cNvPr id="16" name="Text 13"/>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17" name="Text 14"/>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CLOUD STORAGE — USING IT WISELY</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Cloud Best Practices &amp; Security</a:t>
            </a:r>
            <a:endParaRPr lang="en-US" sz="2400" dirty="0"/>
          </a:p>
        </p:txBody>
      </p:sp>
      <p:sp>
        <p:nvSpPr>
          <p:cNvPr id="6" name="Shape 4"/>
          <p:cNvSpPr/>
          <p:nvPr/>
        </p:nvSpPr>
        <p:spPr>
          <a:xfrm>
            <a:off x="548640" y="1143000"/>
            <a:ext cx="5394960" cy="1600200"/>
          </a:xfrm>
          <a:prstGeom prst="roundRect">
            <a:avLst>
              <a:gd name="adj" fmla="val 4571"/>
            </a:avLst>
          </a:prstGeom>
          <a:solidFill>
            <a:srgbClr val="FBEAEA"/>
          </a:solidFill>
          <a:ln w="12700">
            <a:solidFill>
              <a:srgbClr val="DCE1EA"/>
            </a:solidFill>
            <a:prstDash val="solid"/>
          </a:ln>
        </p:spPr>
        <p:txBody>
          <a:bodyPr/>
          <a:lstStyle/>
          <a:p>
            <a:endParaRPr lang="en-US"/>
          </a:p>
        </p:txBody>
      </p:sp>
      <p:sp>
        <p:nvSpPr>
          <p:cNvPr id="7" name="Text 5"/>
          <p:cNvSpPr/>
          <p:nvPr/>
        </p:nvSpPr>
        <p:spPr>
          <a:xfrm>
            <a:off x="777240" y="1280160"/>
            <a:ext cx="4937760" cy="320040"/>
          </a:xfrm>
          <a:prstGeom prst="rect">
            <a:avLst/>
          </a:prstGeom>
          <a:noFill/>
          <a:ln/>
        </p:spPr>
        <p:txBody>
          <a:bodyPr wrap="square"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Use Strong Passwords &amp; 2-Step Verification</a:t>
            </a:r>
            <a:endParaRPr lang="en-US" sz="1400" dirty="0"/>
          </a:p>
        </p:txBody>
      </p:sp>
      <p:sp>
        <p:nvSpPr>
          <p:cNvPr id="8" name="Text 6"/>
          <p:cNvSpPr/>
          <p:nvPr/>
        </p:nvSpPr>
        <p:spPr>
          <a:xfrm>
            <a:off x="777240" y="1645920"/>
            <a:ext cx="4937760" cy="1005840"/>
          </a:xfrm>
          <a:prstGeom prst="rect">
            <a:avLst/>
          </a:prstGeom>
          <a:noFill/>
          <a:ln/>
        </p:spPr>
        <p:txBody>
          <a:bodyPr wrap="square" rtlCol="0" anchor="t"/>
          <a:lstStyle/>
          <a:p>
            <a:pPr marL="0" indent="0">
              <a:lnSpc>
                <a:spcPts val="1600"/>
              </a:lnSpc>
              <a:buNone/>
            </a:pPr>
            <a:r>
              <a:rPr lang="en-US" sz="1250" dirty="0">
                <a:solidFill>
                  <a:srgbClr val="333333"/>
                </a:solidFill>
                <a:latin typeface="Calibri" pitchFamily="34" charset="0"/>
                <a:ea typeface="Calibri" pitchFamily="34" charset="-122"/>
                <a:cs typeface="Calibri" pitchFamily="34" charset="-120"/>
              </a:rPr>
              <a:t>Protect your account with a strong, unique password and a second verification step, because it guards all your files.</a:t>
            </a:r>
            <a:endParaRPr lang="en-US" sz="1250" dirty="0"/>
          </a:p>
        </p:txBody>
      </p:sp>
      <p:sp>
        <p:nvSpPr>
          <p:cNvPr id="9" name="Shape 7"/>
          <p:cNvSpPr/>
          <p:nvPr/>
        </p:nvSpPr>
        <p:spPr>
          <a:xfrm>
            <a:off x="6172200" y="1143000"/>
            <a:ext cx="5394960" cy="1600200"/>
          </a:xfrm>
          <a:prstGeom prst="roundRect">
            <a:avLst>
              <a:gd name="adj" fmla="val 4571"/>
            </a:avLst>
          </a:prstGeom>
          <a:solidFill>
            <a:srgbClr val="EAF6EC"/>
          </a:solidFill>
          <a:ln w="12700">
            <a:solidFill>
              <a:srgbClr val="DCE1EA"/>
            </a:solidFill>
            <a:prstDash val="solid"/>
          </a:ln>
        </p:spPr>
        <p:txBody>
          <a:bodyPr/>
          <a:lstStyle/>
          <a:p>
            <a:endParaRPr lang="en-US"/>
          </a:p>
        </p:txBody>
      </p:sp>
      <p:sp>
        <p:nvSpPr>
          <p:cNvPr id="10" name="Text 8"/>
          <p:cNvSpPr/>
          <p:nvPr/>
        </p:nvSpPr>
        <p:spPr>
          <a:xfrm>
            <a:off x="6400800" y="1280160"/>
            <a:ext cx="4937760" cy="320040"/>
          </a:xfrm>
          <a:prstGeom prst="rect">
            <a:avLst/>
          </a:prstGeom>
          <a:noFill/>
          <a:ln/>
        </p:spPr>
        <p:txBody>
          <a:bodyPr wrap="square"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Share with Least Privilege</a:t>
            </a:r>
            <a:endParaRPr lang="en-US" sz="1400" dirty="0"/>
          </a:p>
        </p:txBody>
      </p:sp>
      <p:sp>
        <p:nvSpPr>
          <p:cNvPr id="11" name="Text 9"/>
          <p:cNvSpPr/>
          <p:nvPr/>
        </p:nvSpPr>
        <p:spPr>
          <a:xfrm>
            <a:off x="6400800" y="1645920"/>
            <a:ext cx="4937760" cy="1005840"/>
          </a:xfrm>
          <a:prstGeom prst="rect">
            <a:avLst/>
          </a:prstGeom>
          <a:noFill/>
          <a:ln/>
        </p:spPr>
        <p:txBody>
          <a:bodyPr wrap="square" rtlCol="0" anchor="t"/>
          <a:lstStyle/>
          <a:p>
            <a:pPr marL="0" indent="0">
              <a:lnSpc>
                <a:spcPts val="1600"/>
              </a:lnSpc>
              <a:buNone/>
            </a:pPr>
            <a:r>
              <a:rPr lang="en-US" sz="1250" dirty="0">
                <a:solidFill>
                  <a:srgbClr val="333333"/>
                </a:solidFill>
                <a:latin typeface="Calibri" pitchFamily="34" charset="0"/>
                <a:ea typeface="Calibri" pitchFamily="34" charset="-122"/>
                <a:cs typeface="Calibri" pitchFamily="34" charset="-120"/>
              </a:rPr>
              <a:t>Prefer named people over public links, and choose Viewer or Commenter unless editing is needed.</a:t>
            </a:r>
            <a:endParaRPr lang="en-US" sz="1250" dirty="0"/>
          </a:p>
        </p:txBody>
      </p:sp>
      <p:sp>
        <p:nvSpPr>
          <p:cNvPr id="12" name="Shape 10"/>
          <p:cNvSpPr/>
          <p:nvPr/>
        </p:nvSpPr>
        <p:spPr>
          <a:xfrm>
            <a:off x="548640" y="2880360"/>
            <a:ext cx="5394960" cy="1600200"/>
          </a:xfrm>
          <a:prstGeom prst="roundRect">
            <a:avLst>
              <a:gd name="adj" fmla="val 4571"/>
            </a:avLst>
          </a:prstGeom>
          <a:solidFill>
            <a:srgbClr val="FBEAEA"/>
          </a:solidFill>
          <a:ln w="12700">
            <a:solidFill>
              <a:srgbClr val="DCE1EA"/>
            </a:solidFill>
            <a:prstDash val="solid"/>
          </a:ln>
        </p:spPr>
        <p:txBody>
          <a:bodyPr/>
          <a:lstStyle/>
          <a:p>
            <a:endParaRPr lang="en-US"/>
          </a:p>
        </p:txBody>
      </p:sp>
      <p:sp>
        <p:nvSpPr>
          <p:cNvPr id="13" name="Text 11"/>
          <p:cNvSpPr/>
          <p:nvPr/>
        </p:nvSpPr>
        <p:spPr>
          <a:xfrm>
            <a:off x="777240" y="3017520"/>
            <a:ext cx="4937760" cy="320040"/>
          </a:xfrm>
          <a:prstGeom prst="rect">
            <a:avLst/>
          </a:prstGeom>
          <a:noFill/>
          <a:ln/>
        </p:spPr>
        <p:txBody>
          <a:bodyPr wrap="square"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Name &amp; Organize Files</a:t>
            </a:r>
            <a:endParaRPr lang="en-US" sz="1400" dirty="0"/>
          </a:p>
        </p:txBody>
      </p:sp>
      <p:sp>
        <p:nvSpPr>
          <p:cNvPr id="14" name="Text 12"/>
          <p:cNvSpPr/>
          <p:nvPr/>
        </p:nvSpPr>
        <p:spPr>
          <a:xfrm>
            <a:off x="777240" y="3383280"/>
            <a:ext cx="4937760" cy="1005840"/>
          </a:xfrm>
          <a:prstGeom prst="rect">
            <a:avLst/>
          </a:prstGeom>
          <a:noFill/>
          <a:ln/>
        </p:spPr>
        <p:txBody>
          <a:bodyPr wrap="square" rtlCol="0" anchor="t"/>
          <a:lstStyle/>
          <a:p>
            <a:pPr marL="0" indent="0">
              <a:lnSpc>
                <a:spcPts val="1600"/>
              </a:lnSpc>
              <a:buNone/>
            </a:pPr>
            <a:r>
              <a:rPr lang="en-US" sz="1250" dirty="0">
                <a:solidFill>
                  <a:srgbClr val="333333"/>
                </a:solidFill>
                <a:latin typeface="Calibri" pitchFamily="34" charset="0"/>
                <a:ea typeface="Calibri" pitchFamily="34" charset="-122"/>
                <a:cs typeface="Calibri" pitchFamily="34" charset="-120"/>
              </a:rPr>
              <a:t>Use clear folder structures and file names with dates or versions so teammates can find things.</a:t>
            </a:r>
            <a:endParaRPr lang="en-US" sz="1250" dirty="0"/>
          </a:p>
        </p:txBody>
      </p:sp>
      <p:sp>
        <p:nvSpPr>
          <p:cNvPr id="15" name="Shape 13"/>
          <p:cNvSpPr/>
          <p:nvPr/>
        </p:nvSpPr>
        <p:spPr>
          <a:xfrm>
            <a:off x="6172200" y="2880360"/>
            <a:ext cx="5394960" cy="1600200"/>
          </a:xfrm>
          <a:prstGeom prst="roundRect">
            <a:avLst>
              <a:gd name="adj" fmla="val 4571"/>
            </a:avLst>
          </a:prstGeom>
          <a:solidFill>
            <a:srgbClr val="EAF6EC"/>
          </a:solidFill>
          <a:ln w="12700">
            <a:solidFill>
              <a:srgbClr val="DCE1EA"/>
            </a:solidFill>
            <a:prstDash val="solid"/>
          </a:ln>
        </p:spPr>
        <p:txBody>
          <a:bodyPr/>
          <a:lstStyle/>
          <a:p>
            <a:endParaRPr lang="en-US"/>
          </a:p>
        </p:txBody>
      </p:sp>
      <p:sp>
        <p:nvSpPr>
          <p:cNvPr id="16" name="Text 14"/>
          <p:cNvSpPr/>
          <p:nvPr/>
        </p:nvSpPr>
        <p:spPr>
          <a:xfrm>
            <a:off x="6400800" y="3017520"/>
            <a:ext cx="4937760" cy="320040"/>
          </a:xfrm>
          <a:prstGeom prst="rect">
            <a:avLst/>
          </a:prstGeom>
          <a:noFill/>
          <a:ln/>
        </p:spPr>
        <p:txBody>
          <a:bodyPr wrap="square"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Keep a Backup (3-2-1 idea)</a:t>
            </a:r>
            <a:endParaRPr lang="en-US" sz="1400" dirty="0"/>
          </a:p>
        </p:txBody>
      </p:sp>
      <p:sp>
        <p:nvSpPr>
          <p:cNvPr id="17" name="Text 15"/>
          <p:cNvSpPr/>
          <p:nvPr/>
        </p:nvSpPr>
        <p:spPr>
          <a:xfrm>
            <a:off x="6400800" y="3383280"/>
            <a:ext cx="4937760" cy="1005840"/>
          </a:xfrm>
          <a:prstGeom prst="rect">
            <a:avLst/>
          </a:prstGeom>
          <a:noFill/>
          <a:ln/>
        </p:spPr>
        <p:txBody>
          <a:bodyPr wrap="square" rtlCol="0" anchor="t"/>
          <a:lstStyle/>
          <a:p>
            <a:pPr marL="0" indent="0">
              <a:lnSpc>
                <a:spcPts val="1600"/>
              </a:lnSpc>
              <a:buNone/>
            </a:pPr>
            <a:r>
              <a:rPr lang="en-US" sz="1250" dirty="0">
                <a:solidFill>
                  <a:srgbClr val="333333"/>
                </a:solidFill>
                <a:latin typeface="Calibri" pitchFamily="34" charset="0"/>
                <a:ea typeface="Calibri" pitchFamily="34" charset="-122"/>
                <a:cs typeface="Calibri" pitchFamily="34" charset="-120"/>
              </a:rPr>
              <a:t>Keep more than one copy of important work — for example, cloud plus a second copy elsewhere.</a:t>
            </a:r>
            <a:endParaRPr lang="en-US" sz="1250" dirty="0"/>
          </a:p>
        </p:txBody>
      </p:sp>
      <p:sp>
        <p:nvSpPr>
          <p:cNvPr id="18" name="Shape 16"/>
          <p:cNvSpPr/>
          <p:nvPr/>
        </p:nvSpPr>
        <p:spPr>
          <a:xfrm>
            <a:off x="548640" y="4617720"/>
            <a:ext cx="5394960" cy="1600200"/>
          </a:xfrm>
          <a:prstGeom prst="roundRect">
            <a:avLst>
              <a:gd name="adj" fmla="val 4571"/>
            </a:avLst>
          </a:prstGeom>
          <a:solidFill>
            <a:srgbClr val="FBEAEA"/>
          </a:solidFill>
          <a:ln w="12700">
            <a:solidFill>
              <a:srgbClr val="DCE1EA"/>
            </a:solidFill>
            <a:prstDash val="solid"/>
          </a:ln>
        </p:spPr>
        <p:txBody>
          <a:bodyPr/>
          <a:lstStyle/>
          <a:p>
            <a:endParaRPr lang="en-US"/>
          </a:p>
        </p:txBody>
      </p:sp>
      <p:sp>
        <p:nvSpPr>
          <p:cNvPr id="19" name="Text 17"/>
          <p:cNvSpPr/>
          <p:nvPr/>
        </p:nvSpPr>
        <p:spPr>
          <a:xfrm>
            <a:off x="777240" y="4754880"/>
            <a:ext cx="4937760" cy="320040"/>
          </a:xfrm>
          <a:prstGeom prst="rect">
            <a:avLst/>
          </a:prstGeom>
          <a:noFill/>
          <a:ln/>
        </p:spPr>
        <p:txBody>
          <a:bodyPr wrap="square"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Protect Sensitive Data</a:t>
            </a:r>
            <a:endParaRPr lang="en-US" sz="1400" dirty="0"/>
          </a:p>
        </p:txBody>
      </p:sp>
      <p:sp>
        <p:nvSpPr>
          <p:cNvPr id="20" name="Text 18"/>
          <p:cNvSpPr/>
          <p:nvPr/>
        </p:nvSpPr>
        <p:spPr>
          <a:xfrm>
            <a:off x="777240" y="5120640"/>
            <a:ext cx="4937760" cy="1005840"/>
          </a:xfrm>
          <a:prstGeom prst="rect">
            <a:avLst/>
          </a:prstGeom>
          <a:noFill/>
          <a:ln/>
        </p:spPr>
        <p:txBody>
          <a:bodyPr wrap="square" rtlCol="0" anchor="t"/>
          <a:lstStyle/>
          <a:p>
            <a:pPr marL="0" indent="0">
              <a:lnSpc>
                <a:spcPts val="1600"/>
              </a:lnSpc>
              <a:buNone/>
            </a:pPr>
            <a:r>
              <a:rPr lang="en-US" sz="1250" dirty="0">
                <a:solidFill>
                  <a:srgbClr val="333333"/>
                </a:solidFill>
                <a:latin typeface="Calibri" pitchFamily="34" charset="0"/>
                <a:ea typeface="Calibri" pitchFamily="34" charset="-122"/>
                <a:cs typeface="Calibri" pitchFamily="34" charset="-120"/>
              </a:rPr>
              <a:t>Avoid storing passwords or confidential records unprotected; use features like Personal Vault where available.</a:t>
            </a:r>
            <a:endParaRPr lang="en-US" sz="1250" dirty="0"/>
          </a:p>
        </p:txBody>
      </p:sp>
      <p:sp>
        <p:nvSpPr>
          <p:cNvPr id="21" name="Shape 19"/>
          <p:cNvSpPr/>
          <p:nvPr/>
        </p:nvSpPr>
        <p:spPr>
          <a:xfrm>
            <a:off x="6172200" y="4617720"/>
            <a:ext cx="5394960" cy="1600200"/>
          </a:xfrm>
          <a:prstGeom prst="roundRect">
            <a:avLst>
              <a:gd name="adj" fmla="val 4571"/>
            </a:avLst>
          </a:prstGeom>
          <a:solidFill>
            <a:srgbClr val="EAF6EC"/>
          </a:solidFill>
          <a:ln w="12700">
            <a:solidFill>
              <a:srgbClr val="DCE1EA"/>
            </a:solidFill>
            <a:prstDash val="solid"/>
          </a:ln>
        </p:spPr>
        <p:txBody>
          <a:bodyPr/>
          <a:lstStyle/>
          <a:p>
            <a:endParaRPr lang="en-US"/>
          </a:p>
        </p:txBody>
      </p:sp>
      <p:sp>
        <p:nvSpPr>
          <p:cNvPr id="22" name="Text 20"/>
          <p:cNvSpPr/>
          <p:nvPr/>
        </p:nvSpPr>
        <p:spPr>
          <a:xfrm>
            <a:off x="6400800" y="4754880"/>
            <a:ext cx="4937760" cy="320040"/>
          </a:xfrm>
          <a:prstGeom prst="rect">
            <a:avLst/>
          </a:prstGeom>
          <a:noFill/>
          <a:ln/>
        </p:spPr>
        <p:txBody>
          <a:bodyPr wrap="square"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Review Access Regularly</a:t>
            </a:r>
            <a:endParaRPr lang="en-US" sz="1400" dirty="0"/>
          </a:p>
        </p:txBody>
      </p:sp>
      <p:sp>
        <p:nvSpPr>
          <p:cNvPr id="23" name="Text 21"/>
          <p:cNvSpPr/>
          <p:nvPr/>
        </p:nvSpPr>
        <p:spPr>
          <a:xfrm>
            <a:off x="6400800" y="5120640"/>
            <a:ext cx="4937760" cy="1005840"/>
          </a:xfrm>
          <a:prstGeom prst="rect">
            <a:avLst/>
          </a:prstGeom>
          <a:noFill/>
          <a:ln/>
        </p:spPr>
        <p:txBody>
          <a:bodyPr wrap="square" rtlCol="0" anchor="t"/>
          <a:lstStyle/>
          <a:p>
            <a:pPr marL="0" indent="0">
              <a:lnSpc>
                <a:spcPts val="1600"/>
              </a:lnSpc>
              <a:buNone/>
            </a:pPr>
            <a:r>
              <a:rPr lang="en-US" sz="1250" dirty="0">
                <a:solidFill>
                  <a:srgbClr val="333333"/>
                </a:solidFill>
                <a:latin typeface="Calibri" pitchFamily="34" charset="0"/>
                <a:ea typeface="Calibri" pitchFamily="34" charset="-122"/>
                <a:cs typeface="Calibri" pitchFamily="34" charset="-120"/>
              </a:rPr>
              <a:t>Remove old collaborators, expire or delete old links, and check which apps have access to your files.</a:t>
            </a:r>
            <a:endParaRPr lang="en-US" sz="1250" dirty="0"/>
          </a:p>
        </p:txBody>
      </p:sp>
      <p:sp>
        <p:nvSpPr>
          <p:cNvPr id="24" name="Text 22"/>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25" name="Text 23"/>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APPLY WHAT YOU LEARNED</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Hands-On Activity</a:t>
            </a:r>
            <a:endParaRPr lang="en-US" sz="2400" dirty="0"/>
          </a:p>
        </p:txBody>
      </p:sp>
      <p:sp>
        <p:nvSpPr>
          <p:cNvPr id="6" name="Shape 4"/>
          <p:cNvSpPr/>
          <p:nvPr/>
        </p:nvSpPr>
        <p:spPr>
          <a:xfrm>
            <a:off x="10561320" y="137160"/>
            <a:ext cx="1417320" cy="320040"/>
          </a:xfrm>
          <a:prstGeom prst="roundRect">
            <a:avLst>
              <a:gd name="adj" fmla="val 48571"/>
            </a:avLst>
          </a:prstGeom>
          <a:solidFill>
            <a:srgbClr val="FFFFFF"/>
          </a:solidFill>
          <a:ln/>
        </p:spPr>
        <p:txBody>
          <a:bodyPr/>
          <a:lstStyle/>
          <a:p>
            <a:endParaRPr lang="en-US"/>
          </a:p>
        </p:txBody>
      </p:sp>
      <p:sp>
        <p:nvSpPr>
          <p:cNvPr id="7" name="Text 5"/>
          <p:cNvSpPr/>
          <p:nvPr/>
        </p:nvSpPr>
        <p:spPr>
          <a:xfrm>
            <a:off x="10561320" y="137160"/>
            <a:ext cx="1417320" cy="320040"/>
          </a:xfrm>
          <a:prstGeom prst="rect">
            <a:avLst/>
          </a:prstGeom>
          <a:noFill/>
          <a:ln/>
        </p:spPr>
        <p:txBody>
          <a:bodyPr wrap="square" rtlCol="0" anchor="ctr"/>
          <a:lstStyle/>
          <a:p>
            <a:pPr marL="0" indent="0" algn="ctr">
              <a:buNone/>
            </a:pPr>
            <a:r>
              <a:rPr lang="en-US" sz="1100" b="1" dirty="0">
                <a:solidFill>
                  <a:srgbClr val="1F3864"/>
                </a:solidFill>
                <a:latin typeface="Calibri" pitchFamily="34" charset="0"/>
                <a:ea typeface="Calibri" pitchFamily="34" charset="-122"/>
                <a:cs typeface="Calibri" pitchFamily="34" charset="-120"/>
              </a:rPr>
              <a:t>10 MIN</a:t>
            </a:r>
            <a:endParaRPr lang="en-US" sz="1100" dirty="0"/>
          </a:p>
        </p:txBody>
      </p:sp>
      <p:sp>
        <p:nvSpPr>
          <p:cNvPr id="8" name="Shape 6"/>
          <p:cNvSpPr/>
          <p:nvPr/>
        </p:nvSpPr>
        <p:spPr>
          <a:xfrm>
            <a:off x="640080" y="1234440"/>
            <a:ext cx="10881360" cy="1554480"/>
          </a:xfrm>
          <a:prstGeom prst="roundRect">
            <a:avLst>
              <a:gd name="adj" fmla="val 4706"/>
            </a:avLst>
          </a:prstGeom>
          <a:solidFill>
            <a:srgbClr val="FFFFFF"/>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9" name="Text 7"/>
          <p:cNvSpPr/>
          <p:nvPr/>
        </p:nvSpPr>
        <p:spPr>
          <a:xfrm>
            <a:off x="914400" y="1371600"/>
            <a:ext cx="8229600" cy="320040"/>
          </a:xfrm>
          <a:prstGeom prst="rect">
            <a:avLst/>
          </a:prstGeom>
          <a:noFill/>
          <a:ln/>
        </p:spPr>
        <p:txBody>
          <a:bodyPr wrap="square" rtlCol="0" anchor="ctr"/>
          <a:lstStyle/>
          <a:p>
            <a:pPr marL="0" indent="0">
              <a:buNone/>
            </a:pPr>
            <a:r>
              <a:rPr lang="en-US" sz="1400" b="1" dirty="0">
                <a:solidFill>
                  <a:srgbClr val="0056D2"/>
                </a:solidFill>
                <a:latin typeface="Calibri" pitchFamily="34" charset="0"/>
                <a:ea typeface="Calibri" pitchFamily="34" charset="-122"/>
                <a:cs typeface="Calibri" pitchFamily="34" charset="-120"/>
              </a:rPr>
              <a:t>TASK 1 — Online Courses</a:t>
            </a:r>
            <a:endParaRPr lang="en-US" sz="1400" dirty="0"/>
          </a:p>
        </p:txBody>
      </p:sp>
      <p:sp>
        <p:nvSpPr>
          <p:cNvPr id="10" name="Text 8"/>
          <p:cNvSpPr/>
          <p:nvPr/>
        </p:nvSpPr>
        <p:spPr>
          <a:xfrm>
            <a:off x="914400" y="1737360"/>
            <a:ext cx="10332720" cy="1005840"/>
          </a:xfrm>
          <a:prstGeom prst="rect">
            <a:avLst/>
          </a:prstGeom>
          <a:noFill/>
          <a:ln/>
        </p:spPr>
        <p:txBody>
          <a:bodyPr wrap="square" rtlCol="0" anchor="t"/>
          <a:lstStyle/>
          <a:p>
            <a:pPr marL="0" indent="0">
              <a:lnSpc>
                <a:spcPts val="1900"/>
              </a:lnSpc>
              <a:buNone/>
            </a:pPr>
            <a:r>
              <a:rPr lang="en-US" sz="1600" dirty="0">
                <a:solidFill>
                  <a:srgbClr val="333333"/>
                </a:solidFill>
                <a:latin typeface="Calibri" pitchFamily="34" charset="0"/>
                <a:ea typeface="Calibri" pitchFamily="34" charset="-122"/>
                <a:cs typeface="Calibri" pitchFamily="34" charset="-120"/>
              </a:rPr>
              <a:t>Pick a topic you want to learn. Find one course on TWO different platforms (for example Coursera and Khan Academy) and compare cost, time needed, and certificate. Decide which you would choose and why.</a:t>
            </a:r>
            <a:endParaRPr lang="en-US" sz="1600" dirty="0"/>
          </a:p>
        </p:txBody>
      </p:sp>
      <p:sp>
        <p:nvSpPr>
          <p:cNvPr id="11" name="Shape 9"/>
          <p:cNvSpPr/>
          <p:nvPr/>
        </p:nvSpPr>
        <p:spPr>
          <a:xfrm>
            <a:off x="640080" y="2926080"/>
            <a:ext cx="10881360" cy="1554480"/>
          </a:xfrm>
          <a:prstGeom prst="roundRect">
            <a:avLst>
              <a:gd name="adj" fmla="val 4706"/>
            </a:avLst>
          </a:prstGeom>
          <a:solidFill>
            <a:srgbClr val="FFFFFF"/>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sz="1600"/>
          </a:p>
        </p:txBody>
      </p:sp>
      <p:sp>
        <p:nvSpPr>
          <p:cNvPr id="12" name="Text 10"/>
          <p:cNvSpPr/>
          <p:nvPr/>
        </p:nvSpPr>
        <p:spPr>
          <a:xfrm>
            <a:off x="914400" y="3063240"/>
            <a:ext cx="9144000" cy="320040"/>
          </a:xfrm>
          <a:prstGeom prst="rect">
            <a:avLst/>
          </a:prstGeom>
          <a:noFill/>
          <a:ln/>
        </p:spPr>
        <p:txBody>
          <a:bodyPr wrap="square" rtlCol="0" anchor="ctr"/>
          <a:lstStyle/>
          <a:p>
            <a:pPr marL="0" indent="0">
              <a:buNone/>
            </a:pPr>
            <a:r>
              <a:rPr lang="en-US" sz="1600" b="1" dirty="0">
                <a:solidFill>
                  <a:srgbClr val="5046C8"/>
                </a:solidFill>
                <a:latin typeface="Calibri" pitchFamily="34" charset="0"/>
                <a:ea typeface="Calibri" pitchFamily="34" charset="-122"/>
                <a:cs typeface="Calibri" pitchFamily="34" charset="-120"/>
              </a:rPr>
              <a:t>TASK 2 — Interactive Multimedia &amp; Virtual Classrooms</a:t>
            </a:r>
            <a:endParaRPr lang="en-US" sz="1600" dirty="0"/>
          </a:p>
        </p:txBody>
      </p:sp>
      <p:sp>
        <p:nvSpPr>
          <p:cNvPr id="13" name="Text 11"/>
          <p:cNvSpPr/>
          <p:nvPr/>
        </p:nvSpPr>
        <p:spPr>
          <a:xfrm>
            <a:off x="914400" y="3429000"/>
            <a:ext cx="10332720" cy="1005840"/>
          </a:xfrm>
          <a:prstGeom prst="rect">
            <a:avLst/>
          </a:prstGeom>
          <a:noFill/>
          <a:ln/>
        </p:spPr>
        <p:txBody>
          <a:bodyPr wrap="square" rtlCol="0" anchor="t"/>
          <a:lstStyle/>
          <a:p>
            <a:pPr marL="0" indent="0">
              <a:lnSpc>
                <a:spcPts val="1900"/>
              </a:lnSpc>
              <a:buNone/>
            </a:pPr>
            <a:r>
              <a:rPr lang="en-US" sz="1600" dirty="0">
                <a:solidFill>
                  <a:srgbClr val="333333"/>
                </a:solidFill>
                <a:latin typeface="Calibri" pitchFamily="34" charset="0"/>
                <a:ea typeface="Calibri" pitchFamily="34" charset="-122"/>
                <a:cs typeface="Calibri" pitchFamily="34" charset="-120"/>
              </a:rPr>
              <a:t>Choose one topic from this semester. In three bullet points, describe one interactive element (poll, quiz, simulation, or video question) you would add to teach it, and one virtual classroom tool you would use.</a:t>
            </a:r>
            <a:endParaRPr lang="en-US" sz="1600" dirty="0"/>
          </a:p>
        </p:txBody>
      </p:sp>
      <p:sp>
        <p:nvSpPr>
          <p:cNvPr id="14" name="Shape 12"/>
          <p:cNvSpPr/>
          <p:nvPr/>
        </p:nvSpPr>
        <p:spPr>
          <a:xfrm>
            <a:off x="640080" y="4617720"/>
            <a:ext cx="10881360" cy="1691640"/>
          </a:xfrm>
          <a:prstGeom prst="roundRect">
            <a:avLst>
              <a:gd name="adj" fmla="val 4324"/>
            </a:avLst>
          </a:prstGeom>
          <a:solidFill>
            <a:srgbClr val="FFFFFF"/>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sz="1600"/>
          </a:p>
        </p:txBody>
      </p:sp>
      <p:sp>
        <p:nvSpPr>
          <p:cNvPr id="15" name="Text 13"/>
          <p:cNvSpPr/>
          <p:nvPr/>
        </p:nvSpPr>
        <p:spPr>
          <a:xfrm>
            <a:off x="914400" y="4754880"/>
            <a:ext cx="9144000" cy="320040"/>
          </a:xfrm>
          <a:prstGeom prst="rect">
            <a:avLst/>
          </a:prstGeom>
          <a:noFill/>
          <a:ln/>
        </p:spPr>
        <p:txBody>
          <a:bodyPr wrap="square" rtlCol="0" anchor="ctr"/>
          <a:lstStyle/>
          <a:p>
            <a:pPr marL="0" indent="0">
              <a:buNone/>
            </a:pPr>
            <a:r>
              <a:rPr lang="en-US" sz="1600" b="1" dirty="0">
                <a:solidFill>
                  <a:srgbClr val="0066DA"/>
                </a:solidFill>
                <a:latin typeface="Calibri" pitchFamily="34" charset="0"/>
                <a:ea typeface="Calibri" pitchFamily="34" charset="-122"/>
                <a:cs typeface="Calibri" pitchFamily="34" charset="-120"/>
              </a:rPr>
              <a:t>TASK 3 — Workspace &amp; Cloud (Week 4 catch-up)</a:t>
            </a:r>
            <a:endParaRPr lang="en-US" sz="1600" dirty="0"/>
          </a:p>
        </p:txBody>
      </p:sp>
      <p:sp>
        <p:nvSpPr>
          <p:cNvPr id="16" name="Text 14"/>
          <p:cNvSpPr/>
          <p:nvPr/>
        </p:nvSpPr>
        <p:spPr>
          <a:xfrm>
            <a:off x="914400" y="5120640"/>
            <a:ext cx="10332720" cy="1097280"/>
          </a:xfrm>
          <a:prstGeom prst="rect">
            <a:avLst/>
          </a:prstGeom>
          <a:noFill/>
          <a:ln/>
        </p:spPr>
        <p:txBody>
          <a:bodyPr wrap="square" rtlCol="0" anchor="t"/>
          <a:lstStyle/>
          <a:p>
            <a:pPr marL="0" indent="0">
              <a:lnSpc>
                <a:spcPts val="1900"/>
              </a:lnSpc>
              <a:buNone/>
            </a:pPr>
            <a:r>
              <a:rPr lang="en-US" sz="1600" dirty="0">
                <a:solidFill>
                  <a:srgbClr val="333333"/>
                </a:solidFill>
                <a:latin typeface="Calibri" pitchFamily="34" charset="0"/>
                <a:ea typeface="Calibri" pitchFamily="34" charset="-122"/>
                <a:cs typeface="Calibri" pitchFamily="34" charset="-120"/>
              </a:rPr>
              <a:t>In a group of three, create one Google Doc in Drive, share it with the other two as Editors, add one comment and one suggested edit, then change one person to Viewer and check the version history.</a:t>
            </a:r>
            <a:endParaRPr lang="en-US" sz="1600" dirty="0"/>
          </a:p>
        </p:txBody>
      </p:sp>
      <p:sp>
        <p:nvSpPr>
          <p:cNvPr id="17" name="Text 15"/>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18" name="Text 16"/>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F386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62B4D"/>
          </a:solidFill>
          <a:ln/>
        </p:spPr>
        <p:txBody>
          <a:bodyPr/>
          <a:lstStyle/>
          <a:p>
            <a:endParaRPr lang="en-US"/>
          </a:p>
        </p:txBody>
      </p:sp>
      <p:sp>
        <p:nvSpPr>
          <p:cNvPr id="3" name="Text 1"/>
          <p:cNvSpPr/>
          <p:nvPr/>
        </p:nvSpPr>
        <p:spPr>
          <a:xfrm>
            <a:off x="640080" y="457200"/>
            <a:ext cx="7315200" cy="457200"/>
          </a:xfrm>
          <a:prstGeom prst="rect">
            <a:avLst/>
          </a:prstGeom>
          <a:noFill/>
          <a:ln/>
        </p:spPr>
        <p:txBody>
          <a:bodyPr wrap="square" rtlCol="0" anchor="ctr"/>
          <a:lstStyle/>
          <a:p>
            <a:pPr marL="0" indent="0">
              <a:buNone/>
            </a:pPr>
            <a:r>
              <a:rPr lang="en-US" sz="1400" b="1" kern="0" spc="300" dirty="0">
                <a:solidFill>
                  <a:srgbClr val="D8B84A"/>
                </a:solidFill>
                <a:latin typeface="Calibri" pitchFamily="34" charset="0"/>
                <a:ea typeface="Calibri" pitchFamily="34" charset="-122"/>
                <a:cs typeface="Calibri" pitchFamily="34" charset="-120"/>
              </a:rPr>
              <a:t>KEY TAKEAWAYS</a:t>
            </a:r>
            <a:endParaRPr lang="en-US" sz="1400" dirty="0"/>
          </a:p>
        </p:txBody>
      </p:sp>
      <p:sp>
        <p:nvSpPr>
          <p:cNvPr id="4" name="Text 2"/>
          <p:cNvSpPr/>
          <p:nvPr/>
        </p:nvSpPr>
        <p:spPr>
          <a:xfrm>
            <a:off x="640080" y="822960"/>
            <a:ext cx="10058400" cy="5486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Week 8 and Week 4 Catch-Up in Six Points</a:t>
            </a:r>
            <a:endParaRPr lang="en-US" sz="2600" dirty="0"/>
          </a:p>
        </p:txBody>
      </p:sp>
      <p:sp>
        <p:nvSpPr>
          <p:cNvPr id="5" name="Shape 3"/>
          <p:cNvSpPr/>
          <p:nvPr/>
        </p:nvSpPr>
        <p:spPr>
          <a:xfrm>
            <a:off x="640080" y="1664208"/>
            <a:ext cx="411480" cy="411480"/>
          </a:xfrm>
          <a:prstGeom prst="roundRect">
            <a:avLst>
              <a:gd name="adj" fmla="val 17778"/>
            </a:avLst>
          </a:prstGeom>
          <a:solidFill>
            <a:srgbClr val="D8B84A"/>
          </a:solidFill>
          <a:ln/>
        </p:spPr>
        <p:txBody>
          <a:bodyPr/>
          <a:lstStyle/>
          <a:p>
            <a:endParaRPr lang="en-US"/>
          </a:p>
        </p:txBody>
      </p:sp>
      <p:sp>
        <p:nvSpPr>
          <p:cNvPr id="6" name="Text 4"/>
          <p:cNvSpPr/>
          <p:nvPr/>
        </p:nvSpPr>
        <p:spPr>
          <a:xfrm>
            <a:off x="640080" y="1664208"/>
            <a:ext cx="411480" cy="411480"/>
          </a:xfrm>
          <a:prstGeom prst="rect">
            <a:avLst/>
          </a:prstGeom>
          <a:noFill/>
          <a:ln/>
        </p:spPr>
        <p:txBody>
          <a:bodyPr wrap="square" rtlCol="0" anchor="ctr"/>
          <a:lstStyle/>
          <a:p>
            <a:pPr marL="0" indent="0" algn="ctr">
              <a:buNone/>
            </a:pPr>
            <a:r>
              <a:rPr lang="en-US" sz="1500" b="1" dirty="0">
                <a:solidFill>
                  <a:srgbClr val="162B4D"/>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234440" y="1536192"/>
            <a:ext cx="10332720" cy="731520"/>
          </a:xfrm>
          <a:prstGeom prst="rect">
            <a:avLst/>
          </a:prstGeom>
          <a:noFill/>
          <a:ln/>
        </p:spPr>
        <p:txBody>
          <a:bodyPr wrap="square" rtlCol="0" anchor="ctr"/>
          <a:lstStyle/>
          <a:p>
            <a:pPr marL="0" indent="0">
              <a:lnSpc>
                <a:spcPts val="1800"/>
              </a:lnSpc>
              <a:buNone/>
            </a:pPr>
            <a:r>
              <a:rPr lang="en-US" sz="1450" dirty="0">
                <a:solidFill>
                  <a:srgbClr val="FFFFFF"/>
                </a:solidFill>
                <a:latin typeface="Calibri" pitchFamily="34" charset="0"/>
                <a:ea typeface="Calibri" pitchFamily="34" charset="-122"/>
                <a:cs typeface="Calibri" pitchFamily="34" charset="-120"/>
              </a:rPr>
              <a:t>Coursera and edX bring university-style courses; Udemy is a marketplace of practical skills; Khan Academy offers free mastery-based foundations.</a:t>
            </a:r>
            <a:endParaRPr lang="en-US" sz="1450" dirty="0"/>
          </a:p>
        </p:txBody>
      </p:sp>
      <p:sp>
        <p:nvSpPr>
          <p:cNvPr id="8" name="Shape 6"/>
          <p:cNvSpPr/>
          <p:nvPr/>
        </p:nvSpPr>
        <p:spPr>
          <a:xfrm>
            <a:off x="640080" y="2487168"/>
            <a:ext cx="411480" cy="411480"/>
          </a:xfrm>
          <a:prstGeom prst="roundRect">
            <a:avLst>
              <a:gd name="adj" fmla="val 17778"/>
            </a:avLst>
          </a:prstGeom>
          <a:solidFill>
            <a:srgbClr val="D8B84A"/>
          </a:solidFill>
          <a:ln/>
        </p:spPr>
        <p:txBody>
          <a:bodyPr/>
          <a:lstStyle/>
          <a:p>
            <a:endParaRPr lang="en-US"/>
          </a:p>
        </p:txBody>
      </p:sp>
      <p:sp>
        <p:nvSpPr>
          <p:cNvPr id="9" name="Text 7"/>
          <p:cNvSpPr/>
          <p:nvPr/>
        </p:nvSpPr>
        <p:spPr>
          <a:xfrm>
            <a:off x="640080" y="2487168"/>
            <a:ext cx="411480" cy="411480"/>
          </a:xfrm>
          <a:prstGeom prst="rect">
            <a:avLst/>
          </a:prstGeom>
          <a:noFill/>
          <a:ln/>
        </p:spPr>
        <p:txBody>
          <a:bodyPr wrap="square" rtlCol="0" anchor="ctr"/>
          <a:lstStyle/>
          <a:p>
            <a:pPr marL="0" indent="0" algn="ctr">
              <a:buNone/>
            </a:pPr>
            <a:r>
              <a:rPr lang="en-US" sz="1500" b="1" dirty="0">
                <a:solidFill>
                  <a:srgbClr val="162B4D"/>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234440" y="2359152"/>
            <a:ext cx="10332720" cy="731520"/>
          </a:xfrm>
          <a:prstGeom prst="rect">
            <a:avLst/>
          </a:prstGeom>
          <a:noFill/>
          <a:ln/>
        </p:spPr>
        <p:txBody>
          <a:bodyPr wrap="square" rtlCol="0" anchor="ctr"/>
          <a:lstStyle/>
          <a:p>
            <a:pPr marL="0" indent="0">
              <a:lnSpc>
                <a:spcPts val="1800"/>
              </a:lnSpc>
              <a:buNone/>
            </a:pPr>
            <a:r>
              <a:rPr lang="en-US" sz="1450" dirty="0">
                <a:solidFill>
                  <a:srgbClr val="FFFFFF"/>
                </a:solidFill>
                <a:latin typeface="Calibri" pitchFamily="34" charset="0"/>
                <a:ea typeface="Calibri" pitchFamily="34" charset="-122"/>
                <a:cs typeface="Calibri" pitchFamily="34" charset="-120"/>
              </a:rPr>
              <a:t>Choose courses by provider credibility, syllabus, reviews, recent updates, and real cost — skills and projects matter more than certificates alone.</a:t>
            </a:r>
            <a:endParaRPr lang="en-US" sz="1450" dirty="0"/>
          </a:p>
        </p:txBody>
      </p:sp>
      <p:sp>
        <p:nvSpPr>
          <p:cNvPr id="11" name="Shape 9"/>
          <p:cNvSpPr/>
          <p:nvPr/>
        </p:nvSpPr>
        <p:spPr>
          <a:xfrm>
            <a:off x="640080" y="3310128"/>
            <a:ext cx="411480" cy="411480"/>
          </a:xfrm>
          <a:prstGeom prst="roundRect">
            <a:avLst>
              <a:gd name="adj" fmla="val 17778"/>
            </a:avLst>
          </a:prstGeom>
          <a:solidFill>
            <a:srgbClr val="D8B84A"/>
          </a:solidFill>
          <a:ln/>
        </p:spPr>
        <p:txBody>
          <a:bodyPr/>
          <a:lstStyle/>
          <a:p>
            <a:endParaRPr lang="en-US"/>
          </a:p>
        </p:txBody>
      </p:sp>
      <p:sp>
        <p:nvSpPr>
          <p:cNvPr id="12" name="Text 10"/>
          <p:cNvSpPr/>
          <p:nvPr/>
        </p:nvSpPr>
        <p:spPr>
          <a:xfrm>
            <a:off x="640080" y="3310128"/>
            <a:ext cx="411480" cy="411480"/>
          </a:xfrm>
          <a:prstGeom prst="rect">
            <a:avLst/>
          </a:prstGeom>
          <a:noFill/>
          <a:ln/>
        </p:spPr>
        <p:txBody>
          <a:bodyPr wrap="square" rtlCol="0" anchor="ctr"/>
          <a:lstStyle/>
          <a:p>
            <a:pPr marL="0" indent="0" algn="ctr">
              <a:buNone/>
            </a:pPr>
            <a:r>
              <a:rPr lang="en-US" sz="1500" b="1" dirty="0">
                <a:solidFill>
                  <a:srgbClr val="162B4D"/>
                </a:solidFill>
                <a:latin typeface="Calibri" pitchFamily="34" charset="0"/>
                <a:ea typeface="Calibri" pitchFamily="34" charset="-122"/>
                <a:cs typeface="Calibri" pitchFamily="34" charset="-120"/>
              </a:rPr>
              <a:t>3</a:t>
            </a:r>
            <a:endParaRPr lang="en-US" sz="1500" dirty="0"/>
          </a:p>
        </p:txBody>
      </p:sp>
      <p:sp>
        <p:nvSpPr>
          <p:cNvPr id="13" name="Text 11"/>
          <p:cNvSpPr/>
          <p:nvPr/>
        </p:nvSpPr>
        <p:spPr>
          <a:xfrm>
            <a:off x="1234440" y="3182112"/>
            <a:ext cx="10332720" cy="731520"/>
          </a:xfrm>
          <a:prstGeom prst="rect">
            <a:avLst/>
          </a:prstGeom>
          <a:noFill/>
          <a:ln/>
        </p:spPr>
        <p:txBody>
          <a:bodyPr wrap="square" rtlCol="0" anchor="ctr"/>
          <a:lstStyle/>
          <a:p>
            <a:pPr marL="0" indent="0">
              <a:lnSpc>
                <a:spcPts val="1800"/>
              </a:lnSpc>
              <a:buNone/>
            </a:pPr>
            <a:r>
              <a:rPr lang="en-US" sz="1450" dirty="0">
                <a:solidFill>
                  <a:srgbClr val="FFFFFF"/>
                </a:solidFill>
                <a:latin typeface="Calibri" pitchFamily="34" charset="0"/>
                <a:ea typeface="Calibri" pitchFamily="34" charset="-122"/>
                <a:cs typeface="Calibri" pitchFamily="34" charset="-120"/>
              </a:rPr>
              <a:t>Interactive multimedia turns passive viewing into active learning through in-video questions, simulations, quizzes, and instant feedback.</a:t>
            </a:r>
            <a:endParaRPr lang="en-US" sz="1450" dirty="0"/>
          </a:p>
        </p:txBody>
      </p:sp>
      <p:sp>
        <p:nvSpPr>
          <p:cNvPr id="14" name="Shape 12"/>
          <p:cNvSpPr/>
          <p:nvPr/>
        </p:nvSpPr>
        <p:spPr>
          <a:xfrm>
            <a:off x="640080" y="4133088"/>
            <a:ext cx="411480" cy="411480"/>
          </a:xfrm>
          <a:prstGeom prst="roundRect">
            <a:avLst>
              <a:gd name="adj" fmla="val 17778"/>
            </a:avLst>
          </a:prstGeom>
          <a:solidFill>
            <a:srgbClr val="D8B84A"/>
          </a:solidFill>
          <a:ln/>
        </p:spPr>
        <p:txBody>
          <a:bodyPr/>
          <a:lstStyle/>
          <a:p>
            <a:endParaRPr lang="en-US"/>
          </a:p>
        </p:txBody>
      </p:sp>
      <p:sp>
        <p:nvSpPr>
          <p:cNvPr id="15" name="Text 13"/>
          <p:cNvSpPr/>
          <p:nvPr/>
        </p:nvSpPr>
        <p:spPr>
          <a:xfrm>
            <a:off x="640080" y="4133088"/>
            <a:ext cx="411480" cy="411480"/>
          </a:xfrm>
          <a:prstGeom prst="rect">
            <a:avLst/>
          </a:prstGeom>
          <a:noFill/>
          <a:ln/>
        </p:spPr>
        <p:txBody>
          <a:bodyPr wrap="square" rtlCol="0" anchor="ctr"/>
          <a:lstStyle/>
          <a:p>
            <a:pPr marL="0" indent="0" algn="ctr">
              <a:buNone/>
            </a:pPr>
            <a:r>
              <a:rPr lang="en-US" sz="1500" b="1" dirty="0">
                <a:solidFill>
                  <a:srgbClr val="162B4D"/>
                </a:solidFill>
                <a:latin typeface="Calibri" pitchFamily="34" charset="0"/>
                <a:ea typeface="Calibri" pitchFamily="34" charset="-122"/>
                <a:cs typeface="Calibri" pitchFamily="34" charset="-120"/>
              </a:rPr>
              <a:t>4</a:t>
            </a:r>
            <a:endParaRPr lang="en-US" sz="1500" dirty="0"/>
          </a:p>
        </p:txBody>
      </p:sp>
      <p:sp>
        <p:nvSpPr>
          <p:cNvPr id="16" name="Text 14"/>
          <p:cNvSpPr/>
          <p:nvPr/>
        </p:nvSpPr>
        <p:spPr>
          <a:xfrm>
            <a:off x="1234440" y="4005072"/>
            <a:ext cx="10332720" cy="731520"/>
          </a:xfrm>
          <a:prstGeom prst="rect">
            <a:avLst/>
          </a:prstGeom>
          <a:noFill/>
          <a:ln/>
        </p:spPr>
        <p:txBody>
          <a:bodyPr wrap="square" rtlCol="0" anchor="ctr"/>
          <a:lstStyle/>
          <a:p>
            <a:pPr marL="0" indent="0">
              <a:lnSpc>
                <a:spcPts val="1800"/>
              </a:lnSpc>
              <a:buNone/>
            </a:pPr>
            <a:r>
              <a:rPr lang="en-US" sz="1450" dirty="0">
                <a:solidFill>
                  <a:srgbClr val="FFFFFF"/>
                </a:solidFill>
                <a:latin typeface="Calibri" pitchFamily="34" charset="0"/>
                <a:ea typeface="Calibri" pitchFamily="34" charset="-122"/>
                <a:cs typeface="Calibri" pitchFamily="34" charset="-120"/>
              </a:rPr>
              <a:t>Virtual classrooms combine live video, whiteboards, polls, and breakout rooms; they work best with interaction, recordings, and inclusive practices.</a:t>
            </a:r>
            <a:endParaRPr lang="en-US" sz="1450" dirty="0"/>
          </a:p>
        </p:txBody>
      </p:sp>
      <p:sp>
        <p:nvSpPr>
          <p:cNvPr id="17" name="Shape 15"/>
          <p:cNvSpPr/>
          <p:nvPr/>
        </p:nvSpPr>
        <p:spPr>
          <a:xfrm>
            <a:off x="640080" y="4956048"/>
            <a:ext cx="411480" cy="411480"/>
          </a:xfrm>
          <a:prstGeom prst="roundRect">
            <a:avLst>
              <a:gd name="adj" fmla="val 17778"/>
            </a:avLst>
          </a:prstGeom>
          <a:solidFill>
            <a:srgbClr val="D8B84A"/>
          </a:solidFill>
          <a:ln/>
        </p:spPr>
        <p:txBody>
          <a:bodyPr/>
          <a:lstStyle/>
          <a:p>
            <a:endParaRPr lang="en-US"/>
          </a:p>
        </p:txBody>
      </p:sp>
      <p:sp>
        <p:nvSpPr>
          <p:cNvPr id="18" name="Text 16"/>
          <p:cNvSpPr/>
          <p:nvPr/>
        </p:nvSpPr>
        <p:spPr>
          <a:xfrm>
            <a:off x="640080" y="4956048"/>
            <a:ext cx="411480" cy="411480"/>
          </a:xfrm>
          <a:prstGeom prst="rect">
            <a:avLst/>
          </a:prstGeom>
          <a:noFill/>
          <a:ln/>
        </p:spPr>
        <p:txBody>
          <a:bodyPr wrap="square" rtlCol="0" anchor="ctr"/>
          <a:lstStyle/>
          <a:p>
            <a:pPr marL="0" indent="0" algn="ctr">
              <a:buNone/>
            </a:pPr>
            <a:r>
              <a:rPr lang="en-US" sz="1500" b="1" dirty="0">
                <a:solidFill>
                  <a:srgbClr val="162B4D"/>
                </a:solidFill>
                <a:latin typeface="Calibri" pitchFamily="34" charset="0"/>
                <a:ea typeface="Calibri" pitchFamily="34" charset="-122"/>
                <a:cs typeface="Calibri" pitchFamily="34" charset="-120"/>
              </a:rPr>
              <a:t>5</a:t>
            </a:r>
            <a:endParaRPr lang="en-US" sz="1500" dirty="0"/>
          </a:p>
        </p:txBody>
      </p:sp>
      <p:sp>
        <p:nvSpPr>
          <p:cNvPr id="19" name="Text 17"/>
          <p:cNvSpPr/>
          <p:nvPr/>
        </p:nvSpPr>
        <p:spPr>
          <a:xfrm>
            <a:off x="1234440" y="4828032"/>
            <a:ext cx="10332720" cy="731520"/>
          </a:xfrm>
          <a:prstGeom prst="rect">
            <a:avLst/>
          </a:prstGeom>
          <a:noFill/>
          <a:ln/>
        </p:spPr>
        <p:txBody>
          <a:bodyPr wrap="square" rtlCol="0" anchor="ctr"/>
          <a:lstStyle/>
          <a:p>
            <a:pPr marL="0" indent="0">
              <a:lnSpc>
                <a:spcPts val="1800"/>
              </a:lnSpc>
              <a:buNone/>
            </a:pPr>
            <a:r>
              <a:rPr lang="en-US" sz="1450" dirty="0">
                <a:solidFill>
                  <a:srgbClr val="FFFFFF"/>
                </a:solidFill>
                <a:latin typeface="Calibri" pitchFamily="34" charset="0"/>
                <a:ea typeface="Calibri" pitchFamily="34" charset="-122"/>
                <a:cs typeface="Calibri" pitchFamily="34" charset="-120"/>
              </a:rPr>
              <a:t>Google Docs, Sheets, and Slides let teams write, calculate, and present together in real time, with comments, suggestions, and version history.</a:t>
            </a:r>
            <a:endParaRPr lang="en-US" sz="1450" dirty="0"/>
          </a:p>
        </p:txBody>
      </p:sp>
      <p:sp>
        <p:nvSpPr>
          <p:cNvPr id="20" name="Shape 18"/>
          <p:cNvSpPr/>
          <p:nvPr/>
        </p:nvSpPr>
        <p:spPr>
          <a:xfrm>
            <a:off x="640080" y="5779008"/>
            <a:ext cx="411480" cy="411480"/>
          </a:xfrm>
          <a:prstGeom prst="roundRect">
            <a:avLst>
              <a:gd name="adj" fmla="val 17778"/>
            </a:avLst>
          </a:prstGeom>
          <a:solidFill>
            <a:srgbClr val="D8B84A"/>
          </a:solidFill>
          <a:ln/>
        </p:spPr>
        <p:txBody>
          <a:bodyPr/>
          <a:lstStyle/>
          <a:p>
            <a:endParaRPr lang="en-US"/>
          </a:p>
        </p:txBody>
      </p:sp>
      <p:sp>
        <p:nvSpPr>
          <p:cNvPr id="21" name="Text 19"/>
          <p:cNvSpPr/>
          <p:nvPr/>
        </p:nvSpPr>
        <p:spPr>
          <a:xfrm>
            <a:off x="640080" y="5779008"/>
            <a:ext cx="411480" cy="411480"/>
          </a:xfrm>
          <a:prstGeom prst="rect">
            <a:avLst/>
          </a:prstGeom>
          <a:noFill/>
          <a:ln/>
        </p:spPr>
        <p:txBody>
          <a:bodyPr wrap="square" rtlCol="0" anchor="ctr"/>
          <a:lstStyle/>
          <a:p>
            <a:pPr marL="0" indent="0" algn="ctr">
              <a:buNone/>
            </a:pPr>
            <a:r>
              <a:rPr lang="en-US" sz="1500" b="1" dirty="0">
                <a:solidFill>
                  <a:srgbClr val="162B4D"/>
                </a:solidFill>
                <a:latin typeface="Calibri" pitchFamily="34" charset="0"/>
                <a:ea typeface="Calibri" pitchFamily="34" charset="-122"/>
                <a:cs typeface="Calibri" pitchFamily="34" charset="-120"/>
              </a:rPr>
              <a:t>6</a:t>
            </a:r>
            <a:endParaRPr lang="en-US" sz="1500" dirty="0"/>
          </a:p>
        </p:txBody>
      </p:sp>
      <p:sp>
        <p:nvSpPr>
          <p:cNvPr id="22" name="Text 20"/>
          <p:cNvSpPr/>
          <p:nvPr/>
        </p:nvSpPr>
        <p:spPr>
          <a:xfrm>
            <a:off x="1234440" y="5650992"/>
            <a:ext cx="10332720" cy="731520"/>
          </a:xfrm>
          <a:prstGeom prst="rect">
            <a:avLst/>
          </a:prstGeom>
          <a:noFill/>
          <a:ln/>
        </p:spPr>
        <p:txBody>
          <a:bodyPr wrap="square" rtlCol="0" anchor="ctr"/>
          <a:lstStyle/>
          <a:p>
            <a:pPr marL="0" indent="0">
              <a:lnSpc>
                <a:spcPts val="1800"/>
              </a:lnSpc>
              <a:buNone/>
            </a:pPr>
            <a:r>
              <a:rPr lang="en-US" sz="1450" dirty="0">
                <a:solidFill>
                  <a:srgbClr val="FFFFFF"/>
                </a:solidFill>
                <a:latin typeface="Calibri" pitchFamily="34" charset="0"/>
                <a:ea typeface="Calibri" pitchFamily="34" charset="-122"/>
                <a:cs typeface="Calibri" pitchFamily="34" charset="-120"/>
              </a:rPr>
              <a:t>Google Drive, Dropbox, and OneDrive store and sync files — choose by ecosystem, and protect data with strong passwords, 2-step verification, and careful sharing.</a:t>
            </a:r>
            <a:endParaRPr lang="en-US" sz="14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BEFORE YOU LEAVE</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Exit Ticket</a:t>
            </a:r>
            <a:endParaRPr lang="en-US" sz="2400" dirty="0"/>
          </a:p>
        </p:txBody>
      </p:sp>
      <p:sp>
        <p:nvSpPr>
          <p:cNvPr id="6" name="Shape 4"/>
          <p:cNvSpPr/>
          <p:nvPr/>
        </p:nvSpPr>
        <p:spPr>
          <a:xfrm>
            <a:off x="1097280" y="1371600"/>
            <a:ext cx="9966960" cy="4754880"/>
          </a:xfrm>
          <a:prstGeom prst="roundRect">
            <a:avLst>
              <a:gd name="adj" fmla="val 1538"/>
            </a:avLst>
          </a:prstGeom>
          <a:solidFill>
            <a:srgbClr val="F4F6F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7" name="Text 5"/>
          <p:cNvSpPr/>
          <p:nvPr/>
        </p:nvSpPr>
        <p:spPr>
          <a:xfrm>
            <a:off x="1463040" y="1645920"/>
            <a:ext cx="9144000" cy="365760"/>
          </a:xfrm>
          <a:prstGeom prst="rect">
            <a:avLst/>
          </a:prstGeom>
          <a:noFill/>
          <a:ln/>
        </p:spPr>
        <p:txBody>
          <a:bodyPr wrap="square" rtlCol="0" anchor="ctr"/>
          <a:lstStyle/>
          <a:p>
            <a:pPr marL="0" indent="0">
              <a:buNone/>
            </a:pPr>
            <a:r>
              <a:rPr lang="en-US" sz="1600" i="1" dirty="0">
                <a:solidFill>
                  <a:srgbClr val="595959"/>
                </a:solidFill>
                <a:latin typeface="Calibri" pitchFamily="34" charset="0"/>
                <a:ea typeface="Calibri" pitchFamily="34" charset="-122"/>
                <a:cs typeface="Calibri" pitchFamily="34" charset="-120"/>
              </a:rPr>
              <a:t>On a slip of paper (or the LMS form), answer briefly:</a:t>
            </a:r>
            <a:endParaRPr lang="en-US" sz="1600" dirty="0"/>
          </a:p>
        </p:txBody>
      </p:sp>
      <p:sp>
        <p:nvSpPr>
          <p:cNvPr id="8" name="Shape 6"/>
          <p:cNvSpPr/>
          <p:nvPr/>
        </p:nvSpPr>
        <p:spPr>
          <a:xfrm>
            <a:off x="1463040" y="2194560"/>
            <a:ext cx="411480" cy="411480"/>
          </a:xfrm>
          <a:prstGeom prst="roundRect">
            <a:avLst>
              <a:gd name="adj" fmla="val 17778"/>
            </a:avLst>
          </a:prstGeom>
          <a:solidFill>
            <a:srgbClr val="1F3864"/>
          </a:solidFill>
          <a:ln/>
        </p:spPr>
        <p:txBody>
          <a:bodyPr/>
          <a:lstStyle/>
          <a:p>
            <a:endParaRPr lang="en-US" sz="1600"/>
          </a:p>
        </p:txBody>
      </p:sp>
      <p:sp>
        <p:nvSpPr>
          <p:cNvPr id="9" name="Text 7"/>
          <p:cNvSpPr/>
          <p:nvPr/>
        </p:nvSpPr>
        <p:spPr>
          <a:xfrm>
            <a:off x="1463040" y="219456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8"/>
          <p:cNvSpPr/>
          <p:nvPr/>
        </p:nvSpPr>
        <p:spPr>
          <a:xfrm>
            <a:off x="2057400" y="2176272"/>
            <a:ext cx="8686800" cy="731520"/>
          </a:xfrm>
          <a:prstGeom prst="rect">
            <a:avLst/>
          </a:prstGeom>
          <a:noFill/>
          <a:ln/>
        </p:spPr>
        <p:txBody>
          <a:bodyPr wrap="square" rtlCol="0" anchor="ctr"/>
          <a:lstStyle/>
          <a:p>
            <a:pPr marL="0" indent="0">
              <a:lnSpc>
                <a:spcPts val="1800"/>
              </a:lnSpc>
              <a:buNone/>
            </a:pPr>
            <a:r>
              <a:rPr lang="en-US" sz="1600" dirty="0">
                <a:solidFill>
                  <a:srgbClr val="222222"/>
                </a:solidFill>
                <a:latin typeface="Calibri" pitchFamily="34" charset="0"/>
                <a:ea typeface="Calibri" pitchFamily="34" charset="-122"/>
                <a:cs typeface="Calibri" pitchFamily="34" charset="-120"/>
              </a:rPr>
              <a:t>Name ONE difference between Coursera and Khan Academy, and ONE thing you would check before paying for a Udemy course.</a:t>
            </a:r>
            <a:endParaRPr lang="en-US" sz="1600" dirty="0"/>
          </a:p>
        </p:txBody>
      </p:sp>
      <p:sp>
        <p:nvSpPr>
          <p:cNvPr id="11" name="Shape 9"/>
          <p:cNvSpPr/>
          <p:nvPr/>
        </p:nvSpPr>
        <p:spPr>
          <a:xfrm>
            <a:off x="1463040" y="3337560"/>
            <a:ext cx="411480" cy="411480"/>
          </a:xfrm>
          <a:prstGeom prst="roundRect">
            <a:avLst>
              <a:gd name="adj" fmla="val 17778"/>
            </a:avLst>
          </a:prstGeom>
          <a:solidFill>
            <a:srgbClr val="1F3864"/>
          </a:solidFill>
          <a:ln/>
        </p:spPr>
        <p:txBody>
          <a:bodyPr/>
          <a:lstStyle/>
          <a:p>
            <a:endParaRPr lang="en-US" sz="1600"/>
          </a:p>
        </p:txBody>
      </p:sp>
      <p:sp>
        <p:nvSpPr>
          <p:cNvPr id="12" name="Text 10"/>
          <p:cNvSpPr/>
          <p:nvPr/>
        </p:nvSpPr>
        <p:spPr>
          <a:xfrm>
            <a:off x="1463040" y="333756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2057400" y="3319272"/>
            <a:ext cx="8686800" cy="731520"/>
          </a:xfrm>
          <a:prstGeom prst="rect">
            <a:avLst/>
          </a:prstGeom>
          <a:noFill/>
          <a:ln/>
        </p:spPr>
        <p:txBody>
          <a:bodyPr wrap="square" rtlCol="0" anchor="ctr"/>
          <a:lstStyle/>
          <a:p>
            <a:pPr marL="0" indent="0">
              <a:lnSpc>
                <a:spcPts val="1800"/>
              </a:lnSpc>
              <a:buNone/>
            </a:pPr>
            <a:r>
              <a:rPr lang="en-US" sz="1600" dirty="0">
                <a:solidFill>
                  <a:srgbClr val="222222"/>
                </a:solidFill>
                <a:latin typeface="Calibri" pitchFamily="34" charset="0"/>
                <a:ea typeface="Calibri" pitchFamily="34" charset="-122"/>
                <a:cs typeface="Calibri" pitchFamily="34" charset="-120"/>
              </a:rPr>
              <a:t>Give ONE example of interactive multimedia and explain why it can help learning more than a plain video.</a:t>
            </a:r>
            <a:endParaRPr lang="en-US" sz="1600" dirty="0"/>
          </a:p>
        </p:txBody>
      </p:sp>
      <p:sp>
        <p:nvSpPr>
          <p:cNvPr id="14" name="Shape 12"/>
          <p:cNvSpPr/>
          <p:nvPr/>
        </p:nvSpPr>
        <p:spPr>
          <a:xfrm>
            <a:off x="1463040" y="4480560"/>
            <a:ext cx="411480" cy="411480"/>
          </a:xfrm>
          <a:prstGeom prst="roundRect">
            <a:avLst>
              <a:gd name="adj" fmla="val 17778"/>
            </a:avLst>
          </a:prstGeom>
          <a:solidFill>
            <a:srgbClr val="1F3864"/>
          </a:solidFill>
          <a:ln/>
        </p:spPr>
        <p:txBody>
          <a:bodyPr/>
          <a:lstStyle/>
          <a:p>
            <a:endParaRPr lang="en-US" sz="1600"/>
          </a:p>
        </p:txBody>
      </p:sp>
      <p:sp>
        <p:nvSpPr>
          <p:cNvPr id="15" name="Text 13"/>
          <p:cNvSpPr/>
          <p:nvPr/>
        </p:nvSpPr>
        <p:spPr>
          <a:xfrm>
            <a:off x="1463040" y="448056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2057400" y="4462272"/>
            <a:ext cx="8686800" cy="731520"/>
          </a:xfrm>
          <a:prstGeom prst="rect">
            <a:avLst/>
          </a:prstGeom>
          <a:noFill/>
          <a:ln/>
        </p:spPr>
        <p:txBody>
          <a:bodyPr wrap="square" rtlCol="0" anchor="ctr"/>
          <a:lstStyle/>
          <a:p>
            <a:pPr marL="0" indent="0">
              <a:lnSpc>
                <a:spcPts val="1800"/>
              </a:lnSpc>
              <a:buNone/>
            </a:pPr>
            <a:r>
              <a:rPr lang="en-US" sz="1600" dirty="0">
                <a:solidFill>
                  <a:srgbClr val="222222"/>
                </a:solidFill>
                <a:latin typeface="Calibri" pitchFamily="34" charset="0"/>
                <a:ea typeface="Calibri" pitchFamily="34" charset="-122"/>
                <a:cs typeface="Calibri" pitchFamily="34" charset="-120"/>
              </a:rPr>
              <a:t>Explain the difference between Viewer, Commenter, and Editor access, and say which you would give a classmate who only needs to read your file.</a:t>
            </a:r>
            <a:endParaRPr lang="en-US" sz="1600" dirty="0"/>
          </a:p>
        </p:txBody>
      </p:sp>
      <p:sp>
        <p:nvSpPr>
          <p:cNvPr id="17" name="Text 15"/>
          <p:cNvSpPr/>
          <p:nvPr/>
        </p:nvSpPr>
        <p:spPr>
          <a:xfrm>
            <a:off x="1463040" y="5623560"/>
            <a:ext cx="9144000" cy="365760"/>
          </a:xfrm>
          <a:prstGeom prst="rect">
            <a:avLst/>
          </a:prstGeom>
          <a:noFill/>
          <a:ln/>
        </p:spPr>
        <p:txBody>
          <a:bodyPr wrap="square" rtlCol="0" anchor="ctr"/>
          <a:lstStyle/>
          <a:p>
            <a:pPr marL="0" indent="0">
              <a:buNone/>
            </a:pPr>
            <a:r>
              <a:rPr lang="en-US" sz="1250" i="1" dirty="0">
                <a:solidFill>
                  <a:srgbClr val="B8860B"/>
                </a:solidFill>
                <a:latin typeface="Calibri" pitchFamily="34" charset="0"/>
                <a:ea typeface="Calibri" pitchFamily="34" charset="-122"/>
                <a:cs typeface="Calibri" pitchFamily="34" charset="-120"/>
              </a:rPr>
              <a:t>Next session: see the course outline for Week 9 — details to be shared on the LMS.</a:t>
            </a:r>
            <a:endParaRPr lang="en-US" sz="1250" dirty="0"/>
          </a:p>
        </p:txBody>
      </p:sp>
      <p:sp>
        <p:nvSpPr>
          <p:cNvPr id="18" name="Text 16"/>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8 — Online Courses, Virtual Classrooms &amp; Cloud Tools</a:t>
            </a:r>
            <a:endParaRPr lang="en-US" sz="900" dirty="0"/>
          </a:p>
        </p:txBody>
      </p:sp>
      <p:sp>
        <p:nvSpPr>
          <p:cNvPr id="19" name="Text 17"/>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200</TotalTime>
  <Words>6674</Words>
  <Application>Microsoft Office PowerPoint</Application>
  <PresentationFormat>Widescreen</PresentationFormat>
  <Paragraphs>910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FAHEEM SHAUKAT</cp:lastModifiedBy>
  <cp:revision>4</cp:revision>
  <dcterms:created xsi:type="dcterms:W3CDTF">2026-10-11T16:39:23Z</dcterms:created>
  <dcterms:modified xsi:type="dcterms:W3CDTF">2026-10-18T21:54:57Z</dcterms:modified>
</cp:coreProperties>
</file>