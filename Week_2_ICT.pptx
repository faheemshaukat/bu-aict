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47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back! Quick note: today has TWO breaks since we start at 8:30 and go for 3 hours. Break 1 at 9:30, Break 2 at 10:30.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— 5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will mention WhatsApp, Daraz, or a university portal — perfect segue into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tools students used this week for classes. Most will recognize Google Classroom/Zoom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Pakistani options — same idea, global reach and university partnerships.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directly to how THIS course is delivered — a live example students are experiencing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JazzCash or Easypaisa installed? Almost everyone will raise a hand — great engagement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PayPal has limited functionality in Pakistan — that is WHY JazzCash/Easypaisa filled the gap locally. Great discussion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classify Daraz (B2C) vs OLX (C2C) — reinforces the classification 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of two breaks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relevant for psychology students — telehealth includes teletherapy. Sehat Kahani specifically empowers female doctors to work remotely.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dots: local apps are the same concept as global ones, adapted for Pakistan.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tie-in for psychology students: teletherapy is a form of telemedicine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visited NADRA e-Sahulat or filed taxes on IRIS? These are everyday examples of e-governance.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Estonia is a fantastic case study — worth mentioning in more detail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mention: nearly all Pakistanis use global apps (Instagram, TikTok, WhatsApp) heavily too — shown on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global platforms ARE the Pakistani digital media landscape too — there is huge overlap unlike other sectors.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and final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before Pakistan-specific AI initiative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Blue vs Watson shows the evolution from narrow game-playing AI to broad question-answering AI — a nice historical arc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point for students to know Pakistan is not just consuming tech but building AI capacity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discuss, 5 min share. This activity reinforces the entire lesson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tying together local + global comparisons made throughout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answers. This wraps a long 3-hour session with two breaks — thank students for their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200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457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B8D4"/>
                </a:solidFill>
              </a:rPr>
              <a:t>BAHRIA UNIVERSITY, ISLAMABAD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B8D4"/>
                </a:solidFill>
              </a:rPr>
              <a:t>ICT 201  ·  CLASS 2  ·  WEEK 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830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ICT in Society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&amp; Emerging Tech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649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9E3ED"/>
                </a:solidFill>
              </a:rPr>
              <a:t>Education · Business · Healthcare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9E3ED"/>
                </a:solidFill>
              </a:rPr>
              <a:t>Governance · Media · Future Trends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09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8:30 AM – 11:30 AM  ·  2 Breaks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74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FFFF"/>
                </a:solidFill>
              </a:rPr>
              <a:t>SESSION ROADMAP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6035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8:30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603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Recap + Hook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969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8:45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969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ICT in Education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13350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9:05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1335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ICT in Business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17007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518"/>
                </a:solidFill>
              </a:rPr>
              <a:t>9:30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1700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</a:rPr>
              <a:t>BREAK 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20665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9:40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066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ICT in Healthcare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10:00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2432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ICT in Governance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2798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10:15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27980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Digital Media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577840" y="3163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518"/>
                </a:solidFill>
              </a:rPr>
              <a:t>10:30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3163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</a:rPr>
              <a:t>BREAK 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577840" y="35295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10:40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3529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Emerging Tech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77840" y="3895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11:00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126480" y="38953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Group Activity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577840" y="4261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11:15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42611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Takeaways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577840" y="46268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8D4"/>
                </a:solidFill>
              </a:rPr>
              <a:t>11:25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126480" y="4626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Exit Ticket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QUICK RECAP — WEEK 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</a:rPr>
              <a:t>What We Covered Last Week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8:30–8:35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822960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13258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32588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ICT = collecting, storing, processing, sharing information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19659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96596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4 Hardware types: Input · Output · Processing · Storage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0604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Software: System (runs machine) vs Application (does work)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822960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4360" y="324612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Networks: LAN · MAN · WAN, and Internet vs Intranet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822960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38862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88620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Cloud vs Local storage — pros, cons, and when to use each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219456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0" y="219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8:35–8:38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572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🌍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B8D4"/>
                </a:solidFill>
              </a:rPr>
              <a:t>Today's Big Question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1330289"/>
            <a:ext cx="840994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65760" y="1878929"/>
            <a:ext cx="84099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"Name ONE app or government office you used this WEEK that involved ICT.“</a:t>
            </a:r>
          </a:p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</a:rPr>
              <a:t>"Name ONE part of society that has NOT been touched by ICT yet."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3ED"/>
                </a:solidFill>
              </a:rPr>
              <a:t>Think for 30 seconds — then share with the class.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0994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5760" y="3822192"/>
            <a:ext cx="8409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9E3ED"/>
                </a:solidFill>
              </a:rPr>
              <a:t>💡  Today we look at REAL apps and government departments — Pakistani first, then how the rest of the world does it.</a:t>
            </a: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E3ED"/>
                </a:solidFill>
              </a:rPr>
              <a:t>💡  Spoiler: it's very hard to find one! Today we explore HOW deeply ICT has spread into Education, Business, Healthcare, Governance, and Media.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ICT IN EDUCATION — PART 1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📚  Education in Pakistan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05732"/>
            <a:ext cx="196596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0" y="200977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8:38–8:47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6501" b="21748"/>
          <a:stretch>
            <a:fillRect/>
          </a:stretch>
        </p:blipFill>
        <p:spPr>
          <a:xfrm>
            <a:off x="365760" y="1185672"/>
            <a:ext cx="8412480" cy="13121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24714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Real logos: Google Classroom · Zoom · Moodle · Virtual University of Pakistan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0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Google Classroom &amp; Zoom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1800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Used by most Pakistani universities (Bahria, NUST, FAST) for online lectures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45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Moodle LMS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28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Course content, quizzes, and assignment submission — used campus-wide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0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Virtual University of Pakistan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277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Pakistan's own fully-online public university — free lectures on YouTube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BB8D4"/>
                </a:solidFill>
              </a:rPr>
              <a:t>ICT IN EDUCATION — PART 2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📚  Education Around the World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0" y="18034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0" y="16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8:47–8:55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11110" b="27779"/>
          <a:stretch>
            <a:fillRect/>
          </a:stretch>
        </p:blipFill>
        <p:spPr>
          <a:xfrm>
            <a:off x="365760" y="1595120"/>
            <a:ext cx="8412480" cy="10058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2763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Real logos: Coursera · edX · Khan Academy · Udemy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3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Coursera &amp; edX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086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Courses from Stanford, MIT, Harvard — some free, verified certificates paid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8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Khan Academy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957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100% free — math, science, and more for all ages, used worldwide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3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Udemy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5059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Marketplace of practical skills courses — coding, design, business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8:55–9:00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Distance Learning &amp; Web-Based Training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80516"/>
            <a:ext cx="8412480" cy="1554480"/>
          </a:xfrm>
          <a:prstGeom prst="rect">
            <a:avLst/>
          </a:prstGeom>
          <a:solidFill>
            <a:srgbClr val="FBF3E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502920" y="10805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A2B"/>
                </a:solidFill>
              </a:rPr>
              <a:t>📘  Distance Learning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434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A learning setup where the student is physically away from the instructor — most instruction and communication happens over the internet.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0805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A2B"/>
                </a:solidFill>
              </a:rPr>
              <a:t>📘  Web-Based Training (WBT)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5910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Any instruction delivered through the Web — used for employee training as well as full school/university coursework.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57328"/>
            <a:ext cx="4114800" cy="1760391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286833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7D46"/>
                </a:solidFill>
              </a:rPr>
              <a:t>✅  Advantages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26290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Learn at your own pace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64695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Immediate feedback on quizzes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3100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Content easily updated anytime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2857328"/>
            <a:ext cx="4114800" cy="17603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00600" y="286833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</a:rPr>
              <a:t>⚠️  Challenges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26290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Needs a working device + internet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64695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Less face-to-face contact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03100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•  Verifying student identity in online tests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8D"/>
                </a:solidFill>
              </a:rPr>
              <a:t>Source: Understanding Computers: Today &amp; Tomorrow, 16th Ed. — Morley &amp; Parker (Cengage Learning)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ICT IN BUSINESS — PART 1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💼  Business &amp; Commerce in Pakistan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54800" y="1422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54800" y="142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9:00–9:11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661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Real logo: foodpanda  ·  Brand cards: Daraz · JazzCash · Easypaisa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72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Daraz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467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Pakistan's largest online shopping platform — owned by Alibaba Group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1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JazzCash &amp; Easypaisa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9954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Mobile wallets used by millions — send money, pay bills, no bank needed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69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foodpanda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5440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Food delivery app — connects restaurants to customers via ICT logistics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B79287-18BC-3C94-9B0E-EBC8F5BCF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2048"/>
            <a:ext cx="8321040" cy="1845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BB8D4"/>
                </a:solidFill>
              </a:rPr>
              <a:t>ICT IN BUSINESS — PART 2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💼  Business &amp; Commerce Worldwide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42100" y="1803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42100" y="1803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9:11–9:21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2777" b="22223"/>
          <a:stretch>
            <a:fillRect/>
          </a:stretch>
        </p:blipFill>
        <p:spPr>
          <a:xfrm>
            <a:off x="365760" y="1216660"/>
            <a:ext cx="8412480" cy="12344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25476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Real logos: PayPal · Stripe · Google Pay · Apple Pay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032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PayPal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070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Global standard for online payments — used in 200+ countries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81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Stripe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855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Powers payments for millions of websites and apps (invisible to most users)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3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Google Pay &amp; Apple Pay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404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Tap-to-pay from your phone — replacing physical wallets globally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9:21–9:30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E-Commerce: Types &amp; Safety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BF3E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298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📘  E-Commerce = performing financial transactions over the internet — includes online shopping, banking, and investing.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2743200" cy="118872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</a:rPr>
              <a:t>B2C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Business-to-Consumer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e.g. Daraz, Amazon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2011680"/>
            <a:ext cx="2743200" cy="118872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8328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</a:rPr>
              <a:t>B2B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Business-to-Business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e.g. supplier ordering platforms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743200" cy="118872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6364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3FA0"/>
                </a:solidFill>
              </a:rPr>
              <a:t>C2C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Consumer-to-Consumer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e.g. OLX, eBay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2920" y="3438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7D46"/>
                </a:solidFill>
              </a:rPr>
              <a:t>✅  Why customers love it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7124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Shop anytime, easy price comparison, wider product selection than physical stores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364992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00600" y="3438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</a:rPr>
              <a:t>🔒  Stay safe online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7124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Use a secure payment method, check for https://, and never do financial transactions on public Wi-Fi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8D"/>
                </a:solidFill>
              </a:rPr>
              <a:t>Source: Understanding Computers: Today &amp; Tomorrow, 16th Ed. — Morley &amp; Parker (Cengage Learning)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5C518"/>
                </a:solidFill>
              </a:rPr>
              <a:t>BREAK 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848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10 Minutes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Returning at 9:40 AM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Stand up  ·  Stretch  ·  Hydrate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4023360"/>
            <a:ext cx="6766560" cy="914400"/>
          </a:xfrm>
          <a:prstGeom prst="rect">
            <a:avLst/>
          </a:prstGeom>
          <a:solidFill>
            <a:srgbClr val="0C6968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Coming up next: Healthcare → Governance → Media (PK + Global)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ICT IN HEALTHCARE — PART 1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🏥  Healthcare in Pakistan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667500" y="1549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67500" y="1549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9:40–9:48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9286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Brand cards: Sehat Kahani · Marham · OLADOC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2232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Sehat Kahani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975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Connects patients with female doctors via video call — especially for rural areas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719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Marham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0462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Find and book verified doctors across Pakistan — read real patient reviews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20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OLADOC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5948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Book appointments, order medicine, and consult doctors online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D74C66-6D2F-4471-86FC-D968802E1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41248"/>
            <a:ext cx="7132320" cy="21142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BB8D4"/>
                </a:solidFill>
              </a:rPr>
              <a:t>ICT IN HEALTHCARE — PART 2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🏥  Healthcare Around the World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642100" y="1930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42100" y="1930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9:48–9:55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14447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🇺🇸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444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Teladoc Health (USA)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783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World's largest telehealth provider — video visits with licensed doctors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24963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🇬🇧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496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NHS App (UK)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346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Book GP appointments, order prescriptions, view health records — all free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2920" y="354787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5478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Babylon Health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AI-powered symptom checker used in UK, Rwanda, and Canada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2920" y="45537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💡  Pakistan's telehealth apps follow the same model as these global leaders — just localized for local doctors &amp; payment methods.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9:55–10:00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Telemedicine &amp; Telesurgery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FBF3E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31673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📘  Telemedicine: using networking technology to deliver medical information and services remotely — from booking appointments online to full remote diagnosis.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743200" cy="1920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Simple Level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1272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Websites where patients contact physicians, book appointments, and view lab results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2743200" cy="1920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8328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📹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Advanced Level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1272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Remote diagnosis using video cameras &amp; electronic stethoscopes — patients in rural areas consult specialists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743200" cy="1920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636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Telesurgery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1272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Surgeon controls a robot remotely over the internet — smaller incisions, less pain, faster recovery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2920" y="4315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⏱️  Fun fact: surgeons don't notice network lag under 200 milliseconds — but lag over 500ms makes telesurgery too risky to perform safely.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8D"/>
                </a:solidFill>
              </a:rPr>
              <a:t>Source: Understanding Computers: Today &amp; Tomorrow, 16th Ed. — Morley &amp; Parker (Cengage Learning)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ICT IN GOVERNANCE — PART 1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🏛️  Government Depts in Pakistan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92900" y="1549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92900" y="1549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10:00–10:07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915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Brand cards: NADRA · FBR · PTA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23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NADRA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10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Digital CNIC, biometric verification, family registration — e-Sahulat centers nationwide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8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FBR (IRIS Portal)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058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File income tax returns online — no more paper forms or long queues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3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PTA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607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Regulates telecom &amp; internet — SIM registration, mobile device verification (DIRBS)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40EF00-19CA-EDBF-11ED-7D8B0F948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47750"/>
            <a:ext cx="7132320" cy="1822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BB8D4"/>
                </a:solidFill>
              </a:rPr>
              <a:t>ICT IN GOVERNANCE — PART 2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🏛️  E-Governance Around the World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80200" y="1803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80200" y="1803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10:07–10:12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14447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🇪🇪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444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Estonia — e-Residency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783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The most digital government on Earth — vote, sign contracts, start a company fully online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24963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🇺🇸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496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USA.gov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346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Central hub for federal services — social security, taxes (IRS), passports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2920" y="354787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🇬🇧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5478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GOV.UK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One unified portal for all UK government services — praised for simple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2920" y="45537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💡  Estonia is the global benchmark — 99% of government services are online. Pakistan is moving in this direction with NADRA &amp; FBR digitization.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DIGITAL MEDIA &amp; ENTERTAINMENT — PART 1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🎬  Media in Pakistan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642100" y="1422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42100" y="142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10:12–10:21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7762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</a:rPr>
              <a:t>🖼 Brand cards: Tapmad TV · PTV · Careem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47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Tapmad TV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036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Pakistani streaming app — live sports (PSL), dramas, and news channels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77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PTV (Pakistan Television)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9339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Pakistan's state broadcaster — now streams live online alongside cable TV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8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▸ </a:t>
            </a:r>
            <a:r>
              <a:rPr lang="en-US" b="1" dirty="0" err="1">
                <a:solidFill>
                  <a:srgbClr val="1A2E4A"/>
                </a:solidFill>
              </a:rPr>
              <a:t>InDrive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4643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Ride-hailing &amp; delivery super-app — hugely popular across Pakistani cities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21E51E-EE39-616B-8647-C8BD836CF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45744"/>
            <a:ext cx="6995160" cy="2164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BB8D4"/>
                </a:solidFill>
              </a:rPr>
              <a:t>DIGITAL MEDIA &amp; ENTERTAINMENT — PART 2 OF 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</a:rPr>
              <a:t>🎬  Global Platforms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54800" y="1930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54800" y="1930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10:21–10:30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8412480" cy="14173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2743200"/>
            <a:ext cx="8412480" cy="1417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" y="42245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🖼 Real logos: Netflix · YouTube · TikTok · Instagram · Facebook · WhatsApp · Telegram · Spotify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0292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 Pakistan has 71+ million social media users — WhatsApp &amp; Facebook are the most used platforms nationally.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5C518"/>
                </a:solidFill>
              </a:rPr>
              <a:t>BREAK 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848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10 Minutes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Returning at 10:40 AM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Stand up  ·  Stretch  ·  Hydrate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4023360"/>
            <a:ext cx="6766560" cy="914400"/>
          </a:xfrm>
          <a:prstGeom prst="rect">
            <a:avLst/>
          </a:prstGeom>
          <a:solidFill>
            <a:srgbClr val="0F2340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 stretch: Emerging Technologies + Group Activity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EMERGING TECHNOLOGIES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</a:rPr>
              <a:t>🚀  Technologies Shaping Tomorrow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10:40–10:48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251960" cy="157276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46304" cy="1572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Artificial Intelligence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Machines that learn and think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251960" cy="157276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146304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Internet of Things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Everyday objects connected online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251960" cy="157276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146304" cy="157276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🥽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AR / VR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Immersive digital experiences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251960" cy="157276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146304" cy="1572768"/>
          </a:xfrm>
          <a:prstGeom prst="rect">
            <a:avLst/>
          </a:prstGeom>
          <a:solidFill>
            <a:srgbClr val="C75B26"/>
          </a:solidFill>
          <a:ln w="12700">
            <a:solidFill>
              <a:srgbClr val="C75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7492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⛓️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Blockchain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Secure, decentralized records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10:48–10:54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IoT &amp; the History of AI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FBF3E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31673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📘  Internet of Things (IoT): a world where everyday physical objects connect to the internet so they can talk to each other — also called Machine-to-Machine (M2M).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</a:rPr>
              <a:t>Examples: fitness trackers · smart home automation · smart traffic lights · connected farm equipment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2606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🕰️  Milestones in Artificial Intelligence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5760" y="2971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1997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IBM Deep Blue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2095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Defeated world chess champion Garry Kasparov — a landmark AI victory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65760" y="35387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2011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IBM Watson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776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Beat human champions on Jeopardy! by analyzing complex questions in seconds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05656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65760" y="41056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Today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87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AI in Your Pocket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4069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Smartphone processors now include AI to detect security &amp; privacy threats in real time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8D"/>
                </a:solidFill>
              </a:rPr>
              <a:t>Source: Understanding Computers: Today &amp; Tomorrow, 16th Ed. — Morley &amp; Parker (Cengage Learning)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EMERGING TECH — PAKISTAN INITIATIVES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🚀  Pakistan Invests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in AI Too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692900" y="15494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92900" y="1549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10:54–11:01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333" b="-3333"/>
          <a:stretch/>
        </p:blipFill>
        <p:spPr>
          <a:xfrm>
            <a:off x="3200400" y="1508760"/>
            <a:ext cx="2743200" cy="1463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🏛️  NCAI (National Center of AI)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Pakistan's hub for AI research — hosted across NUST, UET, and other top universities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🏙️  Special Technology Zones Authority (STZA)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9959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Government body building tech parks to attract AI &amp; IT investment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4256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💻  DigiSkills.pk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745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Free government training portal — freelancing, AI, and digital marketing courses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9456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9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15 Minutes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B8D4"/>
                </a:solidFill>
              </a:rPr>
              <a:t>GROUP ACTIVITY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Pakistan vs Global: Pick &amp; Compare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3ED"/>
                </a:solidFill>
              </a:rPr>
              <a:t>In groups of 3-4, discuss and write down: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276856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58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Pick ONE sector: Education, Business, Healthcare, Governance, or Media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99008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943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971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Name the Pakistani app/dept AND its international equivalent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82296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685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What is ONE thing Pakistan does BETTER, and one thing the global option does better?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</a:rPr>
              <a:t>🏆  Best comparison gets bonus participation marks!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TODAY'S KEY TAKEAWAYS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</a:rPr>
              <a:t>6 Big Ideas From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11:16–11:25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" y="141732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141732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ICT is everywhere — locally &amp; globally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746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Every sector has both Pakistani and international ICT solutions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10328" y="141732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1032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Pakistan has strong local apps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5376672" y="1746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Daraz, JazzCash, Sehat Kahani, NADRA — built for local needs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532888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62432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7548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2624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Global platforms dominate media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2953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WhatsApp, Facebook, YouTube — used identically in Pakistan and worldwide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0600" y="2532888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0328" y="262432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91032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2624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E-governance saves time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2953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NADRA &amp; FBR show how digitization reduces corruption and queues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739896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" y="383133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831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Healthcare went remote everywhere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Telemedicine models are nearly identical whether local or global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00600" y="3739896"/>
            <a:ext cx="4251960" cy="10515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10328" y="383133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10328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76672" y="3831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</a:rPr>
              <a:t>Pakistan is building AI capacity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5376672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NCAI, STZA, and DigiSkills.pk show local investment in emerging tech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EXIT TICKET — BEFORE YOU LEAVE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</a:rPr>
              <a:t>Answer These 3 Questions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"/>
            <a:ext cx="246888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82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11:25–11:30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5331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37160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A2E4A"/>
                </a:solidFill>
              </a:rPr>
              <a:t>Which Pakistani app/department discussed today do you use most?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7452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Be specific — name it directly.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25603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7860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A2E4A"/>
                </a:solidFill>
              </a:rPr>
              <a:t>Name its international equivalent from today's class.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8152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e.g. Daraz → Amazon, JazzCash → PayPal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376732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8561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A2E4A"/>
                </a:solidFill>
              </a:rPr>
              <a:t>What is ONE question you still have from today's class?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8853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</a:rPr>
              <a:t>I will answer it at the start of next class.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📅  Next Class (Week 3): Search Engines, Email Etiquette &amp; Microsoft Office Suite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2364</Words>
  <Application>Microsoft Office PowerPoint</Application>
  <PresentationFormat>On-screen Show (16:9)</PresentationFormat>
  <Paragraphs>345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12</cp:revision>
  <dcterms:created xsi:type="dcterms:W3CDTF">2026-09-06T21:37:00Z</dcterms:created>
  <dcterms:modified xsi:type="dcterms:W3CDTF">2026-09-06T22:33:02Z</dcterms:modified>
</cp:coreProperties>
</file>