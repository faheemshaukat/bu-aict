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6" d="100"/>
          <a:sy n="66" d="100"/>
        </p:scale>
        <p:origin x="792"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22265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Shape 1"/>
          <p:cNvSpPr/>
          <p:nvPr/>
        </p:nvSpPr>
        <p:spPr>
          <a:xfrm>
            <a:off x="0" y="6309360"/>
            <a:ext cx="12191695" cy="73152"/>
          </a:xfrm>
          <a:prstGeom prst="rect">
            <a:avLst/>
          </a:prstGeom>
          <a:solidFill>
            <a:srgbClr val="B8860B"/>
          </a:solidFill>
          <a:ln/>
        </p:spPr>
        <p:txBody>
          <a:bodyPr/>
          <a:lstStyle/>
          <a:p>
            <a:endParaRPr lang="en-US"/>
          </a:p>
        </p:txBody>
      </p:sp>
      <p:pic>
        <p:nvPicPr>
          <p:cNvPr id="4" name="Image 0" descr="/home/claude/bahria_logo_cropped.png"/>
          <p:cNvPicPr>
            <a:picLocks noChangeAspect="1"/>
          </p:cNvPicPr>
          <p:nvPr/>
        </p:nvPicPr>
        <p:blipFill>
          <a:blip r:embed="rId3"/>
          <a:stretch>
            <a:fillRect/>
          </a:stretch>
        </p:blipFill>
        <p:spPr>
          <a:xfrm>
            <a:off x="640080" y="502920"/>
            <a:ext cx="1005840" cy="1124712"/>
          </a:xfrm>
          <a:prstGeom prst="rect">
            <a:avLst/>
          </a:prstGeom>
        </p:spPr>
      </p:pic>
      <p:sp>
        <p:nvSpPr>
          <p:cNvPr id="5" name="Text 2"/>
          <p:cNvSpPr/>
          <p:nvPr/>
        </p:nvSpPr>
        <p:spPr>
          <a:xfrm>
            <a:off x="1828800" y="594360"/>
            <a:ext cx="8229600" cy="365760"/>
          </a:xfrm>
          <a:prstGeom prst="rect">
            <a:avLst/>
          </a:prstGeom>
          <a:noFill/>
          <a:ln/>
        </p:spPr>
        <p:txBody>
          <a:bodyPr wrap="square" rtlCol="0" anchor="ctr"/>
          <a:lstStyle/>
          <a:p>
            <a:pPr marL="0" indent="0">
              <a:buNone/>
            </a:pPr>
            <a:r>
              <a:rPr lang="en-US" sz="2400" b="1" dirty="0">
                <a:solidFill>
                  <a:srgbClr val="D8B84A"/>
                </a:solidFill>
                <a:latin typeface="Calibri" pitchFamily="34" charset="0"/>
                <a:ea typeface="Calibri" pitchFamily="34" charset="-122"/>
                <a:cs typeface="Calibri" pitchFamily="34" charset="-120"/>
              </a:rPr>
              <a:t>BAHRIA UNIVERSITY, ISLAMABAD</a:t>
            </a:r>
            <a:endParaRPr lang="en-US" sz="2400" dirty="0"/>
          </a:p>
        </p:txBody>
      </p:sp>
      <p:sp>
        <p:nvSpPr>
          <p:cNvPr id="7" name="Text 4"/>
          <p:cNvSpPr/>
          <p:nvPr/>
        </p:nvSpPr>
        <p:spPr>
          <a:xfrm>
            <a:off x="822960" y="2377440"/>
            <a:ext cx="10515600" cy="457200"/>
          </a:xfrm>
          <a:prstGeom prst="rect">
            <a:avLst/>
          </a:prstGeom>
          <a:noFill/>
          <a:ln/>
        </p:spPr>
        <p:txBody>
          <a:bodyPr wrap="square" rtlCol="0" anchor="ctr"/>
          <a:lstStyle/>
          <a:p>
            <a:pPr marL="0" indent="0">
              <a:buNone/>
            </a:pPr>
            <a:r>
              <a:rPr lang="en-US" b="1" kern="0" spc="300" dirty="0">
                <a:solidFill>
                  <a:srgbClr val="D8B84A"/>
                </a:solidFill>
                <a:latin typeface="Calibri" pitchFamily="34" charset="0"/>
                <a:ea typeface="Calibri" pitchFamily="34" charset="-122"/>
                <a:cs typeface="Calibri" pitchFamily="34" charset="-120"/>
              </a:rPr>
              <a:t>WEEK 4  —  ICT 201 APPLICATIONS of ICT</a:t>
            </a:r>
            <a:endParaRPr lang="en-US" dirty="0"/>
          </a:p>
        </p:txBody>
      </p:sp>
      <p:sp>
        <p:nvSpPr>
          <p:cNvPr id="8" name="Text 5"/>
          <p:cNvSpPr/>
          <p:nvPr/>
        </p:nvSpPr>
        <p:spPr>
          <a:xfrm>
            <a:off x="822960" y="2834640"/>
            <a:ext cx="10515600" cy="1554480"/>
          </a:xfrm>
          <a:prstGeom prst="rect">
            <a:avLst/>
          </a:prstGeom>
          <a:noFill/>
          <a:ln/>
        </p:spPr>
        <p:txBody>
          <a:bodyPr wrap="square" rtlCol="0" anchor="ctr"/>
          <a:lstStyle/>
          <a:p>
            <a:pPr marL="0" indent="0">
              <a:lnSpc>
                <a:spcPts val="4800"/>
              </a:lnSpc>
              <a:buNone/>
            </a:pPr>
            <a:r>
              <a:rPr lang="en-US" sz="4200" b="1" dirty="0">
                <a:solidFill>
                  <a:srgbClr val="FFFFFF"/>
                </a:solidFill>
                <a:latin typeface="Calibri" pitchFamily="34" charset="0"/>
                <a:ea typeface="Calibri" pitchFamily="34" charset="-122"/>
                <a:cs typeface="Calibri" pitchFamily="34" charset="-120"/>
              </a:rPr>
              <a:t>Formal Communication Tools</a:t>
            </a:r>
            <a:endParaRPr lang="en-US" sz="4200" dirty="0"/>
          </a:p>
          <a:p>
            <a:pPr marL="0" indent="0">
              <a:lnSpc>
                <a:spcPts val="4800"/>
              </a:lnSpc>
              <a:buNone/>
            </a:pPr>
            <a:r>
              <a:rPr lang="en-US" sz="4200" b="1" dirty="0">
                <a:solidFill>
                  <a:srgbClr val="FFFFFF"/>
                </a:solidFill>
                <a:latin typeface="Calibri" pitchFamily="34" charset="0"/>
                <a:ea typeface="Calibri" pitchFamily="34" charset="-122"/>
                <a:cs typeface="Calibri" pitchFamily="34" charset="-120"/>
              </a:rPr>
              <a:t>&amp; Digital Etiquette</a:t>
            </a:r>
            <a:endParaRPr lang="en-US" sz="4200" dirty="0"/>
          </a:p>
        </p:txBody>
      </p:sp>
      <p:sp>
        <p:nvSpPr>
          <p:cNvPr id="9" name="Text 6"/>
          <p:cNvSpPr/>
          <p:nvPr/>
        </p:nvSpPr>
        <p:spPr>
          <a:xfrm>
            <a:off x="822960" y="4434840"/>
            <a:ext cx="10515600" cy="457200"/>
          </a:xfrm>
          <a:prstGeom prst="rect">
            <a:avLst/>
          </a:prstGeom>
          <a:noFill/>
          <a:ln/>
        </p:spPr>
        <p:txBody>
          <a:bodyPr wrap="square" rtlCol="0" anchor="ctr"/>
          <a:lstStyle/>
          <a:p>
            <a:pPr marL="0" indent="0">
              <a:buNone/>
            </a:pPr>
            <a:r>
              <a:rPr lang="en-US" i="1" dirty="0">
                <a:solidFill>
                  <a:srgbClr val="C7D0E0"/>
                </a:solidFill>
                <a:latin typeface="Calibri" pitchFamily="34" charset="0"/>
                <a:ea typeface="Calibri" pitchFamily="34" charset="-122"/>
                <a:cs typeface="Calibri" pitchFamily="34" charset="-120"/>
              </a:rPr>
              <a:t>Email Composition • Gmail Features &amp; Settings • Security • Outlook &amp; Alternatives</a:t>
            </a:r>
            <a:endParaRPr lang="en-US" dirty="0"/>
          </a:p>
        </p:txBody>
      </p:sp>
      <p:sp>
        <p:nvSpPr>
          <p:cNvPr id="10" name="Shape 7"/>
          <p:cNvSpPr/>
          <p:nvPr/>
        </p:nvSpPr>
        <p:spPr>
          <a:xfrm>
            <a:off x="822960" y="5120640"/>
            <a:ext cx="10515600" cy="777240"/>
          </a:xfrm>
          <a:prstGeom prst="roundRect">
            <a:avLst>
              <a:gd name="adj" fmla="val 9412"/>
            </a:avLst>
          </a:prstGeom>
          <a:solidFill>
            <a:srgbClr val="25406B"/>
          </a:solidFill>
          <a:ln/>
        </p:spPr>
        <p:txBody>
          <a:bodyPr/>
          <a:lstStyle/>
          <a:p>
            <a:endParaRPr lang="en-US"/>
          </a:p>
        </p:txBody>
      </p:sp>
      <p:sp>
        <p:nvSpPr>
          <p:cNvPr id="11" name="Text 8"/>
          <p:cNvSpPr/>
          <p:nvPr/>
        </p:nvSpPr>
        <p:spPr>
          <a:xfrm>
            <a:off x="1051560" y="5120640"/>
            <a:ext cx="10058400" cy="777240"/>
          </a:xfrm>
          <a:prstGeom prst="rect">
            <a:avLst/>
          </a:prstGeom>
          <a:noFill/>
          <a:ln/>
        </p:spPr>
        <p:txBody>
          <a:bodyPr wrap="square" rtlCol="0" anchor="ctr"/>
          <a:lstStyle/>
          <a:p>
            <a:pPr marL="0" indent="0">
              <a:buNone/>
            </a:pPr>
            <a:r>
              <a:rPr lang="en-US" sz="1600" dirty="0">
                <a:solidFill>
                  <a:srgbClr val="FFFFFF"/>
                </a:solidFill>
                <a:latin typeface="Calibri" pitchFamily="34" charset="0"/>
                <a:ea typeface="Calibri" pitchFamily="34" charset="-122"/>
                <a:cs typeface="Calibri" pitchFamily="34" charset="-120"/>
              </a:rPr>
              <a:t>1-Hour Session   |  Fall 2026</a:t>
            </a:r>
            <a:endParaRPr lang="en-US" sz="1600" dirty="0"/>
          </a:p>
        </p:txBody>
      </p:sp>
      <p:sp>
        <p:nvSpPr>
          <p:cNvPr id="12" name="Text 9"/>
          <p:cNvSpPr/>
          <p:nvPr/>
        </p:nvSpPr>
        <p:spPr>
          <a:xfrm>
            <a:off x="822960" y="5806440"/>
            <a:ext cx="10332720" cy="502920"/>
          </a:xfrm>
          <a:prstGeom prst="rect">
            <a:avLst/>
          </a:prstGeom>
          <a:noFill/>
          <a:ln/>
        </p:spPr>
        <p:txBody>
          <a:bodyPr wrap="square" rtlCol="0" anchor="ctr"/>
          <a:lstStyle/>
          <a:p>
            <a:pPr marL="0" indent="0">
              <a:lnSpc>
                <a:spcPts val="1500"/>
              </a:lnSpc>
              <a:buNone/>
            </a:pPr>
            <a:r>
              <a:rPr lang="en-US" sz="1600" i="1" dirty="0">
                <a:solidFill>
                  <a:srgbClr val="9FB0CC"/>
                </a:solidFill>
                <a:latin typeface="Calibri" pitchFamily="34" charset="0"/>
                <a:ea typeface="Calibri" pitchFamily="34" charset="-122"/>
                <a:cs typeface="Calibri" pitchFamily="34" charset="-120"/>
              </a:rPr>
              <a:t>This session covers the communication-tools topic originally scheduled for Week 3</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AGENDA — 60 MINUTES</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Today’s Roadmap</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60 MIN TOTAL</a:t>
            </a:r>
            <a:endParaRPr lang="en-US" sz="1100" dirty="0"/>
          </a:p>
        </p:txBody>
      </p:sp>
      <p:sp>
        <p:nvSpPr>
          <p:cNvPr id="8" name="Shape 6"/>
          <p:cNvSpPr/>
          <p:nvPr/>
        </p:nvSpPr>
        <p:spPr>
          <a:xfrm>
            <a:off x="457200" y="1143000"/>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9" name="Shape 7"/>
          <p:cNvSpPr/>
          <p:nvPr/>
        </p:nvSpPr>
        <p:spPr>
          <a:xfrm>
            <a:off x="548640" y="1225296"/>
            <a:ext cx="457200" cy="384048"/>
          </a:xfrm>
          <a:prstGeom prst="roundRect">
            <a:avLst>
              <a:gd name="adj" fmla="val 14286"/>
            </a:avLst>
          </a:prstGeom>
          <a:solidFill>
            <a:srgbClr val="1F3864"/>
          </a:solidFill>
          <a:ln/>
        </p:spPr>
        <p:txBody>
          <a:bodyPr/>
          <a:lstStyle/>
          <a:p>
            <a:endParaRPr lang="en-US" sz="1600"/>
          </a:p>
        </p:txBody>
      </p:sp>
      <p:sp>
        <p:nvSpPr>
          <p:cNvPr id="10" name="Text 8"/>
          <p:cNvSpPr/>
          <p:nvPr/>
        </p:nvSpPr>
        <p:spPr>
          <a:xfrm>
            <a:off x="548640" y="1225296"/>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01</a:t>
            </a:r>
            <a:endParaRPr lang="en-US" sz="1600" dirty="0"/>
          </a:p>
        </p:txBody>
      </p:sp>
      <p:sp>
        <p:nvSpPr>
          <p:cNvPr id="11" name="Text 9"/>
          <p:cNvSpPr/>
          <p:nvPr/>
        </p:nvSpPr>
        <p:spPr>
          <a:xfrm>
            <a:off x="1143000" y="1170432"/>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Why Formal Communication Matters</a:t>
            </a:r>
            <a:endParaRPr lang="en-US" sz="1600" dirty="0"/>
          </a:p>
        </p:txBody>
      </p:sp>
      <p:sp>
        <p:nvSpPr>
          <p:cNvPr id="12" name="Text 10"/>
          <p:cNvSpPr/>
          <p:nvPr/>
        </p:nvSpPr>
        <p:spPr>
          <a:xfrm>
            <a:off x="1143000" y="1435608"/>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ICT etiquette in academic &amp; professional life</a:t>
            </a:r>
            <a:endParaRPr lang="en-US" sz="1600" dirty="0"/>
          </a:p>
        </p:txBody>
      </p:sp>
      <p:sp>
        <p:nvSpPr>
          <p:cNvPr id="13" name="Text 11"/>
          <p:cNvSpPr/>
          <p:nvPr/>
        </p:nvSpPr>
        <p:spPr>
          <a:xfrm>
            <a:off x="9875520" y="1143000"/>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8 min</a:t>
            </a:r>
            <a:endParaRPr lang="en-US" sz="1600" dirty="0"/>
          </a:p>
        </p:txBody>
      </p:sp>
      <p:sp>
        <p:nvSpPr>
          <p:cNvPr id="14" name="Shape 12"/>
          <p:cNvSpPr/>
          <p:nvPr/>
        </p:nvSpPr>
        <p:spPr>
          <a:xfrm>
            <a:off x="457200" y="1746504"/>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15" name="Shape 13"/>
          <p:cNvSpPr/>
          <p:nvPr/>
        </p:nvSpPr>
        <p:spPr>
          <a:xfrm>
            <a:off x="548640" y="1828800"/>
            <a:ext cx="457200" cy="384048"/>
          </a:xfrm>
          <a:prstGeom prst="roundRect">
            <a:avLst>
              <a:gd name="adj" fmla="val 14286"/>
            </a:avLst>
          </a:prstGeom>
          <a:solidFill>
            <a:srgbClr val="1F3864"/>
          </a:solidFill>
          <a:ln/>
        </p:spPr>
        <p:txBody>
          <a:bodyPr/>
          <a:lstStyle/>
          <a:p>
            <a:endParaRPr lang="en-US" sz="1600"/>
          </a:p>
        </p:txBody>
      </p:sp>
      <p:sp>
        <p:nvSpPr>
          <p:cNvPr id="16" name="Text 14"/>
          <p:cNvSpPr/>
          <p:nvPr/>
        </p:nvSpPr>
        <p:spPr>
          <a:xfrm>
            <a:off x="548640" y="1828800"/>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02</a:t>
            </a:r>
            <a:endParaRPr lang="en-US" sz="1600" dirty="0"/>
          </a:p>
        </p:txBody>
      </p:sp>
      <p:sp>
        <p:nvSpPr>
          <p:cNvPr id="17" name="Text 15"/>
          <p:cNvSpPr/>
          <p:nvPr/>
        </p:nvSpPr>
        <p:spPr>
          <a:xfrm>
            <a:off x="1143000" y="1773936"/>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Anatomy of a Professional Email</a:t>
            </a:r>
            <a:endParaRPr lang="en-US" sz="1600" dirty="0"/>
          </a:p>
        </p:txBody>
      </p:sp>
      <p:sp>
        <p:nvSpPr>
          <p:cNvPr id="18" name="Text 16"/>
          <p:cNvSpPr/>
          <p:nvPr/>
        </p:nvSpPr>
        <p:spPr>
          <a:xfrm>
            <a:off x="1143000" y="2039112"/>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Structure, tone, subject lines, Do’s &amp; Don’ts</a:t>
            </a:r>
            <a:endParaRPr lang="en-US" sz="1600" dirty="0"/>
          </a:p>
        </p:txBody>
      </p:sp>
      <p:sp>
        <p:nvSpPr>
          <p:cNvPr id="19" name="Text 17"/>
          <p:cNvSpPr/>
          <p:nvPr/>
        </p:nvSpPr>
        <p:spPr>
          <a:xfrm>
            <a:off x="9875520" y="1746504"/>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10 min</a:t>
            </a:r>
            <a:endParaRPr lang="en-US" sz="1600" dirty="0"/>
          </a:p>
        </p:txBody>
      </p:sp>
      <p:sp>
        <p:nvSpPr>
          <p:cNvPr id="20" name="Shape 18"/>
          <p:cNvSpPr/>
          <p:nvPr/>
        </p:nvSpPr>
        <p:spPr>
          <a:xfrm>
            <a:off x="457200" y="2350008"/>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21" name="Shape 19"/>
          <p:cNvSpPr/>
          <p:nvPr/>
        </p:nvSpPr>
        <p:spPr>
          <a:xfrm>
            <a:off x="548640" y="2432304"/>
            <a:ext cx="457200" cy="384048"/>
          </a:xfrm>
          <a:prstGeom prst="roundRect">
            <a:avLst>
              <a:gd name="adj" fmla="val 14286"/>
            </a:avLst>
          </a:prstGeom>
          <a:solidFill>
            <a:srgbClr val="1F3864"/>
          </a:solidFill>
          <a:ln/>
        </p:spPr>
        <p:txBody>
          <a:bodyPr/>
          <a:lstStyle/>
          <a:p>
            <a:endParaRPr lang="en-US" sz="1600"/>
          </a:p>
        </p:txBody>
      </p:sp>
      <p:sp>
        <p:nvSpPr>
          <p:cNvPr id="22" name="Text 20"/>
          <p:cNvSpPr/>
          <p:nvPr/>
        </p:nvSpPr>
        <p:spPr>
          <a:xfrm>
            <a:off x="548640" y="2432304"/>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03</a:t>
            </a:r>
            <a:endParaRPr lang="en-US" sz="1600" dirty="0"/>
          </a:p>
        </p:txBody>
      </p:sp>
      <p:sp>
        <p:nvSpPr>
          <p:cNvPr id="23" name="Text 21"/>
          <p:cNvSpPr/>
          <p:nvPr/>
        </p:nvSpPr>
        <p:spPr>
          <a:xfrm>
            <a:off x="1143000" y="2377440"/>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Gmail — Composition &amp; Productivity Tools</a:t>
            </a:r>
            <a:endParaRPr lang="en-US" sz="1600" dirty="0"/>
          </a:p>
        </p:txBody>
      </p:sp>
      <p:sp>
        <p:nvSpPr>
          <p:cNvPr id="24" name="Text 22"/>
          <p:cNvSpPr/>
          <p:nvPr/>
        </p:nvSpPr>
        <p:spPr>
          <a:xfrm>
            <a:off x="1143000" y="2642616"/>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Smart Compose, Smart Reply, templates, scheduling</a:t>
            </a:r>
            <a:endParaRPr lang="en-US" sz="1600" dirty="0"/>
          </a:p>
        </p:txBody>
      </p:sp>
      <p:sp>
        <p:nvSpPr>
          <p:cNvPr id="25" name="Text 23"/>
          <p:cNvSpPr/>
          <p:nvPr/>
        </p:nvSpPr>
        <p:spPr>
          <a:xfrm>
            <a:off x="9875520" y="2350008"/>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12 min</a:t>
            </a:r>
            <a:endParaRPr lang="en-US" sz="1600" dirty="0"/>
          </a:p>
        </p:txBody>
      </p:sp>
      <p:sp>
        <p:nvSpPr>
          <p:cNvPr id="26" name="Shape 24"/>
          <p:cNvSpPr/>
          <p:nvPr/>
        </p:nvSpPr>
        <p:spPr>
          <a:xfrm>
            <a:off x="457200" y="2953512"/>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27" name="Shape 25"/>
          <p:cNvSpPr/>
          <p:nvPr/>
        </p:nvSpPr>
        <p:spPr>
          <a:xfrm>
            <a:off x="548640" y="3035808"/>
            <a:ext cx="457200" cy="384048"/>
          </a:xfrm>
          <a:prstGeom prst="roundRect">
            <a:avLst>
              <a:gd name="adj" fmla="val 14286"/>
            </a:avLst>
          </a:prstGeom>
          <a:solidFill>
            <a:srgbClr val="1F3864"/>
          </a:solidFill>
          <a:ln/>
        </p:spPr>
        <p:txBody>
          <a:bodyPr/>
          <a:lstStyle/>
          <a:p>
            <a:endParaRPr lang="en-US" sz="1600"/>
          </a:p>
        </p:txBody>
      </p:sp>
      <p:sp>
        <p:nvSpPr>
          <p:cNvPr id="28" name="Text 26"/>
          <p:cNvSpPr/>
          <p:nvPr/>
        </p:nvSpPr>
        <p:spPr>
          <a:xfrm>
            <a:off x="548640" y="3035808"/>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04</a:t>
            </a:r>
            <a:endParaRPr lang="en-US" sz="1600" dirty="0"/>
          </a:p>
        </p:txBody>
      </p:sp>
      <p:sp>
        <p:nvSpPr>
          <p:cNvPr id="29" name="Text 27"/>
          <p:cNvSpPr/>
          <p:nvPr/>
        </p:nvSpPr>
        <p:spPr>
          <a:xfrm>
            <a:off x="1143000" y="2980944"/>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Gmail — Organization Facilities</a:t>
            </a:r>
            <a:endParaRPr lang="en-US" sz="1600" dirty="0"/>
          </a:p>
        </p:txBody>
      </p:sp>
      <p:sp>
        <p:nvSpPr>
          <p:cNvPr id="30" name="Text 28"/>
          <p:cNvSpPr/>
          <p:nvPr/>
        </p:nvSpPr>
        <p:spPr>
          <a:xfrm>
            <a:off x="1143000" y="3246120"/>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Labels, filters, tabs, search operators</a:t>
            </a:r>
            <a:endParaRPr lang="en-US" sz="1600" dirty="0"/>
          </a:p>
        </p:txBody>
      </p:sp>
      <p:sp>
        <p:nvSpPr>
          <p:cNvPr id="31" name="Text 29"/>
          <p:cNvSpPr/>
          <p:nvPr/>
        </p:nvSpPr>
        <p:spPr>
          <a:xfrm>
            <a:off x="9875520" y="2953512"/>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8 min</a:t>
            </a:r>
            <a:endParaRPr lang="en-US" sz="1600" dirty="0"/>
          </a:p>
        </p:txBody>
      </p:sp>
      <p:sp>
        <p:nvSpPr>
          <p:cNvPr id="32" name="Shape 30"/>
          <p:cNvSpPr/>
          <p:nvPr/>
        </p:nvSpPr>
        <p:spPr>
          <a:xfrm>
            <a:off x="457200" y="3557016"/>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33" name="Shape 31"/>
          <p:cNvSpPr/>
          <p:nvPr/>
        </p:nvSpPr>
        <p:spPr>
          <a:xfrm>
            <a:off x="548640" y="3639312"/>
            <a:ext cx="457200" cy="384048"/>
          </a:xfrm>
          <a:prstGeom prst="roundRect">
            <a:avLst>
              <a:gd name="adj" fmla="val 14286"/>
            </a:avLst>
          </a:prstGeom>
          <a:solidFill>
            <a:srgbClr val="1F3864"/>
          </a:solidFill>
          <a:ln/>
        </p:spPr>
        <p:txBody>
          <a:bodyPr/>
          <a:lstStyle/>
          <a:p>
            <a:endParaRPr lang="en-US" sz="1600"/>
          </a:p>
        </p:txBody>
      </p:sp>
      <p:sp>
        <p:nvSpPr>
          <p:cNvPr id="34" name="Text 32"/>
          <p:cNvSpPr/>
          <p:nvPr/>
        </p:nvSpPr>
        <p:spPr>
          <a:xfrm>
            <a:off x="548640" y="3639312"/>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05</a:t>
            </a:r>
            <a:endParaRPr lang="en-US" sz="1600" dirty="0"/>
          </a:p>
        </p:txBody>
      </p:sp>
      <p:sp>
        <p:nvSpPr>
          <p:cNvPr id="35" name="Text 33"/>
          <p:cNvSpPr/>
          <p:nvPr/>
        </p:nvSpPr>
        <p:spPr>
          <a:xfrm>
            <a:off x="1143000" y="3584448"/>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Gmail — Settings, Deep Dive</a:t>
            </a:r>
            <a:endParaRPr lang="en-US" sz="1600" dirty="0"/>
          </a:p>
        </p:txBody>
      </p:sp>
      <p:sp>
        <p:nvSpPr>
          <p:cNvPr id="36" name="Text 34"/>
          <p:cNvSpPr/>
          <p:nvPr/>
        </p:nvSpPr>
        <p:spPr>
          <a:xfrm>
            <a:off x="1143000" y="3849624"/>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Every major settings panel explained</a:t>
            </a:r>
            <a:endParaRPr lang="en-US" sz="1600" dirty="0"/>
          </a:p>
        </p:txBody>
      </p:sp>
      <p:sp>
        <p:nvSpPr>
          <p:cNvPr id="37" name="Text 35"/>
          <p:cNvSpPr/>
          <p:nvPr/>
        </p:nvSpPr>
        <p:spPr>
          <a:xfrm>
            <a:off x="9875520" y="3557016"/>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8 min</a:t>
            </a:r>
            <a:endParaRPr lang="en-US" sz="1600" dirty="0"/>
          </a:p>
        </p:txBody>
      </p:sp>
      <p:sp>
        <p:nvSpPr>
          <p:cNvPr id="38" name="Shape 36"/>
          <p:cNvSpPr/>
          <p:nvPr/>
        </p:nvSpPr>
        <p:spPr>
          <a:xfrm>
            <a:off x="457200" y="4160520"/>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39" name="Shape 37"/>
          <p:cNvSpPr/>
          <p:nvPr/>
        </p:nvSpPr>
        <p:spPr>
          <a:xfrm>
            <a:off x="548640" y="4242816"/>
            <a:ext cx="457200" cy="384048"/>
          </a:xfrm>
          <a:prstGeom prst="roundRect">
            <a:avLst>
              <a:gd name="adj" fmla="val 14286"/>
            </a:avLst>
          </a:prstGeom>
          <a:solidFill>
            <a:srgbClr val="1F3864"/>
          </a:solidFill>
          <a:ln/>
        </p:spPr>
        <p:txBody>
          <a:bodyPr/>
          <a:lstStyle/>
          <a:p>
            <a:endParaRPr lang="en-US" sz="1600"/>
          </a:p>
        </p:txBody>
      </p:sp>
      <p:sp>
        <p:nvSpPr>
          <p:cNvPr id="40" name="Text 38"/>
          <p:cNvSpPr/>
          <p:nvPr/>
        </p:nvSpPr>
        <p:spPr>
          <a:xfrm>
            <a:off x="548640" y="4242816"/>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06</a:t>
            </a:r>
            <a:endParaRPr lang="en-US" sz="1600" dirty="0"/>
          </a:p>
        </p:txBody>
      </p:sp>
      <p:sp>
        <p:nvSpPr>
          <p:cNvPr id="41" name="Text 39"/>
          <p:cNvSpPr/>
          <p:nvPr/>
        </p:nvSpPr>
        <p:spPr>
          <a:xfrm>
            <a:off x="1143000" y="4187952"/>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Gmail — Security Facilities</a:t>
            </a:r>
            <a:endParaRPr lang="en-US" sz="1600" dirty="0"/>
          </a:p>
        </p:txBody>
      </p:sp>
      <p:sp>
        <p:nvSpPr>
          <p:cNvPr id="42" name="Text 40"/>
          <p:cNvSpPr/>
          <p:nvPr/>
        </p:nvSpPr>
        <p:spPr>
          <a:xfrm>
            <a:off x="1143000" y="4453128"/>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2-Step Verification, phishing protection, app passwords</a:t>
            </a:r>
            <a:endParaRPr lang="en-US" sz="1600" dirty="0"/>
          </a:p>
        </p:txBody>
      </p:sp>
      <p:sp>
        <p:nvSpPr>
          <p:cNvPr id="43" name="Text 41"/>
          <p:cNvSpPr/>
          <p:nvPr/>
        </p:nvSpPr>
        <p:spPr>
          <a:xfrm>
            <a:off x="9875520" y="4160520"/>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8 min</a:t>
            </a:r>
            <a:endParaRPr lang="en-US" sz="1600" dirty="0"/>
          </a:p>
        </p:txBody>
      </p:sp>
      <p:sp>
        <p:nvSpPr>
          <p:cNvPr id="44" name="Shape 42"/>
          <p:cNvSpPr/>
          <p:nvPr/>
        </p:nvSpPr>
        <p:spPr>
          <a:xfrm>
            <a:off x="457200" y="4764024"/>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45" name="Shape 43"/>
          <p:cNvSpPr/>
          <p:nvPr/>
        </p:nvSpPr>
        <p:spPr>
          <a:xfrm>
            <a:off x="548640" y="4846320"/>
            <a:ext cx="457200" cy="384048"/>
          </a:xfrm>
          <a:prstGeom prst="roundRect">
            <a:avLst>
              <a:gd name="adj" fmla="val 14286"/>
            </a:avLst>
          </a:prstGeom>
          <a:solidFill>
            <a:srgbClr val="1F3864"/>
          </a:solidFill>
          <a:ln/>
        </p:spPr>
        <p:txBody>
          <a:bodyPr/>
          <a:lstStyle/>
          <a:p>
            <a:endParaRPr lang="en-US" sz="1600"/>
          </a:p>
        </p:txBody>
      </p:sp>
      <p:sp>
        <p:nvSpPr>
          <p:cNvPr id="46" name="Text 44"/>
          <p:cNvSpPr/>
          <p:nvPr/>
        </p:nvSpPr>
        <p:spPr>
          <a:xfrm>
            <a:off x="548640" y="4846320"/>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07</a:t>
            </a:r>
            <a:endParaRPr lang="en-US" sz="1600" dirty="0"/>
          </a:p>
        </p:txBody>
      </p:sp>
      <p:sp>
        <p:nvSpPr>
          <p:cNvPr id="47" name="Text 45"/>
          <p:cNvSpPr/>
          <p:nvPr/>
        </p:nvSpPr>
        <p:spPr>
          <a:xfrm>
            <a:off x="1143000" y="4791456"/>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Outlook, Yahoo &amp; Other Services</a:t>
            </a:r>
            <a:endParaRPr lang="en-US" sz="1600" dirty="0"/>
          </a:p>
        </p:txBody>
      </p:sp>
      <p:sp>
        <p:nvSpPr>
          <p:cNvPr id="48" name="Text 46"/>
          <p:cNvSpPr/>
          <p:nvPr/>
        </p:nvSpPr>
        <p:spPr>
          <a:xfrm>
            <a:off x="1143000" y="5056632"/>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Feature &amp; security comparison</a:t>
            </a:r>
            <a:endParaRPr lang="en-US" sz="1600" dirty="0"/>
          </a:p>
        </p:txBody>
      </p:sp>
      <p:sp>
        <p:nvSpPr>
          <p:cNvPr id="49" name="Text 47"/>
          <p:cNvSpPr/>
          <p:nvPr/>
        </p:nvSpPr>
        <p:spPr>
          <a:xfrm>
            <a:off x="9875520" y="4764024"/>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4 min</a:t>
            </a:r>
            <a:endParaRPr lang="en-US" sz="1600" dirty="0"/>
          </a:p>
        </p:txBody>
      </p:sp>
      <p:sp>
        <p:nvSpPr>
          <p:cNvPr id="50" name="Shape 48"/>
          <p:cNvSpPr/>
          <p:nvPr/>
        </p:nvSpPr>
        <p:spPr>
          <a:xfrm>
            <a:off x="457200" y="5367528"/>
            <a:ext cx="11247120" cy="530352"/>
          </a:xfrm>
          <a:prstGeom prst="roundRect">
            <a:avLst>
              <a:gd name="adj" fmla="val 13793"/>
            </a:avLst>
          </a:prstGeom>
          <a:solidFill>
            <a:srgbClr val="FFFFFF"/>
          </a:solidFill>
          <a:ln w="12700">
            <a:solidFill>
              <a:srgbClr val="DCE1EA"/>
            </a:solidFill>
            <a:prstDash val="solid"/>
          </a:ln>
        </p:spPr>
        <p:txBody>
          <a:bodyPr/>
          <a:lstStyle/>
          <a:p>
            <a:endParaRPr lang="en-US" sz="1600"/>
          </a:p>
        </p:txBody>
      </p:sp>
      <p:sp>
        <p:nvSpPr>
          <p:cNvPr id="51" name="Shape 49"/>
          <p:cNvSpPr/>
          <p:nvPr/>
        </p:nvSpPr>
        <p:spPr>
          <a:xfrm>
            <a:off x="548640" y="5449824"/>
            <a:ext cx="457200" cy="384048"/>
          </a:xfrm>
          <a:prstGeom prst="roundRect">
            <a:avLst>
              <a:gd name="adj" fmla="val 14286"/>
            </a:avLst>
          </a:prstGeom>
          <a:solidFill>
            <a:srgbClr val="1F3864"/>
          </a:solidFill>
          <a:ln/>
        </p:spPr>
        <p:txBody>
          <a:bodyPr/>
          <a:lstStyle/>
          <a:p>
            <a:endParaRPr lang="en-US" sz="1600"/>
          </a:p>
        </p:txBody>
      </p:sp>
      <p:sp>
        <p:nvSpPr>
          <p:cNvPr id="52" name="Text 50"/>
          <p:cNvSpPr/>
          <p:nvPr/>
        </p:nvSpPr>
        <p:spPr>
          <a:xfrm>
            <a:off x="548640" y="5449824"/>
            <a:ext cx="457200" cy="384048"/>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08</a:t>
            </a:r>
            <a:endParaRPr lang="en-US" sz="1600" dirty="0"/>
          </a:p>
        </p:txBody>
      </p:sp>
      <p:sp>
        <p:nvSpPr>
          <p:cNvPr id="53" name="Text 51"/>
          <p:cNvSpPr/>
          <p:nvPr/>
        </p:nvSpPr>
        <p:spPr>
          <a:xfrm>
            <a:off x="1143000" y="5394960"/>
            <a:ext cx="7589520" cy="292608"/>
          </a:xfrm>
          <a:prstGeom prst="rect">
            <a:avLst/>
          </a:prstGeom>
          <a:noFill/>
          <a:ln/>
        </p:spPr>
        <p:txBody>
          <a:bodyPr wrap="square" rtlCol="0" anchor="ctr"/>
          <a:lstStyle/>
          <a:p>
            <a:pPr marL="0" indent="0">
              <a:buNone/>
            </a:pPr>
            <a:r>
              <a:rPr lang="en-US" sz="1600" b="1" dirty="0">
                <a:solidFill>
                  <a:srgbClr val="1F3864"/>
                </a:solidFill>
                <a:latin typeface="Calibri" pitchFamily="34" charset="0"/>
                <a:ea typeface="Calibri" pitchFamily="34" charset="-122"/>
                <a:cs typeface="Calibri" pitchFamily="34" charset="-120"/>
              </a:rPr>
              <a:t>Quick Activity + Key Takeaways</a:t>
            </a:r>
            <a:endParaRPr lang="en-US" sz="1600" dirty="0"/>
          </a:p>
        </p:txBody>
      </p:sp>
      <p:sp>
        <p:nvSpPr>
          <p:cNvPr id="54" name="Text 52"/>
          <p:cNvSpPr/>
          <p:nvPr/>
        </p:nvSpPr>
        <p:spPr>
          <a:xfrm>
            <a:off x="1143000" y="5660136"/>
            <a:ext cx="7589520" cy="237744"/>
          </a:xfrm>
          <a:prstGeom prst="rect">
            <a:avLst/>
          </a:prstGeom>
          <a:noFill/>
          <a:ln/>
        </p:spPr>
        <p:txBody>
          <a:bodyPr wrap="square" rtlCol="0" anchor="ctr"/>
          <a:lstStyle/>
          <a:p>
            <a:pPr marL="0" indent="0">
              <a:buNone/>
            </a:pPr>
            <a:r>
              <a:rPr lang="en-US" sz="1600" dirty="0">
                <a:solidFill>
                  <a:srgbClr val="595959"/>
                </a:solidFill>
                <a:latin typeface="Calibri" pitchFamily="34" charset="0"/>
                <a:ea typeface="Calibri" pitchFamily="34" charset="-122"/>
                <a:cs typeface="Calibri" pitchFamily="34" charset="-120"/>
              </a:rPr>
              <a:t>Hands-on check + wrap-up</a:t>
            </a:r>
            <a:endParaRPr lang="en-US" sz="1600" dirty="0"/>
          </a:p>
        </p:txBody>
      </p:sp>
      <p:sp>
        <p:nvSpPr>
          <p:cNvPr id="55" name="Text 53"/>
          <p:cNvSpPr/>
          <p:nvPr/>
        </p:nvSpPr>
        <p:spPr>
          <a:xfrm>
            <a:off x="9875520" y="5367528"/>
            <a:ext cx="1554480" cy="530352"/>
          </a:xfrm>
          <a:prstGeom prst="rect">
            <a:avLst/>
          </a:prstGeom>
          <a:noFill/>
          <a:ln/>
        </p:spPr>
        <p:txBody>
          <a:bodyPr wrap="square" rtlCol="0" anchor="ctr"/>
          <a:lstStyle/>
          <a:p>
            <a:pPr marL="0" indent="0" algn="r">
              <a:buNone/>
            </a:pPr>
            <a:r>
              <a:rPr lang="en-US" sz="1600" b="1" dirty="0">
                <a:solidFill>
                  <a:srgbClr val="B8860B"/>
                </a:solidFill>
                <a:latin typeface="Calibri" pitchFamily="34" charset="0"/>
                <a:ea typeface="Calibri" pitchFamily="34" charset="-122"/>
                <a:cs typeface="Calibri" pitchFamily="34" charset="-120"/>
              </a:rPr>
              <a:t>2 min</a:t>
            </a:r>
            <a:endParaRPr lang="en-US" sz="1600" dirty="0"/>
          </a:p>
        </p:txBody>
      </p:sp>
      <p:sp>
        <p:nvSpPr>
          <p:cNvPr id="56" name="Text 54"/>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57" name="Text 55"/>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SETTING THE CONTEXT</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Why Formal Communication Matters</a:t>
            </a:r>
            <a:endParaRPr lang="en-US" sz="2400" dirty="0"/>
          </a:p>
        </p:txBody>
      </p:sp>
      <p:sp>
        <p:nvSpPr>
          <p:cNvPr id="6" name="Text 4"/>
          <p:cNvSpPr/>
          <p:nvPr/>
        </p:nvSpPr>
        <p:spPr>
          <a:xfrm>
            <a:off x="548640" y="1097280"/>
            <a:ext cx="11064240" cy="685800"/>
          </a:xfrm>
          <a:prstGeom prst="rect">
            <a:avLst/>
          </a:prstGeom>
          <a:noFill/>
          <a:ln/>
        </p:spPr>
        <p:txBody>
          <a:bodyPr wrap="square" rtlCol="0" anchor="ctr"/>
          <a:lstStyle/>
          <a:p>
            <a:pPr marL="0" indent="0">
              <a:buNone/>
            </a:pPr>
            <a:r>
              <a:rPr lang="en-US" sz="1600" i="1" dirty="0">
                <a:solidFill>
                  <a:srgbClr val="333333"/>
                </a:solidFill>
                <a:latin typeface="Calibri" pitchFamily="34" charset="0"/>
                <a:ea typeface="Calibri" pitchFamily="34" charset="-122"/>
                <a:cs typeface="Calibri" pitchFamily="34" charset="-120"/>
              </a:rPr>
              <a:t>Recall from Week 3: search engines and AI help you FIND information. Today’s topic is about how you PROFESSIONALLY COMMUNICATE that information to others — a core ICT skill for academic and professional life.</a:t>
            </a:r>
            <a:endParaRPr lang="en-US" sz="1600" dirty="0"/>
          </a:p>
        </p:txBody>
      </p:sp>
      <p:sp>
        <p:nvSpPr>
          <p:cNvPr id="7" name="Shape 5"/>
          <p:cNvSpPr/>
          <p:nvPr/>
        </p:nvSpPr>
        <p:spPr>
          <a:xfrm>
            <a:off x="548640" y="1965960"/>
            <a:ext cx="3611880" cy="2103120"/>
          </a:xfrm>
          <a:prstGeom prst="roundRect">
            <a:avLst>
              <a:gd name="adj" fmla="val 3478"/>
            </a:avLst>
          </a:prstGeom>
          <a:solidFill>
            <a:srgbClr val="E8EEF9"/>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8" name="Text 6"/>
          <p:cNvSpPr/>
          <p:nvPr/>
        </p:nvSpPr>
        <p:spPr>
          <a:xfrm>
            <a:off x="777240" y="2148840"/>
            <a:ext cx="320040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Academic Life</a:t>
            </a:r>
            <a:endParaRPr lang="en-US" dirty="0"/>
          </a:p>
        </p:txBody>
      </p:sp>
      <p:sp>
        <p:nvSpPr>
          <p:cNvPr id="9" name="Text 7"/>
          <p:cNvSpPr/>
          <p:nvPr/>
        </p:nvSpPr>
        <p:spPr>
          <a:xfrm>
            <a:off x="777240" y="2560320"/>
            <a:ext cx="3200400" cy="1371600"/>
          </a:xfrm>
          <a:prstGeom prst="rect">
            <a:avLst/>
          </a:prstGeom>
          <a:noFill/>
          <a:ln/>
        </p:spPr>
        <p:txBody>
          <a:bodyPr wrap="square" rtlCol="0" anchor="ctr"/>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Emailing instructors, submitting assignments, requesting extensions, group project coordination.</a:t>
            </a:r>
            <a:endParaRPr lang="en-US" sz="1600" dirty="0"/>
          </a:p>
        </p:txBody>
      </p:sp>
      <p:sp>
        <p:nvSpPr>
          <p:cNvPr id="10" name="Shape 8"/>
          <p:cNvSpPr/>
          <p:nvPr/>
        </p:nvSpPr>
        <p:spPr>
          <a:xfrm>
            <a:off x="4343400" y="1965960"/>
            <a:ext cx="3611880" cy="2103120"/>
          </a:xfrm>
          <a:prstGeom prst="roundRect">
            <a:avLst>
              <a:gd name="adj" fmla="val 3478"/>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1" name="Text 9"/>
          <p:cNvSpPr/>
          <p:nvPr/>
        </p:nvSpPr>
        <p:spPr>
          <a:xfrm>
            <a:off x="4572000" y="2148840"/>
            <a:ext cx="320040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Professional Life</a:t>
            </a:r>
            <a:endParaRPr lang="en-US" dirty="0"/>
          </a:p>
        </p:txBody>
      </p:sp>
      <p:sp>
        <p:nvSpPr>
          <p:cNvPr id="12" name="Text 10"/>
          <p:cNvSpPr/>
          <p:nvPr/>
        </p:nvSpPr>
        <p:spPr>
          <a:xfrm>
            <a:off x="4572000" y="2560320"/>
            <a:ext cx="3200400" cy="1371600"/>
          </a:xfrm>
          <a:prstGeom prst="rect">
            <a:avLst/>
          </a:prstGeom>
          <a:noFill/>
          <a:ln/>
        </p:spPr>
        <p:txBody>
          <a:bodyPr wrap="square" rtlCol="0" anchor="ctr"/>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Job applications, client communication, meeting requests, official correspondence.</a:t>
            </a:r>
            <a:endParaRPr lang="en-US" sz="1600" dirty="0"/>
          </a:p>
        </p:txBody>
      </p:sp>
      <p:sp>
        <p:nvSpPr>
          <p:cNvPr id="13" name="Shape 11"/>
          <p:cNvSpPr/>
          <p:nvPr/>
        </p:nvSpPr>
        <p:spPr>
          <a:xfrm>
            <a:off x="8138160" y="1965960"/>
            <a:ext cx="3611880" cy="2103120"/>
          </a:xfrm>
          <a:prstGeom prst="roundRect">
            <a:avLst>
              <a:gd name="adj" fmla="val 3478"/>
            </a:avLst>
          </a:prstGeom>
          <a:solidFill>
            <a:srgbClr val="EAF6EC"/>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4" name="Text 12"/>
          <p:cNvSpPr/>
          <p:nvPr/>
        </p:nvSpPr>
        <p:spPr>
          <a:xfrm>
            <a:off x="8366760" y="2148840"/>
            <a:ext cx="3200400" cy="36576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Digital Identity</a:t>
            </a:r>
            <a:endParaRPr lang="en-US" dirty="0"/>
          </a:p>
        </p:txBody>
      </p:sp>
      <p:sp>
        <p:nvSpPr>
          <p:cNvPr id="15" name="Text 13"/>
          <p:cNvSpPr/>
          <p:nvPr/>
        </p:nvSpPr>
        <p:spPr>
          <a:xfrm>
            <a:off x="8366760" y="2560320"/>
            <a:ext cx="3200400" cy="1371600"/>
          </a:xfrm>
          <a:prstGeom prst="rect">
            <a:avLst/>
          </a:prstGeom>
          <a:noFill/>
          <a:ln/>
        </p:spPr>
        <p:txBody>
          <a:bodyPr wrap="square" rtlCol="0" anchor="ctr"/>
          <a:lstStyle/>
          <a:p>
            <a:pPr marL="0" indent="0">
              <a:lnSpc>
                <a:spcPts val="1700"/>
              </a:lnSpc>
              <a:buNone/>
            </a:pPr>
            <a:r>
              <a:rPr lang="en-US" sz="1600" dirty="0">
                <a:solidFill>
                  <a:srgbClr val="333333"/>
                </a:solidFill>
                <a:latin typeface="Calibri" pitchFamily="34" charset="0"/>
                <a:ea typeface="Calibri" pitchFamily="34" charset="-122"/>
                <a:cs typeface="Calibri" pitchFamily="34" charset="-120"/>
              </a:rPr>
              <a:t>Your email tone &amp; etiquette shape how others perceive your professionalism — permanently and in writing.</a:t>
            </a:r>
            <a:endParaRPr lang="en-US" sz="1600" dirty="0"/>
          </a:p>
        </p:txBody>
      </p:sp>
      <p:sp>
        <p:nvSpPr>
          <p:cNvPr id="16" name="Shape 14"/>
          <p:cNvSpPr/>
          <p:nvPr/>
        </p:nvSpPr>
        <p:spPr>
          <a:xfrm>
            <a:off x="548640" y="4343400"/>
            <a:ext cx="11064240" cy="1783080"/>
          </a:xfrm>
          <a:prstGeom prst="roundRect">
            <a:avLst>
              <a:gd name="adj" fmla="val 4103"/>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7" name="Text 15"/>
          <p:cNvSpPr/>
          <p:nvPr/>
        </p:nvSpPr>
        <p:spPr>
          <a:xfrm>
            <a:off x="822960" y="4498848"/>
            <a:ext cx="4572000" cy="274320"/>
          </a:xfrm>
          <a:prstGeom prst="rect">
            <a:avLst/>
          </a:prstGeom>
          <a:noFill/>
          <a:ln/>
        </p:spPr>
        <p:txBody>
          <a:bodyPr wrap="square" rtlCol="0" anchor="ctr"/>
          <a:lstStyle/>
          <a:p>
            <a:pPr marL="0" indent="0">
              <a:buNone/>
            </a:pPr>
            <a:r>
              <a:rPr lang="en-US" b="1" kern="0" spc="200" dirty="0">
                <a:solidFill>
                  <a:srgbClr val="B8860B"/>
                </a:solidFill>
                <a:latin typeface="Calibri" pitchFamily="34" charset="0"/>
                <a:ea typeface="Calibri" pitchFamily="34" charset="-122"/>
                <a:cs typeface="Calibri" pitchFamily="34" charset="-120"/>
              </a:rPr>
              <a:t>THE GOLDEN RULE</a:t>
            </a:r>
            <a:endParaRPr lang="en-US" dirty="0"/>
          </a:p>
        </p:txBody>
      </p:sp>
      <p:sp>
        <p:nvSpPr>
          <p:cNvPr id="18" name="Text 16"/>
          <p:cNvSpPr/>
          <p:nvPr/>
        </p:nvSpPr>
        <p:spPr>
          <a:xfrm>
            <a:off x="822960" y="4800600"/>
            <a:ext cx="10332720" cy="1188720"/>
          </a:xfrm>
          <a:prstGeom prst="rect">
            <a:avLst/>
          </a:prstGeom>
          <a:noFill/>
          <a:ln/>
        </p:spPr>
        <p:txBody>
          <a:bodyPr wrap="square" rtlCol="0" anchor="ctr"/>
          <a:lstStyle/>
          <a:p>
            <a:pPr marL="0" indent="0">
              <a:lnSpc>
                <a:spcPts val="2000"/>
              </a:lnSpc>
              <a:buNone/>
            </a:pPr>
            <a:r>
              <a:rPr lang="en-US" sz="1600" dirty="0">
                <a:solidFill>
                  <a:srgbClr val="222222"/>
                </a:solidFill>
                <a:latin typeface="Calibri" pitchFamily="34" charset="0"/>
                <a:ea typeface="Calibri" pitchFamily="34" charset="-122"/>
                <a:cs typeface="Calibri" pitchFamily="34" charset="-120"/>
              </a:rPr>
              <a:t>A formal email is a permanent, searchable, forwardable record of how you communicate. Unlike a spoken conversation, it cannot be un-said — which is exactly why structure, tone, and etiquette matter so much more here than in casual chat or texting.</a:t>
            </a:r>
            <a:endParaRPr lang="en-US" sz="1600" dirty="0"/>
          </a:p>
        </p:txBody>
      </p:sp>
      <p:sp>
        <p:nvSpPr>
          <p:cNvPr id="19" name="Text 17"/>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0" name="Text 18"/>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STRUCTURE &amp; COMPONENTS</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Anatomy of a Professional Email</a:t>
            </a:r>
            <a:endParaRPr lang="en-US" sz="2400" dirty="0"/>
          </a:p>
        </p:txBody>
      </p:sp>
      <p:sp>
        <p:nvSpPr>
          <p:cNvPr id="6" name="Shape 4"/>
          <p:cNvSpPr/>
          <p:nvPr/>
        </p:nvSpPr>
        <p:spPr>
          <a:xfrm>
            <a:off x="548640" y="1097280"/>
            <a:ext cx="5577840" cy="5212080"/>
          </a:xfrm>
          <a:prstGeom prst="roundRect">
            <a:avLst>
              <a:gd name="adj" fmla="val 1404"/>
            </a:avLst>
          </a:prstGeom>
          <a:solidFill>
            <a:srgbClr val="FCFCFD"/>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Shape 5"/>
          <p:cNvSpPr/>
          <p:nvPr/>
        </p:nvSpPr>
        <p:spPr>
          <a:xfrm>
            <a:off x="777240" y="1344168"/>
            <a:ext cx="320040" cy="320040"/>
          </a:xfrm>
          <a:prstGeom prst="roundRect">
            <a:avLst>
              <a:gd name="adj" fmla="val 17143"/>
            </a:avLst>
          </a:prstGeom>
          <a:solidFill>
            <a:srgbClr val="1F3864"/>
          </a:solidFill>
          <a:ln/>
        </p:spPr>
        <p:txBody>
          <a:bodyPr/>
          <a:lstStyle/>
          <a:p>
            <a:endParaRPr lang="en-US"/>
          </a:p>
        </p:txBody>
      </p:sp>
      <p:sp>
        <p:nvSpPr>
          <p:cNvPr id="8" name="Text 6"/>
          <p:cNvSpPr/>
          <p:nvPr/>
        </p:nvSpPr>
        <p:spPr>
          <a:xfrm>
            <a:off x="777240" y="134416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7"/>
          <p:cNvSpPr/>
          <p:nvPr/>
        </p:nvSpPr>
        <p:spPr>
          <a:xfrm>
            <a:off x="1234440" y="129844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Subject Line</a:t>
            </a:r>
            <a:endParaRPr lang="en-US" dirty="0"/>
          </a:p>
        </p:txBody>
      </p:sp>
      <p:sp>
        <p:nvSpPr>
          <p:cNvPr id="10" name="Text 8"/>
          <p:cNvSpPr/>
          <p:nvPr/>
        </p:nvSpPr>
        <p:spPr>
          <a:xfrm>
            <a:off x="1234440" y="155448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Specific and clear — e.g. "ICT 201 — Request for Assignment Extension" not "Question"</a:t>
            </a:r>
            <a:endParaRPr lang="en-US" sz="1600" dirty="0"/>
          </a:p>
        </p:txBody>
      </p:sp>
      <p:sp>
        <p:nvSpPr>
          <p:cNvPr id="11" name="Shape 9"/>
          <p:cNvSpPr/>
          <p:nvPr/>
        </p:nvSpPr>
        <p:spPr>
          <a:xfrm>
            <a:off x="777240" y="2121408"/>
            <a:ext cx="320040" cy="320040"/>
          </a:xfrm>
          <a:prstGeom prst="roundRect">
            <a:avLst>
              <a:gd name="adj" fmla="val 17143"/>
            </a:avLst>
          </a:prstGeom>
          <a:solidFill>
            <a:srgbClr val="1F3864"/>
          </a:solidFill>
          <a:ln/>
        </p:spPr>
        <p:txBody>
          <a:bodyPr/>
          <a:lstStyle/>
          <a:p>
            <a:endParaRPr lang="en-US"/>
          </a:p>
        </p:txBody>
      </p:sp>
      <p:sp>
        <p:nvSpPr>
          <p:cNvPr id="12" name="Text 10"/>
          <p:cNvSpPr/>
          <p:nvPr/>
        </p:nvSpPr>
        <p:spPr>
          <a:xfrm>
            <a:off x="777240" y="212140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1234440" y="207568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Greeting</a:t>
            </a:r>
            <a:endParaRPr lang="en-US" dirty="0"/>
          </a:p>
        </p:txBody>
      </p:sp>
      <p:sp>
        <p:nvSpPr>
          <p:cNvPr id="14" name="Text 12"/>
          <p:cNvSpPr/>
          <p:nvPr/>
        </p:nvSpPr>
        <p:spPr>
          <a:xfrm>
            <a:off x="1234440" y="233172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"Dear Dr. Shaukat," or "Respected Sir/Madam," — never "Hey" or no greeting at all</a:t>
            </a:r>
            <a:endParaRPr lang="en-US" sz="1600" dirty="0"/>
          </a:p>
        </p:txBody>
      </p:sp>
      <p:sp>
        <p:nvSpPr>
          <p:cNvPr id="15" name="Shape 13"/>
          <p:cNvSpPr/>
          <p:nvPr/>
        </p:nvSpPr>
        <p:spPr>
          <a:xfrm>
            <a:off x="777240" y="2898648"/>
            <a:ext cx="320040" cy="320040"/>
          </a:xfrm>
          <a:prstGeom prst="roundRect">
            <a:avLst>
              <a:gd name="adj" fmla="val 17143"/>
            </a:avLst>
          </a:prstGeom>
          <a:solidFill>
            <a:srgbClr val="1F3864"/>
          </a:solidFill>
          <a:ln/>
        </p:spPr>
        <p:txBody>
          <a:bodyPr/>
          <a:lstStyle/>
          <a:p>
            <a:endParaRPr lang="en-US"/>
          </a:p>
        </p:txBody>
      </p:sp>
      <p:sp>
        <p:nvSpPr>
          <p:cNvPr id="16" name="Text 14"/>
          <p:cNvSpPr/>
          <p:nvPr/>
        </p:nvSpPr>
        <p:spPr>
          <a:xfrm>
            <a:off x="777240" y="289864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7" name="Text 15"/>
          <p:cNvSpPr/>
          <p:nvPr/>
        </p:nvSpPr>
        <p:spPr>
          <a:xfrm>
            <a:off x="1234440" y="285292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Opening Line</a:t>
            </a:r>
            <a:endParaRPr lang="en-US" dirty="0"/>
          </a:p>
        </p:txBody>
      </p:sp>
      <p:sp>
        <p:nvSpPr>
          <p:cNvPr id="18" name="Text 16"/>
          <p:cNvSpPr/>
          <p:nvPr/>
        </p:nvSpPr>
        <p:spPr>
          <a:xfrm>
            <a:off x="1234440" y="310896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State your purpose in the first sentence — don’t bury the request</a:t>
            </a:r>
            <a:endParaRPr lang="en-US" sz="1600" dirty="0"/>
          </a:p>
        </p:txBody>
      </p:sp>
      <p:sp>
        <p:nvSpPr>
          <p:cNvPr id="19" name="Shape 17"/>
          <p:cNvSpPr/>
          <p:nvPr/>
        </p:nvSpPr>
        <p:spPr>
          <a:xfrm>
            <a:off x="777240" y="3675888"/>
            <a:ext cx="320040" cy="320040"/>
          </a:xfrm>
          <a:prstGeom prst="roundRect">
            <a:avLst>
              <a:gd name="adj" fmla="val 17143"/>
            </a:avLst>
          </a:prstGeom>
          <a:solidFill>
            <a:srgbClr val="1F3864"/>
          </a:solidFill>
          <a:ln/>
        </p:spPr>
        <p:txBody>
          <a:bodyPr/>
          <a:lstStyle/>
          <a:p>
            <a:endParaRPr lang="en-US"/>
          </a:p>
        </p:txBody>
      </p:sp>
      <p:sp>
        <p:nvSpPr>
          <p:cNvPr id="20" name="Text 18"/>
          <p:cNvSpPr/>
          <p:nvPr/>
        </p:nvSpPr>
        <p:spPr>
          <a:xfrm>
            <a:off x="777240" y="367588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1" name="Text 19"/>
          <p:cNvSpPr/>
          <p:nvPr/>
        </p:nvSpPr>
        <p:spPr>
          <a:xfrm>
            <a:off x="1234440" y="363016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Body</a:t>
            </a:r>
            <a:endParaRPr lang="en-US" dirty="0"/>
          </a:p>
        </p:txBody>
      </p:sp>
      <p:sp>
        <p:nvSpPr>
          <p:cNvPr id="22" name="Text 20"/>
          <p:cNvSpPr/>
          <p:nvPr/>
        </p:nvSpPr>
        <p:spPr>
          <a:xfrm>
            <a:off x="1234440" y="388620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Short paragraphs, one idea per paragraph, polite and direct tone</a:t>
            </a:r>
            <a:endParaRPr lang="en-US" sz="1600" dirty="0"/>
          </a:p>
        </p:txBody>
      </p:sp>
      <p:sp>
        <p:nvSpPr>
          <p:cNvPr id="23" name="Shape 21"/>
          <p:cNvSpPr/>
          <p:nvPr/>
        </p:nvSpPr>
        <p:spPr>
          <a:xfrm>
            <a:off x="777240" y="4453128"/>
            <a:ext cx="320040" cy="320040"/>
          </a:xfrm>
          <a:prstGeom prst="roundRect">
            <a:avLst>
              <a:gd name="adj" fmla="val 17143"/>
            </a:avLst>
          </a:prstGeom>
          <a:solidFill>
            <a:srgbClr val="1F3864"/>
          </a:solidFill>
          <a:ln/>
        </p:spPr>
        <p:txBody>
          <a:bodyPr/>
          <a:lstStyle/>
          <a:p>
            <a:endParaRPr lang="en-US"/>
          </a:p>
        </p:txBody>
      </p:sp>
      <p:sp>
        <p:nvSpPr>
          <p:cNvPr id="24" name="Text 22"/>
          <p:cNvSpPr/>
          <p:nvPr/>
        </p:nvSpPr>
        <p:spPr>
          <a:xfrm>
            <a:off x="777240" y="445312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5" name="Text 23"/>
          <p:cNvSpPr/>
          <p:nvPr/>
        </p:nvSpPr>
        <p:spPr>
          <a:xfrm>
            <a:off x="1234440" y="440740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Closing</a:t>
            </a:r>
            <a:endParaRPr lang="en-US" dirty="0"/>
          </a:p>
        </p:txBody>
      </p:sp>
      <p:sp>
        <p:nvSpPr>
          <p:cNvPr id="26" name="Text 24"/>
          <p:cNvSpPr/>
          <p:nvPr/>
        </p:nvSpPr>
        <p:spPr>
          <a:xfrm>
            <a:off x="1234440" y="466344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"Kind regards," / "Best regards," / "Sincerely,"</a:t>
            </a:r>
            <a:endParaRPr lang="en-US" sz="1600" dirty="0"/>
          </a:p>
        </p:txBody>
      </p:sp>
      <p:sp>
        <p:nvSpPr>
          <p:cNvPr id="27" name="Shape 25"/>
          <p:cNvSpPr/>
          <p:nvPr/>
        </p:nvSpPr>
        <p:spPr>
          <a:xfrm>
            <a:off x="777240" y="5230368"/>
            <a:ext cx="320040" cy="320040"/>
          </a:xfrm>
          <a:prstGeom prst="roundRect">
            <a:avLst>
              <a:gd name="adj" fmla="val 17143"/>
            </a:avLst>
          </a:prstGeom>
          <a:solidFill>
            <a:srgbClr val="1F3864"/>
          </a:solidFill>
          <a:ln/>
        </p:spPr>
        <p:txBody>
          <a:bodyPr/>
          <a:lstStyle/>
          <a:p>
            <a:endParaRPr lang="en-US"/>
          </a:p>
        </p:txBody>
      </p:sp>
      <p:sp>
        <p:nvSpPr>
          <p:cNvPr id="28" name="Text 26"/>
          <p:cNvSpPr/>
          <p:nvPr/>
        </p:nvSpPr>
        <p:spPr>
          <a:xfrm>
            <a:off x="777240" y="5230368"/>
            <a:ext cx="320040" cy="32004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29" name="Text 27"/>
          <p:cNvSpPr/>
          <p:nvPr/>
        </p:nvSpPr>
        <p:spPr>
          <a:xfrm>
            <a:off x="1234440" y="5184648"/>
            <a:ext cx="4663440" cy="27432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Signature</a:t>
            </a:r>
            <a:endParaRPr lang="en-US" dirty="0"/>
          </a:p>
        </p:txBody>
      </p:sp>
      <p:sp>
        <p:nvSpPr>
          <p:cNvPr id="30" name="Text 28"/>
          <p:cNvSpPr/>
          <p:nvPr/>
        </p:nvSpPr>
        <p:spPr>
          <a:xfrm>
            <a:off x="1234440" y="5440680"/>
            <a:ext cx="4709160" cy="50292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Full name, roll number, course, section — so the reader can identify you instantly</a:t>
            </a:r>
            <a:endParaRPr lang="en-US" sz="1600" dirty="0"/>
          </a:p>
        </p:txBody>
      </p:sp>
      <p:sp>
        <p:nvSpPr>
          <p:cNvPr id="31" name="Shape 29"/>
          <p:cNvSpPr/>
          <p:nvPr/>
        </p:nvSpPr>
        <p:spPr>
          <a:xfrm>
            <a:off x="6355080" y="1097280"/>
            <a:ext cx="5303520" cy="5212080"/>
          </a:xfrm>
          <a:prstGeom prst="roundRect">
            <a:avLst>
              <a:gd name="adj" fmla="val 1404"/>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dirty="0"/>
          </a:p>
        </p:txBody>
      </p:sp>
      <p:sp>
        <p:nvSpPr>
          <p:cNvPr id="32" name="Shape 30"/>
          <p:cNvSpPr/>
          <p:nvPr/>
        </p:nvSpPr>
        <p:spPr>
          <a:xfrm>
            <a:off x="6355080" y="1097280"/>
            <a:ext cx="5303520" cy="365760"/>
          </a:xfrm>
          <a:prstGeom prst="rect">
            <a:avLst/>
          </a:prstGeom>
          <a:solidFill>
            <a:srgbClr val="EEF1F5"/>
          </a:solidFill>
          <a:ln/>
        </p:spPr>
        <p:txBody>
          <a:bodyPr/>
          <a:lstStyle/>
          <a:p>
            <a:endParaRPr lang="en-US" sz="1600"/>
          </a:p>
        </p:txBody>
      </p:sp>
      <p:sp>
        <p:nvSpPr>
          <p:cNvPr id="33" name="Text 31"/>
          <p:cNvSpPr/>
          <p:nvPr/>
        </p:nvSpPr>
        <p:spPr>
          <a:xfrm>
            <a:off x="6492240" y="1161288"/>
            <a:ext cx="5029200" cy="256032"/>
          </a:xfrm>
          <a:prstGeom prst="rect">
            <a:avLst/>
          </a:prstGeom>
          <a:noFill/>
          <a:ln/>
        </p:spPr>
        <p:txBody>
          <a:bodyPr wrap="square" rtlCol="0" anchor="ctr"/>
          <a:lstStyle/>
          <a:p>
            <a:pPr marL="0" indent="0">
              <a:buNone/>
            </a:pPr>
            <a:r>
              <a:rPr lang="en-US" sz="1600" b="1" dirty="0">
                <a:solidFill>
                  <a:srgbClr val="222222"/>
                </a:solidFill>
                <a:latin typeface="Calibri" pitchFamily="34" charset="0"/>
                <a:ea typeface="Calibri" pitchFamily="34" charset="-122"/>
                <a:cs typeface="Calibri" pitchFamily="34" charset="-120"/>
              </a:rPr>
              <a:t>Subject: ICT 201 — Request for Assignment Extension</a:t>
            </a:r>
            <a:endParaRPr lang="en-US" sz="1600" dirty="0"/>
          </a:p>
        </p:txBody>
      </p:sp>
      <p:sp>
        <p:nvSpPr>
          <p:cNvPr id="34" name="Text 32"/>
          <p:cNvSpPr/>
          <p:nvPr/>
        </p:nvSpPr>
        <p:spPr>
          <a:xfrm>
            <a:off x="6492240" y="1508760"/>
            <a:ext cx="5029200" cy="4663440"/>
          </a:xfrm>
          <a:prstGeom prst="rect">
            <a:avLst/>
          </a:prstGeom>
          <a:noFill/>
          <a:ln/>
        </p:spPr>
        <p:txBody>
          <a:bodyPr wrap="square" rtlCol="0" anchor="ctr"/>
          <a:lstStyle/>
          <a:p>
            <a:pPr marL="0" indent="0">
              <a:lnSpc>
                <a:spcPts val="1500"/>
              </a:lnSpc>
              <a:buNone/>
            </a:pPr>
            <a:r>
              <a:rPr lang="en-US" sz="1600" b="1" dirty="0">
                <a:solidFill>
                  <a:srgbClr val="222222"/>
                </a:solidFill>
                <a:latin typeface="Calibri" pitchFamily="34" charset="0"/>
                <a:ea typeface="Calibri" pitchFamily="34" charset="-122"/>
                <a:cs typeface="Calibri" pitchFamily="34" charset="-120"/>
              </a:rPr>
              <a:t>Dear Dr. Shaukat,
</a:t>
            </a:r>
            <a:r>
              <a:rPr lang="en-US" sz="1600" dirty="0">
                <a:solidFill>
                  <a:srgbClr val="222222"/>
                </a:solidFill>
                <a:latin typeface="Calibri" pitchFamily="34" charset="0"/>
                <a:ea typeface="Calibri" pitchFamily="34" charset="-122"/>
                <a:cs typeface="Calibri" pitchFamily="34" charset="-120"/>
              </a:rPr>
              <a:t>I hope you are doing well. I am writing to request a short extension for Assignment 1, due to a medical appointment scheduled on the submission date.
I have attached a medical slip for your reference and will submit the assignment within 24 hours of the original deadline.
Thank you for your understanding.
</a:t>
            </a:r>
            <a:r>
              <a:rPr lang="en-US" sz="1600" b="1" dirty="0">
                <a:solidFill>
                  <a:srgbClr val="222222"/>
                </a:solidFill>
                <a:latin typeface="Calibri" pitchFamily="34" charset="0"/>
                <a:ea typeface="Calibri" pitchFamily="34" charset="-122"/>
                <a:cs typeface="Calibri" pitchFamily="34" charset="-120"/>
              </a:rPr>
              <a:t>Kind regards,
</a:t>
            </a:r>
            <a:r>
              <a:rPr lang="en-US" sz="1600" dirty="0">
                <a:solidFill>
                  <a:srgbClr val="222222"/>
                </a:solidFill>
                <a:latin typeface="Calibri" pitchFamily="34" charset="0"/>
                <a:ea typeface="Calibri" pitchFamily="34" charset="-122"/>
                <a:cs typeface="Calibri" pitchFamily="34" charset="-120"/>
              </a:rPr>
              <a:t>Ali Hassan</a:t>
            </a:r>
            <a:endParaRPr lang="en-US" sz="1600" dirty="0"/>
          </a:p>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Roll No: 02-134231-XXX</a:t>
            </a:r>
            <a:endParaRPr lang="en-US" sz="1600" dirty="0"/>
          </a:p>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BS Psychology, Section A</a:t>
            </a:r>
            <a:endParaRPr lang="en-US" sz="1600" dirty="0"/>
          </a:p>
          <a:p>
            <a:pPr marL="0" indent="0">
              <a:lnSpc>
                <a:spcPts val="1500"/>
              </a:lnSpc>
              <a:buNone/>
            </a:pPr>
            <a:r>
              <a:rPr lang="en-US" sz="1600" dirty="0">
                <a:solidFill>
                  <a:srgbClr val="222222"/>
                </a:solidFill>
                <a:latin typeface="Calibri" pitchFamily="34" charset="0"/>
                <a:ea typeface="Calibri" pitchFamily="34" charset="-122"/>
                <a:cs typeface="Calibri" pitchFamily="34" charset="-120"/>
              </a:rPr>
              <a:t>ICT 201</a:t>
            </a:r>
            <a:endParaRPr lang="en-US" sz="1600" dirty="0"/>
          </a:p>
        </p:txBody>
      </p:sp>
      <p:sp>
        <p:nvSpPr>
          <p:cNvPr id="35" name="Text 33"/>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36" name="Text 34"/>
          <p:cNvSpPr/>
          <p:nvPr/>
        </p:nvSpPr>
        <p:spPr>
          <a:xfrm>
            <a:off x="11521440" y="6565392"/>
            <a:ext cx="457200" cy="274320"/>
          </a:xfrm>
          <a:prstGeom prst="rect">
            <a:avLst/>
          </a:prstGeom>
          <a:noFill/>
          <a:ln/>
        </p:spPr>
        <p:txBody>
          <a:bodyPr wrap="square" rtlCol="0" anchor="ctr"/>
          <a:lstStyle/>
          <a:p>
            <a:pPr marL="0" indent="0" algn="r">
              <a:buNone/>
            </a:pPr>
            <a:r>
              <a:rPr lang="en-US" sz="1600" dirty="0">
                <a:solidFill>
                  <a:srgbClr val="A6A6A6"/>
                </a:solidFill>
                <a:latin typeface="Calibri" pitchFamily="34" charset="0"/>
                <a:ea typeface="Calibri" pitchFamily="34" charset="-122"/>
                <a:cs typeface="Calibri" pitchFamily="34" charset="-120"/>
              </a:rPr>
              <a:t>4</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COMMON MISTAKES TO AVOID</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Email Etiquette — Do’s and Don’ts</a:t>
            </a:r>
            <a:endParaRPr lang="en-US" sz="2400" dirty="0"/>
          </a:p>
        </p:txBody>
      </p:sp>
      <p:sp>
        <p:nvSpPr>
          <p:cNvPr id="6" name="Shape 4"/>
          <p:cNvSpPr/>
          <p:nvPr/>
        </p:nvSpPr>
        <p:spPr>
          <a:xfrm>
            <a:off x="548640" y="1143000"/>
            <a:ext cx="5440680" cy="5166360"/>
          </a:xfrm>
          <a:prstGeom prst="roundRect">
            <a:avLst>
              <a:gd name="adj" fmla="val 1416"/>
            </a:avLst>
          </a:prstGeom>
          <a:solidFill>
            <a:srgbClr val="EAF6EC"/>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7" name="Text 5"/>
          <p:cNvSpPr/>
          <p:nvPr/>
        </p:nvSpPr>
        <p:spPr>
          <a:xfrm>
            <a:off x="822960" y="1280160"/>
            <a:ext cx="2743200" cy="365760"/>
          </a:xfrm>
          <a:prstGeom prst="rect">
            <a:avLst/>
          </a:prstGeom>
          <a:noFill/>
          <a:ln/>
        </p:spPr>
        <p:txBody>
          <a:bodyPr wrap="square" rtlCol="0" anchor="ctr"/>
          <a:lstStyle/>
          <a:p>
            <a:pPr marL="0" indent="0">
              <a:buNone/>
            </a:pPr>
            <a:r>
              <a:rPr lang="en-US" b="1" dirty="0">
                <a:solidFill>
                  <a:srgbClr val="1E7A34"/>
                </a:solidFill>
                <a:latin typeface="Calibri" pitchFamily="34" charset="0"/>
                <a:ea typeface="Calibri" pitchFamily="34" charset="-122"/>
                <a:cs typeface="Calibri" pitchFamily="34" charset="-120"/>
              </a:rPr>
              <a:t>DO</a:t>
            </a:r>
            <a:endParaRPr lang="en-US" dirty="0"/>
          </a:p>
        </p:txBody>
      </p:sp>
      <p:sp>
        <p:nvSpPr>
          <p:cNvPr id="8" name="Text 6"/>
          <p:cNvSpPr/>
          <p:nvPr/>
        </p:nvSpPr>
        <p:spPr>
          <a:xfrm>
            <a:off x="822960" y="1783080"/>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9" name="Text 7"/>
          <p:cNvSpPr/>
          <p:nvPr/>
        </p:nvSpPr>
        <p:spPr>
          <a:xfrm>
            <a:off x="1143000" y="1783080"/>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Use a specific, informative subject line</a:t>
            </a:r>
            <a:endParaRPr lang="en-US" sz="1600" dirty="0"/>
          </a:p>
        </p:txBody>
      </p:sp>
      <p:sp>
        <p:nvSpPr>
          <p:cNvPr id="10" name="Text 8"/>
          <p:cNvSpPr/>
          <p:nvPr/>
        </p:nvSpPr>
        <p:spPr>
          <a:xfrm>
            <a:off x="822960" y="2404872"/>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143000" y="2404872"/>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Address the recipient formally and correctly</a:t>
            </a:r>
            <a:endParaRPr lang="en-US" sz="1600" dirty="0"/>
          </a:p>
        </p:txBody>
      </p:sp>
      <p:sp>
        <p:nvSpPr>
          <p:cNvPr id="12" name="Text 10"/>
          <p:cNvSpPr/>
          <p:nvPr/>
        </p:nvSpPr>
        <p:spPr>
          <a:xfrm>
            <a:off x="822960" y="3026664"/>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143000" y="3026664"/>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Proofread before sending (spelling, tone, attachments)</a:t>
            </a:r>
            <a:endParaRPr lang="en-US" sz="1600" dirty="0"/>
          </a:p>
        </p:txBody>
      </p:sp>
      <p:sp>
        <p:nvSpPr>
          <p:cNvPr id="14" name="Text 12"/>
          <p:cNvSpPr/>
          <p:nvPr/>
        </p:nvSpPr>
        <p:spPr>
          <a:xfrm>
            <a:off x="822960" y="3648456"/>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143000" y="3648456"/>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Use CC to keep relevant people informed</a:t>
            </a:r>
            <a:endParaRPr lang="en-US" sz="1600" dirty="0"/>
          </a:p>
        </p:txBody>
      </p:sp>
      <p:sp>
        <p:nvSpPr>
          <p:cNvPr id="16" name="Text 14"/>
          <p:cNvSpPr/>
          <p:nvPr/>
        </p:nvSpPr>
        <p:spPr>
          <a:xfrm>
            <a:off x="822960" y="4270248"/>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143000" y="4270248"/>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Reply within a reasonable time (24-48 hrs academic norm)</a:t>
            </a:r>
            <a:endParaRPr lang="en-US" sz="1600" dirty="0"/>
          </a:p>
        </p:txBody>
      </p:sp>
      <p:sp>
        <p:nvSpPr>
          <p:cNvPr id="18" name="Text 16"/>
          <p:cNvSpPr/>
          <p:nvPr/>
        </p:nvSpPr>
        <p:spPr>
          <a:xfrm>
            <a:off x="822960" y="4892040"/>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143000" y="4892040"/>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Keep the message concise and purposeful</a:t>
            </a:r>
            <a:endParaRPr lang="en-US" sz="1600" dirty="0"/>
          </a:p>
        </p:txBody>
      </p:sp>
      <p:sp>
        <p:nvSpPr>
          <p:cNvPr id="20" name="Text 18"/>
          <p:cNvSpPr/>
          <p:nvPr/>
        </p:nvSpPr>
        <p:spPr>
          <a:xfrm>
            <a:off x="822960" y="5513832"/>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21" name="Text 19"/>
          <p:cNvSpPr/>
          <p:nvPr/>
        </p:nvSpPr>
        <p:spPr>
          <a:xfrm>
            <a:off x="1143000" y="5513832"/>
            <a:ext cx="470916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Use a professional email signature</a:t>
            </a:r>
            <a:endParaRPr lang="en-US" sz="1600" dirty="0"/>
          </a:p>
        </p:txBody>
      </p:sp>
      <p:sp>
        <p:nvSpPr>
          <p:cNvPr id="22" name="Shape 20"/>
          <p:cNvSpPr/>
          <p:nvPr/>
        </p:nvSpPr>
        <p:spPr>
          <a:xfrm>
            <a:off x="6172200" y="1143000"/>
            <a:ext cx="5486400" cy="5166360"/>
          </a:xfrm>
          <a:prstGeom prst="roundRect">
            <a:avLst>
              <a:gd name="adj" fmla="val 1416"/>
            </a:avLst>
          </a:prstGeom>
          <a:solidFill>
            <a:srgbClr val="FBEAE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23" name="Text 21"/>
          <p:cNvSpPr/>
          <p:nvPr/>
        </p:nvSpPr>
        <p:spPr>
          <a:xfrm>
            <a:off x="6446520" y="1280160"/>
            <a:ext cx="2743200" cy="365760"/>
          </a:xfrm>
          <a:prstGeom prst="rect">
            <a:avLst/>
          </a:prstGeom>
          <a:noFill/>
          <a:ln/>
        </p:spPr>
        <p:txBody>
          <a:bodyPr wrap="square" rtlCol="0" anchor="ctr"/>
          <a:lstStyle/>
          <a:p>
            <a:pPr marL="0" indent="0">
              <a:buNone/>
            </a:pPr>
            <a:r>
              <a:rPr lang="en-US" b="1" dirty="0">
                <a:solidFill>
                  <a:srgbClr val="C0392B"/>
                </a:solidFill>
                <a:latin typeface="Calibri" pitchFamily="34" charset="0"/>
                <a:ea typeface="Calibri" pitchFamily="34" charset="-122"/>
                <a:cs typeface="Calibri" pitchFamily="34" charset="-120"/>
              </a:rPr>
              <a:t>DON’T</a:t>
            </a:r>
            <a:endParaRPr lang="en-US" dirty="0"/>
          </a:p>
        </p:txBody>
      </p:sp>
      <p:sp>
        <p:nvSpPr>
          <p:cNvPr id="24" name="Text 22"/>
          <p:cNvSpPr/>
          <p:nvPr/>
        </p:nvSpPr>
        <p:spPr>
          <a:xfrm>
            <a:off x="6446520" y="1783080"/>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6766560" y="1783080"/>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Use texting language ("u", "pls", emojis) in formal mail</a:t>
            </a:r>
            <a:endParaRPr lang="en-US" sz="1600" dirty="0"/>
          </a:p>
        </p:txBody>
      </p:sp>
      <p:sp>
        <p:nvSpPr>
          <p:cNvPr id="26" name="Text 24"/>
          <p:cNvSpPr/>
          <p:nvPr/>
        </p:nvSpPr>
        <p:spPr>
          <a:xfrm>
            <a:off x="6446520" y="2404872"/>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6766560" y="2404872"/>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Leave the subject line blank or vague ("Hi", "Query")</a:t>
            </a:r>
            <a:endParaRPr lang="en-US" sz="1600" dirty="0"/>
          </a:p>
        </p:txBody>
      </p:sp>
      <p:sp>
        <p:nvSpPr>
          <p:cNvPr id="28" name="Text 26"/>
          <p:cNvSpPr/>
          <p:nvPr/>
        </p:nvSpPr>
        <p:spPr>
          <a:xfrm>
            <a:off x="6446520" y="3026664"/>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6766560" y="3026664"/>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Use "Reply All" unless everyone truly needs the reply</a:t>
            </a:r>
            <a:endParaRPr lang="en-US" sz="1600" dirty="0"/>
          </a:p>
        </p:txBody>
      </p:sp>
      <p:sp>
        <p:nvSpPr>
          <p:cNvPr id="30" name="Text 28"/>
          <p:cNvSpPr/>
          <p:nvPr/>
        </p:nvSpPr>
        <p:spPr>
          <a:xfrm>
            <a:off x="6446520" y="3648456"/>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6766560" y="3648456"/>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Send without checking the correct recipient/attachment</a:t>
            </a:r>
            <a:endParaRPr lang="en-US" sz="1600" dirty="0"/>
          </a:p>
        </p:txBody>
      </p:sp>
      <p:sp>
        <p:nvSpPr>
          <p:cNvPr id="32" name="Text 30"/>
          <p:cNvSpPr/>
          <p:nvPr/>
        </p:nvSpPr>
        <p:spPr>
          <a:xfrm>
            <a:off x="6446520" y="4270248"/>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6766560" y="4270248"/>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Write in ALL CAPS (reads as shouting)</a:t>
            </a:r>
            <a:endParaRPr lang="en-US" sz="1600" dirty="0"/>
          </a:p>
        </p:txBody>
      </p:sp>
      <p:sp>
        <p:nvSpPr>
          <p:cNvPr id="34" name="Text 32"/>
          <p:cNvSpPr/>
          <p:nvPr/>
        </p:nvSpPr>
        <p:spPr>
          <a:xfrm>
            <a:off x="6446520" y="4892040"/>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5" name="Text 33"/>
          <p:cNvSpPr/>
          <p:nvPr/>
        </p:nvSpPr>
        <p:spPr>
          <a:xfrm>
            <a:off x="6766560" y="4892040"/>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Send follow-ups within minutes — allow reasonable time</a:t>
            </a:r>
            <a:endParaRPr lang="en-US" sz="1600" dirty="0"/>
          </a:p>
        </p:txBody>
      </p:sp>
      <p:sp>
        <p:nvSpPr>
          <p:cNvPr id="36" name="Text 34"/>
          <p:cNvSpPr/>
          <p:nvPr/>
        </p:nvSpPr>
        <p:spPr>
          <a:xfrm>
            <a:off x="6446520" y="5513832"/>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37" name="Text 35"/>
          <p:cNvSpPr/>
          <p:nvPr/>
        </p:nvSpPr>
        <p:spPr>
          <a:xfrm>
            <a:off x="6766560" y="5513832"/>
            <a:ext cx="4754880" cy="50292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Forget a closing line or your name/identification</a:t>
            </a:r>
            <a:endParaRPr lang="en-US" sz="1600" dirty="0"/>
          </a:p>
        </p:txBody>
      </p:sp>
      <p:sp>
        <p:nvSpPr>
          <p:cNvPr id="38" name="Text 3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39" name="Text 3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2B4D"/>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pic>
        <p:nvPicPr>
          <p:cNvPr id="3" name="Image 0" descr="logos/gmail_icon.png"/>
          <p:cNvPicPr>
            <a:picLocks noChangeAspect="1"/>
          </p:cNvPicPr>
          <p:nvPr/>
        </p:nvPicPr>
        <p:blipFill>
          <a:blip r:embed="rId3"/>
          <a:stretch>
            <a:fillRect/>
          </a:stretch>
        </p:blipFill>
        <p:spPr>
          <a:xfrm>
            <a:off x="5349240" y="1371600"/>
            <a:ext cx="1463040" cy="1463040"/>
          </a:xfrm>
          <a:prstGeom prst="rect">
            <a:avLst/>
          </a:prstGeom>
        </p:spPr>
      </p:pic>
      <p:sp>
        <p:nvSpPr>
          <p:cNvPr id="4" name="Text 1"/>
          <p:cNvSpPr/>
          <p:nvPr/>
        </p:nvSpPr>
        <p:spPr>
          <a:xfrm>
            <a:off x="822960" y="3108960"/>
            <a:ext cx="10515600" cy="457200"/>
          </a:xfrm>
          <a:prstGeom prst="rect">
            <a:avLst/>
          </a:prstGeom>
          <a:noFill/>
          <a:ln/>
        </p:spPr>
        <p:txBody>
          <a:bodyPr wrap="square" rtlCol="0" anchor="ctr"/>
          <a:lstStyle/>
          <a:p>
            <a:pPr marL="0" indent="0" algn="ctr">
              <a:buNone/>
            </a:pPr>
            <a:r>
              <a:rPr lang="en-US" sz="1600" b="1" kern="0" spc="300" dirty="0">
                <a:solidFill>
                  <a:srgbClr val="D8B84A"/>
                </a:solidFill>
                <a:latin typeface="Calibri" pitchFamily="34" charset="0"/>
                <a:ea typeface="Calibri" pitchFamily="34" charset="-122"/>
                <a:cs typeface="Calibri" pitchFamily="34" charset="-120"/>
              </a:rPr>
              <a:t>PART 1: GMAIL</a:t>
            </a:r>
            <a:endParaRPr lang="en-US" sz="1600" dirty="0"/>
          </a:p>
        </p:txBody>
      </p:sp>
      <p:sp>
        <p:nvSpPr>
          <p:cNvPr id="5" name="Text 2"/>
          <p:cNvSpPr/>
          <p:nvPr/>
        </p:nvSpPr>
        <p:spPr>
          <a:xfrm>
            <a:off x="822960" y="3566160"/>
            <a:ext cx="10515600" cy="731520"/>
          </a:xfrm>
          <a:prstGeom prst="rect">
            <a:avLst/>
          </a:prstGeom>
          <a:noFill/>
          <a:ln/>
        </p:spPr>
        <p:txBody>
          <a:bodyPr wrap="square" rtlCol="0" anchor="ctr"/>
          <a:lstStyle/>
          <a:p>
            <a:pPr marL="0" indent="0" algn="ctr">
              <a:buNone/>
            </a:pPr>
            <a:r>
              <a:rPr lang="en-US" sz="3000" b="1" dirty="0">
                <a:solidFill>
                  <a:srgbClr val="FFFFFF"/>
                </a:solidFill>
                <a:latin typeface="Calibri" pitchFamily="34" charset="0"/>
                <a:ea typeface="Calibri" pitchFamily="34" charset="-122"/>
                <a:cs typeface="Calibri" pitchFamily="34" charset="-120"/>
              </a:rPr>
              <a:t>Composition, Organization, Settings &amp; Security</a:t>
            </a:r>
            <a:endParaRPr lang="en-US" sz="3000" dirty="0"/>
          </a:p>
        </p:txBody>
      </p:sp>
      <p:sp>
        <p:nvSpPr>
          <p:cNvPr id="6" name="Text 3"/>
          <p:cNvSpPr/>
          <p:nvPr/>
        </p:nvSpPr>
        <p:spPr>
          <a:xfrm>
            <a:off x="822960" y="4297680"/>
            <a:ext cx="10515600" cy="457200"/>
          </a:xfrm>
          <a:prstGeom prst="rect">
            <a:avLst/>
          </a:prstGeom>
          <a:noFill/>
          <a:ln/>
        </p:spPr>
        <p:txBody>
          <a:bodyPr wrap="square" rtlCol="0" anchor="ctr"/>
          <a:lstStyle/>
          <a:p>
            <a:pPr marL="0" indent="0" algn="ctr">
              <a:buNone/>
            </a:pPr>
            <a:r>
              <a:rPr lang="en-US" sz="1600" i="1" dirty="0">
                <a:solidFill>
                  <a:srgbClr val="C7D0E0"/>
                </a:solidFill>
                <a:latin typeface="Calibri" pitchFamily="34" charset="0"/>
                <a:ea typeface="Calibri" pitchFamily="34" charset="-122"/>
                <a:cs typeface="Calibri" pitchFamily="34" charset="-120"/>
              </a:rPr>
              <a:t>The most widely used email platform — explored feature by feature</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Interface — Inbox Overview</a:t>
            </a:r>
            <a:endParaRPr lang="en-US" sz="2400" dirty="0"/>
          </a:p>
        </p:txBody>
      </p:sp>
      <p:pic>
        <p:nvPicPr>
          <p:cNvPr id="6" name="Image 0" descr="mockups/gmail_inbox.png"/>
          <p:cNvPicPr>
            <a:picLocks noChangeAspect="1"/>
          </p:cNvPicPr>
          <p:nvPr/>
        </p:nvPicPr>
        <p:blipFill>
          <a:blip r:embed="rId3"/>
          <a:stretch>
            <a:fillRect/>
          </a:stretch>
        </p:blipFill>
        <p:spPr>
          <a:xfrm>
            <a:off x="457200" y="1097280"/>
            <a:ext cx="7315200" cy="4700016"/>
          </a:xfrm>
          <a:prstGeom prst="rect">
            <a:avLst/>
          </a:prstGeom>
        </p:spPr>
      </p:pic>
      <p:sp>
        <p:nvSpPr>
          <p:cNvPr id="7" name="Shape 4"/>
          <p:cNvSpPr/>
          <p:nvPr/>
        </p:nvSpPr>
        <p:spPr>
          <a:xfrm>
            <a:off x="8001000" y="1097280"/>
            <a:ext cx="3703320" cy="5212080"/>
          </a:xfrm>
          <a:prstGeom prst="roundRect">
            <a:avLst>
              <a:gd name="adj" fmla="val 1975"/>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8" name="Text 5"/>
          <p:cNvSpPr/>
          <p:nvPr/>
        </p:nvSpPr>
        <p:spPr>
          <a:xfrm>
            <a:off x="8229600" y="1234440"/>
            <a:ext cx="3200400" cy="274320"/>
          </a:xfrm>
          <a:prstGeom prst="rect">
            <a:avLst/>
          </a:prstGeom>
          <a:noFill/>
          <a:ln/>
        </p:spPr>
        <p:txBody>
          <a:bodyPr wrap="square" rtlCol="0" anchor="ctr"/>
          <a:lstStyle/>
          <a:p>
            <a:pPr marL="0" indent="0">
              <a:buNone/>
            </a:pPr>
            <a:r>
              <a:rPr lang="en-US" b="1" kern="0" spc="200" dirty="0">
                <a:solidFill>
                  <a:srgbClr val="B8860B"/>
                </a:solidFill>
                <a:latin typeface="Calibri" pitchFamily="34" charset="0"/>
                <a:ea typeface="Calibri" pitchFamily="34" charset="-122"/>
                <a:cs typeface="Calibri" pitchFamily="34" charset="-120"/>
              </a:rPr>
              <a:t>KEY ZONES</a:t>
            </a:r>
            <a:endParaRPr lang="en-US" dirty="0"/>
          </a:p>
        </p:txBody>
      </p:sp>
      <p:sp>
        <p:nvSpPr>
          <p:cNvPr id="9" name="Text 6"/>
          <p:cNvSpPr/>
          <p:nvPr/>
        </p:nvSpPr>
        <p:spPr>
          <a:xfrm>
            <a:off x="8229600" y="1600200"/>
            <a:ext cx="3291840" cy="256032"/>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Compose button</a:t>
            </a:r>
            <a:endParaRPr lang="en-US" dirty="0"/>
          </a:p>
        </p:txBody>
      </p:sp>
      <p:sp>
        <p:nvSpPr>
          <p:cNvPr id="10" name="Text 7"/>
          <p:cNvSpPr/>
          <p:nvPr/>
        </p:nvSpPr>
        <p:spPr>
          <a:xfrm>
            <a:off x="8229600" y="1837944"/>
            <a:ext cx="3291840" cy="41148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Starts a new email draft</a:t>
            </a:r>
            <a:endParaRPr lang="en-US" sz="1600" dirty="0"/>
          </a:p>
        </p:txBody>
      </p:sp>
      <p:sp>
        <p:nvSpPr>
          <p:cNvPr id="11" name="Text 8"/>
          <p:cNvSpPr/>
          <p:nvPr/>
        </p:nvSpPr>
        <p:spPr>
          <a:xfrm>
            <a:off x="8229600" y="2423160"/>
            <a:ext cx="3291840" cy="256032"/>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Navigation pane</a:t>
            </a:r>
            <a:endParaRPr lang="en-US" dirty="0"/>
          </a:p>
        </p:txBody>
      </p:sp>
      <p:sp>
        <p:nvSpPr>
          <p:cNvPr id="12" name="Text 9"/>
          <p:cNvSpPr/>
          <p:nvPr/>
        </p:nvSpPr>
        <p:spPr>
          <a:xfrm>
            <a:off x="8229600" y="2660904"/>
            <a:ext cx="3291840" cy="41148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Inbox, Starred, Snoozed, Sent, Drafts</a:t>
            </a:r>
            <a:endParaRPr lang="en-US" sz="1600" dirty="0"/>
          </a:p>
        </p:txBody>
      </p:sp>
      <p:sp>
        <p:nvSpPr>
          <p:cNvPr id="13" name="Text 10"/>
          <p:cNvSpPr/>
          <p:nvPr/>
        </p:nvSpPr>
        <p:spPr>
          <a:xfrm>
            <a:off x="8229600" y="3246120"/>
            <a:ext cx="3291840" cy="256032"/>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Labels</a:t>
            </a:r>
            <a:endParaRPr lang="en-US" dirty="0"/>
          </a:p>
        </p:txBody>
      </p:sp>
      <p:sp>
        <p:nvSpPr>
          <p:cNvPr id="14" name="Text 11"/>
          <p:cNvSpPr/>
          <p:nvPr/>
        </p:nvSpPr>
        <p:spPr>
          <a:xfrm>
            <a:off x="8229600" y="3483864"/>
            <a:ext cx="3291840" cy="41148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Custom color-coded organization tags</a:t>
            </a:r>
            <a:endParaRPr lang="en-US" sz="1600" dirty="0"/>
          </a:p>
        </p:txBody>
      </p:sp>
      <p:sp>
        <p:nvSpPr>
          <p:cNvPr id="15" name="Text 12"/>
          <p:cNvSpPr/>
          <p:nvPr/>
        </p:nvSpPr>
        <p:spPr>
          <a:xfrm>
            <a:off x="8229600" y="4069080"/>
            <a:ext cx="3291840" cy="256032"/>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Category tabs</a:t>
            </a:r>
            <a:endParaRPr lang="en-US" dirty="0"/>
          </a:p>
        </p:txBody>
      </p:sp>
      <p:sp>
        <p:nvSpPr>
          <p:cNvPr id="16" name="Text 13"/>
          <p:cNvSpPr/>
          <p:nvPr/>
        </p:nvSpPr>
        <p:spPr>
          <a:xfrm>
            <a:off x="8229600" y="4306824"/>
            <a:ext cx="3291840" cy="41148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Primary / Social / Promotions auto-sort</a:t>
            </a:r>
            <a:endParaRPr lang="en-US" sz="1600" dirty="0"/>
          </a:p>
        </p:txBody>
      </p:sp>
      <p:sp>
        <p:nvSpPr>
          <p:cNvPr id="17" name="Text 14"/>
          <p:cNvSpPr/>
          <p:nvPr/>
        </p:nvSpPr>
        <p:spPr>
          <a:xfrm>
            <a:off x="8229600" y="4892040"/>
            <a:ext cx="3291840" cy="256032"/>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Message list</a:t>
            </a:r>
            <a:endParaRPr lang="en-US" dirty="0"/>
          </a:p>
        </p:txBody>
      </p:sp>
      <p:sp>
        <p:nvSpPr>
          <p:cNvPr id="18" name="Text 15"/>
          <p:cNvSpPr/>
          <p:nvPr/>
        </p:nvSpPr>
        <p:spPr>
          <a:xfrm>
            <a:off x="8229600" y="5129784"/>
            <a:ext cx="3291840" cy="411480"/>
          </a:xfrm>
          <a:prstGeom prst="rect">
            <a:avLst/>
          </a:prstGeom>
          <a:noFill/>
          <a:ln/>
        </p:spPr>
        <p:txBody>
          <a:bodyPr wrap="square" rtlCol="0" anchor="ctr"/>
          <a:lstStyle/>
          <a:p>
            <a:pPr marL="0" indent="0">
              <a:lnSpc>
                <a:spcPts val="1300"/>
              </a:lnSpc>
              <a:buNone/>
            </a:pPr>
            <a:r>
              <a:rPr lang="en-US" sz="1600" dirty="0">
                <a:solidFill>
                  <a:srgbClr val="595959"/>
                </a:solidFill>
                <a:latin typeface="Calibri" pitchFamily="34" charset="0"/>
                <a:ea typeface="Calibri" pitchFamily="34" charset="-122"/>
                <a:cs typeface="Calibri" pitchFamily="34" charset="-120"/>
              </a:rPr>
              <a:t>Sender, subject, snippet preview, timestamp</a:t>
            </a:r>
            <a:endParaRPr lang="en-US" sz="1600" dirty="0"/>
          </a:p>
        </p:txBody>
      </p:sp>
      <p:sp>
        <p:nvSpPr>
          <p:cNvPr id="19"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0"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Composition Tools</a:t>
            </a:r>
            <a:endParaRPr lang="en-US" sz="2400" dirty="0"/>
          </a:p>
        </p:txBody>
      </p:sp>
      <p:pic>
        <p:nvPicPr>
          <p:cNvPr id="6" name="Image 0" descr="mockups/gmail_compose.png"/>
          <p:cNvPicPr>
            <a:picLocks noChangeAspect="1"/>
          </p:cNvPicPr>
          <p:nvPr/>
        </p:nvPicPr>
        <p:blipFill>
          <a:blip r:embed="rId3"/>
          <a:stretch>
            <a:fillRect/>
          </a:stretch>
        </p:blipFill>
        <p:spPr>
          <a:xfrm>
            <a:off x="457200" y="1097280"/>
            <a:ext cx="5212080" cy="4343400"/>
          </a:xfrm>
          <a:prstGeom prst="rect">
            <a:avLst/>
          </a:prstGeom>
        </p:spPr>
      </p:pic>
      <p:sp>
        <p:nvSpPr>
          <p:cNvPr id="7" name="Shape 4"/>
          <p:cNvSpPr/>
          <p:nvPr/>
        </p:nvSpPr>
        <p:spPr>
          <a:xfrm>
            <a:off x="5852160" y="109728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8" name="Text 5"/>
          <p:cNvSpPr/>
          <p:nvPr/>
        </p:nvSpPr>
        <p:spPr>
          <a:xfrm>
            <a:off x="5989320" y="118872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Smart Compose</a:t>
            </a:r>
            <a:endParaRPr lang="en-US" dirty="0"/>
          </a:p>
        </p:txBody>
      </p:sp>
      <p:sp>
        <p:nvSpPr>
          <p:cNvPr id="9" name="Text 6"/>
          <p:cNvSpPr/>
          <p:nvPr/>
        </p:nvSpPr>
        <p:spPr>
          <a:xfrm>
            <a:off x="5989320" y="150876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Predicts and suggests the rest of your sentence as you type — press Tab to accept.</a:t>
            </a:r>
            <a:endParaRPr lang="en-US" sz="1600" dirty="0"/>
          </a:p>
        </p:txBody>
      </p:sp>
      <p:sp>
        <p:nvSpPr>
          <p:cNvPr id="10" name="Shape 7"/>
          <p:cNvSpPr/>
          <p:nvPr/>
        </p:nvSpPr>
        <p:spPr>
          <a:xfrm>
            <a:off x="8869680" y="109728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11" name="Text 8"/>
          <p:cNvSpPr/>
          <p:nvPr/>
        </p:nvSpPr>
        <p:spPr>
          <a:xfrm>
            <a:off x="9006840" y="118872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Smart Reply</a:t>
            </a:r>
            <a:endParaRPr lang="en-US" dirty="0"/>
          </a:p>
        </p:txBody>
      </p:sp>
      <p:sp>
        <p:nvSpPr>
          <p:cNvPr id="12" name="Text 9"/>
          <p:cNvSpPr/>
          <p:nvPr/>
        </p:nvSpPr>
        <p:spPr>
          <a:xfrm>
            <a:off x="9006840" y="150876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Offers short one-click reply suggestions based on the message content.</a:t>
            </a:r>
            <a:endParaRPr lang="en-US" sz="1600" dirty="0"/>
          </a:p>
        </p:txBody>
      </p:sp>
      <p:sp>
        <p:nvSpPr>
          <p:cNvPr id="13" name="Shape 10"/>
          <p:cNvSpPr/>
          <p:nvPr/>
        </p:nvSpPr>
        <p:spPr>
          <a:xfrm>
            <a:off x="5852160" y="256032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14" name="Text 11"/>
          <p:cNvSpPr/>
          <p:nvPr/>
        </p:nvSpPr>
        <p:spPr>
          <a:xfrm>
            <a:off x="5989320" y="265176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Formatting toolbar</a:t>
            </a:r>
            <a:endParaRPr lang="en-US" dirty="0"/>
          </a:p>
        </p:txBody>
      </p:sp>
      <p:sp>
        <p:nvSpPr>
          <p:cNvPr id="15" name="Text 12"/>
          <p:cNvSpPr/>
          <p:nvPr/>
        </p:nvSpPr>
        <p:spPr>
          <a:xfrm>
            <a:off x="5989320" y="297180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Bold, italics, bullet lists, text color, and font size for rich text emails.</a:t>
            </a:r>
            <a:endParaRPr lang="en-US" sz="1600" dirty="0"/>
          </a:p>
        </p:txBody>
      </p:sp>
      <p:sp>
        <p:nvSpPr>
          <p:cNvPr id="16" name="Shape 13"/>
          <p:cNvSpPr/>
          <p:nvPr/>
        </p:nvSpPr>
        <p:spPr>
          <a:xfrm>
            <a:off x="8869680" y="256032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17" name="Text 14"/>
          <p:cNvSpPr/>
          <p:nvPr/>
        </p:nvSpPr>
        <p:spPr>
          <a:xfrm>
            <a:off x="9006840" y="265176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Attach &amp; Insert</a:t>
            </a:r>
            <a:endParaRPr lang="en-US" dirty="0"/>
          </a:p>
        </p:txBody>
      </p:sp>
      <p:sp>
        <p:nvSpPr>
          <p:cNvPr id="18" name="Text 15"/>
          <p:cNvSpPr/>
          <p:nvPr/>
        </p:nvSpPr>
        <p:spPr>
          <a:xfrm>
            <a:off x="9006840" y="297180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Attach files directly or insert Google Drive links without leaving Gmail.</a:t>
            </a:r>
            <a:endParaRPr lang="en-US" sz="1600" dirty="0"/>
          </a:p>
        </p:txBody>
      </p:sp>
      <p:sp>
        <p:nvSpPr>
          <p:cNvPr id="19" name="Shape 16"/>
          <p:cNvSpPr/>
          <p:nvPr/>
        </p:nvSpPr>
        <p:spPr>
          <a:xfrm>
            <a:off x="5852160" y="402336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20" name="Text 17"/>
          <p:cNvSpPr/>
          <p:nvPr/>
        </p:nvSpPr>
        <p:spPr>
          <a:xfrm>
            <a:off x="5989320" y="411480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Schedule Send</a:t>
            </a:r>
            <a:endParaRPr lang="en-US" dirty="0"/>
          </a:p>
        </p:txBody>
      </p:sp>
      <p:sp>
        <p:nvSpPr>
          <p:cNvPr id="21" name="Text 18"/>
          <p:cNvSpPr/>
          <p:nvPr/>
        </p:nvSpPr>
        <p:spPr>
          <a:xfrm>
            <a:off x="5989320" y="443484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Compose now, but choose a future date/time for the email to be sent.</a:t>
            </a:r>
            <a:endParaRPr lang="en-US" sz="1600" dirty="0"/>
          </a:p>
        </p:txBody>
      </p:sp>
      <p:sp>
        <p:nvSpPr>
          <p:cNvPr id="22" name="Shape 19"/>
          <p:cNvSpPr/>
          <p:nvPr/>
        </p:nvSpPr>
        <p:spPr>
          <a:xfrm>
            <a:off x="8869680" y="4023360"/>
            <a:ext cx="2880360" cy="1353312"/>
          </a:xfrm>
          <a:prstGeom prst="roundRect">
            <a:avLst>
              <a:gd name="adj" fmla="val 5405"/>
            </a:avLst>
          </a:prstGeom>
          <a:solidFill>
            <a:srgbClr val="F4F6FA"/>
          </a:solidFill>
          <a:ln w="12700">
            <a:solidFill>
              <a:srgbClr val="DCE1EA"/>
            </a:solidFill>
            <a:prstDash val="solid"/>
          </a:ln>
        </p:spPr>
        <p:txBody>
          <a:bodyPr/>
          <a:lstStyle/>
          <a:p>
            <a:endParaRPr lang="en-US" sz="1600"/>
          </a:p>
        </p:txBody>
      </p:sp>
      <p:sp>
        <p:nvSpPr>
          <p:cNvPr id="23" name="Text 20"/>
          <p:cNvSpPr/>
          <p:nvPr/>
        </p:nvSpPr>
        <p:spPr>
          <a:xfrm>
            <a:off x="9006840" y="4114800"/>
            <a:ext cx="2651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Confidential Mode</a:t>
            </a:r>
            <a:endParaRPr lang="en-US" dirty="0"/>
          </a:p>
        </p:txBody>
      </p:sp>
      <p:sp>
        <p:nvSpPr>
          <p:cNvPr id="24" name="Text 21"/>
          <p:cNvSpPr/>
          <p:nvPr/>
        </p:nvSpPr>
        <p:spPr>
          <a:xfrm>
            <a:off x="9006840" y="4434840"/>
            <a:ext cx="2651760" cy="868680"/>
          </a:xfrm>
          <a:prstGeom prst="rect">
            <a:avLst/>
          </a:prstGeom>
          <a:noFill/>
          <a:ln/>
        </p:spPr>
        <p:txBody>
          <a:bodyPr wrap="square" rtlCol="0" anchor="ctr"/>
          <a:lstStyle/>
          <a:p>
            <a:pPr marL="0" indent="0">
              <a:lnSpc>
                <a:spcPts val="1250"/>
              </a:lnSpc>
              <a:buNone/>
            </a:pPr>
            <a:r>
              <a:rPr lang="en-US" sz="1600" dirty="0">
                <a:solidFill>
                  <a:srgbClr val="333333"/>
                </a:solidFill>
                <a:latin typeface="Calibri" pitchFamily="34" charset="0"/>
                <a:ea typeface="Calibri" pitchFamily="34" charset="-122"/>
                <a:cs typeface="Calibri" pitchFamily="34" charset="-120"/>
              </a:rPr>
              <a:t>Set an expiry date and disable forward/copy/print for sensitive emails.</a:t>
            </a:r>
            <a:endParaRPr lang="en-US" sz="1600" dirty="0"/>
          </a:p>
        </p:txBody>
      </p:sp>
      <p:sp>
        <p:nvSpPr>
          <p:cNvPr id="25"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6"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Organization Facilities</a:t>
            </a:r>
            <a:endParaRPr lang="en-US" sz="2400" dirty="0"/>
          </a:p>
        </p:txBody>
      </p:sp>
      <p:sp>
        <p:nvSpPr>
          <p:cNvPr id="6" name="Shape 4"/>
          <p:cNvSpPr/>
          <p:nvPr/>
        </p:nvSpPr>
        <p:spPr>
          <a:xfrm>
            <a:off x="548640" y="1188720"/>
            <a:ext cx="5394960" cy="1463040"/>
          </a:xfrm>
          <a:prstGeom prst="roundRect">
            <a:avLst>
              <a:gd name="adj" fmla="val 5000"/>
            </a:avLst>
          </a:prstGeom>
          <a:solidFill>
            <a:srgbClr val="E8EEF9"/>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77724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Labels</a:t>
            </a:r>
            <a:endParaRPr lang="en-US" dirty="0"/>
          </a:p>
        </p:txBody>
      </p:sp>
      <p:sp>
        <p:nvSpPr>
          <p:cNvPr id="8" name="Text 6"/>
          <p:cNvSpPr/>
          <p:nvPr/>
        </p:nvSpPr>
        <p:spPr>
          <a:xfrm>
            <a:off x="777240" y="16916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Custom, color-coded tags applied to emails — one email can have multiple labels (unlike folders).</a:t>
            </a:r>
            <a:endParaRPr lang="en-US" sz="1600" dirty="0"/>
          </a:p>
        </p:txBody>
      </p:sp>
      <p:sp>
        <p:nvSpPr>
          <p:cNvPr id="9" name="Shape 7"/>
          <p:cNvSpPr/>
          <p:nvPr/>
        </p:nvSpPr>
        <p:spPr>
          <a:xfrm>
            <a:off x="6172200" y="1188720"/>
            <a:ext cx="5394960" cy="1463040"/>
          </a:xfrm>
          <a:prstGeom prst="roundRect">
            <a:avLst>
              <a:gd name="adj" fmla="val 5000"/>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0" name="Text 8"/>
          <p:cNvSpPr/>
          <p:nvPr/>
        </p:nvSpPr>
        <p:spPr>
          <a:xfrm>
            <a:off x="6400800" y="13258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Filters</a:t>
            </a:r>
            <a:endParaRPr lang="en-US" dirty="0"/>
          </a:p>
        </p:txBody>
      </p:sp>
      <p:sp>
        <p:nvSpPr>
          <p:cNvPr id="11" name="Text 9"/>
          <p:cNvSpPr/>
          <p:nvPr/>
        </p:nvSpPr>
        <p:spPr>
          <a:xfrm>
            <a:off x="6400800" y="16916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Automatic rules: "If sender = X, then apply label / archive / forward" — set once, runs forever.</a:t>
            </a:r>
            <a:endParaRPr lang="en-US" sz="1600" dirty="0"/>
          </a:p>
        </p:txBody>
      </p:sp>
      <p:sp>
        <p:nvSpPr>
          <p:cNvPr id="12" name="Shape 10"/>
          <p:cNvSpPr/>
          <p:nvPr/>
        </p:nvSpPr>
        <p:spPr>
          <a:xfrm>
            <a:off x="548640" y="2788920"/>
            <a:ext cx="5394960" cy="1463040"/>
          </a:xfrm>
          <a:prstGeom prst="roundRect">
            <a:avLst>
              <a:gd name="adj" fmla="val 5000"/>
            </a:avLst>
          </a:prstGeom>
          <a:solidFill>
            <a:srgbClr val="E8EEF9"/>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3" name="Text 11"/>
          <p:cNvSpPr/>
          <p:nvPr/>
        </p:nvSpPr>
        <p:spPr>
          <a:xfrm>
            <a:off x="777240" y="29260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Category Tabs</a:t>
            </a:r>
            <a:endParaRPr lang="en-US" dirty="0"/>
          </a:p>
        </p:txBody>
      </p:sp>
      <p:sp>
        <p:nvSpPr>
          <p:cNvPr id="14" name="Text 12"/>
          <p:cNvSpPr/>
          <p:nvPr/>
        </p:nvSpPr>
        <p:spPr>
          <a:xfrm>
            <a:off x="777240" y="32918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Primary, Social, Promotions, Updates — auto-sorts incoming mail by type.</a:t>
            </a:r>
            <a:endParaRPr lang="en-US" sz="1600" dirty="0"/>
          </a:p>
        </p:txBody>
      </p:sp>
      <p:sp>
        <p:nvSpPr>
          <p:cNvPr id="15" name="Shape 13"/>
          <p:cNvSpPr/>
          <p:nvPr/>
        </p:nvSpPr>
        <p:spPr>
          <a:xfrm>
            <a:off x="6172200" y="2788920"/>
            <a:ext cx="5394960" cy="1463040"/>
          </a:xfrm>
          <a:prstGeom prst="roundRect">
            <a:avLst>
              <a:gd name="adj" fmla="val 5000"/>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6" name="Text 14"/>
          <p:cNvSpPr/>
          <p:nvPr/>
        </p:nvSpPr>
        <p:spPr>
          <a:xfrm>
            <a:off x="6400800" y="29260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Stars &amp; Importance markers</a:t>
            </a:r>
            <a:endParaRPr lang="en-US" dirty="0"/>
          </a:p>
        </p:txBody>
      </p:sp>
      <p:sp>
        <p:nvSpPr>
          <p:cNvPr id="17" name="Text 15"/>
          <p:cNvSpPr/>
          <p:nvPr/>
        </p:nvSpPr>
        <p:spPr>
          <a:xfrm>
            <a:off x="6400800" y="32918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Flag priority emails; Gmail also auto-marks likely-important messages.</a:t>
            </a:r>
            <a:endParaRPr lang="en-US" sz="1600" dirty="0"/>
          </a:p>
        </p:txBody>
      </p:sp>
      <p:sp>
        <p:nvSpPr>
          <p:cNvPr id="18" name="Shape 16"/>
          <p:cNvSpPr/>
          <p:nvPr/>
        </p:nvSpPr>
        <p:spPr>
          <a:xfrm>
            <a:off x="548640" y="4389120"/>
            <a:ext cx="5394960" cy="1463040"/>
          </a:xfrm>
          <a:prstGeom prst="roundRect">
            <a:avLst>
              <a:gd name="adj" fmla="val 5000"/>
            </a:avLst>
          </a:prstGeom>
          <a:solidFill>
            <a:srgbClr val="E8EEF9"/>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19" name="Text 17"/>
          <p:cNvSpPr/>
          <p:nvPr/>
        </p:nvSpPr>
        <p:spPr>
          <a:xfrm>
            <a:off x="777240" y="4526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Search operators in Gmail</a:t>
            </a:r>
            <a:endParaRPr lang="en-US" dirty="0"/>
          </a:p>
        </p:txBody>
      </p:sp>
      <p:sp>
        <p:nvSpPr>
          <p:cNvPr id="20" name="Text 18"/>
          <p:cNvSpPr/>
          <p:nvPr/>
        </p:nvSpPr>
        <p:spPr>
          <a:xfrm>
            <a:off x="777240" y="48920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from:, has:attachment, is:unread, older_than: — same logic as Week 3’s search operators!</a:t>
            </a:r>
            <a:endParaRPr lang="en-US" sz="1600" dirty="0"/>
          </a:p>
        </p:txBody>
      </p:sp>
      <p:sp>
        <p:nvSpPr>
          <p:cNvPr id="21" name="Shape 19"/>
          <p:cNvSpPr/>
          <p:nvPr/>
        </p:nvSpPr>
        <p:spPr>
          <a:xfrm>
            <a:off x="6172200" y="4389120"/>
            <a:ext cx="5394960" cy="1463040"/>
          </a:xfrm>
          <a:prstGeom prst="roundRect">
            <a:avLst>
              <a:gd name="adj" fmla="val 5000"/>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22" name="Text 20"/>
          <p:cNvSpPr/>
          <p:nvPr/>
        </p:nvSpPr>
        <p:spPr>
          <a:xfrm>
            <a:off x="6400800" y="4526280"/>
            <a:ext cx="493776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Multiple Inboxes / Snooze</a:t>
            </a:r>
            <a:endParaRPr lang="en-US" dirty="0"/>
          </a:p>
        </p:txBody>
      </p:sp>
      <p:sp>
        <p:nvSpPr>
          <p:cNvPr id="23" name="Text 21"/>
          <p:cNvSpPr/>
          <p:nvPr/>
        </p:nvSpPr>
        <p:spPr>
          <a:xfrm>
            <a:off x="6400800" y="4892040"/>
            <a:ext cx="4937760" cy="868680"/>
          </a:xfrm>
          <a:prstGeom prst="rect">
            <a:avLst/>
          </a:prstGeom>
          <a:noFill/>
          <a:ln/>
        </p:spPr>
        <p:txBody>
          <a:bodyPr wrap="square" rtlCol="0" anchor="ctr"/>
          <a:lstStyle/>
          <a:p>
            <a:pPr marL="0" indent="0">
              <a:lnSpc>
                <a:spcPts val="1400"/>
              </a:lnSpc>
              <a:buNone/>
            </a:pPr>
            <a:r>
              <a:rPr lang="en-US" sz="1600" dirty="0">
                <a:solidFill>
                  <a:srgbClr val="333333"/>
                </a:solidFill>
                <a:latin typeface="Calibri" pitchFamily="34" charset="0"/>
                <a:ea typeface="Calibri" pitchFamily="34" charset="-122"/>
                <a:cs typeface="Calibri" pitchFamily="34" charset="-120"/>
              </a:rPr>
              <a:t>Split inbox into sections, or temporarily hide an email until a chosen time.</a:t>
            </a:r>
            <a:endParaRPr lang="en-US" sz="1600" dirty="0"/>
          </a:p>
        </p:txBody>
      </p:sp>
      <p:sp>
        <p:nvSpPr>
          <p:cNvPr id="24" name="Text 2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5" name="Text 23"/>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Settings — Deep Dive</a:t>
            </a:r>
            <a:endParaRPr lang="en-US" sz="2400" dirty="0"/>
          </a:p>
        </p:txBody>
      </p:sp>
      <p:pic>
        <p:nvPicPr>
          <p:cNvPr id="6" name="Image 0" descr="mockups/gmail_settings.png"/>
          <p:cNvPicPr>
            <a:picLocks noChangeAspect="1"/>
          </p:cNvPicPr>
          <p:nvPr/>
        </p:nvPicPr>
        <p:blipFill>
          <a:blip r:embed="rId3"/>
          <a:stretch>
            <a:fillRect/>
          </a:stretch>
        </p:blipFill>
        <p:spPr>
          <a:xfrm>
            <a:off x="457200" y="1097280"/>
            <a:ext cx="7406640" cy="4846320"/>
          </a:xfrm>
          <a:prstGeom prst="rect">
            <a:avLst/>
          </a:prstGeom>
        </p:spPr>
      </p:pic>
      <p:sp>
        <p:nvSpPr>
          <p:cNvPr id="7" name="Shape 4"/>
          <p:cNvSpPr/>
          <p:nvPr/>
        </p:nvSpPr>
        <p:spPr>
          <a:xfrm>
            <a:off x="8001000" y="1097280"/>
            <a:ext cx="3703320" cy="5212080"/>
          </a:xfrm>
          <a:prstGeom prst="roundRect">
            <a:avLst>
              <a:gd name="adj" fmla="val 1975"/>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8" name="Text 5"/>
          <p:cNvSpPr/>
          <p:nvPr/>
        </p:nvSpPr>
        <p:spPr>
          <a:xfrm>
            <a:off x="8229600" y="1234440"/>
            <a:ext cx="3291840" cy="274320"/>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SETTINGS TABS EXPLAINED</a:t>
            </a:r>
            <a:endParaRPr lang="en-US" dirty="0"/>
          </a:p>
        </p:txBody>
      </p:sp>
      <p:sp>
        <p:nvSpPr>
          <p:cNvPr id="9" name="Text 6"/>
          <p:cNvSpPr/>
          <p:nvPr/>
        </p:nvSpPr>
        <p:spPr>
          <a:xfrm>
            <a:off x="8229600" y="1600200"/>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General</a:t>
            </a:r>
            <a:endParaRPr lang="en-US" dirty="0"/>
          </a:p>
        </p:txBody>
      </p:sp>
      <p:sp>
        <p:nvSpPr>
          <p:cNvPr id="10" name="Text 7"/>
          <p:cNvSpPr/>
          <p:nvPr/>
        </p:nvSpPr>
        <p:spPr>
          <a:xfrm>
            <a:off x="8229600" y="1877712"/>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Signature, Smart features, vacation responder, undo send</a:t>
            </a:r>
            <a:endParaRPr lang="en-US" sz="1600" dirty="0"/>
          </a:p>
        </p:txBody>
      </p:sp>
      <p:sp>
        <p:nvSpPr>
          <p:cNvPr id="11" name="Text 8"/>
          <p:cNvSpPr/>
          <p:nvPr/>
        </p:nvSpPr>
        <p:spPr>
          <a:xfrm>
            <a:off x="8229600" y="2313432"/>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Labels</a:t>
            </a:r>
            <a:endParaRPr lang="en-US" dirty="0"/>
          </a:p>
        </p:txBody>
      </p:sp>
      <p:sp>
        <p:nvSpPr>
          <p:cNvPr id="12" name="Text 9"/>
          <p:cNvSpPr/>
          <p:nvPr/>
        </p:nvSpPr>
        <p:spPr>
          <a:xfrm>
            <a:off x="8229600" y="2590944"/>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Create, show/hide, and color-code labels</a:t>
            </a:r>
            <a:endParaRPr lang="en-US" sz="1600" dirty="0"/>
          </a:p>
        </p:txBody>
      </p:sp>
      <p:sp>
        <p:nvSpPr>
          <p:cNvPr id="13" name="Text 10"/>
          <p:cNvSpPr/>
          <p:nvPr/>
        </p:nvSpPr>
        <p:spPr>
          <a:xfrm>
            <a:off x="8229600" y="3026664"/>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Inbox</a:t>
            </a:r>
            <a:endParaRPr lang="en-US" dirty="0"/>
          </a:p>
        </p:txBody>
      </p:sp>
      <p:sp>
        <p:nvSpPr>
          <p:cNvPr id="14" name="Text 11"/>
          <p:cNvSpPr/>
          <p:nvPr/>
        </p:nvSpPr>
        <p:spPr>
          <a:xfrm>
            <a:off x="8229600" y="3304176"/>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Choose inbox type: Default, Important first, Unread first</a:t>
            </a:r>
            <a:endParaRPr lang="en-US" sz="1600" dirty="0"/>
          </a:p>
        </p:txBody>
      </p:sp>
      <p:sp>
        <p:nvSpPr>
          <p:cNvPr id="15" name="Text 12"/>
          <p:cNvSpPr/>
          <p:nvPr/>
        </p:nvSpPr>
        <p:spPr>
          <a:xfrm>
            <a:off x="8229600" y="3739896"/>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Accounts &amp; Import</a:t>
            </a:r>
            <a:endParaRPr lang="en-US" dirty="0"/>
          </a:p>
        </p:txBody>
      </p:sp>
      <p:sp>
        <p:nvSpPr>
          <p:cNvPr id="16" name="Text 13"/>
          <p:cNvSpPr/>
          <p:nvPr/>
        </p:nvSpPr>
        <p:spPr>
          <a:xfrm>
            <a:off x="8229600" y="4017408"/>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Add other email accounts, change password</a:t>
            </a:r>
            <a:endParaRPr lang="en-US" sz="1600" dirty="0"/>
          </a:p>
        </p:txBody>
      </p:sp>
      <p:sp>
        <p:nvSpPr>
          <p:cNvPr id="17" name="Text 14"/>
          <p:cNvSpPr/>
          <p:nvPr/>
        </p:nvSpPr>
        <p:spPr>
          <a:xfrm>
            <a:off x="8229600" y="4482156"/>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Filters &amp; Blocked</a:t>
            </a:r>
            <a:endParaRPr lang="en-US" dirty="0"/>
          </a:p>
        </p:txBody>
      </p:sp>
      <p:sp>
        <p:nvSpPr>
          <p:cNvPr id="18" name="Text 15"/>
          <p:cNvSpPr/>
          <p:nvPr/>
        </p:nvSpPr>
        <p:spPr>
          <a:xfrm>
            <a:off x="8229600" y="4745154"/>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Manage automation rules and blocked senders</a:t>
            </a:r>
            <a:endParaRPr lang="en-US" sz="1600" dirty="0"/>
          </a:p>
        </p:txBody>
      </p:sp>
      <p:sp>
        <p:nvSpPr>
          <p:cNvPr id="19" name="Text 16"/>
          <p:cNvSpPr/>
          <p:nvPr/>
        </p:nvSpPr>
        <p:spPr>
          <a:xfrm>
            <a:off x="8229600" y="5166360"/>
            <a:ext cx="3291840" cy="22860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Forwarding &amp; POP/IMAP</a:t>
            </a:r>
            <a:endParaRPr lang="en-US" dirty="0"/>
          </a:p>
        </p:txBody>
      </p:sp>
      <p:sp>
        <p:nvSpPr>
          <p:cNvPr id="20" name="Text 17"/>
          <p:cNvSpPr/>
          <p:nvPr/>
        </p:nvSpPr>
        <p:spPr>
          <a:xfrm>
            <a:off x="8229600" y="5443872"/>
            <a:ext cx="3291840" cy="365760"/>
          </a:xfrm>
          <a:prstGeom prst="rect">
            <a:avLst/>
          </a:prstGeom>
          <a:noFill/>
          <a:ln/>
        </p:spPr>
        <p:txBody>
          <a:bodyPr wrap="square" rtlCol="0" anchor="ctr"/>
          <a:lstStyle/>
          <a:p>
            <a:pPr marL="0" indent="0">
              <a:lnSpc>
                <a:spcPts val="1100"/>
              </a:lnSpc>
              <a:buNone/>
            </a:pPr>
            <a:r>
              <a:rPr lang="en-US" sz="1600" dirty="0">
                <a:solidFill>
                  <a:srgbClr val="595959"/>
                </a:solidFill>
                <a:latin typeface="Calibri" pitchFamily="34" charset="0"/>
                <a:ea typeface="Calibri" pitchFamily="34" charset="-122"/>
                <a:cs typeface="Calibri" pitchFamily="34" charset="-120"/>
              </a:rPr>
              <a:t>Auto-forward mail; connect to Outlook/other apps</a:t>
            </a:r>
            <a:endParaRPr lang="en-US" sz="1600" dirty="0"/>
          </a:p>
        </p:txBody>
      </p:sp>
      <p:sp>
        <p:nvSpPr>
          <p:cNvPr id="21" name="Text 1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2" name="Text 1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 — STAY PROTECTED</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Security Facilities</a:t>
            </a:r>
            <a:endParaRPr lang="en-US" sz="2400" dirty="0"/>
          </a:p>
        </p:txBody>
      </p:sp>
      <p:pic>
        <p:nvPicPr>
          <p:cNvPr id="6" name="Image 0" descr="mockups/gmail_security.png"/>
          <p:cNvPicPr>
            <a:picLocks noChangeAspect="1"/>
          </p:cNvPicPr>
          <p:nvPr/>
        </p:nvPicPr>
        <p:blipFill>
          <a:blip r:embed="rId3"/>
          <a:stretch>
            <a:fillRect/>
          </a:stretch>
        </p:blipFill>
        <p:spPr>
          <a:xfrm>
            <a:off x="457200" y="1097280"/>
            <a:ext cx="6675120" cy="4617720"/>
          </a:xfrm>
          <a:prstGeom prst="rect">
            <a:avLst/>
          </a:prstGeom>
        </p:spPr>
      </p:pic>
      <p:sp>
        <p:nvSpPr>
          <p:cNvPr id="7" name="Shape 4"/>
          <p:cNvSpPr/>
          <p:nvPr/>
        </p:nvSpPr>
        <p:spPr>
          <a:xfrm>
            <a:off x="7315200" y="1097280"/>
            <a:ext cx="4389120" cy="5212080"/>
          </a:xfrm>
          <a:prstGeom prst="roundRect">
            <a:avLst>
              <a:gd name="adj" fmla="val 1667"/>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8" name="Text 5"/>
          <p:cNvSpPr/>
          <p:nvPr/>
        </p:nvSpPr>
        <p:spPr>
          <a:xfrm>
            <a:off x="7543800" y="1234440"/>
            <a:ext cx="3931920" cy="274320"/>
          </a:xfrm>
          <a:prstGeom prst="rect">
            <a:avLst/>
          </a:prstGeom>
          <a:noFill/>
          <a:ln/>
        </p:spPr>
        <p:txBody>
          <a:bodyPr wrap="square" rtlCol="0" anchor="ctr"/>
          <a:lstStyle/>
          <a:p>
            <a:pPr marL="0" indent="0">
              <a:buNone/>
            </a:pPr>
            <a:r>
              <a:rPr lang="en-US" b="1" kern="0" spc="100" dirty="0">
                <a:solidFill>
                  <a:srgbClr val="B8860B"/>
                </a:solidFill>
                <a:latin typeface="Calibri" pitchFamily="34" charset="0"/>
                <a:ea typeface="Calibri" pitchFamily="34" charset="-122"/>
                <a:cs typeface="Calibri" pitchFamily="34" charset="-120"/>
              </a:rPr>
              <a:t>SECURITY FEATURES</a:t>
            </a:r>
            <a:endParaRPr lang="en-US" dirty="0"/>
          </a:p>
        </p:txBody>
      </p:sp>
      <p:sp>
        <p:nvSpPr>
          <p:cNvPr id="9" name="Text 6"/>
          <p:cNvSpPr/>
          <p:nvPr/>
        </p:nvSpPr>
        <p:spPr>
          <a:xfrm>
            <a:off x="7543800" y="1572768"/>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2-Step Verification</a:t>
            </a:r>
            <a:endParaRPr lang="en-US" dirty="0"/>
          </a:p>
        </p:txBody>
      </p:sp>
      <p:sp>
        <p:nvSpPr>
          <p:cNvPr id="10" name="Text 7"/>
          <p:cNvSpPr/>
          <p:nvPr/>
        </p:nvSpPr>
        <p:spPr>
          <a:xfrm>
            <a:off x="7543800" y="1801368"/>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Requires a phone prompt/code in addition to your password when signing in.</a:t>
            </a:r>
            <a:endParaRPr lang="en-US" sz="1600" dirty="0"/>
          </a:p>
        </p:txBody>
      </p:sp>
      <p:sp>
        <p:nvSpPr>
          <p:cNvPr id="11" name="Text 8"/>
          <p:cNvSpPr/>
          <p:nvPr/>
        </p:nvSpPr>
        <p:spPr>
          <a:xfrm>
            <a:off x="7543800" y="2331720"/>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Phishing &amp; Spam detection</a:t>
            </a:r>
            <a:endParaRPr lang="en-US" dirty="0"/>
          </a:p>
        </p:txBody>
      </p:sp>
      <p:sp>
        <p:nvSpPr>
          <p:cNvPr id="12" name="Text 9"/>
          <p:cNvSpPr/>
          <p:nvPr/>
        </p:nvSpPr>
        <p:spPr>
          <a:xfrm>
            <a:off x="7543800" y="2560320"/>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Automatically flags suspicious senders and fake login-request emails.</a:t>
            </a:r>
            <a:endParaRPr lang="en-US" sz="1600" dirty="0"/>
          </a:p>
        </p:txBody>
      </p:sp>
      <p:sp>
        <p:nvSpPr>
          <p:cNvPr id="13" name="Text 10"/>
          <p:cNvSpPr/>
          <p:nvPr/>
        </p:nvSpPr>
        <p:spPr>
          <a:xfrm>
            <a:off x="7543800" y="3090672"/>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App Passwords</a:t>
            </a:r>
            <a:endParaRPr lang="en-US" dirty="0"/>
          </a:p>
        </p:txBody>
      </p:sp>
      <p:sp>
        <p:nvSpPr>
          <p:cNvPr id="14" name="Text 11"/>
          <p:cNvSpPr/>
          <p:nvPr/>
        </p:nvSpPr>
        <p:spPr>
          <a:xfrm>
            <a:off x="7543800" y="3319272"/>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Special passwords for older apps that don’t support 2-Step Verification.</a:t>
            </a:r>
            <a:endParaRPr lang="en-US" sz="1600" dirty="0"/>
          </a:p>
        </p:txBody>
      </p:sp>
      <p:sp>
        <p:nvSpPr>
          <p:cNvPr id="15" name="Text 12"/>
          <p:cNvSpPr/>
          <p:nvPr/>
        </p:nvSpPr>
        <p:spPr>
          <a:xfrm>
            <a:off x="7543800" y="3849624"/>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Security Checkup</a:t>
            </a:r>
            <a:endParaRPr lang="en-US" dirty="0"/>
          </a:p>
        </p:txBody>
      </p:sp>
      <p:sp>
        <p:nvSpPr>
          <p:cNvPr id="16" name="Text 13"/>
          <p:cNvSpPr/>
          <p:nvPr/>
        </p:nvSpPr>
        <p:spPr>
          <a:xfrm>
            <a:off x="7543800" y="4078224"/>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A guided review of your account’s overall security health.</a:t>
            </a:r>
            <a:endParaRPr lang="en-US" sz="1600" dirty="0"/>
          </a:p>
        </p:txBody>
      </p:sp>
      <p:sp>
        <p:nvSpPr>
          <p:cNvPr id="17" name="Text 14"/>
          <p:cNvSpPr/>
          <p:nvPr/>
        </p:nvSpPr>
        <p:spPr>
          <a:xfrm>
            <a:off x="7543800" y="4608576"/>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Confidential Mode</a:t>
            </a:r>
            <a:endParaRPr lang="en-US" dirty="0"/>
          </a:p>
        </p:txBody>
      </p:sp>
      <p:sp>
        <p:nvSpPr>
          <p:cNvPr id="18" name="Text 15"/>
          <p:cNvSpPr/>
          <p:nvPr/>
        </p:nvSpPr>
        <p:spPr>
          <a:xfrm>
            <a:off x="7543800" y="4837176"/>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Prevents forwarding, copying, downloading, or printing of sensitive emails.</a:t>
            </a:r>
            <a:endParaRPr lang="en-US" sz="1600" dirty="0"/>
          </a:p>
        </p:txBody>
      </p:sp>
      <p:sp>
        <p:nvSpPr>
          <p:cNvPr id="19" name="Text 16"/>
          <p:cNvSpPr/>
          <p:nvPr/>
        </p:nvSpPr>
        <p:spPr>
          <a:xfrm>
            <a:off x="7543800" y="5367528"/>
            <a:ext cx="4023360" cy="237744"/>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Encryption in transit (TLS)</a:t>
            </a:r>
            <a:endParaRPr lang="en-US" dirty="0"/>
          </a:p>
        </p:txBody>
      </p:sp>
      <p:sp>
        <p:nvSpPr>
          <p:cNvPr id="20" name="Text 17"/>
          <p:cNvSpPr/>
          <p:nvPr/>
        </p:nvSpPr>
        <p:spPr>
          <a:xfrm>
            <a:off x="7543800" y="5596128"/>
            <a:ext cx="4023360" cy="502920"/>
          </a:xfrm>
          <a:prstGeom prst="rect">
            <a:avLst/>
          </a:prstGeom>
          <a:noFill/>
          <a:ln/>
        </p:spPr>
        <p:txBody>
          <a:bodyPr wrap="square" rtlCol="0" anchor="ctr"/>
          <a:lstStyle/>
          <a:p>
            <a:pPr marL="0" indent="0">
              <a:lnSpc>
                <a:spcPts val="1200"/>
              </a:lnSpc>
              <a:buNone/>
            </a:pPr>
            <a:r>
              <a:rPr lang="en-US" sz="1600" dirty="0">
                <a:solidFill>
                  <a:srgbClr val="595959"/>
                </a:solidFill>
                <a:latin typeface="Calibri" pitchFamily="34" charset="0"/>
                <a:ea typeface="Calibri" pitchFamily="34" charset="-122"/>
                <a:cs typeface="Calibri" pitchFamily="34" charset="-120"/>
              </a:rPr>
              <a:t>Gmail automatically encrypts messages between mail servers.</a:t>
            </a:r>
            <a:endParaRPr lang="en-US" sz="1600" dirty="0"/>
          </a:p>
        </p:txBody>
      </p:sp>
      <p:sp>
        <p:nvSpPr>
          <p:cNvPr id="21" name="Text 1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2" name="Text 19"/>
          <p:cNvSpPr/>
          <p:nvPr/>
        </p:nvSpPr>
        <p:spPr>
          <a:xfrm>
            <a:off x="11521440" y="6565392"/>
            <a:ext cx="457200" cy="274320"/>
          </a:xfrm>
          <a:prstGeom prst="rect">
            <a:avLst/>
          </a:prstGeom>
          <a:noFill/>
          <a:ln/>
        </p:spPr>
        <p:txBody>
          <a:bodyPr wrap="square" rtlCol="0" anchor="ctr"/>
          <a:lstStyle/>
          <a:p>
            <a:pPr marL="0" indent="0" algn="r">
              <a:buNone/>
            </a:pPr>
            <a:r>
              <a:rPr lang="en-US" sz="1600" dirty="0">
                <a:solidFill>
                  <a:srgbClr val="A6A6A6"/>
                </a:solidFill>
                <a:latin typeface="Calibri" pitchFamily="34" charset="0"/>
                <a:ea typeface="Calibri" pitchFamily="34" charset="-122"/>
                <a:cs typeface="Calibri" pitchFamily="34" charset="-120"/>
              </a:rPr>
              <a:t>11</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 — STAY PROTECTED</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Recognizing Phishing &amp; Spam Emails</a:t>
            </a:r>
            <a:endParaRPr lang="en-US" sz="2400" dirty="0"/>
          </a:p>
        </p:txBody>
      </p:sp>
      <p:sp>
        <p:nvSpPr>
          <p:cNvPr id="6" name="Shape 4"/>
          <p:cNvSpPr/>
          <p:nvPr/>
        </p:nvSpPr>
        <p:spPr>
          <a:xfrm>
            <a:off x="548640" y="1143000"/>
            <a:ext cx="5394960" cy="5166360"/>
          </a:xfrm>
          <a:prstGeom prst="roundRect">
            <a:avLst>
              <a:gd name="adj" fmla="val 1416"/>
            </a:avLst>
          </a:prstGeom>
          <a:solidFill>
            <a:srgbClr val="FBEAE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7" name="Text 5"/>
          <p:cNvSpPr/>
          <p:nvPr/>
        </p:nvSpPr>
        <p:spPr>
          <a:xfrm>
            <a:off x="822960" y="1298448"/>
            <a:ext cx="3657600" cy="320040"/>
          </a:xfrm>
          <a:prstGeom prst="rect">
            <a:avLst/>
          </a:prstGeom>
          <a:noFill/>
          <a:ln/>
        </p:spPr>
        <p:txBody>
          <a:bodyPr wrap="square" rtlCol="0" anchor="ctr"/>
          <a:lstStyle/>
          <a:p>
            <a:pPr marL="0" indent="0">
              <a:buNone/>
            </a:pPr>
            <a:r>
              <a:rPr lang="en-US" b="1" dirty="0">
                <a:solidFill>
                  <a:srgbClr val="C0392B"/>
                </a:solidFill>
                <a:latin typeface="Calibri" pitchFamily="34" charset="0"/>
                <a:ea typeface="Calibri" pitchFamily="34" charset="-122"/>
                <a:cs typeface="Calibri" pitchFamily="34" charset="-120"/>
              </a:rPr>
              <a:t>WARNING SIGNS</a:t>
            </a:r>
            <a:endParaRPr lang="en-US" dirty="0"/>
          </a:p>
        </p:txBody>
      </p:sp>
      <p:sp>
        <p:nvSpPr>
          <p:cNvPr id="8" name="Text 6"/>
          <p:cNvSpPr/>
          <p:nvPr/>
        </p:nvSpPr>
        <p:spPr>
          <a:xfrm>
            <a:off x="822960" y="1783080"/>
            <a:ext cx="274320" cy="365760"/>
          </a:xfrm>
          <a:prstGeom prst="rect">
            <a:avLst/>
          </a:prstGeom>
          <a:noFill/>
          <a:ln/>
        </p:spPr>
        <p:txBody>
          <a:bodyPr wrap="square" rtlCol="0" anchor="ctr"/>
          <a:lstStyle/>
          <a:p>
            <a:pPr marL="0" indent="0">
              <a:buNone/>
            </a:pPr>
            <a:r>
              <a:rPr lang="en-US" sz="1300" b="1" dirty="0">
                <a:solidFill>
                  <a:srgbClr val="C0392B"/>
                </a:solidFill>
                <a:latin typeface="Calibri" pitchFamily="34" charset="0"/>
                <a:ea typeface="Calibri" pitchFamily="34" charset="-122"/>
                <a:cs typeface="Calibri" pitchFamily="34" charset="-120"/>
              </a:rPr>
              <a:t>⚠</a:t>
            </a:r>
            <a:endParaRPr lang="en-US" sz="1300" dirty="0"/>
          </a:p>
        </p:txBody>
      </p:sp>
      <p:sp>
        <p:nvSpPr>
          <p:cNvPr id="9" name="Text 7"/>
          <p:cNvSpPr/>
          <p:nvPr/>
        </p:nvSpPr>
        <p:spPr>
          <a:xfrm>
            <a:off x="1143000" y="1783080"/>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Urgent language ("Act now!", "Your account will be suspended")</a:t>
            </a:r>
            <a:endParaRPr lang="en-US" sz="1600" dirty="0"/>
          </a:p>
        </p:txBody>
      </p:sp>
      <p:sp>
        <p:nvSpPr>
          <p:cNvPr id="10" name="Text 8"/>
          <p:cNvSpPr/>
          <p:nvPr/>
        </p:nvSpPr>
        <p:spPr>
          <a:xfrm>
            <a:off x="822960" y="2496312"/>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1" name="Text 9"/>
          <p:cNvSpPr/>
          <p:nvPr/>
        </p:nvSpPr>
        <p:spPr>
          <a:xfrm>
            <a:off x="1143000" y="2496312"/>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Sender address looks slightly wrong (paypa1.com, not paypal.com)</a:t>
            </a:r>
            <a:endParaRPr lang="en-US" sz="1600" dirty="0"/>
          </a:p>
        </p:txBody>
      </p:sp>
      <p:sp>
        <p:nvSpPr>
          <p:cNvPr id="12" name="Text 10"/>
          <p:cNvSpPr/>
          <p:nvPr/>
        </p:nvSpPr>
        <p:spPr>
          <a:xfrm>
            <a:off x="822960" y="3209544"/>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3" name="Text 11"/>
          <p:cNvSpPr/>
          <p:nvPr/>
        </p:nvSpPr>
        <p:spPr>
          <a:xfrm>
            <a:off x="1143000" y="3209544"/>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Requests for passwords, OTPs, or banking details via email</a:t>
            </a:r>
            <a:endParaRPr lang="en-US" sz="1600" dirty="0"/>
          </a:p>
        </p:txBody>
      </p:sp>
      <p:sp>
        <p:nvSpPr>
          <p:cNvPr id="14" name="Text 12"/>
          <p:cNvSpPr/>
          <p:nvPr/>
        </p:nvSpPr>
        <p:spPr>
          <a:xfrm>
            <a:off x="822960" y="3922776"/>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5" name="Text 13"/>
          <p:cNvSpPr/>
          <p:nvPr/>
        </p:nvSpPr>
        <p:spPr>
          <a:xfrm>
            <a:off x="1143000" y="3922776"/>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Unexpected attachments or links from unknown senders</a:t>
            </a:r>
            <a:endParaRPr lang="en-US" sz="1600" dirty="0"/>
          </a:p>
        </p:txBody>
      </p:sp>
      <p:sp>
        <p:nvSpPr>
          <p:cNvPr id="16" name="Text 14"/>
          <p:cNvSpPr/>
          <p:nvPr/>
        </p:nvSpPr>
        <p:spPr>
          <a:xfrm>
            <a:off x="822960" y="4636008"/>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7" name="Text 15"/>
          <p:cNvSpPr/>
          <p:nvPr/>
        </p:nvSpPr>
        <p:spPr>
          <a:xfrm>
            <a:off x="1143000" y="4636008"/>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Generic greeting ("Dear User") instead of your actual name</a:t>
            </a:r>
            <a:endParaRPr lang="en-US" sz="1600" dirty="0"/>
          </a:p>
        </p:txBody>
      </p:sp>
      <p:sp>
        <p:nvSpPr>
          <p:cNvPr id="18" name="Text 16"/>
          <p:cNvSpPr/>
          <p:nvPr/>
        </p:nvSpPr>
        <p:spPr>
          <a:xfrm>
            <a:off x="822960" y="5349240"/>
            <a:ext cx="274320" cy="365760"/>
          </a:xfrm>
          <a:prstGeom prst="rect">
            <a:avLst/>
          </a:prstGeom>
          <a:noFill/>
          <a:ln/>
        </p:spPr>
        <p:txBody>
          <a:bodyPr wrap="square" rtlCol="0" anchor="ctr"/>
          <a:lstStyle/>
          <a:p>
            <a:pPr marL="0" indent="0">
              <a:buNone/>
            </a:pPr>
            <a:r>
              <a:rPr lang="en-US" sz="1600" b="1" dirty="0">
                <a:solidFill>
                  <a:srgbClr val="C0392B"/>
                </a:solidFill>
                <a:latin typeface="Calibri" pitchFamily="34" charset="0"/>
                <a:ea typeface="Calibri" pitchFamily="34" charset="-122"/>
                <a:cs typeface="Calibri" pitchFamily="34" charset="-120"/>
              </a:rPr>
              <a:t>⚠</a:t>
            </a:r>
            <a:endParaRPr lang="en-US" sz="1600" dirty="0"/>
          </a:p>
        </p:txBody>
      </p:sp>
      <p:sp>
        <p:nvSpPr>
          <p:cNvPr id="19" name="Text 17"/>
          <p:cNvSpPr/>
          <p:nvPr/>
        </p:nvSpPr>
        <p:spPr>
          <a:xfrm>
            <a:off x="1143000" y="5349240"/>
            <a:ext cx="466344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Poor grammar/spelling in an otherwise "official" email</a:t>
            </a:r>
            <a:endParaRPr lang="en-US" sz="1600" dirty="0"/>
          </a:p>
        </p:txBody>
      </p:sp>
      <p:sp>
        <p:nvSpPr>
          <p:cNvPr id="20" name="Shape 18"/>
          <p:cNvSpPr/>
          <p:nvPr/>
        </p:nvSpPr>
        <p:spPr>
          <a:xfrm>
            <a:off x="6172200" y="1143000"/>
            <a:ext cx="5486400" cy="5166360"/>
          </a:xfrm>
          <a:prstGeom prst="roundRect">
            <a:avLst>
              <a:gd name="adj" fmla="val 1416"/>
            </a:avLst>
          </a:prstGeom>
          <a:solidFill>
            <a:srgbClr val="EAF6EC"/>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sp>
        <p:nvSpPr>
          <p:cNvPr id="21" name="Text 19"/>
          <p:cNvSpPr/>
          <p:nvPr/>
        </p:nvSpPr>
        <p:spPr>
          <a:xfrm>
            <a:off x="6446520" y="1298448"/>
            <a:ext cx="4114800" cy="320040"/>
          </a:xfrm>
          <a:prstGeom prst="rect">
            <a:avLst/>
          </a:prstGeom>
          <a:noFill/>
          <a:ln/>
        </p:spPr>
        <p:txBody>
          <a:bodyPr wrap="square" rtlCol="0" anchor="ctr"/>
          <a:lstStyle/>
          <a:p>
            <a:pPr marL="0" indent="0">
              <a:buNone/>
            </a:pPr>
            <a:r>
              <a:rPr lang="en-US" b="1" dirty="0">
                <a:solidFill>
                  <a:srgbClr val="1E7A34"/>
                </a:solidFill>
                <a:latin typeface="Calibri" pitchFamily="34" charset="0"/>
                <a:ea typeface="Calibri" pitchFamily="34" charset="-122"/>
                <a:cs typeface="Calibri" pitchFamily="34" charset="-120"/>
              </a:rPr>
              <a:t>WHAT GMAIL DOES FOR YOU</a:t>
            </a:r>
            <a:endParaRPr lang="en-US" dirty="0"/>
          </a:p>
        </p:txBody>
      </p:sp>
      <p:sp>
        <p:nvSpPr>
          <p:cNvPr id="22" name="Text 20"/>
          <p:cNvSpPr/>
          <p:nvPr/>
        </p:nvSpPr>
        <p:spPr>
          <a:xfrm>
            <a:off x="6446520" y="1783080"/>
            <a:ext cx="274320" cy="365760"/>
          </a:xfrm>
          <a:prstGeom prst="rect">
            <a:avLst/>
          </a:prstGeom>
          <a:noFill/>
          <a:ln/>
        </p:spPr>
        <p:txBody>
          <a:bodyPr wrap="square" rtlCol="0" anchor="ctr"/>
          <a:lstStyle/>
          <a:p>
            <a:pPr marL="0" indent="0">
              <a:buNone/>
            </a:pPr>
            <a:r>
              <a:rPr lang="en-US" sz="1300" b="1" dirty="0">
                <a:solidFill>
                  <a:srgbClr val="1E7A34"/>
                </a:solidFill>
                <a:latin typeface="Calibri" pitchFamily="34" charset="0"/>
                <a:ea typeface="Calibri" pitchFamily="34" charset="-122"/>
                <a:cs typeface="Calibri" pitchFamily="34" charset="-120"/>
              </a:rPr>
              <a:t>✓</a:t>
            </a:r>
            <a:endParaRPr lang="en-US" sz="1300" dirty="0"/>
          </a:p>
        </p:txBody>
      </p:sp>
      <p:sp>
        <p:nvSpPr>
          <p:cNvPr id="23" name="Text 21"/>
          <p:cNvSpPr/>
          <p:nvPr/>
        </p:nvSpPr>
        <p:spPr>
          <a:xfrm>
            <a:off x="6766560" y="1783080"/>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Automatically filters most spam/phishing into the Spam folder</a:t>
            </a:r>
            <a:endParaRPr lang="en-US" sz="1600" dirty="0"/>
          </a:p>
        </p:txBody>
      </p:sp>
      <p:sp>
        <p:nvSpPr>
          <p:cNvPr id="24" name="Text 22"/>
          <p:cNvSpPr/>
          <p:nvPr/>
        </p:nvSpPr>
        <p:spPr>
          <a:xfrm>
            <a:off x="6446520" y="2496312"/>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25" name="Text 23"/>
          <p:cNvSpPr/>
          <p:nvPr/>
        </p:nvSpPr>
        <p:spPr>
          <a:xfrm>
            <a:off x="6766560" y="2496312"/>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Shows a red warning banner on suspicious/unverified senders</a:t>
            </a:r>
            <a:endParaRPr lang="en-US" sz="1600" dirty="0"/>
          </a:p>
        </p:txBody>
      </p:sp>
      <p:sp>
        <p:nvSpPr>
          <p:cNvPr id="26" name="Text 24"/>
          <p:cNvSpPr/>
          <p:nvPr/>
        </p:nvSpPr>
        <p:spPr>
          <a:xfrm>
            <a:off x="6446520" y="3209544"/>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27" name="Text 25"/>
          <p:cNvSpPr/>
          <p:nvPr/>
        </p:nvSpPr>
        <p:spPr>
          <a:xfrm>
            <a:off x="6766560" y="3209544"/>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Scans attachments and links for known malware before delivery</a:t>
            </a:r>
            <a:endParaRPr lang="en-US" sz="1600" dirty="0"/>
          </a:p>
        </p:txBody>
      </p:sp>
      <p:sp>
        <p:nvSpPr>
          <p:cNvPr id="28" name="Text 26"/>
          <p:cNvSpPr/>
          <p:nvPr/>
        </p:nvSpPr>
        <p:spPr>
          <a:xfrm>
            <a:off x="6446520" y="3922776"/>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29" name="Text 27"/>
          <p:cNvSpPr/>
          <p:nvPr/>
        </p:nvSpPr>
        <p:spPr>
          <a:xfrm>
            <a:off x="6766560" y="3922776"/>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Blocks external images by default to prevent tracking pixels</a:t>
            </a:r>
            <a:endParaRPr lang="en-US" sz="1600" dirty="0"/>
          </a:p>
        </p:txBody>
      </p:sp>
      <p:sp>
        <p:nvSpPr>
          <p:cNvPr id="30" name="Text 28"/>
          <p:cNvSpPr/>
          <p:nvPr/>
        </p:nvSpPr>
        <p:spPr>
          <a:xfrm>
            <a:off x="6446520" y="4636008"/>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31" name="Text 29"/>
          <p:cNvSpPr/>
          <p:nvPr/>
        </p:nvSpPr>
        <p:spPr>
          <a:xfrm>
            <a:off x="6766560" y="4636008"/>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Lets you report Phishing directly from the message menu</a:t>
            </a:r>
            <a:endParaRPr lang="en-US" sz="1600" dirty="0"/>
          </a:p>
        </p:txBody>
      </p:sp>
      <p:sp>
        <p:nvSpPr>
          <p:cNvPr id="32" name="Text 30"/>
          <p:cNvSpPr/>
          <p:nvPr/>
        </p:nvSpPr>
        <p:spPr>
          <a:xfrm>
            <a:off x="6446520" y="5349240"/>
            <a:ext cx="274320" cy="365760"/>
          </a:xfrm>
          <a:prstGeom prst="rect">
            <a:avLst/>
          </a:prstGeom>
          <a:noFill/>
          <a:ln/>
        </p:spPr>
        <p:txBody>
          <a:bodyPr wrap="square" rtlCol="0" anchor="ctr"/>
          <a:lstStyle/>
          <a:p>
            <a:pPr marL="0" indent="0">
              <a:buNone/>
            </a:pPr>
            <a:r>
              <a:rPr lang="en-US" sz="1600" b="1" dirty="0">
                <a:solidFill>
                  <a:srgbClr val="1E7A34"/>
                </a:solidFill>
                <a:latin typeface="Calibri" pitchFamily="34" charset="0"/>
                <a:ea typeface="Calibri" pitchFamily="34" charset="-122"/>
                <a:cs typeface="Calibri" pitchFamily="34" charset="-120"/>
              </a:rPr>
              <a:t>✓</a:t>
            </a:r>
            <a:endParaRPr lang="en-US" sz="1600" dirty="0"/>
          </a:p>
        </p:txBody>
      </p:sp>
      <p:sp>
        <p:nvSpPr>
          <p:cNvPr id="33" name="Text 31"/>
          <p:cNvSpPr/>
          <p:nvPr/>
        </p:nvSpPr>
        <p:spPr>
          <a:xfrm>
            <a:off x="6766560" y="5349240"/>
            <a:ext cx="4754880" cy="548640"/>
          </a:xfrm>
          <a:prstGeom prst="rect">
            <a:avLst/>
          </a:prstGeom>
          <a:noFill/>
          <a:ln/>
        </p:spPr>
        <p:txBody>
          <a:bodyPr wrap="square" rtlCol="0" anchor="ctr"/>
          <a:lstStyle/>
          <a:p>
            <a:pPr marL="0" indent="0">
              <a:lnSpc>
                <a:spcPts val="1400"/>
              </a:lnSpc>
              <a:buNone/>
            </a:pPr>
            <a:r>
              <a:rPr lang="en-US" sz="1600" dirty="0">
                <a:solidFill>
                  <a:srgbClr val="222222"/>
                </a:solidFill>
                <a:latin typeface="Calibri" pitchFamily="34" charset="0"/>
                <a:ea typeface="Calibri" pitchFamily="34" charset="-122"/>
                <a:cs typeface="Calibri" pitchFamily="34" charset="-120"/>
              </a:rPr>
              <a:t>Warns you before you reply to an email flagged as risky</a:t>
            </a:r>
            <a:endParaRPr lang="en-US" sz="1600" dirty="0"/>
          </a:p>
        </p:txBody>
      </p:sp>
      <p:sp>
        <p:nvSpPr>
          <p:cNvPr id="34" name="Text 32"/>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35" name="Text 33"/>
          <p:cNvSpPr/>
          <p:nvPr/>
        </p:nvSpPr>
        <p:spPr>
          <a:xfrm>
            <a:off x="11521440" y="6565392"/>
            <a:ext cx="457200" cy="274320"/>
          </a:xfrm>
          <a:prstGeom prst="rect">
            <a:avLst/>
          </a:prstGeom>
          <a:noFill/>
          <a:ln/>
        </p:spPr>
        <p:txBody>
          <a:bodyPr wrap="square" rtlCol="0" anchor="ctr"/>
          <a:lstStyle/>
          <a:p>
            <a:pPr marL="0" indent="0" algn="r">
              <a:buNone/>
            </a:pPr>
            <a:r>
              <a:rPr lang="en-US" sz="1600" dirty="0">
                <a:solidFill>
                  <a:srgbClr val="A6A6A6"/>
                </a:solidFill>
                <a:latin typeface="Calibri" pitchFamily="34" charset="0"/>
                <a:ea typeface="Calibri" pitchFamily="34" charset="-122"/>
                <a:cs typeface="Calibri" pitchFamily="34" charset="-120"/>
              </a:rPr>
              <a:t>12</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1: GMAIL — BEYOND THE INBOX</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Gmail Integration with Google Workspace</a:t>
            </a:r>
            <a:endParaRPr lang="en-US" sz="2400" dirty="0"/>
          </a:p>
        </p:txBody>
      </p:sp>
      <p:sp>
        <p:nvSpPr>
          <p:cNvPr id="6" name="Shape 4"/>
          <p:cNvSpPr/>
          <p:nvPr/>
        </p:nvSpPr>
        <p:spPr>
          <a:xfrm>
            <a:off x="640080" y="1280160"/>
            <a:ext cx="3520440" cy="2743200"/>
          </a:xfrm>
          <a:prstGeom prst="roundRect">
            <a:avLst>
              <a:gd name="adj" fmla="val 2667"/>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pic>
        <p:nvPicPr>
          <p:cNvPr id="7" name="Image 0" descr="logos/gcal_icon.png"/>
          <p:cNvPicPr>
            <a:picLocks noChangeAspect="1"/>
          </p:cNvPicPr>
          <p:nvPr/>
        </p:nvPicPr>
        <p:blipFill>
          <a:blip r:embed="rId3"/>
          <a:stretch>
            <a:fillRect/>
          </a:stretch>
        </p:blipFill>
        <p:spPr>
          <a:xfrm>
            <a:off x="2080260" y="1508760"/>
            <a:ext cx="640080" cy="640080"/>
          </a:xfrm>
          <a:prstGeom prst="rect">
            <a:avLst/>
          </a:prstGeom>
        </p:spPr>
      </p:pic>
      <p:sp>
        <p:nvSpPr>
          <p:cNvPr id="8" name="Text 5"/>
          <p:cNvSpPr/>
          <p:nvPr/>
        </p:nvSpPr>
        <p:spPr>
          <a:xfrm>
            <a:off x="822960" y="228600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Google Calendar</a:t>
            </a:r>
            <a:endParaRPr lang="en-US" sz="1600" dirty="0"/>
          </a:p>
        </p:txBody>
      </p:sp>
      <p:sp>
        <p:nvSpPr>
          <p:cNvPr id="9" name="Text 6"/>
          <p:cNvSpPr/>
          <p:nvPr/>
        </p:nvSpPr>
        <p:spPr>
          <a:xfrm>
            <a:off x="914400" y="2697480"/>
            <a:ext cx="2971800" cy="1188720"/>
          </a:xfrm>
          <a:prstGeom prst="rect">
            <a:avLst/>
          </a:prstGeom>
          <a:noFill/>
          <a:ln/>
        </p:spPr>
        <p:txBody>
          <a:bodyPr wrap="square" rtlCol="0" anchor="ctr"/>
          <a:lstStyle/>
          <a:p>
            <a:pPr marL="0" indent="0" algn="ctr">
              <a:lnSpc>
                <a:spcPts val="1500"/>
              </a:lnSpc>
              <a:buNone/>
            </a:pPr>
            <a:r>
              <a:rPr lang="en-US" sz="1600" dirty="0">
                <a:solidFill>
                  <a:srgbClr val="333333"/>
                </a:solidFill>
                <a:latin typeface="Calibri" pitchFamily="34" charset="0"/>
                <a:ea typeface="Calibri" pitchFamily="34" charset="-122"/>
                <a:cs typeface="Calibri" pitchFamily="34" charset="-120"/>
              </a:rPr>
              <a:t>Meeting invites in emails become calendar events with one click.</a:t>
            </a:r>
            <a:endParaRPr lang="en-US" sz="1600" dirty="0"/>
          </a:p>
        </p:txBody>
      </p:sp>
      <p:sp>
        <p:nvSpPr>
          <p:cNvPr id="10" name="Shape 7"/>
          <p:cNvSpPr/>
          <p:nvPr/>
        </p:nvSpPr>
        <p:spPr>
          <a:xfrm>
            <a:off x="4389120" y="1280160"/>
            <a:ext cx="3520440" cy="2743200"/>
          </a:xfrm>
          <a:prstGeom prst="roundRect">
            <a:avLst>
              <a:gd name="adj" fmla="val 2667"/>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pic>
        <p:nvPicPr>
          <p:cNvPr id="11" name="Image 1" descr="logos/gmeet_icon.png"/>
          <p:cNvPicPr>
            <a:picLocks noChangeAspect="1"/>
          </p:cNvPicPr>
          <p:nvPr/>
        </p:nvPicPr>
        <p:blipFill>
          <a:blip r:embed="rId4"/>
          <a:stretch>
            <a:fillRect/>
          </a:stretch>
        </p:blipFill>
        <p:spPr>
          <a:xfrm>
            <a:off x="5829300" y="1508760"/>
            <a:ext cx="640080" cy="640080"/>
          </a:xfrm>
          <a:prstGeom prst="rect">
            <a:avLst/>
          </a:prstGeom>
        </p:spPr>
      </p:pic>
      <p:sp>
        <p:nvSpPr>
          <p:cNvPr id="12" name="Text 8"/>
          <p:cNvSpPr/>
          <p:nvPr/>
        </p:nvSpPr>
        <p:spPr>
          <a:xfrm>
            <a:off x="4572000" y="228600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Google Meet</a:t>
            </a:r>
            <a:endParaRPr lang="en-US" sz="1600" dirty="0"/>
          </a:p>
        </p:txBody>
      </p:sp>
      <p:sp>
        <p:nvSpPr>
          <p:cNvPr id="13" name="Text 9"/>
          <p:cNvSpPr/>
          <p:nvPr/>
        </p:nvSpPr>
        <p:spPr>
          <a:xfrm>
            <a:off x="4663440" y="2697480"/>
            <a:ext cx="2971800" cy="1188720"/>
          </a:xfrm>
          <a:prstGeom prst="rect">
            <a:avLst/>
          </a:prstGeom>
          <a:noFill/>
          <a:ln/>
        </p:spPr>
        <p:txBody>
          <a:bodyPr wrap="square" rtlCol="0" anchor="ctr"/>
          <a:lstStyle/>
          <a:p>
            <a:pPr marL="0" indent="0" algn="ctr">
              <a:lnSpc>
                <a:spcPts val="1500"/>
              </a:lnSpc>
              <a:buNone/>
            </a:pPr>
            <a:r>
              <a:rPr lang="en-US" sz="1600" dirty="0">
                <a:solidFill>
                  <a:srgbClr val="333333"/>
                </a:solidFill>
                <a:latin typeface="Calibri" pitchFamily="34" charset="0"/>
                <a:ea typeface="Calibri" pitchFamily="34" charset="-122"/>
                <a:cs typeface="Calibri" pitchFamily="34" charset="-120"/>
              </a:rPr>
              <a:t>Start a video call directly from an email thread or the Gmail sidebar.</a:t>
            </a:r>
            <a:endParaRPr lang="en-US" sz="1600" dirty="0"/>
          </a:p>
        </p:txBody>
      </p:sp>
      <p:sp>
        <p:nvSpPr>
          <p:cNvPr id="14" name="Shape 10"/>
          <p:cNvSpPr/>
          <p:nvPr/>
        </p:nvSpPr>
        <p:spPr>
          <a:xfrm>
            <a:off x="8138160" y="1280160"/>
            <a:ext cx="3520440" cy="2743200"/>
          </a:xfrm>
          <a:prstGeom prst="roundRect">
            <a:avLst>
              <a:gd name="adj" fmla="val 2667"/>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pic>
        <p:nvPicPr>
          <p:cNvPr id="15" name="Image 2" descr="logos/gdrive_icon.png"/>
          <p:cNvPicPr>
            <a:picLocks noChangeAspect="1"/>
          </p:cNvPicPr>
          <p:nvPr/>
        </p:nvPicPr>
        <p:blipFill>
          <a:blip r:embed="rId5"/>
          <a:stretch>
            <a:fillRect/>
          </a:stretch>
        </p:blipFill>
        <p:spPr>
          <a:xfrm>
            <a:off x="9578340" y="1508760"/>
            <a:ext cx="640080" cy="640080"/>
          </a:xfrm>
          <a:prstGeom prst="rect">
            <a:avLst/>
          </a:prstGeom>
        </p:spPr>
      </p:pic>
      <p:sp>
        <p:nvSpPr>
          <p:cNvPr id="16" name="Text 11"/>
          <p:cNvSpPr/>
          <p:nvPr/>
        </p:nvSpPr>
        <p:spPr>
          <a:xfrm>
            <a:off x="8321040" y="228600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Google Drive</a:t>
            </a:r>
            <a:endParaRPr lang="en-US" sz="1600" dirty="0"/>
          </a:p>
        </p:txBody>
      </p:sp>
      <p:sp>
        <p:nvSpPr>
          <p:cNvPr id="17" name="Text 12"/>
          <p:cNvSpPr/>
          <p:nvPr/>
        </p:nvSpPr>
        <p:spPr>
          <a:xfrm>
            <a:off x="8412480" y="2697480"/>
            <a:ext cx="2971800" cy="1188720"/>
          </a:xfrm>
          <a:prstGeom prst="rect">
            <a:avLst/>
          </a:prstGeom>
          <a:noFill/>
          <a:ln/>
        </p:spPr>
        <p:txBody>
          <a:bodyPr wrap="square" rtlCol="0" anchor="ctr"/>
          <a:lstStyle/>
          <a:p>
            <a:pPr marL="0" indent="0" algn="ctr">
              <a:lnSpc>
                <a:spcPts val="1500"/>
              </a:lnSpc>
              <a:buNone/>
            </a:pPr>
            <a:r>
              <a:rPr lang="en-US" sz="1600" dirty="0">
                <a:solidFill>
                  <a:srgbClr val="333333"/>
                </a:solidFill>
                <a:latin typeface="Calibri" pitchFamily="34" charset="0"/>
                <a:ea typeface="Calibri" pitchFamily="34" charset="-122"/>
                <a:cs typeface="Calibri" pitchFamily="34" charset="-120"/>
              </a:rPr>
              <a:t>Attach large files as Drive links instead of email attachments.</a:t>
            </a:r>
            <a:endParaRPr lang="en-US" sz="1600" dirty="0"/>
          </a:p>
        </p:txBody>
      </p:sp>
      <p:sp>
        <p:nvSpPr>
          <p:cNvPr id="18" name="Shape 13"/>
          <p:cNvSpPr/>
          <p:nvPr/>
        </p:nvSpPr>
        <p:spPr>
          <a:xfrm>
            <a:off x="640080" y="4251960"/>
            <a:ext cx="10927080" cy="1965960"/>
          </a:xfrm>
          <a:prstGeom prst="roundRect">
            <a:avLst>
              <a:gd name="adj" fmla="val 3721"/>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9" name="Text 14"/>
          <p:cNvSpPr/>
          <p:nvPr/>
        </p:nvSpPr>
        <p:spPr>
          <a:xfrm>
            <a:off x="914400" y="4407408"/>
            <a:ext cx="7315200" cy="274320"/>
          </a:xfrm>
          <a:prstGeom prst="rect">
            <a:avLst/>
          </a:prstGeom>
          <a:noFill/>
          <a:ln/>
        </p:spPr>
        <p:txBody>
          <a:bodyPr wrap="square" rtlCol="0" anchor="ctr"/>
          <a:lstStyle/>
          <a:p>
            <a:pPr marL="0" indent="0">
              <a:buNone/>
            </a:pPr>
            <a:r>
              <a:rPr lang="en-US" sz="1600" b="1" kern="0" spc="100" dirty="0">
                <a:solidFill>
                  <a:srgbClr val="B8860B"/>
                </a:solidFill>
                <a:latin typeface="Calibri" pitchFamily="34" charset="0"/>
                <a:ea typeface="Calibri" pitchFamily="34" charset="-122"/>
                <a:cs typeface="Calibri" pitchFamily="34" charset="-120"/>
              </a:rPr>
              <a:t>WHY THIS MATTERS (ICT CONCEPT)</a:t>
            </a:r>
            <a:endParaRPr lang="en-US" sz="1600" dirty="0"/>
          </a:p>
        </p:txBody>
      </p:sp>
      <p:sp>
        <p:nvSpPr>
          <p:cNvPr id="20" name="Text 15"/>
          <p:cNvSpPr/>
          <p:nvPr/>
        </p:nvSpPr>
        <p:spPr>
          <a:xfrm>
            <a:off x="914400" y="4709160"/>
            <a:ext cx="10332720" cy="1371600"/>
          </a:xfrm>
          <a:prstGeom prst="rect">
            <a:avLst/>
          </a:prstGeom>
          <a:noFill/>
          <a:ln/>
        </p:spPr>
        <p:txBody>
          <a:bodyPr wrap="square" rtlCol="0" anchor="ctr"/>
          <a:lstStyle/>
          <a:p>
            <a:pPr marL="0" indent="0">
              <a:lnSpc>
                <a:spcPts val="1900"/>
              </a:lnSpc>
              <a:buNone/>
            </a:pPr>
            <a:r>
              <a:rPr lang="en-US" sz="1600" dirty="0">
                <a:solidFill>
                  <a:srgbClr val="222222"/>
                </a:solidFill>
                <a:latin typeface="Calibri" pitchFamily="34" charset="0"/>
                <a:ea typeface="Calibri" pitchFamily="34" charset="-122"/>
                <a:cs typeface="Calibri" pitchFamily="34" charset="-120"/>
              </a:rPr>
              <a:t>This is a real example of ICT platform INTEGRATION — separate tools (email, calendar, video conferencing, cloud storage) working together as one connected ecosystem, instead of isolated apps. This is the same principle you’ll see across almost every modern ICT platform.</a:t>
            </a:r>
            <a:endParaRPr lang="en-US" sz="1600" dirty="0"/>
          </a:p>
        </p:txBody>
      </p:sp>
      <p:sp>
        <p:nvSpPr>
          <p:cNvPr id="21"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2"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2: BEYOND GMAIL</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Outlook, Yahoo Mail &amp; Other Services</a:t>
            </a:r>
            <a:endParaRPr lang="en-US" sz="2400" dirty="0"/>
          </a:p>
        </p:txBody>
      </p:sp>
      <p:sp>
        <p:nvSpPr>
          <p:cNvPr id="6" name="Shape 4"/>
          <p:cNvSpPr/>
          <p:nvPr/>
        </p:nvSpPr>
        <p:spPr>
          <a:xfrm>
            <a:off x="640080" y="1234440"/>
            <a:ext cx="3520440" cy="2834640"/>
          </a:xfrm>
          <a:prstGeom prst="roundRect">
            <a:avLst>
              <a:gd name="adj" fmla="val 2581"/>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pic>
        <p:nvPicPr>
          <p:cNvPr id="7" name="Image 0" descr="mockups/outlook_badge.png"/>
          <p:cNvPicPr>
            <a:picLocks noChangeAspect="1"/>
          </p:cNvPicPr>
          <p:nvPr/>
        </p:nvPicPr>
        <p:blipFill>
          <a:blip r:embed="rId3"/>
          <a:stretch>
            <a:fillRect/>
          </a:stretch>
        </p:blipFill>
        <p:spPr>
          <a:xfrm>
            <a:off x="2080260" y="1463040"/>
            <a:ext cx="640080" cy="640080"/>
          </a:xfrm>
          <a:prstGeom prst="rect">
            <a:avLst/>
          </a:prstGeom>
        </p:spPr>
      </p:pic>
      <p:sp>
        <p:nvSpPr>
          <p:cNvPr id="8" name="Text 5"/>
          <p:cNvSpPr/>
          <p:nvPr/>
        </p:nvSpPr>
        <p:spPr>
          <a:xfrm>
            <a:off x="822960" y="224028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Microsoft Outlook</a:t>
            </a:r>
            <a:endParaRPr lang="en-US" sz="1600" dirty="0"/>
          </a:p>
        </p:txBody>
      </p:sp>
      <p:sp>
        <p:nvSpPr>
          <p:cNvPr id="9" name="Text 6"/>
          <p:cNvSpPr/>
          <p:nvPr/>
        </p:nvSpPr>
        <p:spPr>
          <a:xfrm>
            <a:off x="914400" y="2651760"/>
            <a:ext cx="2971800" cy="1280160"/>
          </a:xfrm>
          <a:prstGeom prst="rect">
            <a:avLst/>
          </a:prstGeom>
          <a:noFill/>
          <a:ln/>
        </p:spPr>
        <p:txBody>
          <a:bodyPr wrap="square" rtlCol="0" anchor="ctr"/>
          <a:lstStyle/>
          <a:p>
            <a:pPr marL="0" indent="0" algn="ctr">
              <a:lnSpc>
                <a:spcPts val="1400"/>
              </a:lnSpc>
              <a:buNone/>
            </a:pPr>
            <a:r>
              <a:rPr lang="en-US" sz="1600" dirty="0">
                <a:solidFill>
                  <a:srgbClr val="333333"/>
                </a:solidFill>
                <a:latin typeface="Calibri" pitchFamily="34" charset="0"/>
                <a:ea typeface="Calibri" pitchFamily="34" charset="-122"/>
                <a:cs typeface="Calibri" pitchFamily="34" charset="-120"/>
              </a:rPr>
              <a:t>Deep integration with Microsoft 365 (Word, Excel, Teams). Preferred in corporate environments.</a:t>
            </a:r>
            <a:endParaRPr lang="en-US" sz="1600" dirty="0"/>
          </a:p>
        </p:txBody>
      </p:sp>
      <p:sp>
        <p:nvSpPr>
          <p:cNvPr id="10" name="Shape 7"/>
          <p:cNvSpPr/>
          <p:nvPr/>
        </p:nvSpPr>
        <p:spPr>
          <a:xfrm>
            <a:off x="4389120" y="1234440"/>
            <a:ext cx="3520440" cy="2834640"/>
          </a:xfrm>
          <a:prstGeom prst="roundRect">
            <a:avLst>
              <a:gd name="adj" fmla="val 2581"/>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pic>
        <p:nvPicPr>
          <p:cNvPr id="11" name="Image 1" descr="mockups/yahoo_badge.png"/>
          <p:cNvPicPr>
            <a:picLocks noChangeAspect="1"/>
          </p:cNvPicPr>
          <p:nvPr/>
        </p:nvPicPr>
        <p:blipFill>
          <a:blip r:embed="rId4"/>
          <a:stretch>
            <a:fillRect/>
          </a:stretch>
        </p:blipFill>
        <p:spPr>
          <a:xfrm>
            <a:off x="5829300" y="1463040"/>
            <a:ext cx="640080" cy="640080"/>
          </a:xfrm>
          <a:prstGeom prst="rect">
            <a:avLst/>
          </a:prstGeom>
        </p:spPr>
      </p:pic>
      <p:sp>
        <p:nvSpPr>
          <p:cNvPr id="12" name="Text 8"/>
          <p:cNvSpPr/>
          <p:nvPr/>
        </p:nvSpPr>
        <p:spPr>
          <a:xfrm>
            <a:off x="4572000" y="224028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Yahoo Mail</a:t>
            </a:r>
            <a:endParaRPr lang="en-US" sz="1600" dirty="0"/>
          </a:p>
        </p:txBody>
      </p:sp>
      <p:sp>
        <p:nvSpPr>
          <p:cNvPr id="13" name="Text 9"/>
          <p:cNvSpPr/>
          <p:nvPr/>
        </p:nvSpPr>
        <p:spPr>
          <a:xfrm>
            <a:off x="4663440" y="2651760"/>
            <a:ext cx="2971800" cy="1280160"/>
          </a:xfrm>
          <a:prstGeom prst="rect">
            <a:avLst/>
          </a:prstGeom>
          <a:noFill/>
          <a:ln/>
        </p:spPr>
        <p:txBody>
          <a:bodyPr wrap="square" rtlCol="0" anchor="ctr"/>
          <a:lstStyle/>
          <a:p>
            <a:pPr marL="0" indent="0" algn="ctr">
              <a:lnSpc>
                <a:spcPts val="1400"/>
              </a:lnSpc>
              <a:buNone/>
            </a:pPr>
            <a:r>
              <a:rPr lang="en-US" sz="1600" dirty="0">
                <a:solidFill>
                  <a:srgbClr val="333333"/>
                </a:solidFill>
                <a:latin typeface="Calibri" pitchFamily="34" charset="0"/>
                <a:ea typeface="Calibri" pitchFamily="34" charset="-122"/>
                <a:cs typeface="Calibri" pitchFamily="34" charset="-120"/>
              </a:rPr>
              <a:t>One of the earliest webmail services; generous free storage; less used professionally today.</a:t>
            </a:r>
            <a:endParaRPr lang="en-US" sz="1600" dirty="0"/>
          </a:p>
        </p:txBody>
      </p:sp>
      <p:sp>
        <p:nvSpPr>
          <p:cNvPr id="14" name="Shape 10"/>
          <p:cNvSpPr/>
          <p:nvPr/>
        </p:nvSpPr>
        <p:spPr>
          <a:xfrm>
            <a:off x="8138160" y="1234440"/>
            <a:ext cx="3520440" cy="2834640"/>
          </a:xfrm>
          <a:prstGeom prst="roundRect">
            <a:avLst>
              <a:gd name="adj" fmla="val 2581"/>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a:p>
        </p:txBody>
      </p:sp>
      <p:pic>
        <p:nvPicPr>
          <p:cNvPr id="15" name="Image 2" descr="mockups/applemail_badge.png"/>
          <p:cNvPicPr>
            <a:picLocks noChangeAspect="1"/>
          </p:cNvPicPr>
          <p:nvPr/>
        </p:nvPicPr>
        <p:blipFill>
          <a:blip r:embed="rId5"/>
          <a:stretch>
            <a:fillRect/>
          </a:stretch>
        </p:blipFill>
        <p:spPr>
          <a:xfrm>
            <a:off x="9578340" y="1463040"/>
            <a:ext cx="640080" cy="640080"/>
          </a:xfrm>
          <a:prstGeom prst="rect">
            <a:avLst/>
          </a:prstGeom>
        </p:spPr>
      </p:pic>
      <p:sp>
        <p:nvSpPr>
          <p:cNvPr id="16" name="Text 11"/>
          <p:cNvSpPr/>
          <p:nvPr/>
        </p:nvSpPr>
        <p:spPr>
          <a:xfrm>
            <a:off x="8321040" y="2240280"/>
            <a:ext cx="3154680" cy="365760"/>
          </a:xfrm>
          <a:prstGeom prst="rect">
            <a:avLst/>
          </a:prstGeom>
          <a:noFill/>
          <a:ln/>
        </p:spPr>
        <p:txBody>
          <a:bodyPr wrap="square" rtlCol="0" anchor="ctr"/>
          <a:lstStyle/>
          <a:p>
            <a:pPr marL="0" indent="0" algn="ctr">
              <a:buNone/>
            </a:pPr>
            <a:r>
              <a:rPr lang="en-US" sz="1600" b="1" dirty="0">
                <a:solidFill>
                  <a:srgbClr val="1F3864"/>
                </a:solidFill>
                <a:latin typeface="Calibri" pitchFamily="34" charset="0"/>
                <a:ea typeface="Calibri" pitchFamily="34" charset="-122"/>
                <a:cs typeface="Calibri" pitchFamily="34" charset="-120"/>
              </a:rPr>
              <a:t>Apple Mail (iCloud)</a:t>
            </a:r>
            <a:endParaRPr lang="en-US" sz="1600" dirty="0"/>
          </a:p>
        </p:txBody>
      </p:sp>
      <p:sp>
        <p:nvSpPr>
          <p:cNvPr id="17" name="Text 12"/>
          <p:cNvSpPr/>
          <p:nvPr/>
        </p:nvSpPr>
        <p:spPr>
          <a:xfrm>
            <a:off x="8412480" y="2651760"/>
            <a:ext cx="2971800" cy="1280160"/>
          </a:xfrm>
          <a:prstGeom prst="rect">
            <a:avLst/>
          </a:prstGeom>
          <a:noFill/>
          <a:ln/>
        </p:spPr>
        <p:txBody>
          <a:bodyPr wrap="square" rtlCol="0" anchor="ctr"/>
          <a:lstStyle/>
          <a:p>
            <a:pPr marL="0" indent="0" algn="ctr">
              <a:lnSpc>
                <a:spcPts val="1400"/>
              </a:lnSpc>
              <a:buNone/>
            </a:pPr>
            <a:r>
              <a:rPr lang="en-US" sz="1600" dirty="0">
                <a:solidFill>
                  <a:srgbClr val="333333"/>
                </a:solidFill>
                <a:latin typeface="Calibri" pitchFamily="34" charset="0"/>
                <a:ea typeface="Calibri" pitchFamily="34" charset="-122"/>
                <a:cs typeface="Calibri" pitchFamily="34" charset="-120"/>
              </a:rPr>
              <a:t>Built into Apple devices; simple interface; tightly integrated with iOS/macOS ecosystem.</a:t>
            </a:r>
            <a:endParaRPr lang="en-US" sz="1600" dirty="0"/>
          </a:p>
        </p:txBody>
      </p:sp>
      <p:sp>
        <p:nvSpPr>
          <p:cNvPr id="18" name="Shape 13"/>
          <p:cNvSpPr/>
          <p:nvPr/>
        </p:nvSpPr>
        <p:spPr>
          <a:xfrm>
            <a:off x="640080" y="4297680"/>
            <a:ext cx="10927080" cy="1874520"/>
          </a:xfrm>
          <a:prstGeom prst="roundRect">
            <a:avLst>
              <a:gd name="adj" fmla="val 3902"/>
            </a:avLst>
          </a:prstGeom>
          <a:solidFill>
            <a:srgbClr val="FDF3E3"/>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9" name="Text 14"/>
          <p:cNvSpPr/>
          <p:nvPr/>
        </p:nvSpPr>
        <p:spPr>
          <a:xfrm>
            <a:off x="914400" y="4434840"/>
            <a:ext cx="7315200" cy="274320"/>
          </a:xfrm>
          <a:prstGeom prst="rect">
            <a:avLst/>
          </a:prstGeom>
          <a:noFill/>
          <a:ln/>
        </p:spPr>
        <p:txBody>
          <a:bodyPr wrap="squar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OUTLOOK’S DISTINCTIVE FEATURES</a:t>
            </a:r>
            <a:endParaRPr lang="en-US" sz="1600" dirty="0"/>
          </a:p>
        </p:txBody>
      </p:sp>
      <p:sp>
        <p:nvSpPr>
          <p:cNvPr id="20" name="Text 15"/>
          <p:cNvSpPr/>
          <p:nvPr/>
        </p:nvSpPr>
        <p:spPr>
          <a:xfrm>
            <a:off x="914400" y="4754880"/>
            <a:ext cx="10332720" cy="1280160"/>
          </a:xfrm>
          <a:prstGeom prst="rect">
            <a:avLst/>
          </a:prstGeom>
          <a:noFill/>
          <a:ln/>
        </p:spPr>
        <p:txBody>
          <a:bodyPr wrap="square" rtlCol="0" anchor="ctr"/>
          <a:lstStyle/>
          <a:p>
            <a:pPr marL="0" indent="0">
              <a:lnSpc>
                <a:spcPts val="2200"/>
              </a:lnSpc>
              <a:buNone/>
            </a:pPr>
            <a:r>
              <a:rPr lang="en-US" sz="1600" dirty="0">
                <a:solidFill>
                  <a:srgbClr val="222222"/>
                </a:solidFill>
                <a:latin typeface="Calibri" pitchFamily="34" charset="0"/>
                <a:ea typeface="Calibri" pitchFamily="34" charset="-122"/>
                <a:cs typeface="Calibri" pitchFamily="34" charset="-120"/>
              </a:rPr>
              <a:t>•  Focused Inbox (separates important mail automatically)      •  Rules (same concept as Gmail Filters)</a:t>
            </a:r>
            <a:endParaRPr lang="en-US" sz="1600" dirty="0"/>
          </a:p>
          <a:p>
            <a:pPr marL="0" indent="0">
              <a:lnSpc>
                <a:spcPts val="2200"/>
              </a:lnSpc>
              <a:buNone/>
            </a:pPr>
            <a:r>
              <a:rPr lang="en-US" sz="1600" dirty="0">
                <a:solidFill>
                  <a:srgbClr val="222222"/>
                </a:solidFill>
                <a:latin typeface="Calibri" pitchFamily="34" charset="0"/>
                <a:ea typeface="Calibri" pitchFamily="34" charset="-122"/>
                <a:cs typeface="Calibri" pitchFamily="34" charset="-120"/>
              </a:rPr>
              <a:t>•  Categories &amp; color tags (like Gmail Labels)      •  Built-in Calendar &amp; Teams meeting scheduling      •  Out-of-Office / Automatic Replies</a:t>
            </a:r>
            <a:endParaRPr lang="en-US" sz="1600" dirty="0"/>
          </a:p>
        </p:txBody>
      </p:sp>
      <p:sp>
        <p:nvSpPr>
          <p:cNvPr id="21"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2"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PART 2: FEATURE &amp; SECURITY COMPARISON</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Email Platform Comparison</a:t>
            </a:r>
            <a:endParaRPr lang="en-US" sz="2400" dirty="0"/>
          </a:p>
        </p:txBody>
      </p:sp>
      <p:sp>
        <p:nvSpPr>
          <p:cNvPr id="6" name="Shape 4"/>
          <p:cNvSpPr/>
          <p:nvPr/>
        </p:nvSpPr>
        <p:spPr>
          <a:xfrm>
            <a:off x="548640" y="1188720"/>
            <a:ext cx="3383280" cy="457200"/>
          </a:xfrm>
          <a:prstGeom prst="rect">
            <a:avLst/>
          </a:prstGeom>
          <a:solidFill>
            <a:srgbClr val="1F3864"/>
          </a:solidFill>
          <a:ln/>
        </p:spPr>
        <p:txBody>
          <a:bodyPr/>
          <a:lstStyle/>
          <a:p>
            <a:endParaRPr lang="en-US" sz="1600"/>
          </a:p>
        </p:txBody>
      </p:sp>
      <p:sp>
        <p:nvSpPr>
          <p:cNvPr id="7" name="Text 5"/>
          <p:cNvSpPr/>
          <p:nvPr/>
        </p:nvSpPr>
        <p:spPr>
          <a:xfrm>
            <a:off x="548640" y="1188720"/>
            <a:ext cx="338328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Facility</a:t>
            </a:r>
            <a:endParaRPr lang="en-US" dirty="0"/>
          </a:p>
        </p:txBody>
      </p:sp>
      <p:sp>
        <p:nvSpPr>
          <p:cNvPr id="8" name="Shape 6"/>
          <p:cNvSpPr/>
          <p:nvPr/>
        </p:nvSpPr>
        <p:spPr>
          <a:xfrm>
            <a:off x="3931920" y="1188720"/>
            <a:ext cx="2651760" cy="457200"/>
          </a:xfrm>
          <a:prstGeom prst="rect">
            <a:avLst/>
          </a:prstGeom>
          <a:solidFill>
            <a:srgbClr val="1F3864"/>
          </a:solidFill>
          <a:ln/>
        </p:spPr>
        <p:txBody>
          <a:bodyPr/>
          <a:lstStyle/>
          <a:p>
            <a:endParaRPr lang="en-US" sz="1600"/>
          </a:p>
        </p:txBody>
      </p:sp>
      <p:sp>
        <p:nvSpPr>
          <p:cNvPr id="9" name="Text 7"/>
          <p:cNvSpPr/>
          <p:nvPr/>
        </p:nvSpPr>
        <p:spPr>
          <a:xfrm>
            <a:off x="3931920" y="1188720"/>
            <a:ext cx="265176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Gmail</a:t>
            </a:r>
            <a:endParaRPr lang="en-US" dirty="0"/>
          </a:p>
        </p:txBody>
      </p:sp>
      <p:sp>
        <p:nvSpPr>
          <p:cNvPr id="10" name="Shape 8"/>
          <p:cNvSpPr/>
          <p:nvPr/>
        </p:nvSpPr>
        <p:spPr>
          <a:xfrm>
            <a:off x="6583680" y="1188720"/>
            <a:ext cx="2743200" cy="457200"/>
          </a:xfrm>
          <a:prstGeom prst="rect">
            <a:avLst/>
          </a:prstGeom>
          <a:solidFill>
            <a:srgbClr val="1F3864"/>
          </a:solidFill>
          <a:ln/>
        </p:spPr>
        <p:txBody>
          <a:bodyPr/>
          <a:lstStyle/>
          <a:p>
            <a:endParaRPr lang="en-US" sz="1600"/>
          </a:p>
        </p:txBody>
      </p:sp>
      <p:sp>
        <p:nvSpPr>
          <p:cNvPr id="11" name="Text 9"/>
          <p:cNvSpPr/>
          <p:nvPr/>
        </p:nvSpPr>
        <p:spPr>
          <a:xfrm>
            <a:off x="6583680" y="1188720"/>
            <a:ext cx="274320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Outlook</a:t>
            </a:r>
            <a:endParaRPr lang="en-US" dirty="0"/>
          </a:p>
        </p:txBody>
      </p:sp>
      <p:sp>
        <p:nvSpPr>
          <p:cNvPr id="12" name="Shape 10"/>
          <p:cNvSpPr/>
          <p:nvPr/>
        </p:nvSpPr>
        <p:spPr>
          <a:xfrm>
            <a:off x="9326880" y="1188720"/>
            <a:ext cx="2468880" cy="457200"/>
          </a:xfrm>
          <a:prstGeom prst="rect">
            <a:avLst/>
          </a:prstGeom>
          <a:solidFill>
            <a:srgbClr val="1F3864"/>
          </a:solidFill>
          <a:ln/>
        </p:spPr>
        <p:txBody>
          <a:bodyPr/>
          <a:lstStyle/>
          <a:p>
            <a:endParaRPr lang="en-US" sz="1600"/>
          </a:p>
        </p:txBody>
      </p:sp>
      <p:sp>
        <p:nvSpPr>
          <p:cNvPr id="13" name="Text 11"/>
          <p:cNvSpPr/>
          <p:nvPr/>
        </p:nvSpPr>
        <p:spPr>
          <a:xfrm>
            <a:off x="9326880" y="1188720"/>
            <a:ext cx="2468880" cy="457200"/>
          </a:xfrm>
          <a:prstGeom prst="rect">
            <a:avLst/>
          </a:prstGeom>
          <a:noFill/>
          <a:ln/>
        </p:spPr>
        <p:txBody>
          <a:bodyPr wrap="square" rtlCol="0" anchor="ctr"/>
          <a:lstStyle/>
          <a:p>
            <a:pPr marL="0" indent="0" algn="ctr">
              <a:buNone/>
            </a:pPr>
            <a:r>
              <a:rPr lang="en-US" b="1" dirty="0">
                <a:solidFill>
                  <a:srgbClr val="FFFFFF"/>
                </a:solidFill>
                <a:latin typeface="Calibri" pitchFamily="34" charset="0"/>
                <a:ea typeface="Calibri" pitchFamily="34" charset="-122"/>
                <a:cs typeface="Calibri" pitchFamily="34" charset="-120"/>
              </a:rPr>
              <a:t>Yahoo Mail</a:t>
            </a:r>
            <a:endParaRPr lang="en-US" dirty="0"/>
          </a:p>
        </p:txBody>
      </p:sp>
      <p:sp>
        <p:nvSpPr>
          <p:cNvPr id="14" name="Shape 12"/>
          <p:cNvSpPr/>
          <p:nvPr/>
        </p:nvSpPr>
        <p:spPr>
          <a:xfrm>
            <a:off x="548640" y="1645920"/>
            <a:ext cx="3383280" cy="530352"/>
          </a:xfrm>
          <a:prstGeom prst="rect">
            <a:avLst/>
          </a:prstGeom>
          <a:solidFill>
            <a:srgbClr val="FFFFFF"/>
          </a:solidFill>
          <a:ln w="9525">
            <a:solidFill>
              <a:srgbClr val="DCE1EA"/>
            </a:solidFill>
            <a:prstDash val="solid"/>
          </a:ln>
        </p:spPr>
        <p:txBody>
          <a:bodyPr/>
          <a:lstStyle/>
          <a:p>
            <a:endParaRPr lang="en-US" sz="1600"/>
          </a:p>
        </p:txBody>
      </p:sp>
      <p:sp>
        <p:nvSpPr>
          <p:cNvPr id="15" name="Text 13"/>
          <p:cNvSpPr/>
          <p:nvPr/>
        </p:nvSpPr>
        <p:spPr>
          <a:xfrm>
            <a:off x="640080" y="1645920"/>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Smart writing suggestions</a:t>
            </a:r>
            <a:endParaRPr lang="en-US" sz="1600" dirty="0"/>
          </a:p>
        </p:txBody>
      </p:sp>
      <p:sp>
        <p:nvSpPr>
          <p:cNvPr id="16" name="Shape 14"/>
          <p:cNvSpPr/>
          <p:nvPr/>
        </p:nvSpPr>
        <p:spPr>
          <a:xfrm>
            <a:off x="3931920" y="1645920"/>
            <a:ext cx="2651760" cy="530352"/>
          </a:xfrm>
          <a:prstGeom prst="rect">
            <a:avLst/>
          </a:prstGeom>
          <a:solidFill>
            <a:srgbClr val="FFFFFF"/>
          </a:solidFill>
          <a:ln w="9525">
            <a:solidFill>
              <a:srgbClr val="DCE1EA"/>
            </a:solidFill>
            <a:prstDash val="solid"/>
          </a:ln>
        </p:spPr>
        <p:txBody>
          <a:bodyPr/>
          <a:lstStyle/>
          <a:p>
            <a:endParaRPr lang="en-US" sz="1600"/>
          </a:p>
        </p:txBody>
      </p:sp>
      <p:sp>
        <p:nvSpPr>
          <p:cNvPr id="17" name="Text 15"/>
          <p:cNvSpPr/>
          <p:nvPr/>
        </p:nvSpPr>
        <p:spPr>
          <a:xfrm>
            <a:off x="4023360" y="1645920"/>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Smart Compose</a:t>
            </a:r>
            <a:endParaRPr lang="en-US" sz="1600" dirty="0"/>
          </a:p>
        </p:txBody>
      </p:sp>
      <p:sp>
        <p:nvSpPr>
          <p:cNvPr id="18" name="Shape 16"/>
          <p:cNvSpPr/>
          <p:nvPr/>
        </p:nvSpPr>
        <p:spPr>
          <a:xfrm>
            <a:off x="6583680" y="1645920"/>
            <a:ext cx="2743200" cy="530352"/>
          </a:xfrm>
          <a:prstGeom prst="rect">
            <a:avLst/>
          </a:prstGeom>
          <a:solidFill>
            <a:srgbClr val="FFFFFF"/>
          </a:solidFill>
          <a:ln w="9525">
            <a:solidFill>
              <a:srgbClr val="DCE1EA"/>
            </a:solidFill>
            <a:prstDash val="solid"/>
          </a:ln>
        </p:spPr>
        <p:txBody>
          <a:bodyPr/>
          <a:lstStyle/>
          <a:p>
            <a:endParaRPr lang="en-US" sz="1600"/>
          </a:p>
        </p:txBody>
      </p:sp>
      <p:sp>
        <p:nvSpPr>
          <p:cNvPr id="19" name="Text 17"/>
          <p:cNvSpPr/>
          <p:nvPr/>
        </p:nvSpPr>
        <p:spPr>
          <a:xfrm>
            <a:off x="6675120" y="1645920"/>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Editor suggestions</a:t>
            </a:r>
            <a:endParaRPr lang="en-US" sz="1600" dirty="0"/>
          </a:p>
        </p:txBody>
      </p:sp>
      <p:sp>
        <p:nvSpPr>
          <p:cNvPr id="20" name="Shape 18"/>
          <p:cNvSpPr/>
          <p:nvPr/>
        </p:nvSpPr>
        <p:spPr>
          <a:xfrm>
            <a:off x="9326880" y="1645920"/>
            <a:ext cx="2468880" cy="530352"/>
          </a:xfrm>
          <a:prstGeom prst="rect">
            <a:avLst/>
          </a:prstGeom>
          <a:solidFill>
            <a:srgbClr val="FFFFFF"/>
          </a:solidFill>
          <a:ln w="9525">
            <a:solidFill>
              <a:srgbClr val="DCE1EA"/>
            </a:solidFill>
            <a:prstDash val="solid"/>
          </a:ln>
        </p:spPr>
        <p:txBody>
          <a:bodyPr/>
          <a:lstStyle/>
          <a:p>
            <a:endParaRPr lang="en-US" sz="1600"/>
          </a:p>
        </p:txBody>
      </p:sp>
      <p:sp>
        <p:nvSpPr>
          <p:cNvPr id="21" name="Text 19"/>
          <p:cNvSpPr/>
          <p:nvPr/>
        </p:nvSpPr>
        <p:spPr>
          <a:xfrm>
            <a:off x="9418320" y="1645920"/>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Basic spell-check</a:t>
            </a:r>
            <a:endParaRPr lang="en-US" sz="1600" dirty="0"/>
          </a:p>
        </p:txBody>
      </p:sp>
      <p:sp>
        <p:nvSpPr>
          <p:cNvPr id="22" name="Shape 20"/>
          <p:cNvSpPr/>
          <p:nvPr/>
        </p:nvSpPr>
        <p:spPr>
          <a:xfrm>
            <a:off x="548640" y="2176272"/>
            <a:ext cx="3383280" cy="530352"/>
          </a:xfrm>
          <a:prstGeom prst="rect">
            <a:avLst/>
          </a:prstGeom>
          <a:solidFill>
            <a:srgbClr val="F4F6FA"/>
          </a:solidFill>
          <a:ln w="9525">
            <a:solidFill>
              <a:srgbClr val="DCE1EA"/>
            </a:solidFill>
            <a:prstDash val="solid"/>
          </a:ln>
        </p:spPr>
        <p:txBody>
          <a:bodyPr/>
          <a:lstStyle/>
          <a:p>
            <a:endParaRPr lang="en-US" sz="1600"/>
          </a:p>
        </p:txBody>
      </p:sp>
      <p:sp>
        <p:nvSpPr>
          <p:cNvPr id="23" name="Text 21"/>
          <p:cNvSpPr/>
          <p:nvPr/>
        </p:nvSpPr>
        <p:spPr>
          <a:xfrm>
            <a:off x="640080" y="2176272"/>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Automation rules</a:t>
            </a:r>
            <a:endParaRPr lang="en-US" sz="1600" dirty="0"/>
          </a:p>
        </p:txBody>
      </p:sp>
      <p:sp>
        <p:nvSpPr>
          <p:cNvPr id="24" name="Shape 22"/>
          <p:cNvSpPr/>
          <p:nvPr/>
        </p:nvSpPr>
        <p:spPr>
          <a:xfrm>
            <a:off x="3931920" y="2176272"/>
            <a:ext cx="2651760" cy="530352"/>
          </a:xfrm>
          <a:prstGeom prst="rect">
            <a:avLst/>
          </a:prstGeom>
          <a:solidFill>
            <a:srgbClr val="F4F6FA"/>
          </a:solidFill>
          <a:ln w="9525">
            <a:solidFill>
              <a:srgbClr val="DCE1EA"/>
            </a:solidFill>
            <a:prstDash val="solid"/>
          </a:ln>
        </p:spPr>
        <p:txBody>
          <a:bodyPr/>
          <a:lstStyle/>
          <a:p>
            <a:endParaRPr lang="en-US" sz="1600"/>
          </a:p>
        </p:txBody>
      </p:sp>
      <p:sp>
        <p:nvSpPr>
          <p:cNvPr id="25" name="Text 23"/>
          <p:cNvSpPr/>
          <p:nvPr/>
        </p:nvSpPr>
        <p:spPr>
          <a:xfrm>
            <a:off x="4023360" y="2176272"/>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Filters</a:t>
            </a:r>
            <a:endParaRPr lang="en-US" sz="1600" dirty="0"/>
          </a:p>
        </p:txBody>
      </p:sp>
      <p:sp>
        <p:nvSpPr>
          <p:cNvPr id="26" name="Shape 24"/>
          <p:cNvSpPr/>
          <p:nvPr/>
        </p:nvSpPr>
        <p:spPr>
          <a:xfrm>
            <a:off x="6583680" y="2176272"/>
            <a:ext cx="2743200" cy="530352"/>
          </a:xfrm>
          <a:prstGeom prst="rect">
            <a:avLst/>
          </a:prstGeom>
          <a:solidFill>
            <a:srgbClr val="F4F6FA"/>
          </a:solidFill>
          <a:ln w="9525">
            <a:solidFill>
              <a:srgbClr val="DCE1EA"/>
            </a:solidFill>
            <a:prstDash val="solid"/>
          </a:ln>
        </p:spPr>
        <p:txBody>
          <a:bodyPr/>
          <a:lstStyle/>
          <a:p>
            <a:endParaRPr lang="en-US" sz="1600"/>
          </a:p>
        </p:txBody>
      </p:sp>
      <p:sp>
        <p:nvSpPr>
          <p:cNvPr id="27" name="Text 25"/>
          <p:cNvSpPr/>
          <p:nvPr/>
        </p:nvSpPr>
        <p:spPr>
          <a:xfrm>
            <a:off x="6675120" y="2176272"/>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Rules</a:t>
            </a:r>
            <a:endParaRPr lang="en-US" sz="1600" dirty="0"/>
          </a:p>
        </p:txBody>
      </p:sp>
      <p:sp>
        <p:nvSpPr>
          <p:cNvPr id="28" name="Shape 26"/>
          <p:cNvSpPr/>
          <p:nvPr/>
        </p:nvSpPr>
        <p:spPr>
          <a:xfrm>
            <a:off x="9326880" y="2176272"/>
            <a:ext cx="2468880" cy="530352"/>
          </a:xfrm>
          <a:prstGeom prst="rect">
            <a:avLst/>
          </a:prstGeom>
          <a:solidFill>
            <a:srgbClr val="F4F6FA"/>
          </a:solidFill>
          <a:ln w="9525">
            <a:solidFill>
              <a:srgbClr val="DCE1EA"/>
            </a:solidFill>
            <a:prstDash val="solid"/>
          </a:ln>
        </p:spPr>
        <p:txBody>
          <a:bodyPr/>
          <a:lstStyle/>
          <a:p>
            <a:endParaRPr lang="en-US" sz="1600"/>
          </a:p>
        </p:txBody>
      </p:sp>
      <p:sp>
        <p:nvSpPr>
          <p:cNvPr id="29" name="Text 27"/>
          <p:cNvSpPr/>
          <p:nvPr/>
        </p:nvSpPr>
        <p:spPr>
          <a:xfrm>
            <a:off x="9418320" y="2176272"/>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Filters (limited)</a:t>
            </a:r>
            <a:endParaRPr lang="en-US" sz="1600" dirty="0"/>
          </a:p>
        </p:txBody>
      </p:sp>
      <p:sp>
        <p:nvSpPr>
          <p:cNvPr id="30" name="Shape 28"/>
          <p:cNvSpPr/>
          <p:nvPr/>
        </p:nvSpPr>
        <p:spPr>
          <a:xfrm>
            <a:off x="548640" y="2706624"/>
            <a:ext cx="3383280" cy="530352"/>
          </a:xfrm>
          <a:prstGeom prst="rect">
            <a:avLst/>
          </a:prstGeom>
          <a:solidFill>
            <a:srgbClr val="FFFFFF"/>
          </a:solidFill>
          <a:ln w="9525">
            <a:solidFill>
              <a:srgbClr val="DCE1EA"/>
            </a:solidFill>
            <a:prstDash val="solid"/>
          </a:ln>
        </p:spPr>
        <p:txBody>
          <a:bodyPr/>
          <a:lstStyle/>
          <a:p>
            <a:endParaRPr lang="en-US" sz="1600"/>
          </a:p>
        </p:txBody>
      </p:sp>
      <p:sp>
        <p:nvSpPr>
          <p:cNvPr id="31" name="Text 29"/>
          <p:cNvSpPr/>
          <p:nvPr/>
        </p:nvSpPr>
        <p:spPr>
          <a:xfrm>
            <a:off x="640080" y="2706624"/>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Organization tags</a:t>
            </a:r>
            <a:endParaRPr lang="en-US" sz="1600" dirty="0"/>
          </a:p>
        </p:txBody>
      </p:sp>
      <p:sp>
        <p:nvSpPr>
          <p:cNvPr id="32" name="Shape 30"/>
          <p:cNvSpPr/>
          <p:nvPr/>
        </p:nvSpPr>
        <p:spPr>
          <a:xfrm>
            <a:off x="3931920" y="2706624"/>
            <a:ext cx="2651760" cy="530352"/>
          </a:xfrm>
          <a:prstGeom prst="rect">
            <a:avLst/>
          </a:prstGeom>
          <a:solidFill>
            <a:srgbClr val="FFFFFF"/>
          </a:solidFill>
          <a:ln w="9525">
            <a:solidFill>
              <a:srgbClr val="DCE1EA"/>
            </a:solidFill>
            <a:prstDash val="solid"/>
          </a:ln>
        </p:spPr>
        <p:txBody>
          <a:bodyPr/>
          <a:lstStyle/>
          <a:p>
            <a:endParaRPr lang="en-US" sz="1600"/>
          </a:p>
        </p:txBody>
      </p:sp>
      <p:sp>
        <p:nvSpPr>
          <p:cNvPr id="33" name="Text 31"/>
          <p:cNvSpPr/>
          <p:nvPr/>
        </p:nvSpPr>
        <p:spPr>
          <a:xfrm>
            <a:off x="4023360" y="2706624"/>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Labels (multi-tag)</a:t>
            </a:r>
            <a:endParaRPr lang="en-US" sz="1600" dirty="0"/>
          </a:p>
        </p:txBody>
      </p:sp>
      <p:sp>
        <p:nvSpPr>
          <p:cNvPr id="34" name="Shape 32"/>
          <p:cNvSpPr/>
          <p:nvPr/>
        </p:nvSpPr>
        <p:spPr>
          <a:xfrm>
            <a:off x="6583680" y="2706624"/>
            <a:ext cx="2743200" cy="530352"/>
          </a:xfrm>
          <a:prstGeom prst="rect">
            <a:avLst/>
          </a:prstGeom>
          <a:solidFill>
            <a:srgbClr val="FFFFFF"/>
          </a:solidFill>
          <a:ln w="9525">
            <a:solidFill>
              <a:srgbClr val="DCE1EA"/>
            </a:solidFill>
            <a:prstDash val="solid"/>
          </a:ln>
        </p:spPr>
        <p:txBody>
          <a:bodyPr/>
          <a:lstStyle/>
          <a:p>
            <a:endParaRPr lang="en-US" sz="1600"/>
          </a:p>
        </p:txBody>
      </p:sp>
      <p:sp>
        <p:nvSpPr>
          <p:cNvPr id="35" name="Text 33"/>
          <p:cNvSpPr/>
          <p:nvPr/>
        </p:nvSpPr>
        <p:spPr>
          <a:xfrm>
            <a:off x="6675120" y="2706624"/>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Categories</a:t>
            </a:r>
            <a:endParaRPr lang="en-US" sz="1600" dirty="0"/>
          </a:p>
        </p:txBody>
      </p:sp>
      <p:sp>
        <p:nvSpPr>
          <p:cNvPr id="36" name="Shape 34"/>
          <p:cNvSpPr/>
          <p:nvPr/>
        </p:nvSpPr>
        <p:spPr>
          <a:xfrm>
            <a:off x="9326880" y="2706624"/>
            <a:ext cx="2468880" cy="530352"/>
          </a:xfrm>
          <a:prstGeom prst="rect">
            <a:avLst/>
          </a:prstGeom>
          <a:solidFill>
            <a:srgbClr val="FFFFFF"/>
          </a:solidFill>
          <a:ln w="9525">
            <a:solidFill>
              <a:srgbClr val="DCE1EA"/>
            </a:solidFill>
            <a:prstDash val="solid"/>
          </a:ln>
        </p:spPr>
        <p:txBody>
          <a:bodyPr/>
          <a:lstStyle/>
          <a:p>
            <a:endParaRPr lang="en-US" sz="1600"/>
          </a:p>
        </p:txBody>
      </p:sp>
      <p:sp>
        <p:nvSpPr>
          <p:cNvPr id="37" name="Text 35"/>
          <p:cNvSpPr/>
          <p:nvPr/>
        </p:nvSpPr>
        <p:spPr>
          <a:xfrm>
            <a:off x="9418320" y="2706624"/>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Folders only</a:t>
            </a:r>
            <a:endParaRPr lang="en-US" sz="1600" dirty="0"/>
          </a:p>
        </p:txBody>
      </p:sp>
      <p:sp>
        <p:nvSpPr>
          <p:cNvPr id="38" name="Shape 36"/>
          <p:cNvSpPr/>
          <p:nvPr/>
        </p:nvSpPr>
        <p:spPr>
          <a:xfrm>
            <a:off x="548640" y="3236976"/>
            <a:ext cx="3383280" cy="530352"/>
          </a:xfrm>
          <a:prstGeom prst="rect">
            <a:avLst/>
          </a:prstGeom>
          <a:solidFill>
            <a:srgbClr val="F4F6FA"/>
          </a:solidFill>
          <a:ln w="9525">
            <a:solidFill>
              <a:srgbClr val="DCE1EA"/>
            </a:solidFill>
            <a:prstDash val="solid"/>
          </a:ln>
        </p:spPr>
        <p:txBody>
          <a:bodyPr/>
          <a:lstStyle/>
          <a:p>
            <a:endParaRPr lang="en-US" sz="1600"/>
          </a:p>
        </p:txBody>
      </p:sp>
      <p:sp>
        <p:nvSpPr>
          <p:cNvPr id="39" name="Text 37"/>
          <p:cNvSpPr/>
          <p:nvPr/>
        </p:nvSpPr>
        <p:spPr>
          <a:xfrm>
            <a:off x="640080" y="3236976"/>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2-Step Verification</a:t>
            </a:r>
            <a:endParaRPr lang="en-US" sz="1600" dirty="0"/>
          </a:p>
        </p:txBody>
      </p:sp>
      <p:sp>
        <p:nvSpPr>
          <p:cNvPr id="40" name="Shape 38"/>
          <p:cNvSpPr/>
          <p:nvPr/>
        </p:nvSpPr>
        <p:spPr>
          <a:xfrm>
            <a:off x="3931920" y="3236976"/>
            <a:ext cx="2651760" cy="530352"/>
          </a:xfrm>
          <a:prstGeom prst="rect">
            <a:avLst/>
          </a:prstGeom>
          <a:solidFill>
            <a:srgbClr val="F4F6FA"/>
          </a:solidFill>
          <a:ln w="9525">
            <a:solidFill>
              <a:srgbClr val="DCE1EA"/>
            </a:solidFill>
            <a:prstDash val="solid"/>
          </a:ln>
        </p:spPr>
        <p:txBody>
          <a:bodyPr/>
          <a:lstStyle/>
          <a:p>
            <a:endParaRPr lang="en-US" sz="1600"/>
          </a:p>
        </p:txBody>
      </p:sp>
      <p:sp>
        <p:nvSpPr>
          <p:cNvPr id="41" name="Text 39"/>
          <p:cNvSpPr/>
          <p:nvPr/>
        </p:nvSpPr>
        <p:spPr>
          <a:xfrm>
            <a:off x="4023360" y="3236976"/>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a:t>
            </a:r>
            <a:endParaRPr lang="en-US" sz="1600" dirty="0"/>
          </a:p>
        </p:txBody>
      </p:sp>
      <p:sp>
        <p:nvSpPr>
          <p:cNvPr id="42" name="Shape 40"/>
          <p:cNvSpPr/>
          <p:nvPr/>
        </p:nvSpPr>
        <p:spPr>
          <a:xfrm>
            <a:off x="6583680" y="3236976"/>
            <a:ext cx="2743200" cy="530352"/>
          </a:xfrm>
          <a:prstGeom prst="rect">
            <a:avLst/>
          </a:prstGeom>
          <a:solidFill>
            <a:srgbClr val="F4F6FA"/>
          </a:solidFill>
          <a:ln w="9525">
            <a:solidFill>
              <a:srgbClr val="DCE1EA"/>
            </a:solidFill>
            <a:prstDash val="solid"/>
          </a:ln>
        </p:spPr>
        <p:txBody>
          <a:bodyPr/>
          <a:lstStyle/>
          <a:p>
            <a:endParaRPr lang="en-US" sz="1600"/>
          </a:p>
        </p:txBody>
      </p:sp>
      <p:sp>
        <p:nvSpPr>
          <p:cNvPr id="43" name="Text 41"/>
          <p:cNvSpPr/>
          <p:nvPr/>
        </p:nvSpPr>
        <p:spPr>
          <a:xfrm>
            <a:off x="6675120" y="3236976"/>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 (MS Authenticator)</a:t>
            </a:r>
            <a:endParaRPr lang="en-US" sz="1600" dirty="0"/>
          </a:p>
        </p:txBody>
      </p:sp>
      <p:sp>
        <p:nvSpPr>
          <p:cNvPr id="44" name="Shape 42"/>
          <p:cNvSpPr/>
          <p:nvPr/>
        </p:nvSpPr>
        <p:spPr>
          <a:xfrm>
            <a:off x="9326880" y="3236976"/>
            <a:ext cx="2468880" cy="530352"/>
          </a:xfrm>
          <a:prstGeom prst="rect">
            <a:avLst/>
          </a:prstGeom>
          <a:solidFill>
            <a:srgbClr val="F4F6FA"/>
          </a:solidFill>
          <a:ln w="9525">
            <a:solidFill>
              <a:srgbClr val="DCE1EA"/>
            </a:solidFill>
            <a:prstDash val="solid"/>
          </a:ln>
        </p:spPr>
        <p:txBody>
          <a:bodyPr/>
          <a:lstStyle/>
          <a:p>
            <a:endParaRPr lang="en-US" sz="1600"/>
          </a:p>
        </p:txBody>
      </p:sp>
      <p:sp>
        <p:nvSpPr>
          <p:cNvPr id="45" name="Text 43"/>
          <p:cNvSpPr/>
          <p:nvPr/>
        </p:nvSpPr>
        <p:spPr>
          <a:xfrm>
            <a:off x="9418320" y="3236976"/>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Yes</a:t>
            </a:r>
            <a:endParaRPr lang="en-US" sz="1600" dirty="0"/>
          </a:p>
        </p:txBody>
      </p:sp>
      <p:sp>
        <p:nvSpPr>
          <p:cNvPr id="46" name="Shape 44"/>
          <p:cNvSpPr/>
          <p:nvPr/>
        </p:nvSpPr>
        <p:spPr>
          <a:xfrm>
            <a:off x="548640" y="3767328"/>
            <a:ext cx="3383280" cy="530352"/>
          </a:xfrm>
          <a:prstGeom prst="rect">
            <a:avLst/>
          </a:prstGeom>
          <a:solidFill>
            <a:srgbClr val="FFFFFF"/>
          </a:solidFill>
          <a:ln w="9525">
            <a:solidFill>
              <a:srgbClr val="DCE1EA"/>
            </a:solidFill>
            <a:prstDash val="solid"/>
          </a:ln>
        </p:spPr>
        <p:txBody>
          <a:bodyPr/>
          <a:lstStyle/>
          <a:p>
            <a:endParaRPr lang="en-US" sz="1600"/>
          </a:p>
        </p:txBody>
      </p:sp>
      <p:sp>
        <p:nvSpPr>
          <p:cNvPr id="47" name="Text 45"/>
          <p:cNvSpPr/>
          <p:nvPr/>
        </p:nvSpPr>
        <p:spPr>
          <a:xfrm>
            <a:off x="640080" y="3767328"/>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Confidential/expiring mail</a:t>
            </a:r>
            <a:endParaRPr lang="en-US" sz="1600" dirty="0"/>
          </a:p>
        </p:txBody>
      </p:sp>
      <p:sp>
        <p:nvSpPr>
          <p:cNvPr id="48" name="Shape 46"/>
          <p:cNvSpPr/>
          <p:nvPr/>
        </p:nvSpPr>
        <p:spPr>
          <a:xfrm>
            <a:off x="3931920" y="3767328"/>
            <a:ext cx="2651760" cy="530352"/>
          </a:xfrm>
          <a:prstGeom prst="rect">
            <a:avLst/>
          </a:prstGeom>
          <a:solidFill>
            <a:srgbClr val="FFFFFF"/>
          </a:solidFill>
          <a:ln w="9525">
            <a:solidFill>
              <a:srgbClr val="DCE1EA"/>
            </a:solidFill>
            <a:prstDash val="solid"/>
          </a:ln>
        </p:spPr>
        <p:txBody>
          <a:bodyPr/>
          <a:lstStyle/>
          <a:p>
            <a:endParaRPr lang="en-US" sz="1600"/>
          </a:p>
        </p:txBody>
      </p:sp>
      <p:sp>
        <p:nvSpPr>
          <p:cNvPr id="49" name="Text 47"/>
          <p:cNvSpPr/>
          <p:nvPr/>
        </p:nvSpPr>
        <p:spPr>
          <a:xfrm>
            <a:off x="4023360" y="3767328"/>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Confidential Mode</a:t>
            </a:r>
            <a:endParaRPr lang="en-US" sz="1600" dirty="0"/>
          </a:p>
        </p:txBody>
      </p:sp>
      <p:sp>
        <p:nvSpPr>
          <p:cNvPr id="50" name="Shape 48"/>
          <p:cNvSpPr/>
          <p:nvPr/>
        </p:nvSpPr>
        <p:spPr>
          <a:xfrm>
            <a:off x="6583680" y="3767328"/>
            <a:ext cx="2743200" cy="530352"/>
          </a:xfrm>
          <a:prstGeom prst="rect">
            <a:avLst/>
          </a:prstGeom>
          <a:solidFill>
            <a:srgbClr val="FFFFFF"/>
          </a:solidFill>
          <a:ln w="9525">
            <a:solidFill>
              <a:srgbClr val="DCE1EA"/>
            </a:solidFill>
            <a:prstDash val="solid"/>
          </a:ln>
        </p:spPr>
        <p:txBody>
          <a:bodyPr/>
          <a:lstStyle/>
          <a:p>
            <a:endParaRPr lang="en-US" sz="1600"/>
          </a:p>
        </p:txBody>
      </p:sp>
      <p:sp>
        <p:nvSpPr>
          <p:cNvPr id="51" name="Text 49"/>
          <p:cNvSpPr/>
          <p:nvPr/>
        </p:nvSpPr>
        <p:spPr>
          <a:xfrm>
            <a:off x="6675120" y="3767328"/>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Encrypt/Do Not Forward</a:t>
            </a:r>
            <a:endParaRPr lang="en-US" sz="1600" dirty="0"/>
          </a:p>
        </p:txBody>
      </p:sp>
      <p:sp>
        <p:nvSpPr>
          <p:cNvPr id="52" name="Shape 50"/>
          <p:cNvSpPr/>
          <p:nvPr/>
        </p:nvSpPr>
        <p:spPr>
          <a:xfrm>
            <a:off x="9326880" y="3767328"/>
            <a:ext cx="2468880" cy="530352"/>
          </a:xfrm>
          <a:prstGeom prst="rect">
            <a:avLst/>
          </a:prstGeom>
          <a:solidFill>
            <a:srgbClr val="FFFFFF"/>
          </a:solidFill>
          <a:ln w="9525">
            <a:solidFill>
              <a:srgbClr val="DCE1EA"/>
            </a:solidFill>
            <a:prstDash val="solid"/>
          </a:ln>
        </p:spPr>
        <p:txBody>
          <a:bodyPr/>
          <a:lstStyle/>
          <a:p>
            <a:endParaRPr lang="en-US" sz="1600"/>
          </a:p>
        </p:txBody>
      </p:sp>
      <p:sp>
        <p:nvSpPr>
          <p:cNvPr id="53" name="Text 51"/>
          <p:cNvSpPr/>
          <p:nvPr/>
        </p:nvSpPr>
        <p:spPr>
          <a:xfrm>
            <a:off x="9418320" y="3767328"/>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Not available</a:t>
            </a:r>
            <a:endParaRPr lang="en-US" sz="1600" dirty="0"/>
          </a:p>
        </p:txBody>
      </p:sp>
      <p:sp>
        <p:nvSpPr>
          <p:cNvPr id="54" name="Shape 52"/>
          <p:cNvSpPr/>
          <p:nvPr/>
        </p:nvSpPr>
        <p:spPr>
          <a:xfrm>
            <a:off x="548640" y="4297680"/>
            <a:ext cx="3383280" cy="530352"/>
          </a:xfrm>
          <a:prstGeom prst="rect">
            <a:avLst/>
          </a:prstGeom>
          <a:solidFill>
            <a:srgbClr val="F4F6FA"/>
          </a:solidFill>
          <a:ln w="9525">
            <a:solidFill>
              <a:srgbClr val="DCE1EA"/>
            </a:solidFill>
            <a:prstDash val="solid"/>
          </a:ln>
        </p:spPr>
        <p:txBody>
          <a:bodyPr/>
          <a:lstStyle/>
          <a:p>
            <a:endParaRPr lang="en-US" sz="1600"/>
          </a:p>
        </p:txBody>
      </p:sp>
      <p:sp>
        <p:nvSpPr>
          <p:cNvPr id="55" name="Text 53"/>
          <p:cNvSpPr/>
          <p:nvPr/>
        </p:nvSpPr>
        <p:spPr>
          <a:xfrm>
            <a:off x="640080" y="4297680"/>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Native office suite link</a:t>
            </a:r>
            <a:endParaRPr lang="en-US" sz="1600" dirty="0"/>
          </a:p>
        </p:txBody>
      </p:sp>
      <p:sp>
        <p:nvSpPr>
          <p:cNvPr id="56" name="Shape 54"/>
          <p:cNvSpPr/>
          <p:nvPr/>
        </p:nvSpPr>
        <p:spPr>
          <a:xfrm>
            <a:off x="3931920" y="4297680"/>
            <a:ext cx="2651760" cy="530352"/>
          </a:xfrm>
          <a:prstGeom prst="rect">
            <a:avLst/>
          </a:prstGeom>
          <a:solidFill>
            <a:srgbClr val="F4F6FA"/>
          </a:solidFill>
          <a:ln w="9525">
            <a:solidFill>
              <a:srgbClr val="DCE1EA"/>
            </a:solidFill>
            <a:prstDash val="solid"/>
          </a:ln>
        </p:spPr>
        <p:txBody>
          <a:bodyPr/>
          <a:lstStyle/>
          <a:p>
            <a:endParaRPr lang="en-US" sz="1600"/>
          </a:p>
        </p:txBody>
      </p:sp>
      <p:sp>
        <p:nvSpPr>
          <p:cNvPr id="57" name="Text 55"/>
          <p:cNvSpPr/>
          <p:nvPr/>
        </p:nvSpPr>
        <p:spPr>
          <a:xfrm>
            <a:off x="4023360" y="4297680"/>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Google Docs/Sheets/Slides</a:t>
            </a:r>
            <a:endParaRPr lang="en-US" sz="1600" dirty="0"/>
          </a:p>
        </p:txBody>
      </p:sp>
      <p:sp>
        <p:nvSpPr>
          <p:cNvPr id="58" name="Shape 56"/>
          <p:cNvSpPr/>
          <p:nvPr/>
        </p:nvSpPr>
        <p:spPr>
          <a:xfrm>
            <a:off x="6583680" y="4297680"/>
            <a:ext cx="2743200" cy="530352"/>
          </a:xfrm>
          <a:prstGeom prst="rect">
            <a:avLst/>
          </a:prstGeom>
          <a:solidFill>
            <a:srgbClr val="F4F6FA"/>
          </a:solidFill>
          <a:ln w="9525">
            <a:solidFill>
              <a:srgbClr val="DCE1EA"/>
            </a:solidFill>
            <a:prstDash val="solid"/>
          </a:ln>
        </p:spPr>
        <p:txBody>
          <a:bodyPr/>
          <a:lstStyle/>
          <a:p>
            <a:endParaRPr lang="en-US" sz="1600"/>
          </a:p>
        </p:txBody>
      </p:sp>
      <p:sp>
        <p:nvSpPr>
          <p:cNvPr id="59" name="Text 57"/>
          <p:cNvSpPr/>
          <p:nvPr/>
        </p:nvSpPr>
        <p:spPr>
          <a:xfrm>
            <a:off x="6675120" y="4297680"/>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Word/Excel/PowerPoint</a:t>
            </a:r>
            <a:endParaRPr lang="en-US" sz="1600" dirty="0"/>
          </a:p>
        </p:txBody>
      </p:sp>
      <p:sp>
        <p:nvSpPr>
          <p:cNvPr id="60" name="Shape 58"/>
          <p:cNvSpPr/>
          <p:nvPr/>
        </p:nvSpPr>
        <p:spPr>
          <a:xfrm>
            <a:off x="9326880" y="4297680"/>
            <a:ext cx="2468880" cy="530352"/>
          </a:xfrm>
          <a:prstGeom prst="rect">
            <a:avLst/>
          </a:prstGeom>
          <a:solidFill>
            <a:srgbClr val="F4F6FA"/>
          </a:solidFill>
          <a:ln w="9525">
            <a:solidFill>
              <a:srgbClr val="DCE1EA"/>
            </a:solidFill>
            <a:prstDash val="solid"/>
          </a:ln>
        </p:spPr>
        <p:txBody>
          <a:bodyPr/>
          <a:lstStyle/>
          <a:p>
            <a:endParaRPr lang="en-US" sz="1600"/>
          </a:p>
        </p:txBody>
      </p:sp>
      <p:sp>
        <p:nvSpPr>
          <p:cNvPr id="61" name="Text 59"/>
          <p:cNvSpPr/>
          <p:nvPr/>
        </p:nvSpPr>
        <p:spPr>
          <a:xfrm>
            <a:off x="9418320" y="4297680"/>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None built-in</a:t>
            </a:r>
            <a:endParaRPr lang="en-US" sz="1600" dirty="0"/>
          </a:p>
        </p:txBody>
      </p:sp>
      <p:sp>
        <p:nvSpPr>
          <p:cNvPr id="62" name="Shape 60"/>
          <p:cNvSpPr/>
          <p:nvPr/>
        </p:nvSpPr>
        <p:spPr>
          <a:xfrm>
            <a:off x="548640" y="4828032"/>
            <a:ext cx="3383280" cy="530352"/>
          </a:xfrm>
          <a:prstGeom prst="rect">
            <a:avLst/>
          </a:prstGeom>
          <a:solidFill>
            <a:srgbClr val="FFFFFF"/>
          </a:solidFill>
          <a:ln w="9525">
            <a:solidFill>
              <a:srgbClr val="DCE1EA"/>
            </a:solidFill>
            <a:prstDash val="solid"/>
          </a:ln>
        </p:spPr>
        <p:txBody>
          <a:bodyPr/>
          <a:lstStyle/>
          <a:p>
            <a:endParaRPr lang="en-US" sz="1600"/>
          </a:p>
        </p:txBody>
      </p:sp>
      <p:sp>
        <p:nvSpPr>
          <p:cNvPr id="63" name="Text 61"/>
          <p:cNvSpPr/>
          <p:nvPr/>
        </p:nvSpPr>
        <p:spPr>
          <a:xfrm>
            <a:off x="640080" y="4828032"/>
            <a:ext cx="3200400" cy="530352"/>
          </a:xfrm>
          <a:prstGeom prst="rect">
            <a:avLst/>
          </a:prstGeom>
          <a:noFill/>
          <a:ln/>
        </p:spPr>
        <p:txBody>
          <a:bodyPr wrap="square" rtlCol="0" anchor="ctr"/>
          <a:lstStyle/>
          <a:p>
            <a:pPr marL="0" indent="0" algn="l">
              <a:buNone/>
            </a:pPr>
            <a:r>
              <a:rPr lang="en-US" sz="1600" b="1" dirty="0">
                <a:solidFill>
                  <a:srgbClr val="1F3864"/>
                </a:solidFill>
                <a:latin typeface="Calibri" pitchFamily="34" charset="0"/>
                <a:ea typeface="Calibri" pitchFamily="34" charset="-122"/>
                <a:cs typeface="Calibri" pitchFamily="34" charset="-120"/>
              </a:rPr>
              <a:t>Free storage</a:t>
            </a:r>
            <a:endParaRPr lang="en-US" sz="1600" dirty="0"/>
          </a:p>
        </p:txBody>
      </p:sp>
      <p:sp>
        <p:nvSpPr>
          <p:cNvPr id="64" name="Shape 62"/>
          <p:cNvSpPr/>
          <p:nvPr/>
        </p:nvSpPr>
        <p:spPr>
          <a:xfrm>
            <a:off x="3931920" y="4828032"/>
            <a:ext cx="2651760" cy="530352"/>
          </a:xfrm>
          <a:prstGeom prst="rect">
            <a:avLst/>
          </a:prstGeom>
          <a:solidFill>
            <a:srgbClr val="FFFFFF"/>
          </a:solidFill>
          <a:ln w="9525">
            <a:solidFill>
              <a:srgbClr val="DCE1EA"/>
            </a:solidFill>
            <a:prstDash val="solid"/>
          </a:ln>
        </p:spPr>
        <p:txBody>
          <a:bodyPr/>
          <a:lstStyle/>
          <a:p>
            <a:endParaRPr lang="en-US" sz="1600"/>
          </a:p>
        </p:txBody>
      </p:sp>
      <p:sp>
        <p:nvSpPr>
          <p:cNvPr id="65" name="Text 63"/>
          <p:cNvSpPr/>
          <p:nvPr/>
        </p:nvSpPr>
        <p:spPr>
          <a:xfrm>
            <a:off x="4023360" y="4828032"/>
            <a:ext cx="246888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15 GB (shared with Drive)</a:t>
            </a:r>
            <a:endParaRPr lang="en-US" sz="1600" dirty="0"/>
          </a:p>
        </p:txBody>
      </p:sp>
      <p:sp>
        <p:nvSpPr>
          <p:cNvPr id="66" name="Shape 64"/>
          <p:cNvSpPr/>
          <p:nvPr/>
        </p:nvSpPr>
        <p:spPr>
          <a:xfrm>
            <a:off x="6583680" y="4828032"/>
            <a:ext cx="2743200" cy="530352"/>
          </a:xfrm>
          <a:prstGeom prst="rect">
            <a:avLst/>
          </a:prstGeom>
          <a:solidFill>
            <a:srgbClr val="FFFFFF"/>
          </a:solidFill>
          <a:ln w="9525">
            <a:solidFill>
              <a:srgbClr val="DCE1EA"/>
            </a:solidFill>
            <a:prstDash val="solid"/>
          </a:ln>
        </p:spPr>
        <p:txBody>
          <a:bodyPr/>
          <a:lstStyle/>
          <a:p>
            <a:endParaRPr lang="en-US" sz="1600"/>
          </a:p>
        </p:txBody>
      </p:sp>
      <p:sp>
        <p:nvSpPr>
          <p:cNvPr id="67" name="Text 65"/>
          <p:cNvSpPr/>
          <p:nvPr/>
        </p:nvSpPr>
        <p:spPr>
          <a:xfrm>
            <a:off x="6675120" y="4828032"/>
            <a:ext cx="256032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15 GB (Outlook.com)</a:t>
            </a:r>
            <a:endParaRPr lang="en-US" sz="1600" dirty="0"/>
          </a:p>
        </p:txBody>
      </p:sp>
      <p:sp>
        <p:nvSpPr>
          <p:cNvPr id="68" name="Shape 66"/>
          <p:cNvSpPr/>
          <p:nvPr/>
        </p:nvSpPr>
        <p:spPr>
          <a:xfrm>
            <a:off x="9326880" y="4828032"/>
            <a:ext cx="2468880" cy="530352"/>
          </a:xfrm>
          <a:prstGeom prst="rect">
            <a:avLst/>
          </a:prstGeom>
          <a:solidFill>
            <a:srgbClr val="FFFFFF"/>
          </a:solidFill>
          <a:ln w="9525">
            <a:solidFill>
              <a:srgbClr val="DCE1EA"/>
            </a:solidFill>
            <a:prstDash val="solid"/>
          </a:ln>
        </p:spPr>
        <p:txBody>
          <a:bodyPr/>
          <a:lstStyle/>
          <a:p>
            <a:endParaRPr lang="en-US" sz="1600"/>
          </a:p>
        </p:txBody>
      </p:sp>
      <p:sp>
        <p:nvSpPr>
          <p:cNvPr id="69" name="Text 67"/>
          <p:cNvSpPr/>
          <p:nvPr/>
        </p:nvSpPr>
        <p:spPr>
          <a:xfrm>
            <a:off x="9418320" y="4828032"/>
            <a:ext cx="2286000" cy="530352"/>
          </a:xfrm>
          <a:prstGeom prst="rect">
            <a:avLst/>
          </a:prstGeom>
          <a:noFill/>
          <a:ln/>
        </p:spPr>
        <p:txBody>
          <a:bodyPr wrap="square" rtlCol="0" anchor="ctr"/>
          <a:lstStyle/>
          <a:p>
            <a:pPr marL="0" indent="0" algn="ctr">
              <a:buNone/>
            </a:pPr>
            <a:r>
              <a:rPr lang="en-US" sz="1600" dirty="0">
                <a:solidFill>
                  <a:srgbClr val="333333"/>
                </a:solidFill>
                <a:latin typeface="Calibri" pitchFamily="34" charset="0"/>
                <a:ea typeface="Calibri" pitchFamily="34" charset="-122"/>
                <a:cs typeface="Calibri" pitchFamily="34" charset="-120"/>
              </a:rPr>
              <a:t>1 TB</a:t>
            </a:r>
            <a:endParaRPr lang="en-US" sz="1600" dirty="0"/>
          </a:p>
        </p:txBody>
      </p:sp>
      <p:sp>
        <p:nvSpPr>
          <p:cNvPr id="70" name="Text 6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71" name="Text 6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APPLY WHAT YOU LEARNED</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Quick In-Class Activity</a:t>
            </a:r>
            <a:endParaRPr lang="en-US" sz="2400" dirty="0"/>
          </a:p>
        </p:txBody>
      </p:sp>
      <p:sp>
        <p:nvSpPr>
          <p:cNvPr id="6" name="Shape 4"/>
          <p:cNvSpPr/>
          <p:nvPr/>
        </p:nvSpPr>
        <p:spPr>
          <a:xfrm>
            <a:off x="10561320" y="137160"/>
            <a:ext cx="1417320" cy="320040"/>
          </a:xfrm>
          <a:prstGeom prst="roundRect">
            <a:avLst>
              <a:gd name="adj" fmla="val 48571"/>
            </a:avLst>
          </a:prstGeom>
          <a:solidFill>
            <a:srgbClr val="FFFFFF"/>
          </a:solidFill>
          <a:ln/>
        </p:spPr>
        <p:txBody>
          <a:bodyPr/>
          <a:lstStyle/>
          <a:p>
            <a:endParaRPr lang="en-US"/>
          </a:p>
        </p:txBody>
      </p:sp>
      <p:sp>
        <p:nvSpPr>
          <p:cNvPr id="7" name="Text 5"/>
          <p:cNvSpPr/>
          <p:nvPr/>
        </p:nvSpPr>
        <p:spPr>
          <a:xfrm>
            <a:off x="10561320" y="137160"/>
            <a:ext cx="1417320" cy="320040"/>
          </a:xfrm>
          <a:prstGeom prst="rect">
            <a:avLst/>
          </a:prstGeom>
          <a:noFill/>
          <a:ln/>
        </p:spPr>
        <p:txBody>
          <a:bodyPr wrap="square" rtlCol="0" anchor="ctr"/>
          <a:lstStyle/>
          <a:p>
            <a:pPr marL="0" indent="0" algn="ctr">
              <a:buNone/>
            </a:pPr>
            <a:r>
              <a:rPr lang="en-US" sz="1100" b="1" dirty="0">
                <a:solidFill>
                  <a:srgbClr val="1F3864"/>
                </a:solidFill>
                <a:latin typeface="Calibri" pitchFamily="34" charset="0"/>
                <a:ea typeface="Calibri" pitchFamily="34" charset="-122"/>
                <a:cs typeface="Calibri" pitchFamily="34" charset="-120"/>
              </a:rPr>
              <a:t>5 MIN</a:t>
            </a:r>
            <a:endParaRPr lang="en-US" sz="1100" dirty="0"/>
          </a:p>
        </p:txBody>
      </p:sp>
      <p:sp>
        <p:nvSpPr>
          <p:cNvPr id="8" name="Shape 6"/>
          <p:cNvSpPr/>
          <p:nvPr/>
        </p:nvSpPr>
        <p:spPr>
          <a:xfrm>
            <a:off x="640080" y="1280160"/>
            <a:ext cx="10881360" cy="2103120"/>
          </a:xfrm>
          <a:prstGeom prst="roundRect">
            <a:avLst>
              <a:gd name="adj" fmla="val 3478"/>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9" name="Text 7"/>
          <p:cNvSpPr/>
          <p:nvPr/>
        </p:nvSpPr>
        <p:spPr>
          <a:xfrm>
            <a:off x="914400" y="1463040"/>
            <a:ext cx="457200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TASK 1 — Compose</a:t>
            </a:r>
            <a:endParaRPr lang="en-US" dirty="0"/>
          </a:p>
        </p:txBody>
      </p:sp>
      <p:sp>
        <p:nvSpPr>
          <p:cNvPr id="10" name="Text 8"/>
          <p:cNvSpPr/>
          <p:nvPr/>
        </p:nvSpPr>
        <p:spPr>
          <a:xfrm>
            <a:off x="914400" y="1828800"/>
            <a:ext cx="10332720" cy="1371600"/>
          </a:xfrm>
          <a:prstGeom prst="rect">
            <a:avLst/>
          </a:prstGeom>
          <a:noFill/>
          <a:ln/>
        </p:spPr>
        <p:txBody>
          <a:bodyPr wrap="square" rtlCol="0" anchor="ctr"/>
          <a:lstStyle/>
          <a:p>
            <a:pPr marL="0" indent="0">
              <a:lnSpc>
                <a:spcPts val="1800"/>
              </a:lnSpc>
              <a:buNone/>
            </a:pPr>
            <a:r>
              <a:rPr lang="en-US" sz="1600" dirty="0">
                <a:solidFill>
                  <a:srgbClr val="333333"/>
                </a:solidFill>
                <a:latin typeface="Calibri" pitchFamily="34" charset="0"/>
                <a:ea typeface="Calibri" pitchFamily="34" charset="-122"/>
                <a:cs typeface="Calibri" pitchFamily="34" charset="-120"/>
              </a:rPr>
              <a:t>Open your own Gmail account and draft (do NOT send) a formal email to a course instructor requesting a one-day extension on an assignment. Use a proper subject line, greeting, structured body, and signature.</a:t>
            </a:r>
            <a:endParaRPr lang="en-US" sz="1600" dirty="0"/>
          </a:p>
        </p:txBody>
      </p:sp>
      <p:sp>
        <p:nvSpPr>
          <p:cNvPr id="11" name="Shape 9"/>
          <p:cNvSpPr/>
          <p:nvPr/>
        </p:nvSpPr>
        <p:spPr>
          <a:xfrm>
            <a:off x="640080" y="3566160"/>
            <a:ext cx="10881360" cy="2651760"/>
          </a:xfrm>
          <a:prstGeom prst="roundRect">
            <a:avLst>
              <a:gd name="adj" fmla="val 2759"/>
            </a:avLst>
          </a:prstGeom>
          <a:solidFill>
            <a:srgbClr val="FFFFFF"/>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12" name="Text 10"/>
          <p:cNvSpPr/>
          <p:nvPr/>
        </p:nvSpPr>
        <p:spPr>
          <a:xfrm>
            <a:off x="914400" y="3749040"/>
            <a:ext cx="4572000" cy="320040"/>
          </a:xfrm>
          <a:prstGeom prst="rect">
            <a:avLst/>
          </a:prstGeom>
          <a:noFill/>
          <a:ln/>
        </p:spPr>
        <p:txBody>
          <a:bodyPr wrap="square" rtlCol="0" anchor="ctr"/>
          <a:lstStyle/>
          <a:p>
            <a:pPr marL="0" indent="0">
              <a:buNone/>
            </a:pPr>
            <a:r>
              <a:rPr lang="en-US" b="1" dirty="0">
                <a:solidFill>
                  <a:srgbClr val="1F3864"/>
                </a:solidFill>
                <a:latin typeface="Calibri" pitchFamily="34" charset="0"/>
                <a:ea typeface="Calibri" pitchFamily="34" charset="-122"/>
                <a:cs typeface="Calibri" pitchFamily="34" charset="-120"/>
              </a:rPr>
              <a:t>TASK 2 — Explore</a:t>
            </a:r>
            <a:endParaRPr lang="en-US" dirty="0"/>
          </a:p>
        </p:txBody>
      </p:sp>
      <p:sp>
        <p:nvSpPr>
          <p:cNvPr id="13" name="Text 11"/>
          <p:cNvSpPr/>
          <p:nvPr/>
        </p:nvSpPr>
        <p:spPr>
          <a:xfrm>
            <a:off x="914400" y="4114800"/>
            <a:ext cx="10332720" cy="274320"/>
          </a:xfrm>
          <a:prstGeom prst="rect">
            <a:avLst/>
          </a:prstGeom>
          <a:noFill/>
          <a:ln/>
        </p:spPr>
        <p:txBody>
          <a:bodyPr wrap="square" rtlCol="0" anchor="ctr"/>
          <a:lstStyle/>
          <a:p>
            <a:pPr marL="0" indent="0">
              <a:buNone/>
            </a:pPr>
            <a:r>
              <a:rPr lang="en-US" sz="1600" dirty="0">
                <a:solidFill>
                  <a:srgbClr val="333333"/>
                </a:solidFill>
                <a:latin typeface="Calibri" pitchFamily="34" charset="0"/>
                <a:ea typeface="Calibri" pitchFamily="34" charset="-122"/>
                <a:cs typeface="Calibri" pitchFamily="34" charset="-120"/>
              </a:rPr>
              <a:t>In your Gmail Settings, locate and take a screenshot of:</a:t>
            </a:r>
            <a:endParaRPr lang="en-US" sz="1600" dirty="0"/>
          </a:p>
        </p:txBody>
      </p:sp>
      <p:sp>
        <p:nvSpPr>
          <p:cNvPr id="14" name="Text 12"/>
          <p:cNvSpPr/>
          <p:nvPr/>
        </p:nvSpPr>
        <p:spPr>
          <a:xfrm>
            <a:off x="914400" y="4480560"/>
            <a:ext cx="365760" cy="320040"/>
          </a:xfrm>
          <a:prstGeom prst="rect">
            <a:avLst/>
          </a:prstGeom>
          <a:noFill/>
          <a:ln/>
        </p:spPr>
        <p:txBody>
          <a:bodyPr wrap="non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1.</a:t>
            </a:r>
            <a:endParaRPr lang="en-US" sz="1600" dirty="0"/>
          </a:p>
        </p:txBody>
      </p:sp>
      <p:sp>
        <p:nvSpPr>
          <p:cNvPr id="15" name="Text 13"/>
          <p:cNvSpPr/>
          <p:nvPr/>
        </p:nvSpPr>
        <p:spPr>
          <a:xfrm>
            <a:off x="1325880" y="4480560"/>
            <a:ext cx="9875520" cy="320040"/>
          </a:xfrm>
          <a:prstGeom prst="rect">
            <a:avLst/>
          </a:prstGeom>
          <a:noFill/>
          <a:ln/>
        </p:spPr>
        <p:txBody>
          <a:bodyPr wrap="square" rtlCol="0" anchor="ctr"/>
          <a:lstStyle/>
          <a:p>
            <a:pPr marL="0" indent="0">
              <a:buNone/>
            </a:pPr>
            <a:r>
              <a:rPr lang="en-US" sz="1600" dirty="0">
                <a:solidFill>
                  <a:srgbClr val="222222"/>
                </a:solidFill>
                <a:latin typeface="Calibri" pitchFamily="34" charset="0"/>
                <a:ea typeface="Calibri" pitchFamily="34" charset="-122"/>
                <a:cs typeface="Calibri" pitchFamily="34" charset="-120"/>
              </a:rPr>
              <a:t>Your current Signature setting</a:t>
            </a:r>
            <a:endParaRPr lang="en-US" sz="1600" dirty="0"/>
          </a:p>
        </p:txBody>
      </p:sp>
      <p:sp>
        <p:nvSpPr>
          <p:cNvPr id="16" name="Text 14"/>
          <p:cNvSpPr/>
          <p:nvPr/>
        </p:nvSpPr>
        <p:spPr>
          <a:xfrm>
            <a:off x="914400" y="4864608"/>
            <a:ext cx="365760" cy="320040"/>
          </a:xfrm>
          <a:prstGeom prst="rect">
            <a:avLst/>
          </a:prstGeom>
          <a:noFill/>
          <a:ln/>
        </p:spPr>
        <p:txBody>
          <a:bodyPr wrap="non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2.</a:t>
            </a:r>
            <a:endParaRPr lang="en-US" sz="1600" dirty="0"/>
          </a:p>
        </p:txBody>
      </p:sp>
      <p:sp>
        <p:nvSpPr>
          <p:cNvPr id="17" name="Text 15"/>
          <p:cNvSpPr/>
          <p:nvPr/>
        </p:nvSpPr>
        <p:spPr>
          <a:xfrm>
            <a:off x="1325880" y="4864608"/>
            <a:ext cx="9875520" cy="320040"/>
          </a:xfrm>
          <a:prstGeom prst="rect">
            <a:avLst/>
          </a:prstGeom>
          <a:noFill/>
          <a:ln/>
        </p:spPr>
        <p:txBody>
          <a:bodyPr wrap="square" rtlCol="0" anchor="ctr"/>
          <a:lstStyle/>
          <a:p>
            <a:pPr marL="0" indent="0">
              <a:buNone/>
            </a:pPr>
            <a:r>
              <a:rPr lang="en-US" sz="1600" dirty="0">
                <a:solidFill>
                  <a:srgbClr val="222222"/>
                </a:solidFill>
                <a:latin typeface="Calibri" pitchFamily="34" charset="0"/>
                <a:ea typeface="Calibri" pitchFamily="34" charset="-122"/>
                <a:cs typeface="Calibri" pitchFamily="34" charset="-120"/>
              </a:rPr>
              <a:t>Whether Smart Compose is turned ON or OFF</a:t>
            </a:r>
            <a:endParaRPr lang="en-US" sz="1600" dirty="0"/>
          </a:p>
        </p:txBody>
      </p:sp>
      <p:sp>
        <p:nvSpPr>
          <p:cNvPr id="18" name="Text 16"/>
          <p:cNvSpPr/>
          <p:nvPr/>
        </p:nvSpPr>
        <p:spPr>
          <a:xfrm>
            <a:off x="914400" y="5248656"/>
            <a:ext cx="365760" cy="320040"/>
          </a:xfrm>
          <a:prstGeom prst="rect">
            <a:avLst/>
          </a:prstGeom>
          <a:noFill/>
          <a:ln/>
        </p:spPr>
        <p:txBody>
          <a:bodyPr wrap="none" rtlCol="0" anchor="ctr"/>
          <a:lstStyle/>
          <a:p>
            <a:pPr marL="0" indent="0">
              <a:buNone/>
            </a:pPr>
            <a:r>
              <a:rPr lang="en-US" sz="1600" b="1" dirty="0">
                <a:solidFill>
                  <a:srgbClr val="B8860B"/>
                </a:solidFill>
                <a:latin typeface="Calibri" pitchFamily="34" charset="0"/>
                <a:ea typeface="Calibri" pitchFamily="34" charset="-122"/>
                <a:cs typeface="Calibri" pitchFamily="34" charset="-120"/>
              </a:rPr>
              <a:t>3.</a:t>
            </a:r>
            <a:endParaRPr lang="en-US" sz="1600" dirty="0"/>
          </a:p>
        </p:txBody>
      </p:sp>
      <p:sp>
        <p:nvSpPr>
          <p:cNvPr id="19" name="Text 17"/>
          <p:cNvSpPr/>
          <p:nvPr/>
        </p:nvSpPr>
        <p:spPr>
          <a:xfrm>
            <a:off x="1325880" y="5248656"/>
            <a:ext cx="9875520" cy="320040"/>
          </a:xfrm>
          <a:prstGeom prst="rect">
            <a:avLst/>
          </a:prstGeom>
          <a:noFill/>
          <a:ln/>
        </p:spPr>
        <p:txBody>
          <a:bodyPr wrap="square" rtlCol="0" anchor="ctr"/>
          <a:lstStyle/>
          <a:p>
            <a:pPr marL="0" indent="0">
              <a:buNone/>
            </a:pPr>
            <a:r>
              <a:rPr lang="en-US" sz="1600" dirty="0">
                <a:solidFill>
                  <a:srgbClr val="222222"/>
                </a:solidFill>
                <a:latin typeface="Calibri" pitchFamily="34" charset="0"/>
                <a:ea typeface="Calibri" pitchFamily="34" charset="-122"/>
                <a:cs typeface="Calibri" pitchFamily="34" charset="-120"/>
              </a:rPr>
              <a:t>Whether 2-Step Verification is enabled on your Google Account</a:t>
            </a:r>
            <a:endParaRPr lang="en-US" sz="1600" dirty="0"/>
          </a:p>
        </p:txBody>
      </p:sp>
      <p:sp>
        <p:nvSpPr>
          <p:cNvPr id="20" name="Text 18"/>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21" name="Text 19"/>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F3864"/>
        </a:solidFill>
        <a:effectLst/>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162B4D"/>
          </a:solidFill>
          <a:ln/>
        </p:spPr>
        <p:txBody>
          <a:bodyPr/>
          <a:lstStyle/>
          <a:p>
            <a:endParaRPr lang="en-US"/>
          </a:p>
        </p:txBody>
      </p:sp>
      <p:sp>
        <p:nvSpPr>
          <p:cNvPr id="3" name="Text 1"/>
          <p:cNvSpPr/>
          <p:nvPr/>
        </p:nvSpPr>
        <p:spPr>
          <a:xfrm>
            <a:off x="640080" y="502920"/>
            <a:ext cx="7315200" cy="457200"/>
          </a:xfrm>
          <a:prstGeom prst="rect">
            <a:avLst/>
          </a:prstGeom>
          <a:noFill/>
          <a:ln/>
        </p:spPr>
        <p:txBody>
          <a:bodyPr wrap="square" rtlCol="0" anchor="ctr"/>
          <a:lstStyle/>
          <a:p>
            <a:pPr marL="0" indent="0">
              <a:buNone/>
            </a:pPr>
            <a:r>
              <a:rPr lang="en-US" sz="1400" b="1" kern="0" spc="300" dirty="0">
                <a:solidFill>
                  <a:srgbClr val="D8B84A"/>
                </a:solidFill>
                <a:latin typeface="Calibri" pitchFamily="34" charset="0"/>
                <a:ea typeface="Calibri" pitchFamily="34" charset="-122"/>
                <a:cs typeface="Calibri" pitchFamily="34" charset="-120"/>
              </a:rPr>
              <a:t>KEY TAKEAWAYS</a:t>
            </a:r>
            <a:endParaRPr lang="en-US" sz="1400" dirty="0"/>
          </a:p>
        </p:txBody>
      </p:sp>
      <p:sp>
        <p:nvSpPr>
          <p:cNvPr id="4" name="Text 2"/>
          <p:cNvSpPr/>
          <p:nvPr/>
        </p:nvSpPr>
        <p:spPr>
          <a:xfrm>
            <a:off x="640080" y="868680"/>
            <a:ext cx="10058400" cy="548640"/>
          </a:xfrm>
          <a:prstGeom prst="rect">
            <a:avLst/>
          </a:prstGeom>
          <a:noFill/>
          <a:ln/>
        </p:spPr>
        <p:txBody>
          <a:bodyPr wrap="square"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Week 4 (Makeup) in Five Points</a:t>
            </a:r>
            <a:endParaRPr lang="en-US" sz="2600" dirty="0"/>
          </a:p>
        </p:txBody>
      </p:sp>
      <p:sp>
        <p:nvSpPr>
          <p:cNvPr id="5" name="Shape 3"/>
          <p:cNvSpPr/>
          <p:nvPr/>
        </p:nvSpPr>
        <p:spPr>
          <a:xfrm>
            <a:off x="640080" y="1691640"/>
            <a:ext cx="457200" cy="457200"/>
          </a:xfrm>
          <a:prstGeom prst="roundRect">
            <a:avLst>
              <a:gd name="adj" fmla="val 16000"/>
            </a:avLst>
          </a:prstGeom>
          <a:solidFill>
            <a:srgbClr val="D8B84A"/>
          </a:solidFill>
          <a:ln/>
        </p:spPr>
        <p:txBody>
          <a:bodyPr/>
          <a:lstStyle/>
          <a:p>
            <a:endParaRPr lang="en-US" sz="1600"/>
          </a:p>
        </p:txBody>
      </p:sp>
      <p:sp>
        <p:nvSpPr>
          <p:cNvPr id="6" name="Text 4"/>
          <p:cNvSpPr/>
          <p:nvPr/>
        </p:nvSpPr>
        <p:spPr>
          <a:xfrm>
            <a:off x="640080" y="1691640"/>
            <a:ext cx="457200" cy="45720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1280160" y="1673352"/>
            <a:ext cx="10241280" cy="6858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A professional email has a clear structure: subject, greeting, purpose, body, closing, signature.</a:t>
            </a:r>
            <a:endParaRPr lang="en-US" sz="1600" dirty="0"/>
          </a:p>
        </p:txBody>
      </p:sp>
      <p:sp>
        <p:nvSpPr>
          <p:cNvPr id="8" name="Shape 6"/>
          <p:cNvSpPr/>
          <p:nvPr/>
        </p:nvSpPr>
        <p:spPr>
          <a:xfrm>
            <a:off x="640080" y="2560320"/>
            <a:ext cx="457200" cy="457200"/>
          </a:xfrm>
          <a:prstGeom prst="roundRect">
            <a:avLst>
              <a:gd name="adj" fmla="val 16000"/>
            </a:avLst>
          </a:prstGeom>
          <a:solidFill>
            <a:srgbClr val="D8B84A"/>
          </a:solidFill>
          <a:ln/>
        </p:spPr>
        <p:txBody>
          <a:bodyPr/>
          <a:lstStyle/>
          <a:p>
            <a:endParaRPr lang="en-US" sz="1600"/>
          </a:p>
        </p:txBody>
      </p:sp>
      <p:sp>
        <p:nvSpPr>
          <p:cNvPr id="9" name="Text 7"/>
          <p:cNvSpPr/>
          <p:nvPr/>
        </p:nvSpPr>
        <p:spPr>
          <a:xfrm>
            <a:off x="640080" y="2560320"/>
            <a:ext cx="457200" cy="45720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2</a:t>
            </a:r>
            <a:endParaRPr lang="en-US" sz="1600" dirty="0"/>
          </a:p>
        </p:txBody>
      </p:sp>
      <p:sp>
        <p:nvSpPr>
          <p:cNvPr id="10" name="Text 8"/>
          <p:cNvSpPr/>
          <p:nvPr/>
        </p:nvSpPr>
        <p:spPr>
          <a:xfrm>
            <a:off x="1280160" y="2542032"/>
            <a:ext cx="10241280" cy="6858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Gmail’s composition tools (Smart Compose, Smart Reply, Scheduling) exist to save time without sacrificing professionalism.</a:t>
            </a:r>
            <a:endParaRPr lang="en-US" sz="1600" dirty="0"/>
          </a:p>
        </p:txBody>
      </p:sp>
      <p:sp>
        <p:nvSpPr>
          <p:cNvPr id="11" name="Shape 9"/>
          <p:cNvSpPr/>
          <p:nvPr/>
        </p:nvSpPr>
        <p:spPr>
          <a:xfrm>
            <a:off x="640080" y="3429000"/>
            <a:ext cx="457200" cy="457200"/>
          </a:xfrm>
          <a:prstGeom prst="roundRect">
            <a:avLst>
              <a:gd name="adj" fmla="val 16000"/>
            </a:avLst>
          </a:prstGeom>
          <a:solidFill>
            <a:srgbClr val="D8B84A"/>
          </a:solidFill>
          <a:ln/>
        </p:spPr>
        <p:txBody>
          <a:bodyPr/>
          <a:lstStyle/>
          <a:p>
            <a:endParaRPr lang="en-US" sz="1600"/>
          </a:p>
        </p:txBody>
      </p:sp>
      <p:sp>
        <p:nvSpPr>
          <p:cNvPr id="12" name="Text 10"/>
          <p:cNvSpPr/>
          <p:nvPr/>
        </p:nvSpPr>
        <p:spPr>
          <a:xfrm>
            <a:off x="640080" y="3429000"/>
            <a:ext cx="457200" cy="45720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3</a:t>
            </a:r>
            <a:endParaRPr lang="en-US" sz="1600" dirty="0"/>
          </a:p>
        </p:txBody>
      </p:sp>
      <p:sp>
        <p:nvSpPr>
          <p:cNvPr id="13" name="Text 11"/>
          <p:cNvSpPr/>
          <p:nvPr/>
        </p:nvSpPr>
        <p:spPr>
          <a:xfrm>
            <a:off x="1280160" y="3410712"/>
            <a:ext cx="10241280" cy="6858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Labels, Filters, and Tabs are Gmail’s organization system — conceptually similar to Outlook’s Categories and Rules.</a:t>
            </a:r>
            <a:endParaRPr lang="en-US" sz="1600" dirty="0"/>
          </a:p>
        </p:txBody>
      </p:sp>
      <p:sp>
        <p:nvSpPr>
          <p:cNvPr id="14" name="Shape 12"/>
          <p:cNvSpPr/>
          <p:nvPr/>
        </p:nvSpPr>
        <p:spPr>
          <a:xfrm>
            <a:off x="640080" y="4297680"/>
            <a:ext cx="457200" cy="457200"/>
          </a:xfrm>
          <a:prstGeom prst="roundRect">
            <a:avLst>
              <a:gd name="adj" fmla="val 16000"/>
            </a:avLst>
          </a:prstGeom>
          <a:solidFill>
            <a:srgbClr val="D8B84A"/>
          </a:solidFill>
          <a:ln/>
        </p:spPr>
        <p:txBody>
          <a:bodyPr/>
          <a:lstStyle/>
          <a:p>
            <a:endParaRPr lang="en-US" sz="1600"/>
          </a:p>
        </p:txBody>
      </p:sp>
      <p:sp>
        <p:nvSpPr>
          <p:cNvPr id="15" name="Text 13"/>
          <p:cNvSpPr/>
          <p:nvPr/>
        </p:nvSpPr>
        <p:spPr>
          <a:xfrm>
            <a:off x="640080" y="4297680"/>
            <a:ext cx="457200" cy="45720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4</a:t>
            </a:r>
            <a:endParaRPr lang="en-US" sz="1600" dirty="0"/>
          </a:p>
        </p:txBody>
      </p:sp>
      <p:sp>
        <p:nvSpPr>
          <p:cNvPr id="16" name="Text 14"/>
          <p:cNvSpPr/>
          <p:nvPr/>
        </p:nvSpPr>
        <p:spPr>
          <a:xfrm>
            <a:off x="1280160" y="4279392"/>
            <a:ext cx="10241280" cy="6858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Security facilities like 2-Step Verification and phishing detection are essential ICT skills, not optional extras.</a:t>
            </a:r>
            <a:endParaRPr lang="en-US" sz="1600" dirty="0"/>
          </a:p>
        </p:txBody>
      </p:sp>
      <p:sp>
        <p:nvSpPr>
          <p:cNvPr id="17" name="Shape 15"/>
          <p:cNvSpPr/>
          <p:nvPr/>
        </p:nvSpPr>
        <p:spPr>
          <a:xfrm>
            <a:off x="640080" y="5166360"/>
            <a:ext cx="457200" cy="457200"/>
          </a:xfrm>
          <a:prstGeom prst="roundRect">
            <a:avLst>
              <a:gd name="adj" fmla="val 16000"/>
            </a:avLst>
          </a:prstGeom>
          <a:solidFill>
            <a:srgbClr val="D8B84A"/>
          </a:solidFill>
          <a:ln/>
        </p:spPr>
        <p:txBody>
          <a:bodyPr/>
          <a:lstStyle/>
          <a:p>
            <a:endParaRPr lang="en-US" sz="1600"/>
          </a:p>
        </p:txBody>
      </p:sp>
      <p:sp>
        <p:nvSpPr>
          <p:cNvPr id="18" name="Text 16"/>
          <p:cNvSpPr/>
          <p:nvPr/>
        </p:nvSpPr>
        <p:spPr>
          <a:xfrm>
            <a:off x="640080" y="5166360"/>
            <a:ext cx="457200" cy="457200"/>
          </a:xfrm>
          <a:prstGeom prst="rect">
            <a:avLst/>
          </a:prstGeom>
          <a:noFill/>
          <a:ln/>
        </p:spPr>
        <p:txBody>
          <a:bodyPr wrap="square" rtlCol="0" anchor="ctr"/>
          <a:lstStyle/>
          <a:p>
            <a:pPr marL="0" indent="0" algn="ctr">
              <a:buNone/>
            </a:pPr>
            <a:r>
              <a:rPr lang="en-US" sz="1600" b="1" dirty="0">
                <a:solidFill>
                  <a:srgbClr val="162B4D"/>
                </a:solidFill>
                <a:latin typeface="Calibri" pitchFamily="34" charset="0"/>
                <a:ea typeface="Calibri" pitchFamily="34" charset="-122"/>
                <a:cs typeface="Calibri" pitchFamily="34" charset="-120"/>
              </a:rPr>
              <a:t>5</a:t>
            </a:r>
            <a:endParaRPr lang="en-US" sz="1600" dirty="0"/>
          </a:p>
        </p:txBody>
      </p:sp>
      <p:sp>
        <p:nvSpPr>
          <p:cNvPr id="19" name="Text 17"/>
          <p:cNvSpPr/>
          <p:nvPr/>
        </p:nvSpPr>
        <p:spPr>
          <a:xfrm>
            <a:off x="1280160" y="5148072"/>
            <a:ext cx="10241280" cy="685800"/>
          </a:xfrm>
          <a:prstGeom prst="rect">
            <a:avLst/>
          </a:prstGeom>
          <a:noFill/>
          <a:ln/>
        </p:spPr>
        <p:txBody>
          <a:bodyPr wrap="square" rtlCol="0" anchor="ctr"/>
          <a:lstStyle/>
          <a:p>
            <a:pPr marL="0" indent="0">
              <a:lnSpc>
                <a:spcPts val="1900"/>
              </a:lnSpc>
              <a:buNone/>
            </a:pPr>
            <a:r>
              <a:rPr lang="en-US" sz="1600" dirty="0">
                <a:solidFill>
                  <a:srgbClr val="FFFFFF"/>
                </a:solidFill>
                <a:latin typeface="Calibri" pitchFamily="34" charset="0"/>
                <a:ea typeface="Calibri" pitchFamily="34" charset="-122"/>
                <a:cs typeface="Calibri" pitchFamily="34" charset="-120"/>
              </a:rPr>
              <a:t>Different email platforms (Gmail, Outlook, Yahoo) share the same core concepts but differ in ecosystem integration.</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F3864"/>
          </a:solidFill>
          <a:ln/>
        </p:spPr>
        <p:txBody>
          <a:bodyPr/>
          <a:lstStyle/>
          <a:p>
            <a:endParaRPr lang="en-US"/>
          </a:p>
        </p:txBody>
      </p:sp>
      <p:sp>
        <p:nvSpPr>
          <p:cNvPr id="3" name="Shape 1"/>
          <p:cNvSpPr/>
          <p:nvPr/>
        </p:nvSpPr>
        <p:spPr>
          <a:xfrm>
            <a:off x="0" y="868680"/>
            <a:ext cx="12191695" cy="45720"/>
          </a:xfrm>
          <a:prstGeom prst="rect">
            <a:avLst/>
          </a:prstGeom>
          <a:solidFill>
            <a:srgbClr val="B8860B"/>
          </a:solidFill>
          <a:ln/>
        </p:spPr>
        <p:txBody>
          <a:bodyPr/>
          <a:lstStyle/>
          <a:p>
            <a:endParaRPr lang="en-US"/>
          </a:p>
        </p:txBody>
      </p:sp>
      <p:sp>
        <p:nvSpPr>
          <p:cNvPr id="4" name="Text 2"/>
          <p:cNvSpPr/>
          <p:nvPr/>
        </p:nvSpPr>
        <p:spPr>
          <a:xfrm>
            <a:off x="457200" y="109728"/>
            <a:ext cx="7315200" cy="274320"/>
          </a:xfrm>
          <a:prstGeom prst="rect">
            <a:avLst/>
          </a:prstGeom>
          <a:noFill/>
          <a:ln/>
        </p:spPr>
        <p:txBody>
          <a:bodyPr wrap="square" rtlCol="0" anchor="ctr"/>
          <a:lstStyle/>
          <a:p>
            <a:pPr marL="0" indent="0">
              <a:buNone/>
            </a:pPr>
            <a:r>
              <a:rPr lang="en-US" sz="1200" b="1" kern="0" spc="200" dirty="0">
                <a:solidFill>
                  <a:srgbClr val="D8B84A"/>
                </a:solidFill>
                <a:latin typeface="Calibri" pitchFamily="34" charset="0"/>
                <a:ea typeface="Calibri" pitchFamily="34" charset="-122"/>
                <a:cs typeface="Calibri" pitchFamily="34" charset="-120"/>
              </a:rPr>
              <a:t>BEFORE YOU LEAVE</a:t>
            </a:r>
            <a:endParaRPr lang="en-US" sz="1200" dirty="0"/>
          </a:p>
        </p:txBody>
      </p:sp>
      <p:sp>
        <p:nvSpPr>
          <p:cNvPr id="5" name="Text 3"/>
          <p:cNvSpPr/>
          <p:nvPr/>
        </p:nvSpPr>
        <p:spPr>
          <a:xfrm>
            <a:off x="457200" y="347472"/>
            <a:ext cx="10515600" cy="502920"/>
          </a:xfrm>
          <a:prstGeom prst="rect">
            <a:avLst/>
          </a:prstGeom>
          <a:noFill/>
          <a:ln/>
        </p:spPr>
        <p:txBody>
          <a:bodyPr wrap="square"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Exit Ticket</a:t>
            </a:r>
            <a:endParaRPr lang="en-US" sz="2400" dirty="0"/>
          </a:p>
        </p:txBody>
      </p:sp>
      <p:sp>
        <p:nvSpPr>
          <p:cNvPr id="6" name="Shape 4"/>
          <p:cNvSpPr/>
          <p:nvPr/>
        </p:nvSpPr>
        <p:spPr>
          <a:xfrm>
            <a:off x="1097280" y="1463040"/>
            <a:ext cx="9966960" cy="4572000"/>
          </a:xfrm>
          <a:prstGeom prst="roundRect">
            <a:avLst>
              <a:gd name="adj" fmla="val 1600"/>
            </a:avLst>
          </a:prstGeom>
          <a:solidFill>
            <a:srgbClr val="F4F6FA"/>
          </a:solidFill>
          <a:ln w="12700">
            <a:solidFill>
              <a:srgbClr val="DCE1EA"/>
            </a:solidFill>
            <a:prstDash val="solid"/>
          </a:ln>
          <a:effectLst>
            <a:outerShdw blurRad="76200" dist="25400" dir="5400000" algn="bl" rotWithShape="0">
              <a:srgbClr val="888888">
                <a:alpha val="18000"/>
              </a:srgbClr>
            </a:outerShdw>
          </a:effectLst>
        </p:spPr>
        <p:txBody>
          <a:bodyPr/>
          <a:lstStyle/>
          <a:p>
            <a:endParaRPr lang="en-US" sz="1600"/>
          </a:p>
        </p:txBody>
      </p:sp>
      <p:sp>
        <p:nvSpPr>
          <p:cNvPr id="7" name="Text 5"/>
          <p:cNvSpPr/>
          <p:nvPr/>
        </p:nvSpPr>
        <p:spPr>
          <a:xfrm>
            <a:off x="1463040" y="1737360"/>
            <a:ext cx="9144000" cy="365760"/>
          </a:xfrm>
          <a:prstGeom prst="rect">
            <a:avLst/>
          </a:prstGeom>
          <a:noFill/>
          <a:ln/>
        </p:spPr>
        <p:txBody>
          <a:bodyPr wrap="square" rtlCol="0" anchor="ctr"/>
          <a:lstStyle/>
          <a:p>
            <a:pPr marL="0" indent="0">
              <a:buNone/>
            </a:pPr>
            <a:r>
              <a:rPr lang="en-US" sz="1600" i="1" dirty="0">
                <a:solidFill>
                  <a:srgbClr val="595959"/>
                </a:solidFill>
                <a:latin typeface="Calibri" pitchFamily="34" charset="0"/>
                <a:ea typeface="Calibri" pitchFamily="34" charset="-122"/>
                <a:cs typeface="Calibri" pitchFamily="34" charset="-120"/>
              </a:rPr>
              <a:t>On a slip of paper (or the LMS form), answer briefly:</a:t>
            </a:r>
            <a:endParaRPr lang="en-US" sz="1600" dirty="0"/>
          </a:p>
        </p:txBody>
      </p:sp>
      <p:sp>
        <p:nvSpPr>
          <p:cNvPr id="8" name="Shape 6"/>
          <p:cNvSpPr/>
          <p:nvPr/>
        </p:nvSpPr>
        <p:spPr>
          <a:xfrm>
            <a:off x="1463040" y="2286000"/>
            <a:ext cx="411480" cy="411480"/>
          </a:xfrm>
          <a:prstGeom prst="roundRect">
            <a:avLst>
              <a:gd name="adj" fmla="val 17778"/>
            </a:avLst>
          </a:prstGeom>
          <a:solidFill>
            <a:srgbClr val="1F3864"/>
          </a:solidFill>
          <a:ln/>
        </p:spPr>
        <p:txBody>
          <a:bodyPr/>
          <a:lstStyle/>
          <a:p>
            <a:endParaRPr lang="en-US" sz="1600"/>
          </a:p>
        </p:txBody>
      </p:sp>
      <p:sp>
        <p:nvSpPr>
          <p:cNvPr id="9" name="Text 7"/>
          <p:cNvSpPr/>
          <p:nvPr/>
        </p:nvSpPr>
        <p:spPr>
          <a:xfrm>
            <a:off x="1463040" y="228600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8"/>
          <p:cNvSpPr/>
          <p:nvPr/>
        </p:nvSpPr>
        <p:spPr>
          <a:xfrm>
            <a:off x="2057400" y="2267712"/>
            <a:ext cx="8686800" cy="68580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Name ONE Gmail feature you did not know about before today’s session.</a:t>
            </a:r>
            <a:endParaRPr lang="en-US" sz="1600" dirty="0"/>
          </a:p>
        </p:txBody>
      </p:sp>
      <p:sp>
        <p:nvSpPr>
          <p:cNvPr id="11" name="Shape 9"/>
          <p:cNvSpPr/>
          <p:nvPr/>
        </p:nvSpPr>
        <p:spPr>
          <a:xfrm>
            <a:off x="1463040" y="3383280"/>
            <a:ext cx="411480" cy="411480"/>
          </a:xfrm>
          <a:prstGeom prst="roundRect">
            <a:avLst>
              <a:gd name="adj" fmla="val 17778"/>
            </a:avLst>
          </a:prstGeom>
          <a:solidFill>
            <a:srgbClr val="1F3864"/>
          </a:solidFill>
          <a:ln/>
        </p:spPr>
        <p:txBody>
          <a:bodyPr/>
          <a:lstStyle/>
          <a:p>
            <a:endParaRPr lang="en-US" sz="1600"/>
          </a:p>
        </p:txBody>
      </p:sp>
      <p:sp>
        <p:nvSpPr>
          <p:cNvPr id="12" name="Text 10"/>
          <p:cNvSpPr/>
          <p:nvPr/>
        </p:nvSpPr>
        <p:spPr>
          <a:xfrm>
            <a:off x="1463040" y="338328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p:nvPr/>
        </p:nvSpPr>
        <p:spPr>
          <a:xfrm>
            <a:off x="2057400" y="3364992"/>
            <a:ext cx="8686800" cy="68580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Explain, in one sentence, why "Reply All" should be used carefully.</a:t>
            </a:r>
            <a:endParaRPr lang="en-US" sz="1600" dirty="0"/>
          </a:p>
        </p:txBody>
      </p:sp>
      <p:sp>
        <p:nvSpPr>
          <p:cNvPr id="14" name="Shape 12"/>
          <p:cNvSpPr/>
          <p:nvPr/>
        </p:nvSpPr>
        <p:spPr>
          <a:xfrm>
            <a:off x="1463040" y="4480560"/>
            <a:ext cx="411480" cy="411480"/>
          </a:xfrm>
          <a:prstGeom prst="roundRect">
            <a:avLst>
              <a:gd name="adj" fmla="val 17778"/>
            </a:avLst>
          </a:prstGeom>
          <a:solidFill>
            <a:srgbClr val="1F3864"/>
          </a:solidFill>
          <a:ln/>
        </p:spPr>
        <p:txBody>
          <a:bodyPr/>
          <a:lstStyle/>
          <a:p>
            <a:endParaRPr lang="en-US" sz="1600"/>
          </a:p>
        </p:txBody>
      </p:sp>
      <p:sp>
        <p:nvSpPr>
          <p:cNvPr id="15" name="Text 13"/>
          <p:cNvSpPr/>
          <p:nvPr/>
        </p:nvSpPr>
        <p:spPr>
          <a:xfrm>
            <a:off x="1463040" y="4480560"/>
            <a:ext cx="411480" cy="41148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Text 14"/>
          <p:cNvSpPr/>
          <p:nvPr/>
        </p:nvSpPr>
        <p:spPr>
          <a:xfrm>
            <a:off x="2057400" y="4462272"/>
            <a:ext cx="8686800" cy="685800"/>
          </a:xfrm>
          <a:prstGeom prst="rect">
            <a:avLst/>
          </a:prstGeom>
          <a:noFill/>
          <a:ln/>
        </p:spPr>
        <p:txBody>
          <a:bodyPr wrap="square" rtlCol="0" anchor="ctr"/>
          <a:lstStyle/>
          <a:p>
            <a:pPr marL="0" indent="0">
              <a:lnSpc>
                <a:spcPts val="1800"/>
              </a:lnSpc>
              <a:buNone/>
            </a:pPr>
            <a:r>
              <a:rPr lang="en-US" sz="1600" dirty="0">
                <a:solidFill>
                  <a:srgbClr val="222222"/>
                </a:solidFill>
                <a:latin typeface="Calibri" pitchFamily="34" charset="0"/>
                <a:ea typeface="Calibri" pitchFamily="34" charset="-122"/>
                <a:cs typeface="Calibri" pitchFamily="34" charset="-120"/>
              </a:rPr>
              <a:t>What is ONE thing you would check in your own email account’s security settings after today?</a:t>
            </a:r>
            <a:endParaRPr lang="en-US" sz="1600" dirty="0"/>
          </a:p>
        </p:txBody>
      </p:sp>
      <p:sp>
        <p:nvSpPr>
          <p:cNvPr id="17" name="Text 15"/>
          <p:cNvSpPr/>
          <p:nvPr/>
        </p:nvSpPr>
        <p:spPr>
          <a:xfrm>
            <a:off x="1463040" y="5577840"/>
            <a:ext cx="9144000" cy="365760"/>
          </a:xfrm>
          <a:prstGeom prst="rect">
            <a:avLst/>
          </a:prstGeom>
          <a:noFill/>
          <a:ln/>
        </p:spPr>
        <p:txBody>
          <a:bodyPr wrap="square" rtlCol="0" anchor="ctr"/>
          <a:lstStyle/>
          <a:p>
            <a:pPr marL="0" indent="0">
              <a:buNone/>
            </a:pPr>
            <a:r>
              <a:rPr lang="en-US" sz="1600" i="1" dirty="0">
                <a:solidFill>
                  <a:srgbClr val="B8860B"/>
                </a:solidFill>
                <a:latin typeface="Calibri" pitchFamily="34" charset="0"/>
                <a:ea typeface="Calibri" pitchFamily="34" charset="-122"/>
                <a:cs typeface="Calibri" pitchFamily="34" charset="-120"/>
              </a:rPr>
              <a:t>Next session: Google Workspace, Cloud Storage &amp; the MS Office Suite</a:t>
            </a:r>
            <a:endParaRPr lang="en-US" sz="1600" dirty="0"/>
          </a:p>
        </p:txBody>
      </p:sp>
      <p:sp>
        <p:nvSpPr>
          <p:cNvPr id="18" name="Text 16"/>
          <p:cNvSpPr/>
          <p:nvPr/>
        </p:nvSpPr>
        <p:spPr>
          <a:xfrm>
            <a:off x="457200" y="6565392"/>
            <a:ext cx="8229600" cy="274320"/>
          </a:xfrm>
          <a:prstGeom prst="rect">
            <a:avLst/>
          </a:prstGeom>
          <a:noFill/>
          <a:ln/>
        </p:spPr>
        <p:txBody>
          <a:bodyPr wrap="square" rtlCol="0" anchor="ctr"/>
          <a:lstStyle/>
          <a:p>
            <a:pPr marL="0" indent="0">
              <a:buNone/>
            </a:pPr>
            <a:r>
              <a:rPr lang="en-US" sz="900" dirty="0">
                <a:solidFill>
                  <a:srgbClr val="A6A6A6"/>
                </a:solidFill>
                <a:latin typeface="Calibri" pitchFamily="34" charset="0"/>
                <a:ea typeface="Calibri" pitchFamily="34" charset="-122"/>
                <a:cs typeface="Calibri" pitchFamily="34" charset="-120"/>
              </a:rPr>
              <a:t>ICT 201  |  Week 4 (Makeup) — Formal Communication Tools &amp; Etiquette</a:t>
            </a:r>
            <a:endParaRPr lang="en-US" sz="900" dirty="0"/>
          </a:p>
        </p:txBody>
      </p:sp>
      <p:sp>
        <p:nvSpPr>
          <p:cNvPr id="19" name="Text 17"/>
          <p:cNvSpPr/>
          <p:nvPr/>
        </p:nvSpPr>
        <p:spPr>
          <a:xfrm>
            <a:off x="11521440" y="6565392"/>
            <a:ext cx="457200" cy="274320"/>
          </a:xfrm>
          <a:prstGeom prst="rect">
            <a:avLst/>
          </a:prstGeom>
          <a:noFill/>
          <a:ln/>
        </p:spPr>
        <p:txBody>
          <a:bodyPr wrap="square" rtlCol="0" anchor="ctr"/>
          <a:lstStyle/>
          <a:p>
            <a:pPr marL="0" indent="0" algn="r">
              <a:buNone/>
            </a:pPr>
            <a:r>
              <a:rPr lang="en-US" sz="900" dirty="0">
                <a:solidFill>
                  <a:srgbClr val="A6A6A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19</TotalTime>
  <Words>2182</Words>
  <Application>Microsoft Office PowerPoint</Application>
  <PresentationFormat>Widescreen</PresentationFormat>
  <Paragraphs>350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FAHEEM SHAUKAT</cp:lastModifiedBy>
  <cp:revision>4</cp:revision>
  <dcterms:created xsi:type="dcterms:W3CDTF">2026-09-20T10:18:09Z</dcterms:created>
  <dcterms:modified xsi:type="dcterms:W3CDTF">2026-09-20T10:45:21Z</dcterms:modified>
</cp:coreProperties>
</file>